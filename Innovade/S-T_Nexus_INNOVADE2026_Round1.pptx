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83" r:id="rId4"/>
    <p:sldId id="271" r:id="rId5"/>
    <p:sldId id="270" r:id="rId6"/>
    <p:sldId id="264" r:id="rId7"/>
    <p:sldId id="269" r:id="rId8"/>
    <p:sldId id="274" r:id="rId9"/>
    <p:sldId id="275" r:id="rId10"/>
    <p:sldId id="277" r:id="rId11"/>
    <p:sldId id="279" r:id="rId12"/>
    <p:sldId id="280" r:id="rId13"/>
    <p:sldId id="284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dec Pro" panose="020B0604020202020204" charset="0"/>
      <p:regular r:id="rId20"/>
    </p:embeddedFont>
    <p:embeddedFont>
      <p:font typeface="Gilda Display" panose="020B0604020202020204" charset="0"/>
      <p:regular r:id="rId21"/>
    </p:embeddedFont>
    <p:embeddedFont>
      <p:font typeface="HK Grotesk Bold" panose="020B0604020202020204" charset="0"/>
      <p:regular r:id="rId22"/>
    </p:embeddedFont>
    <p:embeddedFont>
      <p:font typeface="HK Grotesk Light" panose="020B0604020202020204" charset="0"/>
      <p:regular r:id="rId23"/>
    </p:embeddedFont>
    <p:embeddedFont>
      <p:font typeface="Overpass" panose="020B0604020202020204" charset="0"/>
      <p:regular r:id="rId24"/>
    </p:embeddedFont>
    <p:embeddedFont>
      <p:font typeface="Poppins Bold" panose="020B0604020202020204" charset="0"/>
      <p:regular r:id="rId25"/>
    </p:embeddedFont>
    <p:embeddedFont>
      <p:font typeface="Ruda Bold" panose="020B0604020202020204" charset="0"/>
      <p:regular r:id="rId26"/>
    </p:embeddedFont>
    <p:embeddedFont>
      <p:font typeface="Ruda Heavy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ohan Islam" initials="SI" lastIdx="1" clrIdx="0">
    <p:extLst>
      <p:ext uri="{19B8F6BF-5375-455C-9EA6-DF929625EA0E}">
        <p15:presenceInfo xmlns:p15="http://schemas.microsoft.com/office/powerpoint/2012/main" userId="87c0e6a066e0da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770" autoAdjust="0"/>
  </p:normalViewPr>
  <p:slideViewPr>
    <p:cSldViewPr>
      <p:cViewPr varScale="1">
        <p:scale>
          <a:sx n="40" d="100"/>
          <a:sy n="40" d="100"/>
        </p:scale>
        <p:origin x="20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05D4F-539C-47AB-A7AA-E0D428FE77CD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221-54B5-4E8F-BFEA-241BAB055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6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221-54B5-4E8F-BFEA-241BAB0553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0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.png"/><Relationship Id="rId7" Type="http://schemas.openxmlformats.org/officeDocument/2006/relationships/image" Target="../media/image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5700712" y="1742012"/>
            <a:ext cx="6886575" cy="2289782"/>
            <a:chOff x="0" y="1071668"/>
            <a:chExt cx="9182100" cy="3053043"/>
          </a:xfrm>
        </p:grpSpPr>
        <p:sp>
          <p:nvSpPr>
            <p:cNvPr id="6" name="TextBox 6"/>
            <p:cNvSpPr txBox="1"/>
            <p:nvPr/>
          </p:nvSpPr>
          <p:spPr>
            <a:xfrm>
              <a:off x="0" y="2559068"/>
              <a:ext cx="9182100" cy="1565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endParaRPr lang="en-US" sz="8799" dirty="0">
                <a:solidFill>
                  <a:srgbClr val="EAEAEA"/>
                </a:solidFill>
                <a:latin typeface="Gilda Display"/>
                <a:ea typeface="Gilda Display"/>
                <a:cs typeface="Gilda Display"/>
                <a:sym typeface="Gilda Display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71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endParaRPr lang="en-US" sz="4200" dirty="0">
                <a:solidFill>
                  <a:srgbClr val="EAEAEA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2EC7F12-BCCD-4F55-AE26-DC0A3C56E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632570"/>
            <a:ext cx="6886575" cy="3288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94088-D849-48D2-B554-71A59730F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5896"/>
            <a:ext cx="6400801" cy="41615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051D1A-56D2-429E-8D76-E80850A404A2}"/>
              </a:ext>
            </a:extLst>
          </p:cNvPr>
          <p:cNvSpPr txBox="1"/>
          <p:nvPr/>
        </p:nvSpPr>
        <p:spPr>
          <a:xfrm>
            <a:off x="831662" y="1220510"/>
            <a:ext cx="16154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</a:rPr>
              <a:t>Market Expansion Strategy for Smart Technologies (BD) Ltd.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9D62D6-568E-4AAD-827D-B21AF55EB955}"/>
              </a:ext>
            </a:extLst>
          </p:cNvPr>
          <p:cNvSpPr txBox="1"/>
          <p:nvPr/>
        </p:nvSpPr>
        <p:spPr>
          <a:xfrm>
            <a:off x="849743" y="3679763"/>
            <a:ext cx="92034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An Analysis of Cross-Border Distribution, Risk, and Strategic Partnerships</a:t>
            </a:r>
            <a:endParaRPr lang="en-US" sz="2400" dirty="0">
              <a:solidFill>
                <a:schemeClr val="bg2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8B2C1-A022-4C4B-906A-D6CE2884DB00}"/>
              </a:ext>
            </a:extLst>
          </p:cNvPr>
          <p:cNvSpPr txBox="1"/>
          <p:nvPr/>
        </p:nvSpPr>
        <p:spPr>
          <a:xfrm>
            <a:off x="885189" y="4492174"/>
            <a:ext cx="55156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2"/>
                </a:solidFill>
              </a:rPr>
              <a:t>Team Name: S-T Nexus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D15F3AE6-31F2-408C-8F0D-4AF246FE0F37}"/>
              </a:ext>
            </a:extLst>
          </p:cNvPr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58E900CD-6C05-4AB4-BF78-F741064D562C}"/>
              </a:ext>
            </a:extLst>
          </p:cNvPr>
          <p:cNvSpPr txBox="1"/>
          <p:nvPr/>
        </p:nvSpPr>
        <p:spPr>
          <a:xfrm>
            <a:off x="11505147" y="2129490"/>
            <a:ext cx="6706653" cy="10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Identify Smart Technologies’ foreign distribution market with minimal risk.</a:t>
            </a:r>
            <a:endParaRPr lang="en-US" sz="3000" b="1" dirty="0">
              <a:solidFill>
                <a:schemeClr val="bg1"/>
              </a:solidFill>
              <a:latin typeface="Muli Semi-Bold"/>
              <a:ea typeface="Muli Semi-Bold"/>
              <a:cs typeface="Muli Semi-Bold"/>
              <a:sym typeface="Muli Semi-Bold"/>
            </a:endParaRPr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492FD60B-74D5-4A2D-88B2-8A06601FDD42}"/>
              </a:ext>
            </a:extLst>
          </p:cNvPr>
          <p:cNvGrpSpPr/>
          <p:nvPr/>
        </p:nvGrpSpPr>
        <p:grpSpPr>
          <a:xfrm>
            <a:off x="1905000" y="8245350"/>
            <a:ext cx="1165350" cy="1165350"/>
            <a:chOff x="0" y="0"/>
            <a:chExt cx="1553800" cy="1553800"/>
          </a:xfrm>
        </p:grpSpPr>
        <p:grpSp>
          <p:nvGrpSpPr>
            <p:cNvPr id="31" name="Group 12">
              <a:extLst>
                <a:ext uri="{FF2B5EF4-FFF2-40B4-BE49-F238E27FC236}">
                  <a16:creationId xmlns:a16="http://schemas.microsoft.com/office/drawing/2014/main" id="{50181039-4428-42CF-93BE-5366EE6A92A4}"/>
                </a:ext>
              </a:extLst>
            </p:cNvPr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3273F942-BFAC-4F2A-B059-515CFA4127B2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</p:sp>
        </p:grp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F051A61B-0ED2-42D3-9C52-436241C5F8B6}"/>
                </a:ext>
              </a:extLst>
            </p:cNvPr>
            <p:cNvSpPr/>
            <p:nvPr/>
          </p:nvSpPr>
          <p:spPr>
            <a:xfrm>
              <a:off x="344143" y="344143"/>
              <a:ext cx="865513" cy="865513"/>
            </a:xfrm>
            <a:custGeom>
              <a:avLst/>
              <a:gdLst/>
              <a:ahLst/>
              <a:cxnLst/>
              <a:rect l="l" t="t" r="r" b="b"/>
              <a:pathLst>
                <a:path w="865513" h="865513">
                  <a:moveTo>
                    <a:pt x="0" y="0"/>
                  </a:moveTo>
                  <a:lnTo>
                    <a:pt x="865513" y="0"/>
                  </a:lnTo>
                  <a:lnTo>
                    <a:pt x="865513" y="865513"/>
                  </a:lnTo>
                  <a:lnTo>
                    <a:pt x="0" y="865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E624D6E8-85A8-46B5-8C7A-FBF7DE4BD7B2}"/>
              </a:ext>
            </a:extLst>
          </p:cNvPr>
          <p:cNvGrpSpPr/>
          <p:nvPr/>
        </p:nvGrpSpPr>
        <p:grpSpPr>
          <a:xfrm>
            <a:off x="1905000" y="3579039"/>
            <a:ext cx="1165350" cy="1165350"/>
            <a:chOff x="0" y="0"/>
            <a:chExt cx="1553800" cy="1553800"/>
          </a:xfrm>
        </p:grpSpPr>
        <p:grpSp>
          <p:nvGrpSpPr>
            <p:cNvPr id="35" name="Group 16">
              <a:extLst>
                <a:ext uri="{FF2B5EF4-FFF2-40B4-BE49-F238E27FC236}">
                  <a16:creationId xmlns:a16="http://schemas.microsoft.com/office/drawing/2014/main" id="{33C94D94-F8A3-41DE-9846-675427FC9D86}"/>
                </a:ext>
              </a:extLst>
            </p:cNvPr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9021D6D-74A1-4579-8D57-1D7F5A06FD1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</p:sp>
        </p:grp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27508E64-961F-4F68-B496-E9FD898AE2DB}"/>
                </a:ext>
              </a:extLst>
            </p:cNvPr>
            <p:cNvSpPr/>
            <p:nvPr/>
          </p:nvSpPr>
          <p:spPr>
            <a:xfrm>
              <a:off x="359038" y="355205"/>
              <a:ext cx="835723" cy="843390"/>
            </a:xfrm>
            <a:custGeom>
              <a:avLst/>
              <a:gdLst/>
              <a:ahLst/>
              <a:cxnLst/>
              <a:rect l="l" t="t" r="r" b="b"/>
              <a:pathLst>
                <a:path w="835723" h="843390">
                  <a:moveTo>
                    <a:pt x="0" y="0"/>
                  </a:moveTo>
                  <a:lnTo>
                    <a:pt x="835723" y="0"/>
                  </a:lnTo>
                  <a:lnTo>
                    <a:pt x="835723" y="843390"/>
                  </a:lnTo>
                  <a:lnTo>
                    <a:pt x="0" y="843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8" name="Group 19">
            <a:extLst>
              <a:ext uri="{FF2B5EF4-FFF2-40B4-BE49-F238E27FC236}">
                <a16:creationId xmlns:a16="http://schemas.microsoft.com/office/drawing/2014/main" id="{0F06B6A7-2811-4D11-A41A-69B7BA9A5405}"/>
              </a:ext>
            </a:extLst>
          </p:cNvPr>
          <p:cNvGrpSpPr/>
          <p:nvPr/>
        </p:nvGrpSpPr>
        <p:grpSpPr>
          <a:xfrm>
            <a:off x="1905000" y="2023602"/>
            <a:ext cx="1165350" cy="1165350"/>
            <a:chOff x="0" y="0"/>
            <a:chExt cx="1553800" cy="1553800"/>
          </a:xfrm>
        </p:grpSpPr>
        <p:grpSp>
          <p:nvGrpSpPr>
            <p:cNvPr id="39" name="Group 20">
              <a:extLst>
                <a:ext uri="{FF2B5EF4-FFF2-40B4-BE49-F238E27FC236}">
                  <a16:creationId xmlns:a16="http://schemas.microsoft.com/office/drawing/2014/main" id="{395D874C-AC8A-4EB8-96E8-8C047FDFF0F7}"/>
                </a:ext>
              </a:extLst>
            </p:cNvPr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08BA1047-EC16-4D4C-95A1-CE80952CCAE0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50AD318C-763B-411F-9421-432516762862}"/>
                </a:ext>
              </a:extLst>
            </p:cNvPr>
            <p:cNvSpPr/>
            <p:nvPr/>
          </p:nvSpPr>
          <p:spPr>
            <a:xfrm>
              <a:off x="416106" y="317556"/>
              <a:ext cx="721587" cy="918688"/>
            </a:xfrm>
            <a:custGeom>
              <a:avLst/>
              <a:gdLst/>
              <a:ahLst/>
              <a:cxnLst/>
              <a:rect l="l" t="t" r="r" b="b"/>
              <a:pathLst>
                <a:path w="721587" h="918688">
                  <a:moveTo>
                    <a:pt x="0" y="0"/>
                  </a:moveTo>
                  <a:lnTo>
                    <a:pt x="721588" y="0"/>
                  </a:lnTo>
                  <a:lnTo>
                    <a:pt x="721588" y="918688"/>
                  </a:lnTo>
                  <a:lnTo>
                    <a:pt x="0" y="918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2" name="Group 23">
            <a:extLst>
              <a:ext uri="{FF2B5EF4-FFF2-40B4-BE49-F238E27FC236}">
                <a16:creationId xmlns:a16="http://schemas.microsoft.com/office/drawing/2014/main" id="{92B53556-12A9-462D-A366-BFB37328403F}"/>
              </a:ext>
            </a:extLst>
          </p:cNvPr>
          <p:cNvGrpSpPr/>
          <p:nvPr/>
        </p:nvGrpSpPr>
        <p:grpSpPr>
          <a:xfrm>
            <a:off x="1905000" y="5134476"/>
            <a:ext cx="1165350" cy="1165350"/>
            <a:chOff x="0" y="0"/>
            <a:chExt cx="1553800" cy="1553800"/>
          </a:xfrm>
        </p:grpSpPr>
        <p:grpSp>
          <p:nvGrpSpPr>
            <p:cNvPr id="43" name="Group 24">
              <a:extLst>
                <a:ext uri="{FF2B5EF4-FFF2-40B4-BE49-F238E27FC236}">
                  <a16:creationId xmlns:a16="http://schemas.microsoft.com/office/drawing/2014/main" id="{5C5A1C6E-7F6D-4324-A3A9-E3B73965C9A5}"/>
                </a:ext>
              </a:extLst>
            </p:cNvPr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DE755D6C-EE6F-444D-A03E-DEA3A2B640D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182103CA-73D7-444A-9B32-42E63A385159}"/>
                </a:ext>
              </a:extLst>
            </p:cNvPr>
            <p:cNvSpPr/>
            <p:nvPr/>
          </p:nvSpPr>
          <p:spPr>
            <a:xfrm>
              <a:off x="296086" y="332802"/>
              <a:ext cx="961629" cy="888195"/>
            </a:xfrm>
            <a:custGeom>
              <a:avLst/>
              <a:gdLst/>
              <a:ahLst/>
              <a:cxnLst/>
              <a:rect l="l" t="t" r="r" b="b"/>
              <a:pathLst>
                <a:path w="961629" h="888195">
                  <a:moveTo>
                    <a:pt x="0" y="0"/>
                  </a:moveTo>
                  <a:lnTo>
                    <a:pt x="961628" y="0"/>
                  </a:lnTo>
                  <a:lnTo>
                    <a:pt x="961628" y="888195"/>
                  </a:lnTo>
                  <a:lnTo>
                    <a:pt x="0" y="88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27">
            <a:extLst>
              <a:ext uri="{FF2B5EF4-FFF2-40B4-BE49-F238E27FC236}">
                <a16:creationId xmlns:a16="http://schemas.microsoft.com/office/drawing/2014/main" id="{1C5F2A4E-9005-47FE-A897-35448C44A4FD}"/>
              </a:ext>
            </a:extLst>
          </p:cNvPr>
          <p:cNvGrpSpPr/>
          <p:nvPr/>
        </p:nvGrpSpPr>
        <p:grpSpPr>
          <a:xfrm>
            <a:off x="1905000" y="6689913"/>
            <a:ext cx="1165350" cy="1165350"/>
            <a:chOff x="0" y="0"/>
            <a:chExt cx="1553800" cy="1553800"/>
          </a:xfrm>
        </p:grpSpPr>
        <p:grpSp>
          <p:nvGrpSpPr>
            <p:cNvPr id="47" name="Group 28">
              <a:extLst>
                <a:ext uri="{FF2B5EF4-FFF2-40B4-BE49-F238E27FC236}">
                  <a16:creationId xmlns:a16="http://schemas.microsoft.com/office/drawing/2014/main" id="{6E7A1C17-2D4F-4EAF-9687-CA2D66060611}"/>
                </a:ext>
              </a:extLst>
            </p:cNvPr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7689418E-756B-4D46-B87B-51A02657F18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D5302259-B8D6-43F7-AE19-0361A13917A4}"/>
                </a:ext>
              </a:extLst>
            </p:cNvPr>
            <p:cNvSpPr/>
            <p:nvPr/>
          </p:nvSpPr>
          <p:spPr>
            <a:xfrm>
              <a:off x="238309" y="238309"/>
              <a:ext cx="1077181" cy="1077181"/>
            </a:xfrm>
            <a:custGeom>
              <a:avLst/>
              <a:gdLst/>
              <a:ahLst/>
              <a:cxnLst/>
              <a:rect l="l" t="t" r="r" b="b"/>
              <a:pathLst>
                <a:path w="1077181" h="1077181">
                  <a:moveTo>
                    <a:pt x="0" y="0"/>
                  </a:moveTo>
                  <a:lnTo>
                    <a:pt x="1077181" y="0"/>
                  </a:lnTo>
                  <a:lnTo>
                    <a:pt x="1077181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3741D58-D47C-4C94-BC3E-07A04810AE1C}"/>
              </a:ext>
            </a:extLst>
          </p:cNvPr>
          <p:cNvSpPr txBox="1"/>
          <p:nvPr/>
        </p:nvSpPr>
        <p:spPr>
          <a:xfrm>
            <a:off x="3788229" y="2164756"/>
            <a:ext cx="2558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C35DBF-9880-4AE9-91C2-229BC38B5C16}"/>
              </a:ext>
            </a:extLst>
          </p:cNvPr>
          <p:cNvSpPr txBox="1"/>
          <p:nvPr/>
        </p:nvSpPr>
        <p:spPr>
          <a:xfrm>
            <a:off x="3788229" y="183360"/>
            <a:ext cx="91422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Executive Summary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8CC5ABD-AA81-4C47-910E-674F5484632C}"/>
              </a:ext>
            </a:extLst>
          </p:cNvPr>
          <p:cNvCxnSpPr>
            <a:cxnSpLocks/>
          </p:cNvCxnSpPr>
          <p:nvPr/>
        </p:nvCxnSpPr>
        <p:spPr>
          <a:xfrm>
            <a:off x="8077200" y="2606277"/>
            <a:ext cx="281940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742E913-485E-44A2-BE0F-417B9C9A1C6B}"/>
              </a:ext>
            </a:extLst>
          </p:cNvPr>
          <p:cNvSpPr txBox="1"/>
          <p:nvPr/>
        </p:nvSpPr>
        <p:spPr>
          <a:xfrm>
            <a:off x="3657600" y="3661032"/>
            <a:ext cx="4487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Selected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en-US" sz="4800" dirty="0">
                <a:solidFill>
                  <a:schemeClr val="bg1"/>
                </a:solidFill>
              </a:rPr>
              <a:t>Country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1D22EE-B6F2-49D4-BC20-9CC80DD0C0B3}"/>
              </a:ext>
            </a:extLst>
          </p:cNvPr>
          <p:cNvSpPr txBox="1"/>
          <p:nvPr/>
        </p:nvSpPr>
        <p:spPr>
          <a:xfrm>
            <a:off x="11505147" y="3874254"/>
            <a:ext cx="1651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Malaysia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9EDFE8-FEA2-43B8-9A76-66277A01320E}"/>
              </a:ext>
            </a:extLst>
          </p:cNvPr>
          <p:cNvSpPr txBox="1"/>
          <p:nvPr/>
        </p:nvSpPr>
        <p:spPr>
          <a:xfrm>
            <a:off x="3788229" y="5255486"/>
            <a:ext cx="2842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Rationale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618A55-F95A-4E85-AF0D-415FAB92E3CC}"/>
              </a:ext>
            </a:extLst>
          </p:cNvPr>
          <p:cNvSpPr txBox="1"/>
          <p:nvPr/>
        </p:nvSpPr>
        <p:spPr>
          <a:xfrm>
            <a:off x="11613233" y="4932321"/>
            <a:ext cx="6548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Predictable regulation, strong </a:t>
            </a:r>
          </a:p>
          <a:p>
            <a:r>
              <a:rPr lang="en-US" sz="3200" dirty="0">
                <a:solidFill>
                  <a:schemeClr val="bg1"/>
                </a:solidFill>
              </a:rPr>
              <a:t>B2B ICT channels, and ASEAN gateway access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B12DE7-6E3D-4C0D-810C-A51C13394929}"/>
              </a:ext>
            </a:extLst>
          </p:cNvPr>
          <p:cNvSpPr txBox="1"/>
          <p:nvPr/>
        </p:nvSpPr>
        <p:spPr>
          <a:xfrm>
            <a:off x="3788229" y="6739164"/>
            <a:ext cx="3495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Entry Mode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866A5A-C1B9-459E-908A-E7A38548D054}"/>
              </a:ext>
            </a:extLst>
          </p:cNvPr>
          <p:cNvSpPr txBox="1"/>
          <p:nvPr/>
        </p:nvSpPr>
        <p:spPr>
          <a:xfrm>
            <a:off x="11630210" y="7097270"/>
            <a:ext cx="4149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Master partner strategy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AF15E8-0085-4829-AC8D-31C228634FCF}"/>
              </a:ext>
            </a:extLst>
          </p:cNvPr>
          <p:cNvSpPr txBox="1"/>
          <p:nvPr/>
        </p:nvSpPr>
        <p:spPr>
          <a:xfrm>
            <a:off x="3752088" y="8420485"/>
            <a:ext cx="5512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Expected Outcome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DE8F0A0-5A9A-4AD6-B0C4-7100B47F0782}"/>
              </a:ext>
            </a:extLst>
          </p:cNvPr>
          <p:cNvSpPr txBox="1"/>
          <p:nvPr/>
        </p:nvSpPr>
        <p:spPr>
          <a:xfrm>
            <a:off x="11505147" y="8294517"/>
            <a:ext cx="50598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Controlled entry and scalable</a:t>
            </a:r>
          </a:p>
          <a:p>
            <a:r>
              <a:rPr lang="en-US" sz="3200" dirty="0">
                <a:solidFill>
                  <a:schemeClr val="bg1"/>
                </a:solidFill>
              </a:rPr>
              <a:t> ASEAN expansion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4584FE-D362-4462-9F34-108E30EDAA37}"/>
              </a:ext>
            </a:extLst>
          </p:cNvPr>
          <p:cNvCxnSpPr>
            <a:cxnSpLocks/>
          </p:cNvCxnSpPr>
          <p:nvPr/>
        </p:nvCxnSpPr>
        <p:spPr>
          <a:xfrm>
            <a:off x="8144726" y="4178461"/>
            <a:ext cx="281940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6CD7893-79F6-4168-B921-F95BE018DB19}"/>
              </a:ext>
            </a:extLst>
          </p:cNvPr>
          <p:cNvCxnSpPr>
            <a:cxnSpLocks/>
          </p:cNvCxnSpPr>
          <p:nvPr/>
        </p:nvCxnSpPr>
        <p:spPr>
          <a:xfrm>
            <a:off x="8144726" y="5668460"/>
            <a:ext cx="281940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915BFA4-363F-4F23-9AA8-316A28299812}"/>
              </a:ext>
            </a:extLst>
          </p:cNvPr>
          <p:cNvCxnSpPr>
            <a:cxnSpLocks/>
          </p:cNvCxnSpPr>
          <p:nvPr/>
        </p:nvCxnSpPr>
        <p:spPr>
          <a:xfrm>
            <a:off x="8144726" y="7326929"/>
            <a:ext cx="281940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1B15523-8F83-4BF1-AD58-2E57601D8078}"/>
              </a:ext>
            </a:extLst>
          </p:cNvPr>
          <p:cNvCxnSpPr>
            <a:cxnSpLocks/>
          </p:cNvCxnSpPr>
          <p:nvPr/>
        </p:nvCxnSpPr>
        <p:spPr>
          <a:xfrm>
            <a:off x="9478367" y="8882150"/>
            <a:ext cx="1418233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D15F3AE6-31F2-408C-8F0D-4AF246FE0F37}"/>
              </a:ext>
            </a:extLst>
          </p:cNvPr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DBFF57-57E8-4803-90FD-7C4E16F5660F}"/>
              </a:ext>
            </a:extLst>
          </p:cNvPr>
          <p:cNvSpPr txBox="1"/>
          <p:nvPr/>
        </p:nvSpPr>
        <p:spPr>
          <a:xfrm>
            <a:off x="1058470" y="1326802"/>
            <a:ext cx="71711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Company Background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CD3D91-E655-4D87-9F6E-5EAF6446C6F1}"/>
              </a:ext>
            </a:extLst>
          </p:cNvPr>
          <p:cNvSpPr txBox="1"/>
          <p:nvPr/>
        </p:nvSpPr>
        <p:spPr>
          <a:xfrm>
            <a:off x="9683858" y="1353698"/>
            <a:ext cx="6797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Expansion Objectives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B97BA-02CB-4D74-B554-75AE9AC212D7}"/>
              </a:ext>
            </a:extLst>
          </p:cNvPr>
          <p:cNvSpPr txBox="1"/>
          <p:nvPr/>
        </p:nvSpPr>
        <p:spPr>
          <a:xfrm>
            <a:off x="1219200" y="3638097"/>
            <a:ext cx="7848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Largest ICT distributor in Bangladesh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100+ global brands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chemeClr val="bg1"/>
                </a:solidFill>
              </a:rPr>
              <a:t>Regional hubs (UAE, Singapore, China, Turkey)</a:t>
            </a:r>
            <a:endParaRPr lang="en-US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Strong B2B focus (resellers, SIs, enterprise, government)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0EA12D-88AB-4D98-82B3-5C84973B0817}"/>
              </a:ext>
            </a:extLst>
          </p:cNvPr>
          <p:cNvSpPr txBox="1"/>
          <p:nvPr/>
        </p:nvSpPr>
        <p:spPr>
          <a:xfrm>
            <a:off x="9694190" y="3499598"/>
            <a:ext cx="80604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Reduce over-dependence on domestic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Build ASEAN expansion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Enterprise IT and cloud service development Moving towards local assembly and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Addition of new premium brands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6746F6-76C0-4F9D-AC60-59CBD36B4AEA}"/>
              </a:ext>
            </a:extLst>
          </p:cNvPr>
          <p:cNvCxnSpPr/>
          <p:nvPr/>
        </p:nvCxnSpPr>
        <p:spPr>
          <a:xfrm>
            <a:off x="9067800" y="1638300"/>
            <a:ext cx="0" cy="6248400"/>
          </a:xfrm>
          <a:prstGeom prst="line">
            <a:avLst/>
          </a:prstGeom>
          <a:ln w="76200"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58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D15F3AE6-31F2-408C-8F0D-4AF246FE0F37}"/>
              </a:ext>
            </a:extLst>
          </p:cNvPr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1C881-59E4-4147-9C66-8022E44B9959}"/>
              </a:ext>
            </a:extLst>
          </p:cNvPr>
          <p:cNvSpPr/>
          <p:nvPr/>
        </p:nvSpPr>
        <p:spPr>
          <a:xfrm>
            <a:off x="2341536" y="1726998"/>
            <a:ext cx="2667000" cy="1143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Regulatory &amp; Institutional Environment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558FA-08A3-429F-B260-B0DA077E0F42}"/>
              </a:ext>
            </a:extLst>
          </p:cNvPr>
          <p:cNvSpPr txBox="1"/>
          <p:nvPr/>
        </p:nvSpPr>
        <p:spPr>
          <a:xfrm>
            <a:off x="3695700" y="15893"/>
            <a:ext cx="81304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</a:rPr>
              <a:t>Market Selection Criteria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F3D43F-D04E-4D5E-9F93-9EF8916D9E63}"/>
              </a:ext>
            </a:extLst>
          </p:cNvPr>
          <p:cNvSpPr/>
          <p:nvPr/>
        </p:nvSpPr>
        <p:spPr>
          <a:xfrm>
            <a:off x="2362200" y="3917993"/>
            <a:ext cx="2667000" cy="1143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Market &amp; Economic Attractiveness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241A0F-AA9A-44D5-A9FF-744E784CFE85}"/>
              </a:ext>
            </a:extLst>
          </p:cNvPr>
          <p:cNvSpPr/>
          <p:nvPr/>
        </p:nvSpPr>
        <p:spPr>
          <a:xfrm>
            <a:off x="2336370" y="6075569"/>
            <a:ext cx="2667000" cy="1143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Channel Ecosystem Readiness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7B96D5-07AD-4793-ACC8-EE17CE4EF367}"/>
              </a:ext>
            </a:extLst>
          </p:cNvPr>
          <p:cNvSpPr/>
          <p:nvPr/>
        </p:nvSpPr>
        <p:spPr>
          <a:xfrm>
            <a:off x="2336370" y="8209400"/>
            <a:ext cx="2667000" cy="1143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Cultural &amp; Strategic Fit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FB15D620-5FA2-4E59-B572-026AAD32A4E6}"/>
              </a:ext>
            </a:extLst>
          </p:cNvPr>
          <p:cNvSpPr/>
          <p:nvPr/>
        </p:nvSpPr>
        <p:spPr>
          <a:xfrm>
            <a:off x="5003370" y="2010212"/>
            <a:ext cx="3657600" cy="618688"/>
          </a:xfrm>
          <a:prstGeom prst="rightArrow">
            <a:avLst>
              <a:gd name="adj1" fmla="val 50000"/>
              <a:gd name="adj2" fmla="val 6002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255D747E-E713-4B87-82DB-7D33EC750C82}"/>
              </a:ext>
            </a:extLst>
          </p:cNvPr>
          <p:cNvSpPr/>
          <p:nvPr/>
        </p:nvSpPr>
        <p:spPr>
          <a:xfrm>
            <a:off x="5047281" y="4180149"/>
            <a:ext cx="3657600" cy="61868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236AB5B-357E-4E50-9DA1-D3CD823CEC03}"/>
              </a:ext>
            </a:extLst>
          </p:cNvPr>
          <p:cNvSpPr/>
          <p:nvPr/>
        </p:nvSpPr>
        <p:spPr>
          <a:xfrm>
            <a:off x="5014993" y="6321809"/>
            <a:ext cx="3657600" cy="61868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79D85DF-65EC-492F-A491-41F9B3D9C3B2}"/>
              </a:ext>
            </a:extLst>
          </p:cNvPr>
          <p:cNvSpPr/>
          <p:nvPr/>
        </p:nvSpPr>
        <p:spPr>
          <a:xfrm>
            <a:off x="5002078" y="8463470"/>
            <a:ext cx="3657600" cy="61868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B394B51-C606-45DD-9E22-4DF455DB9101}"/>
              </a:ext>
            </a:extLst>
          </p:cNvPr>
          <p:cNvSpPr/>
          <p:nvPr/>
        </p:nvSpPr>
        <p:spPr>
          <a:xfrm>
            <a:off x="8659678" y="1104900"/>
            <a:ext cx="6611319" cy="2133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Clarity of ICT regulations, licensing process, and enforcement predictability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CBB07C9-F402-4A19-8BF2-DBEACAE3B0D0}"/>
              </a:ext>
            </a:extLst>
          </p:cNvPr>
          <p:cNvSpPr/>
          <p:nvPr/>
        </p:nvSpPr>
        <p:spPr>
          <a:xfrm>
            <a:off x="8681634" y="3338510"/>
            <a:ext cx="6611319" cy="2133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ICT market size, growth potential, and customer purchasing power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0F7EB0-7E52-4274-BB45-D90E71E4202B}"/>
              </a:ext>
            </a:extLst>
          </p:cNvPr>
          <p:cNvSpPr/>
          <p:nvPr/>
        </p:nvSpPr>
        <p:spPr>
          <a:xfrm>
            <a:off x="8659677" y="5564353"/>
            <a:ext cx="6611319" cy="2133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Presence of mature resellers, system integrators, and enterprise buyers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DFE4D64-DD95-4001-99F8-BAEE6934797C}"/>
              </a:ext>
            </a:extLst>
          </p:cNvPr>
          <p:cNvSpPr/>
          <p:nvPr/>
        </p:nvSpPr>
        <p:spPr>
          <a:xfrm>
            <a:off x="8659676" y="7845540"/>
            <a:ext cx="6611319" cy="2133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Ease of doing business, relationship orientation, and ASEAN gateway potential</a:t>
            </a:r>
          </a:p>
        </p:txBody>
      </p:sp>
    </p:spTree>
    <p:extLst>
      <p:ext uri="{BB962C8B-B14F-4D97-AF65-F5344CB8AC3E}">
        <p14:creationId xmlns:p14="http://schemas.microsoft.com/office/powerpoint/2010/main" val="190269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489EE78-AAF3-4CD9-916C-E000C494AAC3}"/>
              </a:ext>
            </a:extLst>
          </p:cNvPr>
          <p:cNvSpPr txBox="1"/>
          <p:nvPr/>
        </p:nvSpPr>
        <p:spPr>
          <a:xfrm>
            <a:off x="1180034" y="1891112"/>
            <a:ext cx="383171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Ruda Heavy"/>
                <a:ea typeface="Ruda Heavy"/>
                <a:cs typeface="Ruda Heavy"/>
                <a:sym typeface="Ruda Heavy"/>
              </a:rPr>
              <a:t>Criteria	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424381-5713-4311-9980-DD66CAD31803}"/>
              </a:ext>
            </a:extLst>
          </p:cNvPr>
          <p:cNvSpPr txBox="1"/>
          <p:nvPr/>
        </p:nvSpPr>
        <p:spPr>
          <a:xfrm>
            <a:off x="1180132" y="2854118"/>
            <a:ext cx="3073284" cy="1086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</a:pPr>
            <a:r>
              <a:rPr lang="en-US" sz="21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Regulatory &amp; Institutional Environment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C0F9FC9-4B58-400F-AB1F-0D8186F5BDD9}"/>
              </a:ext>
            </a:extLst>
          </p:cNvPr>
          <p:cNvSpPr txBox="1"/>
          <p:nvPr/>
        </p:nvSpPr>
        <p:spPr>
          <a:xfrm>
            <a:off x="1143000" y="4721056"/>
            <a:ext cx="2398271" cy="108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</a:pPr>
            <a:r>
              <a:rPr lang="en-US" sz="21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Market &amp; Economic Attractiveness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9DAFFFA-EE2B-44B8-9B45-50178209C8F4}"/>
              </a:ext>
            </a:extLst>
          </p:cNvPr>
          <p:cNvSpPr txBox="1"/>
          <p:nvPr/>
        </p:nvSpPr>
        <p:spPr>
          <a:xfrm>
            <a:off x="1134329" y="6190787"/>
            <a:ext cx="2398271" cy="108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</a:pPr>
            <a:r>
              <a:rPr lang="en-US" sz="21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Channel Ecosystem Readiness	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234C63-71FB-4CB6-822F-57C0D47AE36F}"/>
              </a:ext>
            </a:extLst>
          </p:cNvPr>
          <p:cNvSpPr txBox="1"/>
          <p:nvPr/>
        </p:nvSpPr>
        <p:spPr>
          <a:xfrm>
            <a:off x="1117716" y="7984213"/>
            <a:ext cx="2398271" cy="715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</a:pPr>
            <a:r>
              <a:rPr lang="en-US" sz="21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Cultural &amp; Strategic Fit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6CB136-1D75-4C76-B86C-8CCC7C7F9EB6}"/>
              </a:ext>
            </a:extLst>
          </p:cNvPr>
          <p:cNvSpPr txBox="1"/>
          <p:nvPr/>
        </p:nvSpPr>
        <p:spPr>
          <a:xfrm>
            <a:off x="5148662" y="2003874"/>
            <a:ext cx="1964850" cy="76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3600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Malaysia</a:t>
            </a:r>
            <a:r>
              <a:rPr lang="en-US" sz="23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	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9969498-DB5A-4DE9-8E6C-FB990573E82E}"/>
              </a:ext>
            </a:extLst>
          </p:cNvPr>
          <p:cNvSpPr txBox="1"/>
          <p:nvPr/>
        </p:nvSpPr>
        <p:spPr>
          <a:xfrm>
            <a:off x="5148662" y="3027889"/>
            <a:ext cx="2471338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High – Clear ICT regulations, predictable enforcement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9B694D7-4296-4FBF-9D7C-5A0E445E36BB}"/>
              </a:ext>
            </a:extLst>
          </p:cNvPr>
          <p:cNvSpPr txBox="1"/>
          <p:nvPr/>
        </p:nvSpPr>
        <p:spPr>
          <a:xfrm>
            <a:off x="5148662" y="4721461"/>
            <a:ext cx="19648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High – Stable, strong ICT demand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0B02A3-C5CE-410D-915C-C5703A9975EA}"/>
              </a:ext>
            </a:extLst>
          </p:cNvPr>
          <p:cNvSpPr txBox="1"/>
          <p:nvPr/>
        </p:nvSpPr>
        <p:spPr>
          <a:xfrm>
            <a:off x="5148662" y="6415032"/>
            <a:ext cx="19648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High – Mature resellers &amp; SIs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68E692-6937-47B3-999C-96E3DD9AA023}"/>
              </a:ext>
            </a:extLst>
          </p:cNvPr>
          <p:cNvSpPr txBox="1"/>
          <p:nvPr/>
        </p:nvSpPr>
        <p:spPr>
          <a:xfrm>
            <a:off x="5148662" y="8108603"/>
            <a:ext cx="247133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High – Relationship-oriented, ASEAN hub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E4EC0BA-A016-4C16-A170-E31B53EC02D9}"/>
              </a:ext>
            </a:extLst>
          </p:cNvPr>
          <p:cNvSpPr txBox="1"/>
          <p:nvPr/>
        </p:nvSpPr>
        <p:spPr>
          <a:xfrm>
            <a:off x="13115099" y="2003874"/>
            <a:ext cx="1964850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3600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Vietnam</a:t>
            </a:r>
            <a:endParaRPr lang="en-US" sz="2399" b="1" dirty="0">
              <a:solidFill>
                <a:schemeClr val="bg1"/>
              </a:solidFill>
              <a:latin typeface="Ruda Bold"/>
              <a:ea typeface="Ruda Bold"/>
              <a:cs typeface="Ruda Bold"/>
              <a:sym typeface="Ruda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818918-1F2D-49E4-B848-04371B70F4CA}"/>
              </a:ext>
            </a:extLst>
          </p:cNvPr>
          <p:cNvSpPr txBox="1"/>
          <p:nvPr/>
        </p:nvSpPr>
        <p:spPr>
          <a:xfrm>
            <a:off x="13115099" y="3027889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Evolving, state-controlled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5270383-3198-4DB2-96E1-62CCE958092A}"/>
              </a:ext>
            </a:extLst>
          </p:cNvPr>
          <p:cNvSpPr txBox="1"/>
          <p:nvPr/>
        </p:nvSpPr>
        <p:spPr>
          <a:xfrm>
            <a:off x="13115099" y="4721461"/>
            <a:ext cx="19648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High – Fast-growing ICT sector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F3EEAB9-1CD6-4B22-A3F0-7D8348C0E318}"/>
              </a:ext>
            </a:extLst>
          </p:cNvPr>
          <p:cNvSpPr txBox="1"/>
          <p:nvPr/>
        </p:nvSpPr>
        <p:spPr>
          <a:xfrm>
            <a:off x="13115099" y="6415032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Medium–High – Growing tech channels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66AEE35-D37D-456D-990F-190F81113E9A}"/>
              </a:ext>
            </a:extLst>
          </p:cNvPr>
          <p:cNvSpPr txBox="1"/>
          <p:nvPr/>
        </p:nvSpPr>
        <p:spPr>
          <a:xfrm>
            <a:off x="13115099" y="8108603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Centralized decision culture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FFB30DC-162B-4E9F-B5A8-90DE58D0C391}"/>
              </a:ext>
            </a:extLst>
          </p:cNvPr>
          <p:cNvSpPr txBox="1"/>
          <p:nvPr/>
        </p:nvSpPr>
        <p:spPr>
          <a:xfrm>
            <a:off x="8904004" y="2003874"/>
            <a:ext cx="2449796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3600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Philippines</a:t>
            </a:r>
            <a:r>
              <a:rPr lang="en-US" sz="2399" b="1" dirty="0">
                <a:solidFill>
                  <a:schemeClr val="bg1"/>
                </a:solidFill>
                <a:latin typeface="Ruda Bold"/>
                <a:ea typeface="Ruda Bold"/>
                <a:cs typeface="Ruda Bold"/>
                <a:sym typeface="Ruda Bold"/>
              </a:rPr>
              <a:t>	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72A0987-D53C-465C-A392-AF3B3DF63035}"/>
              </a:ext>
            </a:extLst>
          </p:cNvPr>
          <p:cNvSpPr txBox="1"/>
          <p:nvPr/>
        </p:nvSpPr>
        <p:spPr>
          <a:xfrm>
            <a:off x="8904004" y="3027889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Improving but bureaucratic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EC3054A-ED98-4406-925A-97C70BD4B0D9}"/>
              </a:ext>
            </a:extLst>
          </p:cNvPr>
          <p:cNvSpPr txBox="1"/>
          <p:nvPr/>
        </p:nvSpPr>
        <p:spPr>
          <a:xfrm>
            <a:off x="8904004" y="4721461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Consumption-driven growth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CF568D4-5134-4F18-BA06-1FB524D4F4BD}"/>
              </a:ext>
            </a:extLst>
          </p:cNvPr>
          <p:cNvSpPr txBox="1"/>
          <p:nvPr/>
        </p:nvSpPr>
        <p:spPr>
          <a:xfrm>
            <a:off x="8904004" y="6415032"/>
            <a:ext cx="196485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Service-oriented channels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8867C4A-5A4E-4EBF-816C-DCC7A81CE6E9}"/>
              </a:ext>
            </a:extLst>
          </p:cNvPr>
          <p:cNvSpPr txBox="1"/>
          <p:nvPr/>
        </p:nvSpPr>
        <p:spPr>
          <a:xfrm>
            <a:off x="8904004" y="8108603"/>
            <a:ext cx="196485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dirty="0">
                <a:solidFill>
                  <a:schemeClr val="bg1"/>
                </a:solidFill>
                <a:latin typeface="Overpass"/>
                <a:ea typeface="Overpass"/>
                <a:cs typeface="Overpass"/>
                <a:sym typeface="Overpass"/>
              </a:rPr>
              <a:t>Medium – Informal, relationship-heavy	</a:t>
            </a:r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BC246390-70B3-48D1-AC6A-F7CB606699E8}"/>
              </a:ext>
            </a:extLst>
          </p:cNvPr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C0950A-382F-4310-8A77-054ED9E20738}"/>
              </a:ext>
            </a:extLst>
          </p:cNvPr>
          <p:cNvSpPr txBox="1"/>
          <p:nvPr/>
        </p:nvSpPr>
        <p:spPr>
          <a:xfrm>
            <a:off x="891602" y="9113103"/>
            <a:ext cx="12976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All three markets are viable, but Malaysia offers the strongest balance of  regulatory clarity, channel maturity, and strategic scalability for a first international entry.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9CCC07-6399-4426-84EE-6CD149B76E0F}"/>
              </a:ext>
            </a:extLst>
          </p:cNvPr>
          <p:cNvSpPr txBox="1"/>
          <p:nvPr/>
        </p:nvSpPr>
        <p:spPr>
          <a:xfrm>
            <a:off x="3810320" y="187316"/>
            <a:ext cx="98650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Country Comparison </a:t>
            </a:r>
          </a:p>
        </p:txBody>
      </p:sp>
    </p:spTree>
    <p:extLst>
      <p:ext uri="{BB962C8B-B14F-4D97-AF65-F5344CB8AC3E}">
        <p14:creationId xmlns:p14="http://schemas.microsoft.com/office/powerpoint/2010/main" val="260457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02105" y="5159256"/>
            <a:ext cx="2661253" cy="1838437"/>
            <a:chOff x="0" y="0"/>
            <a:chExt cx="721712" cy="609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2"/>
              <a:stretch>
                <a:fillRect t="-707" b="-70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33400" y="556040"/>
            <a:ext cx="14249400" cy="1144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EAEAEA"/>
                </a:solidFill>
                <a:latin typeface="+mj-lt"/>
                <a:ea typeface="Gilda Display"/>
                <a:cs typeface="Gilda Display"/>
                <a:sym typeface="Gilda Display"/>
              </a:rPr>
              <a:t>Analytical Comparison(PESTLE)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215975" y="2134634"/>
            <a:ext cx="5005225" cy="1692642"/>
            <a:chOff x="0" y="-12239"/>
            <a:chExt cx="4241800" cy="239754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2239"/>
              <a:ext cx="4241083" cy="58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EAEAE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Social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48589"/>
              <a:ext cx="4241800" cy="17367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Malaysia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 Professional, relationship-oriented, multicultural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Philippines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Highly informal, relationship-heavy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Vietnam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Hierarchical, centralized decisions</a:t>
              </a:r>
            </a:p>
          </p:txBody>
        </p:sp>
      </p:grpSp>
      <p:sp>
        <p:nvSpPr>
          <p:cNvPr id="19" name="Freeform 2">
            <a:extLst>
              <a:ext uri="{FF2B5EF4-FFF2-40B4-BE49-F238E27FC236}">
                <a16:creationId xmlns:a16="http://schemas.microsoft.com/office/drawing/2014/main" id="{7A58BAE8-AA92-4295-A8FD-CBDC91C639F7}"/>
              </a:ext>
            </a:extLst>
          </p:cNvPr>
          <p:cNvSpPr/>
          <p:nvPr/>
        </p:nvSpPr>
        <p:spPr>
          <a:xfrm>
            <a:off x="17068800" y="782037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1968AB-0B75-40EC-B817-D50B5B4D12E4}"/>
              </a:ext>
            </a:extLst>
          </p:cNvPr>
          <p:cNvSpPr/>
          <p:nvPr/>
        </p:nvSpPr>
        <p:spPr>
          <a:xfrm>
            <a:off x="796358" y="2265476"/>
            <a:ext cx="2667000" cy="1838437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3BCBD6-C5D6-4756-A09C-2F6A24A30A00}"/>
              </a:ext>
            </a:extLst>
          </p:cNvPr>
          <p:cNvSpPr/>
          <p:nvPr/>
        </p:nvSpPr>
        <p:spPr>
          <a:xfrm>
            <a:off x="9103440" y="2105179"/>
            <a:ext cx="2764710" cy="1838434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F4169D-E8A7-43D8-80E8-710CD537E7CB}"/>
              </a:ext>
            </a:extLst>
          </p:cNvPr>
          <p:cNvSpPr/>
          <p:nvPr/>
        </p:nvSpPr>
        <p:spPr>
          <a:xfrm>
            <a:off x="819884" y="7987908"/>
            <a:ext cx="2685316" cy="1838434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F76BF4-155F-4B03-BDEF-C78BCA543B20}"/>
              </a:ext>
            </a:extLst>
          </p:cNvPr>
          <p:cNvSpPr/>
          <p:nvPr/>
        </p:nvSpPr>
        <p:spPr>
          <a:xfrm>
            <a:off x="9201150" y="5109408"/>
            <a:ext cx="2667000" cy="1862214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13">
            <a:extLst>
              <a:ext uri="{FF2B5EF4-FFF2-40B4-BE49-F238E27FC236}">
                <a16:creationId xmlns:a16="http://schemas.microsoft.com/office/drawing/2014/main" id="{68DB54B2-FDF0-49CC-A5C6-CAD045F9FF09}"/>
              </a:ext>
            </a:extLst>
          </p:cNvPr>
          <p:cNvGrpSpPr/>
          <p:nvPr/>
        </p:nvGrpSpPr>
        <p:grpSpPr>
          <a:xfrm>
            <a:off x="3897780" y="5265239"/>
            <a:ext cx="4717015" cy="1692642"/>
            <a:chOff x="0" y="-12239"/>
            <a:chExt cx="4241800" cy="2397549"/>
          </a:xfrm>
        </p:grpSpPr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2E710709-A13B-46C8-89C8-D2CD7CFD26D2}"/>
                </a:ext>
              </a:extLst>
            </p:cNvPr>
            <p:cNvSpPr txBox="1"/>
            <p:nvPr/>
          </p:nvSpPr>
          <p:spPr>
            <a:xfrm>
              <a:off x="0" y="-12239"/>
              <a:ext cx="4241083" cy="58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EAEAE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Economic</a:t>
              </a:r>
            </a:p>
          </p:txBody>
        </p:sp>
        <p:sp>
          <p:nvSpPr>
            <p:cNvPr id="32" name="TextBox 15">
              <a:extLst>
                <a:ext uri="{FF2B5EF4-FFF2-40B4-BE49-F238E27FC236}">
                  <a16:creationId xmlns:a16="http://schemas.microsoft.com/office/drawing/2014/main" id="{5F9FE5F7-11A5-4570-8DF5-21E53525E6CA}"/>
                </a:ext>
              </a:extLst>
            </p:cNvPr>
            <p:cNvSpPr txBox="1"/>
            <p:nvPr/>
          </p:nvSpPr>
          <p:spPr>
            <a:xfrm>
              <a:off x="0" y="648589"/>
              <a:ext cx="4241800" cy="17367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Malaysia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Upper-middle-income economy, steady ICT spending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Philippines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Consumption-driven growth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Vietnam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Fast growth, cost-driven market</a:t>
              </a:r>
            </a:p>
          </p:txBody>
        </p:sp>
      </p:grpSp>
      <p:grpSp>
        <p:nvGrpSpPr>
          <p:cNvPr id="33" name="Group 13">
            <a:extLst>
              <a:ext uri="{FF2B5EF4-FFF2-40B4-BE49-F238E27FC236}">
                <a16:creationId xmlns:a16="http://schemas.microsoft.com/office/drawing/2014/main" id="{B02E9FD5-2D41-473B-9B51-F4A21AB4CFAE}"/>
              </a:ext>
            </a:extLst>
          </p:cNvPr>
          <p:cNvGrpSpPr/>
          <p:nvPr/>
        </p:nvGrpSpPr>
        <p:grpSpPr>
          <a:xfrm>
            <a:off x="4038600" y="2586606"/>
            <a:ext cx="4717015" cy="2200121"/>
            <a:chOff x="0" y="-12239"/>
            <a:chExt cx="4241800" cy="3116371"/>
          </a:xfrm>
        </p:grpSpPr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E55654A9-90C1-46DD-822A-445BFD8436D2}"/>
                </a:ext>
              </a:extLst>
            </p:cNvPr>
            <p:cNvSpPr txBox="1"/>
            <p:nvPr/>
          </p:nvSpPr>
          <p:spPr>
            <a:xfrm>
              <a:off x="0" y="-12239"/>
              <a:ext cx="4241083" cy="5487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EAEAE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Political</a:t>
              </a:r>
            </a:p>
          </p:txBody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35808F5C-3E58-4C12-9D47-750BE1F4C1CD}"/>
                </a:ext>
              </a:extLst>
            </p:cNvPr>
            <p:cNvSpPr txBox="1"/>
            <p:nvPr/>
          </p:nvSpPr>
          <p:spPr>
            <a:xfrm>
              <a:off x="0" y="648589"/>
              <a:ext cx="4241800" cy="2455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Malaysia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Stable government, pro-business ICT policies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Philippines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Policy shifts, regulatory delays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Vietnam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Strong state role in tech sector</a:t>
              </a:r>
            </a:p>
          </p:txBody>
        </p:sp>
      </p:grpSp>
      <p:grpSp>
        <p:nvGrpSpPr>
          <p:cNvPr id="36" name="Group 13">
            <a:extLst>
              <a:ext uri="{FF2B5EF4-FFF2-40B4-BE49-F238E27FC236}">
                <a16:creationId xmlns:a16="http://schemas.microsoft.com/office/drawing/2014/main" id="{9DFC86C2-BA6B-4DA7-BE1E-3ECCC8F92200}"/>
              </a:ext>
            </a:extLst>
          </p:cNvPr>
          <p:cNvGrpSpPr/>
          <p:nvPr/>
        </p:nvGrpSpPr>
        <p:grpSpPr>
          <a:xfrm>
            <a:off x="12286630" y="5298767"/>
            <a:ext cx="5199265" cy="1384865"/>
            <a:chOff x="0" y="-12239"/>
            <a:chExt cx="4675466" cy="1961598"/>
          </a:xfrm>
        </p:grpSpPr>
        <p:sp>
          <p:nvSpPr>
            <p:cNvPr id="37" name="TextBox 14">
              <a:extLst>
                <a:ext uri="{FF2B5EF4-FFF2-40B4-BE49-F238E27FC236}">
                  <a16:creationId xmlns:a16="http://schemas.microsoft.com/office/drawing/2014/main" id="{6002705D-8923-4281-B618-516C0C50102A}"/>
                </a:ext>
              </a:extLst>
            </p:cNvPr>
            <p:cNvSpPr txBox="1"/>
            <p:nvPr/>
          </p:nvSpPr>
          <p:spPr>
            <a:xfrm>
              <a:off x="0" y="-12239"/>
              <a:ext cx="4241083" cy="58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EAEAE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Legal</a:t>
              </a:r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A13F343C-7F29-4C21-A153-485E800631E7}"/>
                </a:ext>
              </a:extLst>
            </p:cNvPr>
            <p:cNvSpPr txBox="1"/>
            <p:nvPr/>
          </p:nvSpPr>
          <p:spPr>
            <a:xfrm>
              <a:off x="0" y="648589"/>
              <a:ext cx="4675466" cy="13007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Malaysia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Clear ICT, IP, and data protection laws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Philippines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Fragmented enforcement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Vietnam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Regulatory framework still evolving</a:t>
              </a:r>
            </a:p>
          </p:txBody>
        </p:sp>
      </p:grpSp>
      <p:grpSp>
        <p:nvGrpSpPr>
          <p:cNvPr id="39" name="Group 13">
            <a:extLst>
              <a:ext uri="{FF2B5EF4-FFF2-40B4-BE49-F238E27FC236}">
                <a16:creationId xmlns:a16="http://schemas.microsoft.com/office/drawing/2014/main" id="{9F5E0FB9-2DE5-4D79-B8AC-9BAC32495822}"/>
              </a:ext>
            </a:extLst>
          </p:cNvPr>
          <p:cNvGrpSpPr/>
          <p:nvPr/>
        </p:nvGrpSpPr>
        <p:grpSpPr>
          <a:xfrm>
            <a:off x="3896983" y="8060804"/>
            <a:ext cx="4717015" cy="1692642"/>
            <a:chOff x="0" y="-12238"/>
            <a:chExt cx="4241800" cy="2397549"/>
          </a:xfrm>
        </p:grpSpPr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5317B2F3-1410-43EB-B444-917CC97C194E}"/>
                </a:ext>
              </a:extLst>
            </p:cNvPr>
            <p:cNvSpPr txBox="1"/>
            <p:nvPr/>
          </p:nvSpPr>
          <p:spPr>
            <a:xfrm>
              <a:off x="0" y="-12238"/>
              <a:ext cx="4241083" cy="58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9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EAEAE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Technological</a:t>
              </a:r>
            </a:p>
          </p:txBody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0AD049A6-EC54-47D5-8D88-26041A4C8EE6}"/>
                </a:ext>
              </a:extLst>
            </p:cNvPr>
            <p:cNvSpPr txBox="1"/>
            <p:nvPr/>
          </p:nvSpPr>
          <p:spPr>
            <a:xfrm>
              <a:off x="0" y="648589"/>
              <a:ext cx="4241800" cy="1736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Malaysia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Advanced digital infrastructure, cloud &amp; enterprise adoption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Philippines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Service-led tech usage</a:t>
              </a:r>
            </a:p>
            <a:p>
              <a:pPr marL="0" lvl="0" indent="0" algn="l">
                <a:lnSpc>
                  <a:spcPts val="2434"/>
                </a:lnSpc>
              </a:pPr>
              <a:r>
                <a:rPr lang="en-US" sz="1872" b="1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Vietnam</a:t>
              </a:r>
              <a:r>
                <a:rPr lang="en-US" sz="1872" dirty="0">
                  <a:solidFill>
                    <a:srgbClr val="C6CAD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: Manufacturing-focused tech growth</a:t>
              </a:r>
            </a:p>
          </p:txBody>
        </p:sp>
      </p:grpSp>
      <p:sp>
        <p:nvSpPr>
          <p:cNvPr id="42" name="Freeform 2">
            <a:extLst>
              <a:ext uri="{FF2B5EF4-FFF2-40B4-BE49-F238E27FC236}">
                <a16:creationId xmlns:a16="http://schemas.microsoft.com/office/drawing/2014/main" id="{59553C67-4FC6-45BB-A4D8-552AB749E29F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5EB06F2-B374-49C1-8258-C210A371C67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5122" name="Picture 2" descr="7,800+ Malaysia Flag Stock Photos ...">
            <a:extLst>
              <a:ext uri="{FF2B5EF4-FFF2-40B4-BE49-F238E27FC236}">
                <a16:creationId xmlns:a16="http://schemas.microsoft.com/office/drawing/2014/main" id="{3D175977-F24B-4C0C-9400-EE987629B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829300" y="2273947"/>
            <a:ext cx="533400" cy="35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BA5F1E-39CF-48A6-8822-9FDE49DAE185}"/>
              </a:ext>
            </a:extLst>
          </p:cNvPr>
          <p:cNvSpPr txBox="1"/>
          <p:nvPr/>
        </p:nvSpPr>
        <p:spPr>
          <a:xfrm>
            <a:off x="685800" y="470237"/>
            <a:ext cx="1135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Final Country Selection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3718-5416-4943-B10D-DC0A2E22EF59}"/>
              </a:ext>
            </a:extLst>
          </p:cNvPr>
          <p:cNvSpPr txBox="1"/>
          <p:nvPr/>
        </p:nvSpPr>
        <p:spPr>
          <a:xfrm>
            <a:off x="709863" y="2095500"/>
            <a:ext cx="5210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Selected Market: Malaysia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77DC7-A783-4199-ACF2-482F0F917973}"/>
              </a:ext>
            </a:extLst>
          </p:cNvPr>
          <p:cNvSpPr txBox="1"/>
          <p:nvPr/>
        </p:nvSpPr>
        <p:spPr>
          <a:xfrm>
            <a:off x="685800" y="3481000"/>
            <a:ext cx="4570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Why Malaysia?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38B85D-77BD-430A-A7CE-5E3E424525A7}"/>
              </a:ext>
            </a:extLst>
          </p:cNvPr>
          <p:cNvSpPr/>
          <p:nvPr/>
        </p:nvSpPr>
        <p:spPr>
          <a:xfrm>
            <a:off x="533400" y="4740212"/>
            <a:ext cx="6705600" cy="291788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2800" dirty="0"/>
              <a:t>Lowest regulatory and institutional risk</a:t>
            </a:r>
          </a:p>
          <a:p>
            <a:pPr algn="ctr"/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Strong B2B ICT channel and vendor fit</a:t>
            </a:r>
          </a:p>
          <a:p>
            <a:pPr algn="ctr"/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Strategic gateway to ASEAN expansion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516C4-E1A3-4915-B806-CF2B85E79E05}"/>
              </a:ext>
            </a:extLst>
          </p:cNvPr>
          <p:cNvSpPr txBox="1"/>
          <p:nvPr/>
        </p:nvSpPr>
        <p:spPr>
          <a:xfrm>
            <a:off x="9677400" y="3467100"/>
            <a:ext cx="5026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Why not others ?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2FD611-996C-4492-9126-E2F1FDBE13C4}"/>
              </a:ext>
            </a:extLst>
          </p:cNvPr>
          <p:cNvSpPr/>
          <p:nvPr/>
        </p:nvSpPr>
        <p:spPr>
          <a:xfrm>
            <a:off x="8991600" y="4636344"/>
            <a:ext cx="6934200" cy="302175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Vietnam</a:t>
            </a:r>
            <a:r>
              <a:rPr lang="en-US" sz="2800" dirty="0"/>
              <a:t> – High growth but higher regulatory complexity</a:t>
            </a:r>
          </a:p>
          <a:p>
            <a:endParaRPr lang="en-US" sz="2800" dirty="0"/>
          </a:p>
          <a:p>
            <a:r>
              <a:rPr lang="en-US" sz="3200" b="1" dirty="0"/>
              <a:t>Philippines</a:t>
            </a:r>
            <a:r>
              <a:rPr lang="en-US" sz="2800" dirty="0"/>
              <a:t> – Demand-driven market with execution uncertainty</a:t>
            </a:r>
          </a:p>
        </p:txBody>
      </p:sp>
    </p:spTree>
    <p:extLst>
      <p:ext uri="{BB962C8B-B14F-4D97-AF65-F5344CB8AC3E}">
        <p14:creationId xmlns:p14="http://schemas.microsoft.com/office/powerpoint/2010/main" val="309120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5EB06F2-B374-49C1-8258-C210A371C67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81D10-B45A-4B14-8381-75BC9DE4E41B}"/>
              </a:ext>
            </a:extLst>
          </p:cNvPr>
          <p:cNvSpPr txBox="1"/>
          <p:nvPr/>
        </p:nvSpPr>
        <p:spPr>
          <a:xfrm>
            <a:off x="457200" y="342900"/>
            <a:ext cx="1427890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0" i="0" dirty="0">
                <a:solidFill>
                  <a:schemeClr val="bg1"/>
                </a:solidFill>
                <a:effectLst/>
                <a:latin typeface="Google Sans"/>
              </a:rPr>
              <a:t>Strategic Entry Mode Selection</a:t>
            </a:r>
            <a:endParaRPr lang="en-US" sz="8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812E4D-2CDD-482C-AA5C-DF3AE69B0106}"/>
              </a:ext>
            </a:extLst>
          </p:cNvPr>
          <p:cNvSpPr txBox="1"/>
          <p:nvPr/>
        </p:nvSpPr>
        <p:spPr>
          <a:xfrm>
            <a:off x="457200" y="1593354"/>
            <a:ext cx="11506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Google Sans"/>
              </a:rPr>
              <a:t>Based on the 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Google Sans"/>
              </a:rPr>
              <a:t>Transaction Cost Economics (TCE)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Google Sans"/>
              </a:rPr>
              <a:t> framework, </a:t>
            </a:r>
          </a:p>
          <a:p>
            <a:r>
              <a:rPr lang="en-US" sz="2800" b="0" i="0" dirty="0">
                <a:solidFill>
                  <a:schemeClr val="bg1"/>
                </a:solidFill>
                <a:effectLst/>
                <a:latin typeface="Google Sans"/>
              </a:rPr>
              <a:t>we selected: Master Partner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8B7EE7-E174-4B80-8E01-EA6A96A8B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Strategic Alliance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B5B51-A6E0-49F1-9DC5-56E17A4A4601}"/>
              </a:ext>
            </a:extLst>
          </p:cNvPr>
          <p:cNvSpPr txBox="1"/>
          <p:nvPr/>
        </p:nvSpPr>
        <p:spPr>
          <a:xfrm>
            <a:off x="572178" y="3056749"/>
            <a:ext cx="4943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Justifications:</a:t>
            </a:r>
            <a:r>
              <a:rPr lang="en-US" sz="6000" b="1" u="sng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DCF35E-7497-4542-AF54-4498A46FF901}"/>
              </a:ext>
            </a:extLst>
          </p:cNvPr>
          <p:cNvGrpSpPr/>
          <p:nvPr/>
        </p:nvGrpSpPr>
        <p:grpSpPr>
          <a:xfrm>
            <a:off x="593306" y="4432360"/>
            <a:ext cx="6417096" cy="1524549"/>
            <a:chOff x="533401" y="5371551"/>
            <a:chExt cx="6417096" cy="152454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C78E74-697E-4293-8014-E5107556E3E1}"/>
                </a:ext>
              </a:extLst>
            </p:cNvPr>
            <p:cNvGrpSpPr/>
            <p:nvPr/>
          </p:nvGrpSpPr>
          <p:grpSpPr>
            <a:xfrm rot="-5400000">
              <a:off x="3207245" y="2889718"/>
              <a:ext cx="1069407" cy="6417096"/>
              <a:chOff x="0" y="-47625"/>
              <a:chExt cx="742659" cy="4456411"/>
            </a:xfrm>
          </p:grpSpPr>
          <p:sp>
            <p:nvSpPr>
              <p:cNvPr id="17" name="Freeform 22">
                <a:extLst>
                  <a:ext uri="{FF2B5EF4-FFF2-40B4-BE49-F238E27FC236}">
                    <a16:creationId xmlns:a16="http://schemas.microsoft.com/office/drawing/2014/main" id="{164D67A2-E030-4F15-9158-81479ECC5986}"/>
                  </a:ext>
                </a:extLst>
              </p:cNvPr>
              <p:cNvSpPr/>
              <p:nvPr/>
            </p:nvSpPr>
            <p:spPr>
              <a:xfrm>
                <a:off x="0" y="1"/>
                <a:ext cx="742659" cy="4408785"/>
              </a:xfrm>
              <a:custGeom>
                <a:avLst/>
                <a:gdLst/>
                <a:ahLst/>
                <a:cxnLst/>
                <a:rect l="l" t="t" r="r" b="b"/>
                <a:pathLst>
                  <a:path w="742659" h="4408785">
                    <a:moveTo>
                      <a:pt x="247687" y="4389716"/>
                    </a:moveTo>
                    <a:cubicBezTo>
                      <a:pt x="285761" y="4401230"/>
                      <a:pt x="329047" y="4408785"/>
                      <a:pt x="371530" y="4408785"/>
                    </a:cubicBezTo>
                    <a:cubicBezTo>
                      <a:pt x="414014" y="4408785"/>
                      <a:pt x="454895" y="4402308"/>
                      <a:pt x="492567" y="4390794"/>
                    </a:cubicBezTo>
                    <a:cubicBezTo>
                      <a:pt x="493370" y="4390435"/>
                      <a:pt x="494171" y="4390435"/>
                      <a:pt x="494973" y="4390075"/>
                    </a:cubicBezTo>
                    <a:cubicBezTo>
                      <a:pt x="636451" y="4344020"/>
                      <a:pt x="740656" y="4222406"/>
                      <a:pt x="742659" y="4000406"/>
                    </a:cubicBezTo>
                    <a:lnTo>
                      <a:pt x="742659" y="0"/>
                    </a:lnTo>
                    <a:lnTo>
                      <a:pt x="0" y="0"/>
                    </a:lnTo>
                    <a:lnTo>
                      <a:pt x="0" y="3997437"/>
                    </a:lnTo>
                    <a:cubicBezTo>
                      <a:pt x="2004" y="4223125"/>
                      <a:pt x="104606" y="4344740"/>
                      <a:pt x="247687" y="438971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TextBox 23">
                <a:extLst>
                  <a:ext uri="{FF2B5EF4-FFF2-40B4-BE49-F238E27FC236}">
                    <a16:creationId xmlns:a16="http://schemas.microsoft.com/office/drawing/2014/main" id="{3980A031-8152-42C5-9C7A-E843860708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42659" cy="43294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3210D68-12F4-4826-86D9-7E5F22139822}"/>
                </a:ext>
              </a:extLst>
            </p:cNvPr>
            <p:cNvGrpSpPr/>
            <p:nvPr/>
          </p:nvGrpSpPr>
          <p:grpSpPr>
            <a:xfrm>
              <a:off x="1108527" y="5371551"/>
              <a:ext cx="5084596" cy="1524549"/>
              <a:chOff x="1108527" y="5371551"/>
              <a:chExt cx="5084596" cy="152454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E999142-B8FC-4F60-9608-9187366B8266}"/>
                  </a:ext>
                </a:extLst>
              </p:cNvPr>
              <p:cNvGrpSpPr/>
              <p:nvPr/>
            </p:nvGrpSpPr>
            <p:grpSpPr>
              <a:xfrm>
                <a:off x="1108527" y="5371551"/>
                <a:ext cx="1524549" cy="1524549"/>
                <a:chOff x="0" y="0"/>
                <a:chExt cx="812800" cy="812800"/>
              </a:xfrm>
            </p:grpSpPr>
            <p:sp>
              <p:nvSpPr>
                <p:cNvPr id="15" name="Freeform 40">
                  <a:extLst>
                    <a:ext uri="{FF2B5EF4-FFF2-40B4-BE49-F238E27FC236}">
                      <a16:creationId xmlns:a16="http://schemas.microsoft.com/office/drawing/2014/main" id="{CF7C09FF-7FCC-46CA-B265-9917A358B14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1430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6" name="TextBox 41">
                  <a:extLst>
                    <a:ext uri="{FF2B5EF4-FFF2-40B4-BE49-F238E27FC236}">
                      <a16:creationId xmlns:a16="http://schemas.microsoft.com/office/drawing/2014/main" id="{91BA51A3-B3E5-47DC-BCFA-08A1C3E0B2D1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1960"/>
                    </a:lnSpc>
                  </a:pPr>
                  <a:endParaRPr/>
                </a:p>
              </p:txBody>
            </p:sp>
          </p:grpSp>
          <p:sp>
            <p:nvSpPr>
              <p:cNvPr id="13" name="TextBox 65">
                <a:extLst>
                  <a:ext uri="{FF2B5EF4-FFF2-40B4-BE49-F238E27FC236}">
                    <a16:creationId xmlns:a16="http://schemas.microsoft.com/office/drawing/2014/main" id="{220AFA17-6684-4D15-83D1-DDBBF577CFDD}"/>
                  </a:ext>
                </a:extLst>
              </p:cNvPr>
              <p:cNvSpPr txBox="1"/>
              <p:nvPr/>
            </p:nvSpPr>
            <p:spPr>
              <a:xfrm>
                <a:off x="2919869" y="5981151"/>
                <a:ext cx="3273254" cy="29283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2200"/>
                  </a:lnSpc>
                </a:pPr>
                <a:r>
                  <a:rPr lang="en-US" sz="2400" b="1" i="0" dirty="0">
                    <a:solidFill>
                      <a:schemeClr val="bg1"/>
                    </a:solidFill>
                    <a:effectLst/>
                    <a:latin typeface="Google Sans"/>
                  </a:rPr>
                  <a:t>Risk &amp; Capital Mitigation</a:t>
                </a:r>
                <a:endParaRPr lang="en-US" sz="2400" b="1" dirty="0">
                  <a:solidFill>
                    <a:schemeClr val="bg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endParaRPr>
              </a:p>
            </p:txBody>
          </p:sp>
          <p:sp>
            <p:nvSpPr>
              <p:cNvPr id="14" name="TextBox 71">
                <a:extLst>
                  <a:ext uri="{FF2B5EF4-FFF2-40B4-BE49-F238E27FC236}">
                    <a16:creationId xmlns:a16="http://schemas.microsoft.com/office/drawing/2014/main" id="{787C912F-516C-4C98-9946-F507C8ABFCBA}"/>
                  </a:ext>
                </a:extLst>
              </p:cNvPr>
              <p:cNvSpPr txBox="1"/>
              <p:nvPr/>
            </p:nvSpPr>
            <p:spPr>
              <a:xfrm>
                <a:off x="1534235" y="5846170"/>
                <a:ext cx="955913" cy="67967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5280"/>
                  </a:lnSpc>
                </a:pPr>
                <a:r>
                  <a:rPr lang="en-US" sz="4800" b="1" dirty="0">
                    <a:solidFill>
                      <a:schemeClr val="bg1"/>
                    </a:solidFill>
                    <a:latin typeface="Bricolage Grotesque Bold"/>
                    <a:ea typeface="Bricolage Grotesque Bold"/>
                    <a:cs typeface="Bricolage Grotesque Bold"/>
                    <a:sym typeface="Bricolage Grotesque Bold"/>
                  </a:rPr>
                  <a:t>01</a:t>
                </a: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F5CA614-2B27-43C0-BF5B-DB8E672D10DC}"/>
              </a:ext>
            </a:extLst>
          </p:cNvPr>
          <p:cNvGrpSpPr/>
          <p:nvPr/>
        </p:nvGrpSpPr>
        <p:grpSpPr>
          <a:xfrm>
            <a:off x="529596" y="6326905"/>
            <a:ext cx="6417095" cy="1524549"/>
            <a:chOff x="517105" y="7505151"/>
            <a:chExt cx="6417095" cy="152454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149F8C7-9103-452C-96D1-92C9504B04E9}"/>
                </a:ext>
              </a:extLst>
            </p:cNvPr>
            <p:cNvGrpSpPr/>
            <p:nvPr/>
          </p:nvGrpSpPr>
          <p:grpSpPr>
            <a:xfrm rot="-5400000">
              <a:off x="3190949" y="5011253"/>
              <a:ext cx="1069407" cy="6417095"/>
              <a:chOff x="0" y="-47625"/>
              <a:chExt cx="742659" cy="4456410"/>
            </a:xfrm>
          </p:grpSpPr>
          <p:sp>
            <p:nvSpPr>
              <p:cNvPr id="25" name="Freeform 22">
                <a:extLst>
                  <a:ext uri="{FF2B5EF4-FFF2-40B4-BE49-F238E27FC236}">
                    <a16:creationId xmlns:a16="http://schemas.microsoft.com/office/drawing/2014/main" id="{433D25A8-821B-4453-85B2-F9F9665B1C3F}"/>
                  </a:ext>
                </a:extLst>
              </p:cNvPr>
              <p:cNvSpPr/>
              <p:nvPr/>
            </p:nvSpPr>
            <p:spPr>
              <a:xfrm>
                <a:off x="0" y="0"/>
                <a:ext cx="742659" cy="4408785"/>
              </a:xfrm>
              <a:custGeom>
                <a:avLst/>
                <a:gdLst/>
                <a:ahLst/>
                <a:cxnLst/>
                <a:rect l="l" t="t" r="r" b="b"/>
                <a:pathLst>
                  <a:path w="742659" h="4408785">
                    <a:moveTo>
                      <a:pt x="247687" y="4389716"/>
                    </a:moveTo>
                    <a:cubicBezTo>
                      <a:pt x="285761" y="4401230"/>
                      <a:pt x="329047" y="4408785"/>
                      <a:pt x="371530" y="4408785"/>
                    </a:cubicBezTo>
                    <a:cubicBezTo>
                      <a:pt x="414014" y="4408785"/>
                      <a:pt x="454895" y="4402308"/>
                      <a:pt x="492567" y="4390794"/>
                    </a:cubicBezTo>
                    <a:cubicBezTo>
                      <a:pt x="493370" y="4390435"/>
                      <a:pt x="494171" y="4390435"/>
                      <a:pt x="494973" y="4390075"/>
                    </a:cubicBezTo>
                    <a:cubicBezTo>
                      <a:pt x="636451" y="4344020"/>
                      <a:pt x="740656" y="4222406"/>
                      <a:pt x="742659" y="4000406"/>
                    </a:cubicBezTo>
                    <a:lnTo>
                      <a:pt x="742659" y="0"/>
                    </a:lnTo>
                    <a:lnTo>
                      <a:pt x="0" y="0"/>
                    </a:lnTo>
                    <a:lnTo>
                      <a:pt x="0" y="3997437"/>
                    </a:lnTo>
                    <a:cubicBezTo>
                      <a:pt x="2004" y="4223125"/>
                      <a:pt x="104606" y="4344740"/>
                      <a:pt x="247687" y="438971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TextBox 23">
                <a:extLst>
                  <a:ext uri="{FF2B5EF4-FFF2-40B4-BE49-F238E27FC236}">
                    <a16:creationId xmlns:a16="http://schemas.microsoft.com/office/drawing/2014/main" id="{17EC3400-CC33-4DBF-A742-6BAD63111AC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42659" cy="43294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B98038-01D1-43AD-8728-0E9039BBBD87}"/>
                </a:ext>
              </a:extLst>
            </p:cNvPr>
            <p:cNvGrpSpPr/>
            <p:nvPr/>
          </p:nvGrpSpPr>
          <p:grpSpPr>
            <a:xfrm>
              <a:off x="1092232" y="7505151"/>
              <a:ext cx="1524549" cy="1524549"/>
              <a:chOff x="0" y="0"/>
              <a:chExt cx="812800" cy="812800"/>
            </a:xfrm>
          </p:grpSpPr>
          <p:sp>
            <p:nvSpPr>
              <p:cNvPr id="28" name="Freeform 40">
                <a:extLst>
                  <a:ext uri="{FF2B5EF4-FFF2-40B4-BE49-F238E27FC236}">
                    <a16:creationId xmlns:a16="http://schemas.microsoft.com/office/drawing/2014/main" id="{E87C657E-1F0D-40DC-9C4F-E9AF7EEB04E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TextBox 41">
                <a:extLst>
                  <a:ext uri="{FF2B5EF4-FFF2-40B4-BE49-F238E27FC236}">
                    <a16:creationId xmlns:a16="http://schemas.microsoft.com/office/drawing/2014/main" id="{784F302B-03EA-4A2F-BD15-62CCE6AA4A9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0" name="TextBox 65">
              <a:extLst>
                <a:ext uri="{FF2B5EF4-FFF2-40B4-BE49-F238E27FC236}">
                  <a16:creationId xmlns:a16="http://schemas.microsoft.com/office/drawing/2014/main" id="{25032741-6153-4462-843D-1D3AADACC580}"/>
                </a:ext>
              </a:extLst>
            </p:cNvPr>
            <p:cNvSpPr txBox="1"/>
            <p:nvPr/>
          </p:nvSpPr>
          <p:spPr>
            <a:xfrm>
              <a:off x="2898946" y="8060969"/>
              <a:ext cx="2955963" cy="2928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en-US" sz="2400" b="1" i="0" dirty="0">
                  <a:solidFill>
                    <a:schemeClr val="bg1"/>
                  </a:solidFill>
                  <a:effectLst/>
                  <a:latin typeface="Google Sans"/>
                </a:rPr>
                <a:t>Operational Agility</a:t>
              </a:r>
              <a:endParaRPr lang="en-US" sz="2400" b="1" dirty="0">
                <a:solidFill>
                  <a:schemeClr val="bg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endParaRPr>
            </a:p>
          </p:txBody>
        </p:sp>
        <p:sp>
          <p:nvSpPr>
            <p:cNvPr id="31" name="TextBox 71">
              <a:extLst>
                <a:ext uri="{FF2B5EF4-FFF2-40B4-BE49-F238E27FC236}">
                  <a16:creationId xmlns:a16="http://schemas.microsoft.com/office/drawing/2014/main" id="{6C3A4A3E-2E6A-4F00-9CFF-E3149385B691}"/>
                </a:ext>
              </a:extLst>
            </p:cNvPr>
            <p:cNvSpPr txBox="1"/>
            <p:nvPr/>
          </p:nvSpPr>
          <p:spPr>
            <a:xfrm>
              <a:off x="1517940" y="7979770"/>
              <a:ext cx="955913" cy="6796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5280"/>
                </a:lnSpc>
              </a:pPr>
              <a:r>
                <a:rPr lang="en-US" sz="4800" b="1" dirty="0">
                  <a:solidFill>
                    <a:schemeClr val="bg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9872B68-2FBE-45E7-B1E7-B8046F181FEF}"/>
              </a:ext>
            </a:extLst>
          </p:cNvPr>
          <p:cNvGrpSpPr/>
          <p:nvPr/>
        </p:nvGrpSpPr>
        <p:grpSpPr>
          <a:xfrm>
            <a:off x="517105" y="8114751"/>
            <a:ext cx="6417095" cy="1524549"/>
            <a:chOff x="685800" y="9181551"/>
            <a:chExt cx="6417095" cy="1524549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F757C3A-D414-4E28-9889-3E6B2E151B77}"/>
                </a:ext>
              </a:extLst>
            </p:cNvPr>
            <p:cNvGrpSpPr/>
            <p:nvPr/>
          </p:nvGrpSpPr>
          <p:grpSpPr>
            <a:xfrm rot="-5400000">
              <a:off x="3359644" y="6687653"/>
              <a:ext cx="1069407" cy="6417095"/>
              <a:chOff x="0" y="-47625"/>
              <a:chExt cx="742659" cy="4456410"/>
            </a:xfrm>
          </p:grpSpPr>
          <p:sp>
            <p:nvSpPr>
              <p:cNvPr id="33" name="Freeform 22">
                <a:extLst>
                  <a:ext uri="{FF2B5EF4-FFF2-40B4-BE49-F238E27FC236}">
                    <a16:creationId xmlns:a16="http://schemas.microsoft.com/office/drawing/2014/main" id="{D1F3732F-6D0C-49BC-AAD8-6CB465E674CA}"/>
                  </a:ext>
                </a:extLst>
              </p:cNvPr>
              <p:cNvSpPr/>
              <p:nvPr/>
            </p:nvSpPr>
            <p:spPr>
              <a:xfrm>
                <a:off x="0" y="0"/>
                <a:ext cx="742659" cy="4408785"/>
              </a:xfrm>
              <a:custGeom>
                <a:avLst/>
                <a:gdLst/>
                <a:ahLst/>
                <a:cxnLst/>
                <a:rect l="l" t="t" r="r" b="b"/>
                <a:pathLst>
                  <a:path w="742659" h="4408785">
                    <a:moveTo>
                      <a:pt x="247687" y="4389716"/>
                    </a:moveTo>
                    <a:cubicBezTo>
                      <a:pt x="285761" y="4401230"/>
                      <a:pt x="329047" y="4408785"/>
                      <a:pt x="371530" y="4408785"/>
                    </a:cubicBezTo>
                    <a:cubicBezTo>
                      <a:pt x="414014" y="4408785"/>
                      <a:pt x="454895" y="4402308"/>
                      <a:pt x="492567" y="4390794"/>
                    </a:cubicBezTo>
                    <a:cubicBezTo>
                      <a:pt x="493370" y="4390435"/>
                      <a:pt x="494171" y="4390435"/>
                      <a:pt x="494973" y="4390075"/>
                    </a:cubicBezTo>
                    <a:cubicBezTo>
                      <a:pt x="636451" y="4344020"/>
                      <a:pt x="740656" y="4222406"/>
                      <a:pt x="742659" y="4000406"/>
                    </a:cubicBezTo>
                    <a:lnTo>
                      <a:pt x="742659" y="0"/>
                    </a:lnTo>
                    <a:lnTo>
                      <a:pt x="0" y="0"/>
                    </a:lnTo>
                    <a:lnTo>
                      <a:pt x="0" y="3997437"/>
                    </a:lnTo>
                    <a:cubicBezTo>
                      <a:pt x="2004" y="4223125"/>
                      <a:pt x="104606" y="4344740"/>
                      <a:pt x="247687" y="438971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TextBox 23">
                <a:extLst>
                  <a:ext uri="{FF2B5EF4-FFF2-40B4-BE49-F238E27FC236}">
                    <a16:creationId xmlns:a16="http://schemas.microsoft.com/office/drawing/2014/main" id="{25643723-BB7D-4B8E-8FDC-02288D9EC25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42659" cy="43294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E1938-50F5-4DEC-834F-FF8BF5D0C468}"/>
                </a:ext>
              </a:extLst>
            </p:cNvPr>
            <p:cNvGrpSpPr/>
            <p:nvPr/>
          </p:nvGrpSpPr>
          <p:grpSpPr>
            <a:xfrm>
              <a:off x="1260927" y="9181551"/>
              <a:ext cx="1524549" cy="1524549"/>
              <a:chOff x="0" y="0"/>
              <a:chExt cx="812800" cy="812800"/>
            </a:xfrm>
          </p:grpSpPr>
          <p:sp>
            <p:nvSpPr>
              <p:cNvPr id="36" name="Freeform 40">
                <a:extLst>
                  <a:ext uri="{FF2B5EF4-FFF2-40B4-BE49-F238E27FC236}">
                    <a16:creationId xmlns:a16="http://schemas.microsoft.com/office/drawing/2014/main" id="{C8C26394-8847-4576-B855-17078D30E50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TextBox 41">
                <a:extLst>
                  <a:ext uri="{FF2B5EF4-FFF2-40B4-BE49-F238E27FC236}">
                    <a16:creationId xmlns:a16="http://schemas.microsoft.com/office/drawing/2014/main" id="{885098DF-5C16-4A5C-B031-BCAF0A0B619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8" name="TextBox 65">
              <a:extLst>
                <a:ext uri="{FF2B5EF4-FFF2-40B4-BE49-F238E27FC236}">
                  <a16:creationId xmlns:a16="http://schemas.microsoft.com/office/drawing/2014/main" id="{E6769A39-0BB2-448A-90C5-AB19F725627B}"/>
                </a:ext>
              </a:extLst>
            </p:cNvPr>
            <p:cNvSpPr txBox="1"/>
            <p:nvPr/>
          </p:nvSpPr>
          <p:spPr>
            <a:xfrm>
              <a:off x="3046288" y="9749781"/>
              <a:ext cx="2367953" cy="292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en-US" sz="2400" b="1" i="0" dirty="0">
                  <a:solidFill>
                    <a:schemeClr val="bg1"/>
                  </a:solidFill>
                  <a:effectLst/>
                  <a:latin typeface="Google Sans"/>
                </a:rPr>
                <a:t>Market Velocity</a:t>
              </a:r>
              <a:endParaRPr lang="en-US" sz="2400" b="1" dirty="0">
                <a:solidFill>
                  <a:schemeClr val="bg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endParaRPr>
            </a:p>
          </p:txBody>
        </p:sp>
        <p:sp>
          <p:nvSpPr>
            <p:cNvPr id="39" name="TextBox 71">
              <a:extLst>
                <a:ext uri="{FF2B5EF4-FFF2-40B4-BE49-F238E27FC236}">
                  <a16:creationId xmlns:a16="http://schemas.microsoft.com/office/drawing/2014/main" id="{583AE817-D483-476E-9BE0-121E14E841B5}"/>
                </a:ext>
              </a:extLst>
            </p:cNvPr>
            <p:cNvSpPr txBox="1"/>
            <p:nvPr/>
          </p:nvSpPr>
          <p:spPr>
            <a:xfrm>
              <a:off x="1686635" y="9656170"/>
              <a:ext cx="955913" cy="6796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5280"/>
                </a:lnSpc>
              </a:pPr>
              <a:r>
                <a:rPr lang="en-US" sz="4800" b="1" dirty="0">
                  <a:solidFill>
                    <a:schemeClr val="bg1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03</a:t>
              </a:r>
            </a:p>
          </p:txBody>
        </p:sp>
      </p:grp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87DCCE21-DFF7-48A3-A0AF-7D3C737C2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30453"/>
              </p:ext>
            </p:extLst>
          </p:nvPr>
        </p:nvGraphicFramePr>
        <p:xfrm>
          <a:off x="8534402" y="4870723"/>
          <a:ext cx="9486528" cy="431683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934623">
                  <a:extLst>
                    <a:ext uri="{9D8B030D-6E8A-4147-A177-3AD203B41FA5}">
                      <a16:colId xmlns:a16="http://schemas.microsoft.com/office/drawing/2014/main" val="2620210014"/>
                    </a:ext>
                  </a:extLst>
                </a:gridCol>
                <a:gridCol w="6551905">
                  <a:extLst>
                    <a:ext uri="{9D8B030D-6E8A-4147-A177-3AD203B41FA5}">
                      <a16:colId xmlns:a16="http://schemas.microsoft.com/office/drawing/2014/main" val="598473720"/>
                    </a:ext>
                  </a:extLst>
                </a:gridCol>
              </a:tblGrid>
              <a:tr h="142369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Mode</a:t>
                      </a:r>
                      <a:r>
                        <a:rPr lang="en-US" sz="2800" dirty="0"/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Rationale for Rejection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04080"/>
                  </a:ext>
                </a:extLst>
              </a:tr>
              <a:tr h="14465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Wholly-Owned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High risk and resource-heavy; prohibitive capital requirements for this phase.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96599"/>
                  </a:ext>
                </a:extLst>
              </a:tr>
              <a:tr h="14465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Joint 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Rejected due to potential for "decision paralysis" and complex shared-governance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96094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6E62B2EC-8803-442A-A9CE-42F6F3E59169}"/>
              </a:ext>
            </a:extLst>
          </p:cNvPr>
          <p:cNvSpPr txBox="1"/>
          <p:nvPr/>
        </p:nvSpPr>
        <p:spPr>
          <a:xfrm>
            <a:off x="8331710" y="3097049"/>
            <a:ext cx="67848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effectLst/>
                <a:latin typeface="Google Sans"/>
              </a:rPr>
              <a:t>The "Rejection" Box: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27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9C4CF6E-03E0-4221-8A92-E687246ADE85}"/>
              </a:ext>
            </a:extLst>
          </p:cNvPr>
          <p:cNvGrpSpPr/>
          <p:nvPr/>
        </p:nvGrpSpPr>
        <p:grpSpPr>
          <a:xfrm>
            <a:off x="639982" y="3256305"/>
            <a:ext cx="323850" cy="323850"/>
            <a:chOff x="0" y="0"/>
            <a:chExt cx="6350000" cy="6350000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9FD642C-57D9-42A9-AF3E-F9F8E93D5C4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E398591-1A1A-42F2-8FA1-A05827542AF1}"/>
              </a:ext>
            </a:extLst>
          </p:cNvPr>
          <p:cNvGrpSpPr/>
          <p:nvPr/>
        </p:nvGrpSpPr>
        <p:grpSpPr>
          <a:xfrm>
            <a:off x="4926232" y="3246556"/>
            <a:ext cx="323850" cy="323850"/>
            <a:chOff x="0" y="0"/>
            <a:chExt cx="6350000" cy="6350000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3DDC41D-FF60-44A3-8E21-F6FCB27D5CD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EF1BB63-CEC1-4516-98C9-BCDF36F553B4}"/>
              </a:ext>
            </a:extLst>
          </p:cNvPr>
          <p:cNvGrpSpPr/>
          <p:nvPr/>
        </p:nvGrpSpPr>
        <p:grpSpPr>
          <a:xfrm>
            <a:off x="9214791" y="3237031"/>
            <a:ext cx="323850" cy="323850"/>
            <a:chOff x="0" y="0"/>
            <a:chExt cx="6350000" cy="6350000"/>
          </a:xfrm>
          <a:solidFill>
            <a:schemeClr val="bg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7264594-C106-40BC-8B77-055C0D831E5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0" name="AutoShape 9">
            <a:extLst>
              <a:ext uri="{FF2B5EF4-FFF2-40B4-BE49-F238E27FC236}">
                <a16:creationId xmlns:a16="http://schemas.microsoft.com/office/drawing/2014/main" id="{2608E787-3F70-4093-BABE-2856E5A52B5B}"/>
              </a:ext>
            </a:extLst>
          </p:cNvPr>
          <p:cNvSpPr/>
          <p:nvPr/>
        </p:nvSpPr>
        <p:spPr>
          <a:xfrm flipV="1">
            <a:off x="963832" y="3408481"/>
            <a:ext cx="3962400" cy="9525"/>
          </a:xfrm>
          <a:prstGeom prst="line">
            <a:avLst/>
          </a:prstGeom>
          <a:ln w="38100" cap="flat">
            <a:solidFill>
              <a:schemeClr val="accent3">
                <a:lumMod val="60000"/>
                <a:lumOff val="40000"/>
              </a:schemeClr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143C7954-A5F2-488D-BF7F-94BA093243D8}"/>
              </a:ext>
            </a:extLst>
          </p:cNvPr>
          <p:cNvSpPr/>
          <p:nvPr/>
        </p:nvSpPr>
        <p:spPr>
          <a:xfrm flipV="1">
            <a:off x="5250082" y="3398956"/>
            <a:ext cx="3964708" cy="9525"/>
          </a:xfrm>
          <a:prstGeom prst="line">
            <a:avLst/>
          </a:prstGeom>
          <a:ln w="38100" cap="flat">
            <a:solidFill>
              <a:schemeClr val="accent3">
                <a:lumMod val="60000"/>
                <a:lumOff val="40000"/>
              </a:schemeClr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8CD3042F-7256-4F2C-AEA7-0489EF1B5DA2}"/>
              </a:ext>
            </a:extLst>
          </p:cNvPr>
          <p:cNvSpPr/>
          <p:nvPr/>
        </p:nvSpPr>
        <p:spPr>
          <a:xfrm flipV="1">
            <a:off x="9538641" y="3389431"/>
            <a:ext cx="3800475" cy="9525"/>
          </a:xfrm>
          <a:prstGeom prst="line">
            <a:avLst/>
          </a:prstGeom>
          <a:ln w="38100" cap="flat">
            <a:solidFill>
              <a:schemeClr val="accent3">
                <a:lumMod val="60000"/>
                <a:lumOff val="40000"/>
              </a:schemeClr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874485-4F0B-48C4-B47E-90BABB3A8884}"/>
              </a:ext>
            </a:extLst>
          </p:cNvPr>
          <p:cNvGrpSpPr/>
          <p:nvPr/>
        </p:nvGrpSpPr>
        <p:grpSpPr>
          <a:xfrm>
            <a:off x="13339116" y="3227506"/>
            <a:ext cx="323850" cy="323850"/>
            <a:chOff x="0" y="0"/>
            <a:chExt cx="6350000" cy="6350000"/>
          </a:xfrm>
          <a:solidFill>
            <a:schemeClr val="bg1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B231B1C-DDD8-46C4-A44F-23E8BC76A9E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15" name="AutoShape 14">
            <a:extLst>
              <a:ext uri="{FF2B5EF4-FFF2-40B4-BE49-F238E27FC236}">
                <a16:creationId xmlns:a16="http://schemas.microsoft.com/office/drawing/2014/main" id="{5F763C22-5291-4901-BC8B-74779E89A8BE}"/>
              </a:ext>
            </a:extLst>
          </p:cNvPr>
          <p:cNvSpPr/>
          <p:nvPr/>
        </p:nvSpPr>
        <p:spPr>
          <a:xfrm flipV="1">
            <a:off x="13662966" y="3389431"/>
            <a:ext cx="3919361" cy="0"/>
          </a:xfrm>
          <a:prstGeom prst="line">
            <a:avLst/>
          </a:prstGeom>
          <a:ln w="38100" cap="flat">
            <a:solidFill>
              <a:schemeClr val="accent3">
                <a:lumMod val="60000"/>
                <a:lumOff val="40000"/>
              </a:schemeClr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B17C08-557A-47B6-8773-862F0CC5B270}"/>
              </a:ext>
            </a:extLst>
          </p:cNvPr>
          <p:cNvGrpSpPr/>
          <p:nvPr/>
        </p:nvGrpSpPr>
        <p:grpSpPr>
          <a:xfrm>
            <a:off x="609600" y="4088115"/>
            <a:ext cx="4360848" cy="3819558"/>
            <a:chOff x="1000626" y="4850115"/>
            <a:chExt cx="4360848" cy="38195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69BAF0-F674-4A6F-88C9-F3D30551A155}"/>
                </a:ext>
              </a:extLst>
            </p:cNvPr>
            <p:cNvSpPr txBox="1"/>
            <p:nvPr/>
          </p:nvSpPr>
          <p:spPr>
            <a:xfrm>
              <a:off x="1000626" y="4850115"/>
              <a:ext cx="4152900" cy="8447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chemeClr val="bg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Phase 1: Market Entry &amp; Legal Setup (0–6 Months)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84D927-7AE7-4AFF-97F3-3D2D50631B3D}"/>
                </a:ext>
              </a:extLst>
            </p:cNvPr>
            <p:cNvSpPr txBox="1"/>
            <p:nvPr/>
          </p:nvSpPr>
          <p:spPr>
            <a:xfrm>
              <a:off x="1072916" y="6527163"/>
              <a:ext cx="4288558" cy="21425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Regulatory due diligence and ICT-specific compliance review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Master Partner selection and legal vetting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Business registration, licensing, and contract finalization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1BE00C-EA99-43F9-A3B8-A86E9A582C39}"/>
              </a:ext>
            </a:extLst>
          </p:cNvPr>
          <p:cNvGrpSpPr/>
          <p:nvPr/>
        </p:nvGrpSpPr>
        <p:grpSpPr>
          <a:xfrm>
            <a:off x="5052063" y="4090657"/>
            <a:ext cx="4288558" cy="4177043"/>
            <a:chOff x="1000626" y="4603775"/>
            <a:chExt cx="4288558" cy="41770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4B91B2-2420-41A9-8E58-F5A0A8236FD1}"/>
                </a:ext>
              </a:extLst>
            </p:cNvPr>
            <p:cNvSpPr txBox="1"/>
            <p:nvPr/>
          </p:nvSpPr>
          <p:spPr>
            <a:xfrm>
              <a:off x="1022084" y="4603775"/>
              <a:ext cx="4152900" cy="1280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chemeClr val="bg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phase 2: Operational &amp; Vendor Compliance (7–12 Months)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4A08CE-8390-4FE1-B063-226862B443E5}"/>
                </a:ext>
              </a:extLst>
            </p:cNvPr>
            <p:cNvSpPr txBox="1"/>
            <p:nvPr/>
          </p:nvSpPr>
          <p:spPr>
            <a:xfrm>
              <a:off x="1000626" y="6279236"/>
              <a:ext cx="4288558" cy="25015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Alignment with Malaysian ICT, IP, and data protection regulations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Implementation of vendor compliance standards and reporting systems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Partner and staff compliance training programs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8A0D66-2DE8-44C5-AB1B-D81A0DDCF2CB}"/>
              </a:ext>
            </a:extLst>
          </p:cNvPr>
          <p:cNvGrpSpPr/>
          <p:nvPr/>
        </p:nvGrpSpPr>
        <p:grpSpPr>
          <a:xfrm>
            <a:off x="9485749" y="4068672"/>
            <a:ext cx="4341450" cy="3838777"/>
            <a:chOff x="1000626" y="4850115"/>
            <a:chExt cx="4341450" cy="38387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6D1794-D1CE-4CF5-86F2-024113692730}"/>
                </a:ext>
              </a:extLst>
            </p:cNvPr>
            <p:cNvSpPr txBox="1"/>
            <p:nvPr/>
          </p:nvSpPr>
          <p:spPr>
            <a:xfrm>
              <a:off x="1000626" y="4850115"/>
              <a:ext cx="4152900" cy="1280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chemeClr val="bg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Phase 3: Monitoring &amp; Audit Readiness (13–18 Months)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3661908-5CBF-44BF-A00A-D99103A406C4}"/>
                </a:ext>
              </a:extLst>
            </p:cNvPr>
            <p:cNvSpPr txBox="1"/>
            <p:nvPr/>
          </p:nvSpPr>
          <p:spPr>
            <a:xfrm>
              <a:off x="1053518" y="6546382"/>
              <a:ext cx="4288558" cy="21425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Internal compliance monitoring and periodic audits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Strengthening IP protection and anti–grey market controls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Vendor assurance reporting and regulatory readiness checks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4038D3-5E54-46DB-A13E-D0D473E503A4}"/>
              </a:ext>
            </a:extLst>
          </p:cNvPr>
          <p:cNvGrpSpPr/>
          <p:nvPr/>
        </p:nvGrpSpPr>
        <p:grpSpPr>
          <a:xfrm>
            <a:off x="13908814" y="3949263"/>
            <a:ext cx="4288558" cy="3983076"/>
            <a:chOff x="1000626" y="4850115"/>
            <a:chExt cx="4288558" cy="398307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AA4AA2-1226-457E-B7B0-950A33C3635E}"/>
                </a:ext>
              </a:extLst>
            </p:cNvPr>
            <p:cNvSpPr txBox="1"/>
            <p:nvPr/>
          </p:nvSpPr>
          <p:spPr>
            <a:xfrm>
              <a:off x="1000626" y="4850115"/>
              <a:ext cx="4152900" cy="12807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chemeClr val="bg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Phase 4: Compliance Maturity &amp; Governance (19–24 Months)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B566E1-A456-445D-8F0E-80E8C9C087F9}"/>
                </a:ext>
              </a:extLst>
            </p:cNvPr>
            <p:cNvSpPr txBox="1"/>
            <p:nvPr/>
          </p:nvSpPr>
          <p:spPr>
            <a:xfrm>
              <a:off x="1000626" y="6690681"/>
              <a:ext cx="4288558" cy="21425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Establish long-term compliance governance framework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Continuous regulatory update tracking and policy alignment</a:t>
              </a:r>
            </a:p>
            <a:p>
              <a:pPr marL="342900" indent="-342900" algn="l">
                <a:lnSpc>
                  <a:spcPts val="2760"/>
                </a:lnSpc>
                <a:buFont typeface="Wingdings" panose="05000000000000000000" pitchFamily="2" charset="2"/>
                <a:buChar char="§"/>
              </a:pPr>
              <a:r>
                <a:rPr lang="en-US" sz="2300" dirty="0">
                  <a:solidFill>
                    <a:schemeClr val="bg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Preparation for multi-country ASEAN compliance replication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B9C20A2-CFDA-4B3E-B4BC-756F398D7147}"/>
              </a:ext>
            </a:extLst>
          </p:cNvPr>
          <p:cNvSpPr txBox="1"/>
          <p:nvPr/>
        </p:nvSpPr>
        <p:spPr>
          <a:xfrm>
            <a:off x="4267200" y="1070743"/>
            <a:ext cx="107685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Compliance Roadmap 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75250BAA-2E5E-4029-9C46-A0A28FA6C36B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61621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>
            <a:extLst>
              <a:ext uri="{FF2B5EF4-FFF2-40B4-BE49-F238E27FC236}">
                <a16:creationId xmlns:a16="http://schemas.microsoft.com/office/drawing/2014/main" id="{CCCB36FE-D5D0-49C7-AD14-4DF39967990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AD18087E-48E2-4CC1-92F3-1329044800E6}"/>
              </a:ext>
            </a:extLst>
          </p:cNvPr>
          <p:cNvGrpSpPr/>
          <p:nvPr/>
        </p:nvGrpSpPr>
        <p:grpSpPr>
          <a:xfrm>
            <a:off x="7615455" y="3600450"/>
            <a:ext cx="3086100" cy="3086100"/>
            <a:chOff x="0" y="0"/>
            <a:chExt cx="812800" cy="812800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277E018D-23F3-4721-807B-9C321A2BF0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B1EF"/>
            </a:soli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D669F245-1BAB-4AC8-9189-8E38E71004A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 sz="2531"/>
            </a:p>
          </p:txBody>
        </p:sp>
      </p:grpSp>
      <p:grpSp>
        <p:nvGrpSpPr>
          <p:cNvPr id="49" name="Group 23">
            <a:extLst>
              <a:ext uri="{FF2B5EF4-FFF2-40B4-BE49-F238E27FC236}">
                <a16:creationId xmlns:a16="http://schemas.microsoft.com/office/drawing/2014/main" id="{90FE9EDC-3A33-48CC-9A69-1DF2245FD3FA}"/>
              </a:ext>
            </a:extLst>
          </p:cNvPr>
          <p:cNvGrpSpPr/>
          <p:nvPr/>
        </p:nvGrpSpPr>
        <p:grpSpPr>
          <a:xfrm rot="-7544591">
            <a:off x="7505582" y="2939055"/>
            <a:ext cx="1043138" cy="459046"/>
            <a:chOff x="0" y="0"/>
            <a:chExt cx="1333708" cy="586916"/>
          </a:xfrm>
        </p:grpSpPr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9B38960B-C19A-4608-97CB-386D63393453}"/>
                </a:ext>
              </a:extLst>
            </p:cNvPr>
            <p:cNvSpPr/>
            <p:nvPr/>
          </p:nvSpPr>
          <p:spPr>
            <a:xfrm>
              <a:off x="0" y="0"/>
              <a:ext cx="1333708" cy="586916"/>
            </a:xfrm>
            <a:custGeom>
              <a:avLst/>
              <a:gdLst/>
              <a:ahLst/>
              <a:cxnLst/>
              <a:rect l="l" t="t" r="r" b="b"/>
              <a:pathLst>
                <a:path w="1333708" h="586916">
                  <a:moveTo>
                    <a:pt x="1333708" y="293458"/>
                  </a:moveTo>
                  <a:lnTo>
                    <a:pt x="927308" y="0"/>
                  </a:lnTo>
                  <a:lnTo>
                    <a:pt x="927308" y="203200"/>
                  </a:lnTo>
                  <a:lnTo>
                    <a:pt x="0" y="203200"/>
                  </a:lnTo>
                  <a:lnTo>
                    <a:pt x="0" y="383716"/>
                  </a:lnTo>
                  <a:lnTo>
                    <a:pt x="927308" y="383716"/>
                  </a:lnTo>
                  <a:lnTo>
                    <a:pt x="927308" y="586916"/>
                  </a:lnTo>
                  <a:lnTo>
                    <a:pt x="1333708" y="293458"/>
                  </a:lnTo>
                  <a:close/>
                </a:path>
              </a:pathLst>
            </a:custGeom>
            <a:solidFill>
              <a:srgbClr val="626170"/>
            </a:solidFill>
          </p:spPr>
        </p:sp>
        <p:sp>
          <p:nvSpPr>
            <p:cNvPr id="51" name="TextBox 25">
              <a:extLst>
                <a:ext uri="{FF2B5EF4-FFF2-40B4-BE49-F238E27FC236}">
                  <a16:creationId xmlns:a16="http://schemas.microsoft.com/office/drawing/2014/main" id="{9C421E9F-D229-4E34-AB72-4FF6F445B2A6}"/>
                </a:ext>
              </a:extLst>
            </p:cNvPr>
            <p:cNvSpPr txBox="1"/>
            <p:nvPr/>
          </p:nvSpPr>
          <p:spPr>
            <a:xfrm>
              <a:off x="0" y="165100"/>
              <a:ext cx="1232108" cy="218616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 sz="2531"/>
            </a:p>
          </p:txBody>
        </p:sp>
      </p:grpSp>
      <p:sp>
        <p:nvSpPr>
          <p:cNvPr id="52" name="TextBox 26">
            <a:extLst>
              <a:ext uri="{FF2B5EF4-FFF2-40B4-BE49-F238E27FC236}">
                <a16:creationId xmlns:a16="http://schemas.microsoft.com/office/drawing/2014/main" id="{FC8DE014-9B69-4F1C-A7DB-FF71885C67BF}"/>
              </a:ext>
            </a:extLst>
          </p:cNvPr>
          <p:cNvSpPr txBox="1"/>
          <p:nvPr/>
        </p:nvSpPr>
        <p:spPr>
          <a:xfrm>
            <a:off x="7665190" y="4549022"/>
            <a:ext cx="3058147" cy="1199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600" b="1" spc="101" dirty="0">
                <a:latin typeface="Inter Bold"/>
                <a:ea typeface="Inter Bold"/>
                <a:cs typeface="Inter Bold"/>
                <a:sym typeface="Inter Bold"/>
              </a:rPr>
              <a:t>Channel Strategy </a:t>
            </a:r>
          </a:p>
        </p:txBody>
      </p:sp>
      <p:grpSp>
        <p:nvGrpSpPr>
          <p:cNvPr id="81" name="Group 55">
            <a:extLst>
              <a:ext uri="{FF2B5EF4-FFF2-40B4-BE49-F238E27FC236}">
                <a16:creationId xmlns:a16="http://schemas.microsoft.com/office/drawing/2014/main" id="{CD09F7EA-8992-47B7-A88C-FB3EFE85CA3A}"/>
              </a:ext>
            </a:extLst>
          </p:cNvPr>
          <p:cNvGrpSpPr/>
          <p:nvPr/>
        </p:nvGrpSpPr>
        <p:grpSpPr>
          <a:xfrm rot="7459070">
            <a:off x="7512928" y="6838124"/>
            <a:ext cx="1043138" cy="459046"/>
            <a:chOff x="0" y="0"/>
            <a:chExt cx="1333708" cy="586916"/>
          </a:xfrm>
        </p:grpSpPr>
        <p:sp>
          <p:nvSpPr>
            <p:cNvPr id="82" name="Freeform 56">
              <a:extLst>
                <a:ext uri="{FF2B5EF4-FFF2-40B4-BE49-F238E27FC236}">
                  <a16:creationId xmlns:a16="http://schemas.microsoft.com/office/drawing/2014/main" id="{62421F5B-AAD7-48AB-9BF0-A7153D2520AF}"/>
                </a:ext>
              </a:extLst>
            </p:cNvPr>
            <p:cNvSpPr/>
            <p:nvPr/>
          </p:nvSpPr>
          <p:spPr>
            <a:xfrm>
              <a:off x="0" y="0"/>
              <a:ext cx="1333708" cy="586916"/>
            </a:xfrm>
            <a:custGeom>
              <a:avLst/>
              <a:gdLst/>
              <a:ahLst/>
              <a:cxnLst/>
              <a:rect l="l" t="t" r="r" b="b"/>
              <a:pathLst>
                <a:path w="1333708" h="586916">
                  <a:moveTo>
                    <a:pt x="1333708" y="293458"/>
                  </a:moveTo>
                  <a:lnTo>
                    <a:pt x="927308" y="0"/>
                  </a:lnTo>
                  <a:lnTo>
                    <a:pt x="927308" y="203200"/>
                  </a:lnTo>
                  <a:lnTo>
                    <a:pt x="0" y="203200"/>
                  </a:lnTo>
                  <a:lnTo>
                    <a:pt x="0" y="383716"/>
                  </a:lnTo>
                  <a:lnTo>
                    <a:pt x="927308" y="383716"/>
                  </a:lnTo>
                  <a:lnTo>
                    <a:pt x="927308" y="586916"/>
                  </a:lnTo>
                  <a:lnTo>
                    <a:pt x="1333708" y="293458"/>
                  </a:lnTo>
                  <a:close/>
                </a:path>
              </a:pathLst>
            </a:custGeom>
            <a:solidFill>
              <a:srgbClr val="626170"/>
            </a:solidFill>
          </p:spPr>
        </p:sp>
        <p:sp>
          <p:nvSpPr>
            <p:cNvPr id="83" name="TextBox 57">
              <a:extLst>
                <a:ext uri="{FF2B5EF4-FFF2-40B4-BE49-F238E27FC236}">
                  <a16:creationId xmlns:a16="http://schemas.microsoft.com/office/drawing/2014/main" id="{A49AE7E9-3503-4D74-BE98-BDF30D4FA35C}"/>
                </a:ext>
              </a:extLst>
            </p:cNvPr>
            <p:cNvSpPr txBox="1"/>
            <p:nvPr/>
          </p:nvSpPr>
          <p:spPr>
            <a:xfrm>
              <a:off x="0" y="165100"/>
              <a:ext cx="1232108" cy="218616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 sz="2531"/>
            </a:p>
          </p:txBody>
        </p:sp>
      </p:grpSp>
      <p:grpSp>
        <p:nvGrpSpPr>
          <p:cNvPr id="84" name="Group 58">
            <a:extLst>
              <a:ext uri="{FF2B5EF4-FFF2-40B4-BE49-F238E27FC236}">
                <a16:creationId xmlns:a16="http://schemas.microsoft.com/office/drawing/2014/main" id="{6EDD974D-1A3B-491F-A41B-0F6D67C3AD88}"/>
              </a:ext>
            </a:extLst>
          </p:cNvPr>
          <p:cNvGrpSpPr/>
          <p:nvPr/>
        </p:nvGrpSpPr>
        <p:grpSpPr>
          <a:xfrm rot="3255408">
            <a:off x="9803066" y="6883744"/>
            <a:ext cx="1043138" cy="459046"/>
            <a:chOff x="0" y="0"/>
            <a:chExt cx="1333708" cy="586916"/>
          </a:xfrm>
        </p:grpSpPr>
        <p:sp>
          <p:nvSpPr>
            <p:cNvPr id="85" name="Freeform 59">
              <a:extLst>
                <a:ext uri="{FF2B5EF4-FFF2-40B4-BE49-F238E27FC236}">
                  <a16:creationId xmlns:a16="http://schemas.microsoft.com/office/drawing/2014/main" id="{D07EFF33-E09E-4CE4-878A-99F1CA7E39FD}"/>
                </a:ext>
              </a:extLst>
            </p:cNvPr>
            <p:cNvSpPr/>
            <p:nvPr/>
          </p:nvSpPr>
          <p:spPr>
            <a:xfrm>
              <a:off x="0" y="0"/>
              <a:ext cx="1333708" cy="586916"/>
            </a:xfrm>
            <a:custGeom>
              <a:avLst/>
              <a:gdLst/>
              <a:ahLst/>
              <a:cxnLst/>
              <a:rect l="l" t="t" r="r" b="b"/>
              <a:pathLst>
                <a:path w="1333708" h="586916">
                  <a:moveTo>
                    <a:pt x="1333708" y="293458"/>
                  </a:moveTo>
                  <a:lnTo>
                    <a:pt x="927308" y="0"/>
                  </a:lnTo>
                  <a:lnTo>
                    <a:pt x="927308" y="203200"/>
                  </a:lnTo>
                  <a:lnTo>
                    <a:pt x="0" y="203200"/>
                  </a:lnTo>
                  <a:lnTo>
                    <a:pt x="0" y="383716"/>
                  </a:lnTo>
                  <a:lnTo>
                    <a:pt x="927308" y="383716"/>
                  </a:lnTo>
                  <a:lnTo>
                    <a:pt x="927308" y="586916"/>
                  </a:lnTo>
                  <a:lnTo>
                    <a:pt x="1333708" y="293458"/>
                  </a:lnTo>
                  <a:close/>
                </a:path>
              </a:pathLst>
            </a:custGeom>
            <a:solidFill>
              <a:srgbClr val="626170"/>
            </a:solidFill>
          </p:spPr>
        </p:sp>
        <p:sp>
          <p:nvSpPr>
            <p:cNvPr id="86" name="TextBox 60">
              <a:extLst>
                <a:ext uri="{FF2B5EF4-FFF2-40B4-BE49-F238E27FC236}">
                  <a16:creationId xmlns:a16="http://schemas.microsoft.com/office/drawing/2014/main" id="{6E4C4286-F664-4117-A3AF-161981F2DA9B}"/>
                </a:ext>
              </a:extLst>
            </p:cNvPr>
            <p:cNvSpPr txBox="1"/>
            <p:nvPr/>
          </p:nvSpPr>
          <p:spPr>
            <a:xfrm>
              <a:off x="0" y="165100"/>
              <a:ext cx="1232108" cy="218616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 sz="2531"/>
            </a:p>
          </p:txBody>
        </p:sp>
      </p:grpSp>
      <p:grpSp>
        <p:nvGrpSpPr>
          <p:cNvPr id="93" name="Group 67">
            <a:extLst>
              <a:ext uri="{FF2B5EF4-FFF2-40B4-BE49-F238E27FC236}">
                <a16:creationId xmlns:a16="http://schemas.microsoft.com/office/drawing/2014/main" id="{725761C5-1BC3-49D4-91DF-6888A5C878AB}"/>
              </a:ext>
            </a:extLst>
          </p:cNvPr>
          <p:cNvGrpSpPr/>
          <p:nvPr/>
        </p:nvGrpSpPr>
        <p:grpSpPr>
          <a:xfrm rot="-3340929">
            <a:off x="9795719" y="2984675"/>
            <a:ext cx="1043138" cy="459046"/>
            <a:chOff x="0" y="0"/>
            <a:chExt cx="1333708" cy="586916"/>
          </a:xfrm>
        </p:grpSpPr>
        <p:sp>
          <p:nvSpPr>
            <p:cNvPr id="94" name="Freeform 68">
              <a:extLst>
                <a:ext uri="{FF2B5EF4-FFF2-40B4-BE49-F238E27FC236}">
                  <a16:creationId xmlns:a16="http://schemas.microsoft.com/office/drawing/2014/main" id="{7F7C739F-9B6D-4F98-AAA3-70820D18F56C}"/>
                </a:ext>
              </a:extLst>
            </p:cNvPr>
            <p:cNvSpPr/>
            <p:nvPr/>
          </p:nvSpPr>
          <p:spPr>
            <a:xfrm>
              <a:off x="0" y="0"/>
              <a:ext cx="1333708" cy="586916"/>
            </a:xfrm>
            <a:custGeom>
              <a:avLst/>
              <a:gdLst/>
              <a:ahLst/>
              <a:cxnLst/>
              <a:rect l="l" t="t" r="r" b="b"/>
              <a:pathLst>
                <a:path w="1333708" h="586916">
                  <a:moveTo>
                    <a:pt x="1333708" y="293458"/>
                  </a:moveTo>
                  <a:lnTo>
                    <a:pt x="927308" y="0"/>
                  </a:lnTo>
                  <a:lnTo>
                    <a:pt x="927308" y="203200"/>
                  </a:lnTo>
                  <a:lnTo>
                    <a:pt x="0" y="203200"/>
                  </a:lnTo>
                  <a:lnTo>
                    <a:pt x="0" y="383716"/>
                  </a:lnTo>
                  <a:lnTo>
                    <a:pt x="927308" y="383716"/>
                  </a:lnTo>
                  <a:lnTo>
                    <a:pt x="927308" y="586916"/>
                  </a:lnTo>
                  <a:lnTo>
                    <a:pt x="1333708" y="293458"/>
                  </a:lnTo>
                  <a:close/>
                </a:path>
              </a:pathLst>
            </a:custGeom>
            <a:solidFill>
              <a:srgbClr val="626170"/>
            </a:solidFill>
          </p:spPr>
        </p:sp>
        <p:sp>
          <p:nvSpPr>
            <p:cNvPr id="95" name="TextBox 69">
              <a:extLst>
                <a:ext uri="{FF2B5EF4-FFF2-40B4-BE49-F238E27FC236}">
                  <a16:creationId xmlns:a16="http://schemas.microsoft.com/office/drawing/2014/main" id="{A20A0590-4643-448E-994C-EF83054683FB}"/>
                </a:ext>
              </a:extLst>
            </p:cNvPr>
            <p:cNvSpPr txBox="1"/>
            <p:nvPr/>
          </p:nvSpPr>
          <p:spPr>
            <a:xfrm>
              <a:off x="0" y="165100"/>
              <a:ext cx="1232108" cy="218616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 sz="2531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CEB3EEF-44C9-4541-B1BD-DFAC537139EB}"/>
              </a:ext>
            </a:extLst>
          </p:cNvPr>
          <p:cNvGrpSpPr/>
          <p:nvPr/>
        </p:nvGrpSpPr>
        <p:grpSpPr>
          <a:xfrm>
            <a:off x="373583" y="438669"/>
            <a:ext cx="6999704" cy="3086100"/>
            <a:chOff x="1" y="1351488"/>
            <a:chExt cx="6999704" cy="3197534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E6A8AF4-8041-4AEE-B9E1-7593B08E30D4}"/>
                </a:ext>
              </a:extLst>
            </p:cNvPr>
            <p:cNvGrpSpPr/>
            <p:nvPr/>
          </p:nvGrpSpPr>
          <p:grpSpPr>
            <a:xfrm>
              <a:off x="1" y="1351488"/>
              <a:ext cx="6999704" cy="3197534"/>
              <a:chOff x="3850450" y="545365"/>
              <a:chExt cx="3488741" cy="1543050"/>
            </a:xfrm>
          </p:grpSpPr>
          <p:sp>
            <p:nvSpPr>
              <p:cNvPr id="47" name="Freeform 21">
                <a:extLst>
                  <a:ext uri="{FF2B5EF4-FFF2-40B4-BE49-F238E27FC236}">
                    <a16:creationId xmlns:a16="http://schemas.microsoft.com/office/drawing/2014/main" id="{F723AEA9-D454-4463-B04A-F92EAA0AE639}"/>
                  </a:ext>
                </a:extLst>
              </p:cNvPr>
              <p:cNvSpPr/>
              <p:nvPr/>
            </p:nvSpPr>
            <p:spPr>
              <a:xfrm rot="10800000">
                <a:off x="3850450" y="545365"/>
                <a:ext cx="3488741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918846" h="406400">
                    <a:moveTo>
                      <a:pt x="715646" y="0"/>
                    </a:moveTo>
                    <a:cubicBezTo>
                      <a:pt x="827870" y="0"/>
                      <a:pt x="918846" y="90976"/>
                      <a:pt x="918846" y="203200"/>
                    </a:cubicBezTo>
                    <a:cubicBezTo>
                      <a:pt x="918846" y="315424"/>
                      <a:pt x="827870" y="406400"/>
                      <a:pt x="7156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CAB"/>
              </a:solidFill>
            </p:spPr>
          </p:sp>
          <p:sp>
            <p:nvSpPr>
              <p:cNvPr id="53" name="TextBox 27">
                <a:extLst>
                  <a:ext uri="{FF2B5EF4-FFF2-40B4-BE49-F238E27FC236}">
                    <a16:creationId xmlns:a16="http://schemas.microsoft.com/office/drawing/2014/main" id="{51BDC4A3-26EC-4E58-97C4-39850FC84000}"/>
                  </a:ext>
                </a:extLst>
              </p:cNvPr>
              <p:cNvSpPr txBox="1"/>
              <p:nvPr/>
            </p:nvSpPr>
            <p:spPr>
              <a:xfrm>
                <a:off x="4656641" y="1419296"/>
                <a:ext cx="2329315" cy="1792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214"/>
                  </a:lnSpc>
                </a:pPr>
                <a:endParaRPr lang="en-US" sz="2800" b="1" spc="49" dirty="0">
                  <a:solidFill>
                    <a:srgbClr val="000000"/>
                  </a:solidFill>
                  <a:latin typeface="+mj-lt"/>
                  <a:ea typeface="Inter Bold"/>
                  <a:cs typeface="Inter Bold"/>
                  <a:sym typeface="Inter Bold"/>
                </a:endParaRPr>
              </a:p>
            </p:txBody>
          </p:sp>
          <p:sp>
            <p:nvSpPr>
              <p:cNvPr id="54" name="TextBox 28">
                <a:extLst>
                  <a:ext uri="{FF2B5EF4-FFF2-40B4-BE49-F238E27FC236}">
                    <a16:creationId xmlns:a16="http://schemas.microsoft.com/office/drawing/2014/main" id="{8B962730-46B2-4EE1-9314-A3CB57DB9377}"/>
                  </a:ext>
                </a:extLst>
              </p:cNvPr>
              <p:cNvSpPr txBox="1"/>
              <p:nvPr/>
            </p:nvSpPr>
            <p:spPr>
              <a:xfrm>
                <a:off x="4656642" y="1927623"/>
                <a:ext cx="2489522" cy="103902"/>
              </a:xfrm>
              <a:prstGeom prst="rect">
                <a:avLst/>
              </a:prstGeom>
            </p:spPr>
            <p:txBody>
              <a:bodyPr lIns="0" tIns="0" rIns="0" bIns="0" rtlCol="0" anchor="ctr">
                <a:spAutoFit/>
              </a:bodyPr>
              <a:lstStyle/>
              <a:p>
                <a:pPr marL="171450" indent="-171450">
                  <a:lnSpc>
                    <a:spcPts val="1323"/>
                  </a:lnSpc>
                  <a:buFont typeface="Wingdings" panose="05000000000000000000" pitchFamily="2" charset="2"/>
                  <a:buChar char="Ø"/>
                </a:pPr>
                <a:endParaRPr lang="en-US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2131565-A296-4C1D-A6CC-41098B8B1EB6}"/>
                </a:ext>
              </a:extLst>
            </p:cNvPr>
            <p:cNvSpPr txBox="1"/>
            <p:nvPr/>
          </p:nvSpPr>
          <p:spPr>
            <a:xfrm>
              <a:off x="1229858" y="1502461"/>
              <a:ext cx="40518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Target Market Focus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BD4640B-D229-4E5F-A0A5-5EB64FB2B4D8}"/>
                </a:ext>
              </a:extLst>
            </p:cNvPr>
            <p:cNvSpPr txBox="1"/>
            <p:nvPr/>
          </p:nvSpPr>
          <p:spPr>
            <a:xfrm>
              <a:off x="1084684" y="2288345"/>
              <a:ext cx="585564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Primary: B2B customers (System Integrators, Enterprise, Government)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Secondary: Select B2C segments via authorized retail partners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C6AC34C-E27F-4C4E-82BB-9283F79C41CB}"/>
              </a:ext>
            </a:extLst>
          </p:cNvPr>
          <p:cNvGrpSpPr/>
          <p:nvPr/>
        </p:nvGrpSpPr>
        <p:grpSpPr>
          <a:xfrm>
            <a:off x="11115032" y="6443113"/>
            <a:ext cx="6999704" cy="3086100"/>
            <a:chOff x="1" y="1351488"/>
            <a:chExt cx="6999704" cy="3197534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AFA54B4D-CFBF-46B7-A551-E96A3628A553}"/>
                </a:ext>
              </a:extLst>
            </p:cNvPr>
            <p:cNvGrpSpPr/>
            <p:nvPr/>
          </p:nvGrpSpPr>
          <p:grpSpPr>
            <a:xfrm>
              <a:off x="1" y="1351488"/>
              <a:ext cx="6999704" cy="3197534"/>
              <a:chOff x="3850450" y="545365"/>
              <a:chExt cx="3488741" cy="1543050"/>
            </a:xfrm>
          </p:grpSpPr>
          <p:sp>
            <p:nvSpPr>
              <p:cNvPr id="114" name="Freeform 21">
                <a:extLst>
                  <a:ext uri="{FF2B5EF4-FFF2-40B4-BE49-F238E27FC236}">
                    <a16:creationId xmlns:a16="http://schemas.microsoft.com/office/drawing/2014/main" id="{1698ED09-C9E9-4601-B384-DAC64385B698}"/>
                  </a:ext>
                </a:extLst>
              </p:cNvPr>
              <p:cNvSpPr/>
              <p:nvPr/>
            </p:nvSpPr>
            <p:spPr>
              <a:xfrm rot="10800000">
                <a:off x="3850450" y="545365"/>
                <a:ext cx="3488741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918846" h="406400">
                    <a:moveTo>
                      <a:pt x="715646" y="0"/>
                    </a:moveTo>
                    <a:cubicBezTo>
                      <a:pt x="827870" y="0"/>
                      <a:pt x="918846" y="90976"/>
                      <a:pt x="918846" y="203200"/>
                    </a:cubicBezTo>
                    <a:cubicBezTo>
                      <a:pt x="918846" y="315424"/>
                      <a:pt x="827870" y="406400"/>
                      <a:pt x="7156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CAB"/>
              </a:solidFill>
            </p:spPr>
          </p:sp>
          <p:sp>
            <p:nvSpPr>
              <p:cNvPr id="115" name="TextBox 27">
                <a:extLst>
                  <a:ext uri="{FF2B5EF4-FFF2-40B4-BE49-F238E27FC236}">
                    <a16:creationId xmlns:a16="http://schemas.microsoft.com/office/drawing/2014/main" id="{D93F3620-73CA-468A-8D1E-88E47067F1E5}"/>
                  </a:ext>
                </a:extLst>
              </p:cNvPr>
              <p:cNvSpPr txBox="1"/>
              <p:nvPr/>
            </p:nvSpPr>
            <p:spPr>
              <a:xfrm>
                <a:off x="4656641" y="1419296"/>
                <a:ext cx="2329315" cy="1792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214"/>
                  </a:lnSpc>
                </a:pPr>
                <a:endParaRPr lang="en-US" sz="2800" b="1" spc="49" dirty="0">
                  <a:solidFill>
                    <a:srgbClr val="000000"/>
                  </a:solidFill>
                  <a:latin typeface="+mj-lt"/>
                  <a:ea typeface="Inter Bold"/>
                  <a:cs typeface="Inter Bold"/>
                  <a:sym typeface="Inter Bold"/>
                </a:endParaRPr>
              </a:p>
            </p:txBody>
          </p:sp>
          <p:sp>
            <p:nvSpPr>
              <p:cNvPr id="116" name="TextBox 28">
                <a:extLst>
                  <a:ext uri="{FF2B5EF4-FFF2-40B4-BE49-F238E27FC236}">
                    <a16:creationId xmlns:a16="http://schemas.microsoft.com/office/drawing/2014/main" id="{77B1739B-5885-485E-A802-A6406C38AEFA}"/>
                  </a:ext>
                </a:extLst>
              </p:cNvPr>
              <p:cNvSpPr txBox="1"/>
              <p:nvPr/>
            </p:nvSpPr>
            <p:spPr>
              <a:xfrm>
                <a:off x="4656642" y="1927623"/>
                <a:ext cx="2489522" cy="103902"/>
              </a:xfrm>
              <a:prstGeom prst="rect">
                <a:avLst/>
              </a:prstGeom>
            </p:spPr>
            <p:txBody>
              <a:bodyPr lIns="0" tIns="0" rIns="0" bIns="0" rtlCol="0" anchor="ctr">
                <a:spAutoFit/>
              </a:bodyPr>
              <a:lstStyle/>
              <a:p>
                <a:pPr marL="171450" indent="-171450">
                  <a:lnSpc>
                    <a:spcPts val="1323"/>
                  </a:lnSpc>
                  <a:buFont typeface="Wingdings" panose="05000000000000000000" pitchFamily="2" charset="2"/>
                  <a:buChar char="Ø"/>
                </a:pPr>
                <a:endParaRPr lang="en-US" b="1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126339D-5532-456C-BBF0-6C02713C66BB}"/>
                </a:ext>
              </a:extLst>
            </p:cNvPr>
            <p:cNvSpPr txBox="1"/>
            <p:nvPr/>
          </p:nvSpPr>
          <p:spPr>
            <a:xfrm>
              <a:off x="844740" y="1567832"/>
              <a:ext cx="5699765" cy="669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After-Sales &amp; Support Model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0803EF9-3A10-472B-9BD1-B5FE585401FC}"/>
                </a:ext>
              </a:extLst>
            </p:cNvPr>
            <p:cNvSpPr txBox="1"/>
            <p:nvPr/>
          </p:nvSpPr>
          <p:spPr>
            <a:xfrm>
              <a:off x="785109" y="2377632"/>
              <a:ext cx="6214596" cy="1243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Centralized RMA and warranty management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Local technical support via certified partners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Vendor-aligned service standards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B9A2EF9-A48D-4899-80AD-0362B3F5B1F2}"/>
              </a:ext>
            </a:extLst>
          </p:cNvPr>
          <p:cNvGrpSpPr/>
          <p:nvPr/>
        </p:nvGrpSpPr>
        <p:grpSpPr>
          <a:xfrm>
            <a:off x="376018" y="6054025"/>
            <a:ext cx="6999704" cy="3086100"/>
            <a:chOff x="1" y="1351488"/>
            <a:chExt cx="6999704" cy="3197534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BB23A76-0696-4311-8C62-0AFAB97E2805}"/>
                </a:ext>
              </a:extLst>
            </p:cNvPr>
            <p:cNvGrpSpPr/>
            <p:nvPr/>
          </p:nvGrpSpPr>
          <p:grpSpPr>
            <a:xfrm>
              <a:off x="1" y="1351488"/>
              <a:ext cx="6999704" cy="3197534"/>
              <a:chOff x="3850450" y="545365"/>
              <a:chExt cx="3488741" cy="1543050"/>
            </a:xfrm>
            <a:grpFill/>
          </p:grpSpPr>
          <p:sp>
            <p:nvSpPr>
              <p:cNvPr id="121" name="Freeform 21">
                <a:extLst>
                  <a:ext uri="{FF2B5EF4-FFF2-40B4-BE49-F238E27FC236}">
                    <a16:creationId xmlns:a16="http://schemas.microsoft.com/office/drawing/2014/main" id="{AC3B82D4-9926-443F-8E0B-C9630891599F}"/>
                  </a:ext>
                </a:extLst>
              </p:cNvPr>
              <p:cNvSpPr/>
              <p:nvPr/>
            </p:nvSpPr>
            <p:spPr>
              <a:xfrm rot="10800000">
                <a:off x="3850450" y="545365"/>
                <a:ext cx="3488741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918846" h="406400">
                    <a:moveTo>
                      <a:pt x="715646" y="0"/>
                    </a:moveTo>
                    <a:cubicBezTo>
                      <a:pt x="827870" y="0"/>
                      <a:pt x="918846" y="90976"/>
                      <a:pt x="918846" y="203200"/>
                    </a:cubicBezTo>
                    <a:cubicBezTo>
                      <a:pt x="918846" y="315424"/>
                      <a:pt x="827870" y="406400"/>
                      <a:pt x="7156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22" name="TextBox 27">
                <a:extLst>
                  <a:ext uri="{FF2B5EF4-FFF2-40B4-BE49-F238E27FC236}">
                    <a16:creationId xmlns:a16="http://schemas.microsoft.com/office/drawing/2014/main" id="{85D29BB1-9D7B-4793-AA6E-595AFCD509E3}"/>
                  </a:ext>
                </a:extLst>
              </p:cNvPr>
              <p:cNvSpPr txBox="1"/>
              <p:nvPr/>
            </p:nvSpPr>
            <p:spPr>
              <a:xfrm>
                <a:off x="4656641" y="1419296"/>
                <a:ext cx="2329315" cy="179222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214"/>
                  </a:lnSpc>
                </a:pPr>
                <a:endParaRPr lang="en-US" sz="2800" b="1" spc="49" dirty="0">
                  <a:solidFill>
                    <a:srgbClr val="000000"/>
                  </a:solidFill>
                  <a:latin typeface="+mj-lt"/>
                  <a:ea typeface="Inter Bold"/>
                  <a:cs typeface="Inter Bold"/>
                  <a:sym typeface="Inter Bold"/>
                </a:endParaRP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F80F24C-DF71-47FE-9D3E-C0CD4DD5ADE6}"/>
                </a:ext>
              </a:extLst>
            </p:cNvPr>
            <p:cNvSpPr txBox="1"/>
            <p:nvPr/>
          </p:nvSpPr>
          <p:spPr>
            <a:xfrm>
              <a:off x="1229858" y="1502461"/>
              <a:ext cx="3462551" cy="66966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Channel Partners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56DB007-3661-4B31-9F84-DBBC44CFD20F}"/>
                </a:ext>
              </a:extLst>
            </p:cNvPr>
            <p:cNvSpPr txBox="1"/>
            <p:nvPr/>
          </p:nvSpPr>
          <p:spPr>
            <a:xfrm>
              <a:off x="869729" y="2289877"/>
              <a:ext cx="5462448" cy="200900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Authorized resellers and system integrators (SIs)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Selected enterprise-focused distributors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Limited, vetted retail partners for consumer products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F4BFE5-E2E0-44A9-B3E4-BE0CE6C161E9}"/>
              </a:ext>
            </a:extLst>
          </p:cNvPr>
          <p:cNvGrpSpPr/>
          <p:nvPr/>
        </p:nvGrpSpPr>
        <p:grpSpPr>
          <a:xfrm>
            <a:off x="11115032" y="438670"/>
            <a:ext cx="6999704" cy="3086100"/>
            <a:chOff x="1" y="1351488"/>
            <a:chExt cx="6999704" cy="3197534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0052CC6-7A99-4AEF-A275-A97E8E52DB52}"/>
                </a:ext>
              </a:extLst>
            </p:cNvPr>
            <p:cNvGrpSpPr/>
            <p:nvPr/>
          </p:nvGrpSpPr>
          <p:grpSpPr>
            <a:xfrm>
              <a:off x="1" y="1351488"/>
              <a:ext cx="6999704" cy="3197534"/>
              <a:chOff x="3850450" y="545365"/>
              <a:chExt cx="3488741" cy="1543050"/>
            </a:xfrm>
            <a:grpFill/>
          </p:grpSpPr>
          <p:sp>
            <p:nvSpPr>
              <p:cNvPr id="134" name="Freeform 21">
                <a:extLst>
                  <a:ext uri="{FF2B5EF4-FFF2-40B4-BE49-F238E27FC236}">
                    <a16:creationId xmlns:a16="http://schemas.microsoft.com/office/drawing/2014/main" id="{6E1FD037-3EA7-4DBE-B477-BB0CB2DB8EAE}"/>
                  </a:ext>
                </a:extLst>
              </p:cNvPr>
              <p:cNvSpPr/>
              <p:nvPr/>
            </p:nvSpPr>
            <p:spPr>
              <a:xfrm rot="10800000">
                <a:off x="3850450" y="545365"/>
                <a:ext cx="3488741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918846" h="406400">
                    <a:moveTo>
                      <a:pt x="715646" y="0"/>
                    </a:moveTo>
                    <a:cubicBezTo>
                      <a:pt x="827870" y="0"/>
                      <a:pt x="918846" y="90976"/>
                      <a:pt x="918846" y="203200"/>
                    </a:cubicBezTo>
                    <a:cubicBezTo>
                      <a:pt x="918846" y="315424"/>
                      <a:pt x="827870" y="406400"/>
                      <a:pt x="71564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pFill/>
            </p:spPr>
          </p:sp>
          <p:sp>
            <p:nvSpPr>
              <p:cNvPr id="135" name="TextBox 27">
                <a:extLst>
                  <a:ext uri="{FF2B5EF4-FFF2-40B4-BE49-F238E27FC236}">
                    <a16:creationId xmlns:a16="http://schemas.microsoft.com/office/drawing/2014/main" id="{A594BE36-4FF8-4A94-81D4-B1BABBB9CF1D}"/>
                  </a:ext>
                </a:extLst>
              </p:cNvPr>
              <p:cNvSpPr txBox="1"/>
              <p:nvPr/>
            </p:nvSpPr>
            <p:spPr>
              <a:xfrm>
                <a:off x="4656641" y="1419296"/>
                <a:ext cx="2329315" cy="179222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214"/>
                  </a:lnSpc>
                </a:pPr>
                <a:endParaRPr lang="en-US" sz="2800" b="1" spc="49" dirty="0">
                  <a:solidFill>
                    <a:srgbClr val="000000"/>
                  </a:solidFill>
                  <a:latin typeface="+mj-lt"/>
                  <a:ea typeface="Inter Bold"/>
                  <a:cs typeface="Inter Bold"/>
                  <a:sym typeface="Inter Bold"/>
                </a:endParaRP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8976E75-4E5C-431B-81EF-8A98BEE71C43}"/>
                </a:ext>
              </a:extLst>
            </p:cNvPr>
            <p:cNvSpPr txBox="1"/>
            <p:nvPr/>
          </p:nvSpPr>
          <p:spPr>
            <a:xfrm>
              <a:off x="1229858" y="1502461"/>
              <a:ext cx="3772186" cy="66966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Partner Incentives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F900E00-932C-4EE9-91D6-40063B7BF507}"/>
                </a:ext>
              </a:extLst>
            </p:cNvPr>
            <p:cNvSpPr txBox="1"/>
            <p:nvPr/>
          </p:nvSpPr>
          <p:spPr>
            <a:xfrm>
              <a:off x="869729" y="2289877"/>
              <a:ext cx="5462448" cy="200900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Tiered margin structure based on performance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Marketing Development Funds  and co-branding support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400" dirty="0"/>
                <a:t>Regular product and sales training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94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>
            <a:extLst>
              <a:ext uri="{FF2B5EF4-FFF2-40B4-BE49-F238E27FC236}">
                <a16:creationId xmlns:a16="http://schemas.microsoft.com/office/drawing/2014/main" id="{CCCB36FE-D5D0-49C7-AD14-4DF39967990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41A2B836-6FAE-48B1-9A77-77A418E9588A}"/>
              </a:ext>
            </a:extLst>
          </p:cNvPr>
          <p:cNvGrpSpPr/>
          <p:nvPr/>
        </p:nvGrpSpPr>
        <p:grpSpPr>
          <a:xfrm>
            <a:off x="3314700" y="5567981"/>
            <a:ext cx="3806393" cy="4299919"/>
            <a:chOff x="0" y="0"/>
            <a:chExt cx="1496814" cy="1690887"/>
          </a:xfrm>
        </p:grpSpPr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9AAA2B3C-9EFF-466D-8845-FF6BDE59E88B}"/>
                </a:ext>
              </a:extLst>
            </p:cNvPr>
            <p:cNvSpPr/>
            <p:nvPr/>
          </p:nvSpPr>
          <p:spPr>
            <a:xfrm>
              <a:off x="0" y="0"/>
              <a:ext cx="1496814" cy="1690887"/>
            </a:xfrm>
            <a:custGeom>
              <a:avLst/>
              <a:gdLst/>
              <a:ahLst/>
              <a:cxnLst/>
              <a:rect l="l" t="t" r="r" b="b"/>
              <a:pathLst>
                <a:path w="1496814" h="1690887">
                  <a:moveTo>
                    <a:pt x="68645" y="0"/>
                  </a:moveTo>
                  <a:lnTo>
                    <a:pt x="1428169" y="0"/>
                  </a:lnTo>
                  <a:cubicBezTo>
                    <a:pt x="1446375" y="0"/>
                    <a:pt x="1463835" y="7232"/>
                    <a:pt x="1476709" y="20106"/>
                  </a:cubicBezTo>
                  <a:cubicBezTo>
                    <a:pt x="1489582" y="32979"/>
                    <a:pt x="1496814" y="50439"/>
                    <a:pt x="1496814" y="68645"/>
                  </a:cubicBezTo>
                  <a:lnTo>
                    <a:pt x="1496814" y="1622242"/>
                  </a:lnTo>
                  <a:cubicBezTo>
                    <a:pt x="1496814" y="1640448"/>
                    <a:pt x="1489582" y="1657908"/>
                    <a:pt x="1476709" y="1670782"/>
                  </a:cubicBezTo>
                  <a:cubicBezTo>
                    <a:pt x="1463835" y="1683655"/>
                    <a:pt x="1446375" y="1690887"/>
                    <a:pt x="1428169" y="1690887"/>
                  </a:cubicBezTo>
                  <a:lnTo>
                    <a:pt x="68645" y="1690887"/>
                  </a:lnTo>
                  <a:cubicBezTo>
                    <a:pt x="50439" y="1690887"/>
                    <a:pt x="32979" y="1683655"/>
                    <a:pt x="20106" y="1670782"/>
                  </a:cubicBezTo>
                  <a:cubicBezTo>
                    <a:pt x="7232" y="1657908"/>
                    <a:pt x="0" y="1640448"/>
                    <a:pt x="0" y="1622242"/>
                  </a:cubicBezTo>
                  <a:lnTo>
                    <a:pt x="0" y="68645"/>
                  </a:lnTo>
                  <a:cubicBezTo>
                    <a:pt x="0" y="50439"/>
                    <a:pt x="7232" y="32979"/>
                    <a:pt x="20106" y="20106"/>
                  </a:cubicBezTo>
                  <a:cubicBezTo>
                    <a:pt x="32979" y="7232"/>
                    <a:pt x="50439" y="0"/>
                    <a:pt x="68645" y="0"/>
                  </a:cubicBezTo>
                  <a:close/>
                </a:path>
              </a:pathLst>
            </a:custGeom>
            <a:solidFill>
              <a:srgbClr val="313642"/>
            </a:solidFill>
          </p:spPr>
        </p:sp>
        <p:sp>
          <p:nvSpPr>
            <p:cNvPr id="48" name="TextBox 4">
              <a:extLst>
                <a:ext uri="{FF2B5EF4-FFF2-40B4-BE49-F238E27FC236}">
                  <a16:creationId xmlns:a16="http://schemas.microsoft.com/office/drawing/2014/main" id="{EA85EDCD-59DA-4B85-A928-38BDC61C875D}"/>
                </a:ext>
              </a:extLst>
            </p:cNvPr>
            <p:cNvSpPr txBox="1"/>
            <p:nvPr/>
          </p:nvSpPr>
          <p:spPr>
            <a:xfrm>
              <a:off x="0" y="-28575"/>
              <a:ext cx="1496814" cy="171946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55" name="Group 5">
            <a:extLst>
              <a:ext uri="{FF2B5EF4-FFF2-40B4-BE49-F238E27FC236}">
                <a16:creationId xmlns:a16="http://schemas.microsoft.com/office/drawing/2014/main" id="{4FE10015-58D1-4A44-9B75-7C36BF7D3007}"/>
              </a:ext>
            </a:extLst>
          </p:cNvPr>
          <p:cNvGrpSpPr/>
          <p:nvPr/>
        </p:nvGrpSpPr>
        <p:grpSpPr>
          <a:xfrm rot="5400000">
            <a:off x="3968105" y="6389977"/>
            <a:ext cx="905340" cy="905340"/>
            <a:chOff x="0" y="0"/>
            <a:chExt cx="812800" cy="812800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BEF37DBB-F982-4EA5-B58F-897396B8EF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</p:spPr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3229707A-ACC3-424F-A907-0FABC4100B3B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58" name="Group 8">
            <a:extLst>
              <a:ext uri="{FF2B5EF4-FFF2-40B4-BE49-F238E27FC236}">
                <a16:creationId xmlns:a16="http://schemas.microsoft.com/office/drawing/2014/main" id="{280E8A50-E4A1-445F-9D6C-4A2CE000A6E0}"/>
              </a:ext>
            </a:extLst>
          </p:cNvPr>
          <p:cNvGrpSpPr/>
          <p:nvPr/>
        </p:nvGrpSpPr>
        <p:grpSpPr>
          <a:xfrm rot="2700000">
            <a:off x="3968105" y="6389977"/>
            <a:ext cx="905340" cy="905340"/>
            <a:chOff x="0" y="0"/>
            <a:chExt cx="812800" cy="812800"/>
          </a:xfrm>
        </p:grpSpPr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69021051-7869-4489-99D0-0F8F39A18B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0" name="TextBox 10">
              <a:extLst>
                <a:ext uri="{FF2B5EF4-FFF2-40B4-BE49-F238E27FC236}">
                  <a16:creationId xmlns:a16="http://schemas.microsoft.com/office/drawing/2014/main" id="{2D806B6D-3D58-41C6-BA25-8A183EA6A491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61" name="Group 11">
            <a:extLst>
              <a:ext uri="{FF2B5EF4-FFF2-40B4-BE49-F238E27FC236}">
                <a16:creationId xmlns:a16="http://schemas.microsoft.com/office/drawing/2014/main" id="{95666DE9-A157-47E9-9B9E-31FE2C4D3E5C}"/>
              </a:ext>
            </a:extLst>
          </p:cNvPr>
          <p:cNvGrpSpPr/>
          <p:nvPr/>
        </p:nvGrpSpPr>
        <p:grpSpPr>
          <a:xfrm>
            <a:off x="7240804" y="3603141"/>
            <a:ext cx="3806393" cy="4299919"/>
            <a:chOff x="0" y="0"/>
            <a:chExt cx="1496814" cy="1690887"/>
          </a:xfrm>
        </p:grpSpPr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C13328A7-598C-4E4A-A3CC-DBE0D6FEFA00}"/>
                </a:ext>
              </a:extLst>
            </p:cNvPr>
            <p:cNvSpPr/>
            <p:nvPr/>
          </p:nvSpPr>
          <p:spPr>
            <a:xfrm>
              <a:off x="0" y="0"/>
              <a:ext cx="1496814" cy="1690887"/>
            </a:xfrm>
            <a:custGeom>
              <a:avLst/>
              <a:gdLst/>
              <a:ahLst/>
              <a:cxnLst/>
              <a:rect l="l" t="t" r="r" b="b"/>
              <a:pathLst>
                <a:path w="1496814" h="1690887">
                  <a:moveTo>
                    <a:pt x="68645" y="0"/>
                  </a:moveTo>
                  <a:lnTo>
                    <a:pt x="1428169" y="0"/>
                  </a:lnTo>
                  <a:cubicBezTo>
                    <a:pt x="1446375" y="0"/>
                    <a:pt x="1463835" y="7232"/>
                    <a:pt x="1476709" y="20106"/>
                  </a:cubicBezTo>
                  <a:cubicBezTo>
                    <a:pt x="1489582" y="32979"/>
                    <a:pt x="1496814" y="50439"/>
                    <a:pt x="1496814" y="68645"/>
                  </a:cubicBezTo>
                  <a:lnTo>
                    <a:pt x="1496814" y="1622242"/>
                  </a:lnTo>
                  <a:cubicBezTo>
                    <a:pt x="1496814" y="1640448"/>
                    <a:pt x="1489582" y="1657908"/>
                    <a:pt x="1476709" y="1670782"/>
                  </a:cubicBezTo>
                  <a:cubicBezTo>
                    <a:pt x="1463835" y="1683655"/>
                    <a:pt x="1446375" y="1690887"/>
                    <a:pt x="1428169" y="1690887"/>
                  </a:cubicBezTo>
                  <a:lnTo>
                    <a:pt x="68645" y="1690887"/>
                  </a:lnTo>
                  <a:cubicBezTo>
                    <a:pt x="50439" y="1690887"/>
                    <a:pt x="32979" y="1683655"/>
                    <a:pt x="20106" y="1670782"/>
                  </a:cubicBezTo>
                  <a:cubicBezTo>
                    <a:pt x="7232" y="1657908"/>
                    <a:pt x="0" y="1640448"/>
                    <a:pt x="0" y="1622242"/>
                  </a:cubicBezTo>
                  <a:lnTo>
                    <a:pt x="0" y="68645"/>
                  </a:lnTo>
                  <a:cubicBezTo>
                    <a:pt x="0" y="50439"/>
                    <a:pt x="7232" y="32979"/>
                    <a:pt x="20106" y="20106"/>
                  </a:cubicBezTo>
                  <a:cubicBezTo>
                    <a:pt x="32979" y="7232"/>
                    <a:pt x="50439" y="0"/>
                    <a:pt x="68645" y="0"/>
                  </a:cubicBezTo>
                  <a:close/>
                </a:path>
              </a:pathLst>
            </a:custGeom>
            <a:solidFill>
              <a:srgbClr val="313642"/>
            </a:solidFill>
          </p:spPr>
        </p: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DC71A5F9-C9E9-4387-A5D0-EF93D45CF3C6}"/>
                </a:ext>
              </a:extLst>
            </p:cNvPr>
            <p:cNvSpPr txBox="1"/>
            <p:nvPr/>
          </p:nvSpPr>
          <p:spPr>
            <a:xfrm>
              <a:off x="0" y="-28575"/>
              <a:ext cx="1496814" cy="171946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64" name="Group 14">
            <a:extLst>
              <a:ext uri="{FF2B5EF4-FFF2-40B4-BE49-F238E27FC236}">
                <a16:creationId xmlns:a16="http://schemas.microsoft.com/office/drawing/2014/main" id="{08AD19DA-B2B4-4248-9FBB-D03A228AB6A1}"/>
              </a:ext>
            </a:extLst>
          </p:cNvPr>
          <p:cNvGrpSpPr/>
          <p:nvPr/>
        </p:nvGrpSpPr>
        <p:grpSpPr>
          <a:xfrm rot="5400000">
            <a:off x="7894208" y="4425136"/>
            <a:ext cx="905340" cy="905340"/>
            <a:chOff x="0" y="0"/>
            <a:chExt cx="812800" cy="812800"/>
          </a:xfrm>
        </p:grpSpPr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EB762782-7612-4454-B016-71972B1A86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</p:spPr>
        </p:sp>
        <p:sp>
          <p:nvSpPr>
            <p:cNvPr id="66" name="TextBox 16">
              <a:extLst>
                <a:ext uri="{FF2B5EF4-FFF2-40B4-BE49-F238E27FC236}">
                  <a16:creationId xmlns:a16="http://schemas.microsoft.com/office/drawing/2014/main" id="{42339FE7-4BDA-4AF4-BEFF-87F026F295EC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67" name="Group 17">
            <a:extLst>
              <a:ext uri="{FF2B5EF4-FFF2-40B4-BE49-F238E27FC236}">
                <a16:creationId xmlns:a16="http://schemas.microsoft.com/office/drawing/2014/main" id="{B9AD5B08-A154-478F-AAD3-F82E76F67B96}"/>
              </a:ext>
            </a:extLst>
          </p:cNvPr>
          <p:cNvGrpSpPr/>
          <p:nvPr/>
        </p:nvGrpSpPr>
        <p:grpSpPr>
          <a:xfrm rot="2700000">
            <a:off x="7894208" y="4425136"/>
            <a:ext cx="905340" cy="905340"/>
            <a:chOff x="0" y="0"/>
            <a:chExt cx="812800" cy="812800"/>
          </a:xfrm>
        </p:grpSpPr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A0ADD55-84BE-4A01-9BC6-E38842DCB5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26FD7A29-E90E-467C-91D4-8D32417AC6DE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70" name="Group 20">
            <a:extLst>
              <a:ext uri="{FF2B5EF4-FFF2-40B4-BE49-F238E27FC236}">
                <a16:creationId xmlns:a16="http://schemas.microsoft.com/office/drawing/2014/main" id="{B6675E99-E2EB-4E61-B059-48CC614A6515}"/>
              </a:ext>
            </a:extLst>
          </p:cNvPr>
          <p:cNvGrpSpPr/>
          <p:nvPr/>
        </p:nvGrpSpPr>
        <p:grpSpPr>
          <a:xfrm>
            <a:off x="11166907" y="1638300"/>
            <a:ext cx="3806393" cy="4299919"/>
            <a:chOff x="0" y="0"/>
            <a:chExt cx="1496814" cy="1690887"/>
          </a:xfrm>
        </p:grpSpPr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DA2DEDA5-7EE1-46AF-B351-169E6B95CC3A}"/>
                </a:ext>
              </a:extLst>
            </p:cNvPr>
            <p:cNvSpPr/>
            <p:nvPr/>
          </p:nvSpPr>
          <p:spPr>
            <a:xfrm>
              <a:off x="0" y="0"/>
              <a:ext cx="1496814" cy="1690887"/>
            </a:xfrm>
            <a:custGeom>
              <a:avLst/>
              <a:gdLst/>
              <a:ahLst/>
              <a:cxnLst/>
              <a:rect l="l" t="t" r="r" b="b"/>
              <a:pathLst>
                <a:path w="1496814" h="1690887">
                  <a:moveTo>
                    <a:pt x="68645" y="0"/>
                  </a:moveTo>
                  <a:lnTo>
                    <a:pt x="1428169" y="0"/>
                  </a:lnTo>
                  <a:cubicBezTo>
                    <a:pt x="1446375" y="0"/>
                    <a:pt x="1463835" y="7232"/>
                    <a:pt x="1476709" y="20106"/>
                  </a:cubicBezTo>
                  <a:cubicBezTo>
                    <a:pt x="1489582" y="32979"/>
                    <a:pt x="1496814" y="50439"/>
                    <a:pt x="1496814" y="68645"/>
                  </a:cubicBezTo>
                  <a:lnTo>
                    <a:pt x="1496814" y="1622242"/>
                  </a:lnTo>
                  <a:cubicBezTo>
                    <a:pt x="1496814" y="1640448"/>
                    <a:pt x="1489582" y="1657908"/>
                    <a:pt x="1476709" y="1670782"/>
                  </a:cubicBezTo>
                  <a:cubicBezTo>
                    <a:pt x="1463835" y="1683655"/>
                    <a:pt x="1446375" y="1690887"/>
                    <a:pt x="1428169" y="1690887"/>
                  </a:cubicBezTo>
                  <a:lnTo>
                    <a:pt x="68645" y="1690887"/>
                  </a:lnTo>
                  <a:cubicBezTo>
                    <a:pt x="50439" y="1690887"/>
                    <a:pt x="32979" y="1683655"/>
                    <a:pt x="20106" y="1670782"/>
                  </a:cubicBezTo>
                  <a:cubicBezTo>
                    <a:pt x="7232" y="1657908"/>
                    <a:pt x="0" y="1640448"/>
                    <a:pt x="0" y="1622242"/>
                  </a:cubicBezTo>
                  <a:lnTo>
                    <a:pt x="0" y="68645"/>
                  </a:lnTo>
                  <a:cubicBezTo>
                    <a:pt x="0" y="50439"/>
                    <a:pt x="7232" y="32979"/>
                    <a:pt x="20106" y="20106"/>
                  </a:cubicBezTo>
                  <a:cubicBezTo>
                    <a:pt x="32979" y="7232"/>
                    <a:pt x="50439" y="0"/>
                    <a:pt x="68645" y="0"/>
                  </a:cubicBezTo>
                  <a:close/>
                </a:path>
              </a:pathLst>
            </a:custGeom>
            <a:solidFill>
              <a:srgbClr val="313642"/>
            </a:solidFill>
          </p:spPr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DB4C6A34-7644-40F8-B68F-B2D9168AEDB1}"/>
                </a:ext>
              </a:extLst>
            </p:cNvPr>
            <p:cNvSpPr txBox="1"/>
            <p:nvPr/>
          </p:nvSpPr>
          <p:spPr>
            <a:xfrm>
              <a:off x="0" y="-28575"/>
              <a:ext cx="1496814" cy="1719462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73" name="Group 23">
            <a:extLst>
              <a:ext uri="{FF2B5EF4-FFF2-40B4-BE49-F238E27FC236}">
                <a16:creationId xmlns:a16="http://schemas.microsoft.com/office/drawing/2014/main" id="{E572C22F-9C8E-4760-BDDF-96FA86015F3E}"/>
              </a:ext>
            </a:extLst>
          </p:cNvPr>
          <p:cNvGrpSpPr/>
          <p:nvPr/>
        </p:nvGrpSpPr>
        <p:grpSpPr>
          <a:xfrm rot="5400000">
            <a:off x="11820312" y="2460296"/>
            <a:ext cx="905340" cy="905340"/>
            <a:chOff x="0" y="0"/>
            <a:chExt cx="812800" cy="812800"/>
          </a:xfrm>
        </p:grpSpPr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2FE1BB23-CD97-41E4-BBE4-A41A37B8E9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</p:spPr>
        </p:sp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F26032C1-2CEA-4380-9B7B-5640D29D1D8E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grpSp>
        <p:nvGrpSpPr>
          <p:cNvPr id="76" name="Group 26">
            <a:extLst>
              <a:ext uri="{FF2B5EF4-FFF2-40B4-BE49-F238E27FC236}">
                <a16:creationId xmlns:a16="http://schemas.microsoft.com/office/drawing/2014/main" id="{CD7BA626-ECDE-4466-A5A9-3715D2DC9DAA}"/>
              </a:ext>
            </a:extLst>
          </p:cNvPr>
          <p:cNvGrpSpPr/>
          <p:nvPr/>
        </p:nvGrpSpPr>
        <p:grpSpPr>
          <a:xfrm rot="2700000">
            <a:off x="11820312" y="2460296"/>
            <a:ext cx="905340" cy="905340"/>
            <a:chOff x="0" y="0"/>
            <a:chExt cx="812800" cy="812800"/>
          </a:xfrm>
        </p:grpSpPr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604C19FF-6C46-4352-8E2E-EE7F4E9AE8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2406" y="0"/>
                  </a:moveTo>
                  <a:lnTo>
                    <a:pt x="620394" y="0"/>
                  </a:lnTo>
                  <a:cubicBezTo>
                    <a:pt x="671423" y="0"/>
                    <a:pt x="720362" y="20271"/>
                    <a:pt x="756445" y="56355"/>
                  </a:cubicBezTo>
                  <a:cubicBezTo>
                    <a:pt x="792529" y="92438"/>
                    <a:pt x="812800" y="141377"/>
                    <a:pt x="812800" y="192406"/>
                  </a:cubicBezTo>
                  <a:lnTo>
                    <a:pt x="812800" y="620394"/>
                  </a:lnTo>
                  <a:cubicBezTo>
                    <a:pt x="812800" y="671423"/>
                    <a:pt x="792529" y="720362"/>
                    <a:pt x="756445" y="756445"/>
                  </a:cubicBezTo>
                  <a:cubicBezTo>
                    <a:pt x="720362" y="792529"/>
                    <a:pt x="671423" y="812800"/>
                    <a:pt x="620394" y="812800"/>
                  </a:cubicBezTo>
                  <a:lnTo>
                    <a:pt x="192406" y="812800"/>
                  </a:lnTo>
                  <a:cubicBezTo>
                    <a:pt x="141377" y="812800"/>
                    <a:pt x="92438" y="792529"/>
                    <a:pt x="56355" y="756445"/>
                  </a:cubicBezTo>
                  <a:cubicBezTo>
                    <a:pt x="20271" y="720362"/>
                    <a:pt x="0" y="671423"/>
                    <a:pt x="0" y="620394"/>
                  </a:cubicBezTo>
                  <a:lnTo>
                    <a:pt x="0" y="192406"/>
                  </a:lnTo>
                  <a:cubicBezTo>
                    <a:pt x="0" y="141377"/>
                    <a:pt x="20271" y="92438"/>
                    <a:pt x="56355" y="56355"/>
                  </a:cubicBezTo>
                  <a:cubicBezTo>
                    <a:pt x="92438" y="20271"/>
                    <a:pt x="141377" y="0"/>
                    <a:pt x="1924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8" name="TextBox 28">
              <a:extLst>
                <a:ext uri="{FF2B5EF4-FFF2-40B4-BE49-F238E27FC236}">
                  <a16:creationId xmlns:a16="http://schemas.microsoft.com/office/drawing/2014/main" id="{A25CA9D4-5C93-4735-B4C6-F06F4D82E495}"/>
                </a:ext>
              </a:extLst>
            </p:cNvPr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284"/>
                </a:lnSpc>
              </a:pPr>
              <a:endParaRPr sz="2531"/>
            </a:p>
          </p:txBody>
        </p:sp>
      </p:grpSp>
      <p:sp>
        <p:nvSpPr>
          <p:cNvPr id="79" name="TextBox 29">
            <a:extLst>
              <a:ext uri="{FF2B5EF4-FFF2-40B4-BE49-F238E27FC236}">
                <a16:creationId xmlns:a16="http://schemas.microsoft.com/office/drawing/2014/main" id="{B81E31DC-E16C-4BE7-861A-C1CE95DA494C}"/>
              </a:ext>
            </a:extLst>
          </p:cNvPr>
          <p:cNvSpPr txBox="1"/>
          <p:nvPr/>
        </p:nvSpPr>
        <p:spPr>
          <a:xfrm>
            <a:off x="11920798" y="2637893"/>
            <a:ext cx="70436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4258" b="1">
                <a:solidFill>
                  <a:srgbClr val="0E335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80" name="TextBox 30">
            <a:extLst>
              <a:ext uri="{FF2B5EF4-FFF2-40B4-BE49-F238E27FC236}">
                <a16:creationId xmlns:a16="http://schemas.microsoft.com/office/drawing/2014/main" id="{E16DBEDA-0EC8-4BAD-97C2-E7F8186C18B5}"/>
              </a:ext>
            </a:extLst>
          </p:cNvPr>
          <p:cNvSpPr txBox="1"/>
          <p:nvPr/>
        </p:nvSpPr>
        <p:spPr>
          <a:xfrm>
            <a:off x="11632809" y="3841382"/>
            <a:ext cx="322618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8"/>
              </a:lnSpc>
            </a:pPr>
            <a:r>
              <a:rPr lang="en-US" sz="2813" b="1" dirty="0">
                <a:solidFill>
                  <a:srgbClr val="FF6B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on Vendors</a:t>
            </a:r>
          </a:p>
        </p:txBody>
      </p:sp>
      <p:sp>
        <p:nvSpPr>
          <p:cNvPr id="87" name="TextBox 31">
            <a:extLst>
              <a:ext uri="{FF2B5EF4-FFF2-40B4-BE49-F238E27FC236}">
                <a16:creationId xmlns:a16="http://schemas.microsoft.com/office/drawing/2014/main" id="{D0BDA395-C9AD-4A16-95D9-FABA4E46F38B}"/>
              </a:ext>
            </a:extLst>
          </p:cNvPr>
          <p:cNvSpPr txBox="1"/>
          <p:nvPr/>
        </p:nvSpPr>
        <p:spPr>
          <a:xfrm>
            <a:off x="11565235" y="4323114"/>
            <a:ext cx="2874587" cy="126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Brand integrity protection</a:t>
            </a:r>
          </a:p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Reduced grey-market risk</a:t>
            </a:r>
          </a:p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Increased confidence in international expansion with Smart Technologies</a:t>
            </a:r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6DAB2C72-58DB-478D-AEB6-9BA4EABCDA17}"/>
              </a:ext>
            </a:extLst>
          </p:cNvPr>
          <p:cNvSpPr txBox="1"/>
          <p:nvPr/>
        </p:nvSpPr>
        <p:spPr>
          <a:xfrm>
            <a:off x="4068591" y="6567574"/>
            <a:ext cx="70436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4258" b="1">
                <a:solidFill>
                  <a:srgbClr val="0E335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89" name="TextBox 33">
            <a:extLst>
              <a:ext uri="{FF2B5EF4-FFF2-40B4-BE49-F238E27FC236}">
                <a16:creationId xmlns:a16="http://schemas.microsoft.com/office/drawing/2014/main" id="{7718BED5-30EE-4932-95F2-B2036A7CDB9E}"/>
              </a:ext>
            </a:extLst>
          </p:cNvPr>
          <p:cNvSpPr txBox="1"/>
          <p:nvPr/>
        </p:nvSpPr>
        <p:spPr>
          <a:xfrm>
            <a:off x="3763154" y="7760118"/>
            <a:ext cx="334049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8"/>
              </a:lnSpc>
            </a:pPr>
            <a:r>
              <a:rPr lang="en-US" sz="2813" b="1" dirty="0">
                <a:solidFill>
                  <a:srgbClr val="FF6B00"/>
                </a:solidFill>
                <a:latin typeface="Poppins Bold"/>
                <a:ea typeface="Poppins Bold"/>
                <a:cs typeface="Poppins Bold"/>
                <a:sym typeface="Poppins Bold"/>
              </a:rPr>
              <a:t>Vendor Assurance Mechanisms</a:t>
            </a:r>
          </a:p>
        </p:txBody>
      </p:sp>
      <p:sp>
        <p:nvSpPr>
          <p:cNvPr id="90" name="TextBox 34">
            <a:extLst>
              <a:ext uri="{FF2B5EF4-FFF2-40B4-BE49-F238E27FC236}">
                <a16:creationId xmlns:a16="http://schemas.microsoft.com/office/drawing/2014/main" id="{DCEEC620-D82A-4DD2-A9F7-FA31B31E29B1}"/>
              </a:ext>
            </a:extLst>
          </p:cNvPr>
          <p:cNvSpPr txBox="1"/>
          <p:nvPr/>
        </p:nvSpPr>
        <p:spPr>
          <a:xfrm>
            <a:off x="3727059" y="8544331"/>
            <a:ext cx="3340490" cy="1008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Authorized partner–only distribution to prevent unauthorized sales</a:t>
            </a:r>
          </a:p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Regular sales and inventory reporting to vendors</a:t>
            </a:r>
          </a:p>
        </p:txBody>
      </p:sp>
      <p:sp>
        <p:nvSpPr>
          <p:cNvPr id="91" name="TextBox 35">
            <a:extLst>
              <a:ext uri="{FF2B5EF4-FFF2-40B4-BE49-F238E27FC236}">
                <a16:creationId xmlns:a16="http://schemas.microsoft.com/office/drawing/2014/main" id="{7B8B8786-9EA7-4EEC-9C7E-8E8A9AE28FB2}"/>
              </a:ext>
            </a:extLst>
          </p:cNvPr>
          <p:cNvSpPr txBox="1"/>
          <p:nvPr/>
        </p:nvSpPr>
        <p:spPr>
          <a:xfrm>
            <a:off x="2829477" y="372137"/>
            <a:ext cx="13030200" cy="91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29"/>
              </a:lnSpc>
            </a:pPr>
            <a:r>
              <a:rPr lang="en-US" sz="6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Vendor Assurance &amp; IP Protection</a:t>
            </a:r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ACF3332B-8967-41E1-88BF-10D915ED2067}"/>
              </a:ext>
            </a:extLst>
          </p:cNvPr>
          <p:cNvSpPr txBox="1"/>
          <p:nvPr/>
        </p:nvSpPr>
        <p:spPr>
          <a:xfrm>
            <a:off x="7994694" y="4602733"/>
            <a:ext cx="70436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4258" b="1">
                <a:solidFill>
                  <a:srgbClr val="0E335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750A7112-A89B-4B74-92EC-F986EC07496F}"/>
              </a:ext>
            </a:extLst>
          </p:cNvPr>
          <p:cNvSpPr txBox="1"/>
          <p:nvPr/>
        </p:nvSpPr>
        <p:spPr>
          <a:xfrm>
            <a:off x="7706707" y="5768319"/>
            <a:ext cx="3113692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28"/>
              </a:lnSpc>
            </a:pPr>
            <a:r>
              <a:rPr lang="en-US" sz="2813" b="1" dirty="0">
                <a:solidFill>
                  <a:srgbClr val="FF6B00"/>
                </a:solidFill>
                <a:latin typeface="Poppins Bold"/>
                <a:ea typeface="Poppins Bold"/>
                <a:cs typeface="Poppins Bold"/>
                <a:sym typeface="Poppins Bold"/>
              </a:rPr>
              <a:t>IP Protection Measures</a:t>
            </a:r>
          </a:p>
        </p:txBody>
      </p:sp>
      <p:sp>
        <p:nvSpPr>
          <p:cNvPr id="97" name="TextBox 38">
            <a:extLst>
              <a:ext uri="{FF2B5EF4-FFF2-40B4-BE49-F238E27FC236}">
                <a16:creationId xmlns:a16="http://schemas.microsoft.com/office/drawing/2014/main" id="{0C75E1C6-C280-40C6-9740-3BC0D1244DED}"/>
              </a:ext>
            </a:extLst>
          </p:cNvPr>
          <p:cNvSpPr txBox="1"/>
          <p:nvPr/>
        </p:nvSpPr>
        <p:spPr>
          <a:xfrm>
            <a:off x="7552098" y="6630958"/>
            <a:ext cx="3584959" cy="1264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Contractual IP protection and non-diversion clauses with partners</a:t>
            </a:r>
          </a:p>
          <a:p>
            <a:pPr marL="285750" indent="-285750">
              <a:lnSpc>
                <a:spcPts val="196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5" dirty="0">
                <a:solidFill>
                  <a:srgbClr val="FFFFFF"/>
                </a:solidFill>
                <a:latin typeface="+mj-lt"/>
                <a:ea typeface="Open Sans"/>
                <a:cs typeface="Open Sans"/>
                <a:sym typeface="Open Sans"/>
              </a:rPr>
              <a:t>Anti–grey market controls and enforcement protocols</a:t>
            </a:r>
          </a:p>
          <a:p>
            <a:pPr>
              <a:lnSpc>
                <a:spcPts val="1967"/>
              </a:lnSpc>
              <a:spcBef>
                <a:spcPct val="0"/>
              </a:spcBef>
            </a:pPr>
            <a:endParaRPr lang="en-US" sz="1405" dirty="0">
              <a:solidFill>
                <a:srgbClr val="FFFFFF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94017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>
            <a:extLst>
              <a:ext uri="{FF2B5EF4-FFF2-40B4-BE49-F238E27FC236}">
                <a16:creationId xmlns:a16="http://schemas.microsoft.com/office/drawing/2014/main" id="{CCCB36FE-D5D0-49C7-AD14-4DF39967990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12C5B1-4C33-4B22-ACD8-1FE445B1AB8C}"/>
              </a:ext>
            </a:extLst>
          </p:cNvPr>
          <p:cNvGrpSpPr/>
          <p:nvPr/>
        </p:nvGrpSpPr>
        <p:grpSpPr>
          <a:xfrm>
            <a:off x="12948669" y="3054678"/>
            <a:ext cx="4789889" cy="4299919"/>
            <a:chOff x="11166907" y="1638300"/>
            <a:chExt cx="4789889" cy="4299919"/>
          </a:xfrm>
        </p:grpSpPr>
        <p:grpSp>
          <p:nvGrpSpPr>
            <p:cNvPr id="70" name="Group 20">
              <a:extLst>
                <a:ext uri="{FF2B5EF4-FFF2-40B4-BE49-F238E27FC236}">
                  <a16:creationId xmlns:a16="http://schemas.microsoft.com/office/drawing/2014/main" id="{B6675E99-E2EB-4E61-B059-48CC614A6515}"/>
                </a:ext>
              </a:extLst>
            </p:cNvPr>
            <p:cNvGrpSpPr/>
            <p:nvPr/>
          </p:nvGrpSpPr>
          <p:grpSpPr>
            <a:xfrm>
              <a:off x="11166907" y="1638300"/>
              <a:ext cx="3806393" cy="4299919"/>
              <a:chOff x="0" y="0"/>
              <a:chExt cx="1496814" cy="1690887"/>
            </a:xfrm>
          </p:grpSpPr>
          <p:sp>
            <p:nvSpPr>
              <p:cNvPr id="71" name="Freeform 21">
                <a:extLst>
                  <a:ext uri="{FF2B5EF4-FFF2-40B4-BE49-F238E27FC236}">
                    <a16:creationId xmlns:a16="http://schemas.microsoft.com/office/drawing/2014/main" id="{DA2DEDA5-7EE1-46AF-B351-169E6B95CC3A}"/>
                  </a:ext>
                </a:extLst>
              </p:cNvPr>
              <p:cNvSpPr/>
              <p:nvPr/>
            </p:nvSpPr>
            <p:spPr>
              <a:xfrm>
                <a:off x="0" y="0"/>
                <a:ext cx="1496814" cy="1690887"/>
              </a:xfrm>
              <a:custGeom>
                <a:avLst/>
                <a:gdLst/>
                <a:ahLst/>
                <a:cxnLst/>
                <a:rect l="l" t="t" r="r" b="b"/>
                <a:pathLst>
                  <a:path w="1496814" h="1690887">
                    <a:moveTo>
                      <a:pt x="68645" y="0"/>
                    </a:moveTo>
                    <a:lnTo>
                      <a:pt x="1428169" y="0"/>
                    </a:lnTo>
                    <a:cubicBezTo>
                      <a:pt x="1446375" y="0"/>
                      <a:pt x="1463835" y="7232"/>
                      <a:pt x="1476709" y="20106"/>
                    </a:cubicBezTo>
                    <a:cubicBezTo>
                      <a:pt x="1489582" y="32979"/>
                      <a:pt x="1496814" y="50439"/>
                      <a:pt x="1496814" y="68645"/>
                    </a:cubicBezTo>
                    <a:lnTo>
                      <a:pt x="1496814" y="1622242"/>
                    </a:lnTo>
                    <a:cubicBezTo>
                      <a:pt x="1496814" y="1640448"/>
                      <a:pt x="1489582" y="1657908"/>
                      <a:pt x="1476709" y="1670782"/>
                    </a:cubicBezTo>
                    <a:cubicBezTo>
                      <a:pt x="1463835" y="1683655"/>
                      <a:pt x="1446375" y="1690887"/>
                      <a:pt x="1428169" y="1690887"/>
                    </a:cubicBezTo>
                    <a:lnTo>
                      <a:pt x="68645" y="1690887"/>
                    </a:lnTo>
                    <a:cubicBezTo>
                      <a:pt x="50439" y="1690887"/>
                      <a:pt x="32979" y="1683655"/>
                      <a:pt x="20106" y="1670782"/>
                    </a:cubicBezTo>
                    <a:cubicBezTo>
                      <a:pt x="7232" y="1657908"/>
                      <a:pt x="0" y="1640448"/>
                      <a:pt x="0" y="1622242"/>
                    </a:cubicBezTo>
                    <a:lnTo>
                      <a:pt x="0" y="68645"/>
                    </a:lnTo>
                    <a:cubicBezTo>
                      <a:pt x="0" y="50439"/>
                      <a:pt x="7232" y="32979"/>
                      <a:pt x="20106" y="20106"/>
                    </a:cubicBezTo>
                    <a:cubicBezTo>
                      <a:pt x="32979" y="7232"/>
                      <a:pt x="50439" y="0"/>
                      <a:pt x="68645" y="0"/>
                    </a:cubicBezTo>
                    <a:close/>
                  </a:path>
                </a:pathLst>
              </a:custGeom>
              <a:solidFill>
                <a:srgbClr val="313642"/>
              </a:solidFill>
            </p:spPr>
          </p:sp>
          <p:sp>
            <p:nvSpPr>
              <p:cNvPr id="72" name="TextBox 22">
                <a:extLst>
                  <a:ext uri="{FF2B5EF4-FFF2-40B4-BE49-F238E27FC236}">
                    <a16:creationId xmlns:a16="http://schemas.microsoft.com/office/drawing/2014/main" id="{DB4C6A34-7644-40F8-B68F-B2D9168AEDB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96814" cy="1719462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57E583F-A8DB-4FBE-AB9F-9C41E9820566}"/>
                </a:ext>
              </a:extLst>
            </p:cNvPr>
            <p:cNvGrpSpPr/>
            <p:nvPr/>
          </p:nvGrpSpPr>
          <p:grpSpPr>
            <a:xfrm>
              <a:off x="11533151" y="2460296"/>
              <a:ext cx="4423645" cy="3384068"/>
              <a:chOff x="11533151" y="2460296"/>
              <a:chExt cx="4423645" cy="3384068"/>
            </a:xfrm>
          </p:grpSpPr>
          <p:grpSp>
            <p:nvGrpSpPr>
              <p:cNvPr id="73" name="Group 23">
                <a:extLst>
                  <a:ext uri="{FF2B5EF4-FFF2-40B4-BE49-F238E27FC236}">
                    <a16:creationId xmlns:a16="http://schemas.microsoft.com/office/drawing/2014/main" id="{E572C22F-9C8E-4760-BDDF-96FA86015F3E}"/>
                  </a:ext>
                </a:extLst>
              </p:cNvPr>
              <p:cNvGrpSpPr/>
              <p:nvPr/>
            </p:nvGrpSpPr>
            <p:grpSpPr>
              <a:xfrm rot="5400000">
                <a:off x="11820312" y="2460296"/>
                <a:ext cx="905340" cy="905340"/>
                <a:chOff x="0" y="0"/>
                <a:chExt cx="812800" cy="812800"/>
              </a:xfrm>
            </p:grpSpPr>
            <p:sp>
              <p:nvSpPr>
                <p:cNvPr id="74" name="Freeform 24">
                  <a:extLst>
                    <a:ext uri="{FF2B5EF4-FFF2-40B4-BE49-F238E27FC236}">
                      <a16:creationId xmlns:a16="http://schemas.microsoft.com/office/drawing/2014/main" id="{2FE1BB23-CD97-41E4-BBE4-A41A37B8E96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192406" y="0"/>
                      </a:moveTo>
                      <a:lnTo>
                        <a:pt x="620394" y="0"/>
                      </a:lnTo>
                      <a:cubicBezTo>
                        <a:pt x="671423" y="0"/>
                        <a:pt x="720362" y="20271"/>
                        <a:pt x="756445" y="56355"/>
                      </a:cubicBezTo>
                      <a:cubicBezTo>
                        <a:pt x="792529" y="92438"/>
                        <a:pt x="812800" y="141377"/>
                        <a:pt x="812800" y="192406"/>
                      </a:cubicBezTo>
                      <a:lnTo>
                        <a:pt x="812800" y="620394"/>
                      </a:lnTo>
                      <a:cubicBezTo>
                        <a:pt x="812800" y="671423"/>
                        <a:pt x="792529" y="720362"/>
                        <a:pt x="756445" y="756445"/>
                      </a:cubicBezTo>
                      <a:cubicBezTo>
                        <a:pt x="720362" y="792529"/>
                        <a:pt x="671423" y="812800"/>
                        <a:pt x="620394" y="812800"/>
                      </a:cubicBezTo>
                      <a:lnTo>
                        <a:pt x="192406" y="812800"/>
                      </a:lnTo>
                      <a:cubicBezTo>
                        <a:pt x="141377" y="812800"/>
                        <a:pt x="92438" y="792529"/>
                        <a:pt x="56355" y="756445"/>
                      </a:cubicBezTo>
                      <a:cubicBezTo>
                        <a:pt x="20271" y="720362"/>
                        <a:pt x="0" y="671423"/>
                        <a:pt x="0" y="620394"/>
                      </a:cubicBezTo>
                      <a:lnTo>
                        <a:pt x="0" y="192406"/>
                      </a:lnTo>
                      <a:cubicBezTo>
                        <a:pt x="0" y="141377"/>
                        <a:pt x="20271" y="92438"/>
                        <a:pt x="56355" y="56355"/>
                      </a:cubicBezTo>
                      <a:cubicBezTo>
                        <a:pt x="92438" y="20271"/>
                        <a:pt x="141377" y="0"/>
                        <a:pt x="192406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1961"/>
                  </a:srgbClr>
                </a:solidFill>
              </p:spPr>
            </p:sp>
            <p:sp>
              <p:nvSpPr>
                <p:cNvPr id="75" name="TextBox 25">
                  <a:extLst>
                    <a:ext uri="{FF2B5EF4-FFF2-40B4-BE49-F238E27FC236}">
                      <a16:creationId xmlns:a16="http://schemas.microsoft.com/office/drawing/2014/main" id="{F26032C1-2CEA-4380-9B7B-5640D29D1D8E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284"/>
                    </a:lnSpc>
                  </a:pPr>
                  <a:endParaRPr sz="2531"/>
                </a:p>
              </p:txBody>
            </p:sp>
          </p:grpSp>
          <p:grpSp>
            <p:nvGrpSpPr>
              <p:cNvPr id="76" name="Group 26">
                <a:extLst>
                  <a:ext uri="{FF2B5EF4-FFF2-40B4-BE49-F238E27FC236}">
                    <a16:creationId xmlns:a16="http://schemas.microsoft.com/office/drawing/2014/main" id="{CD7BA626-ECDE-4466-A5A9-3715D2DC9DAA}"/>
                  </a:ext>
                </a:extLst>
              </p:cNvPr>
              <p:cNvGrpSpPr/>
              <p:nvPr/>
            </p:nvGrpSpPr>
            <p:grpSpPr>
              <a:xfrm rot="2700000">
                <a:off x="11820312" y="2460296"/>
                <a:ext cx="905340" cy="905340"/>
                <a:chOff x="0" y="0"/>
                <a:chExt cx="812800" cy="812800"/>
              </a:xfrm>
            </p:grpSpPr>
            <p:sp>
              <p:nvSpPr>
                <p:cNvPr id="77" name="Freeform 27">
                  <a:extLst>
                    <a:ext uri="{FF2B5EF4-FFF2-40B4-BE49-F238E27FC236}">
                      <a16:creationId xmlns:a16="http://schemas.microsoft.com/office/drawing/2014/main" id="{604C19FF-6C46-4352-8E2E-EE7F4E9AE85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192406" y="0"/>
                      </a:moveTo>
                      <a:lnTo>
                        <a:pt x="620394" y="0"/>
                      </a:lnTo>
                      <a:cubicBezTo>
                        <a:pt x="671423" y="0"/>
                        <a:pt x="720362" y="20271"/>
                        <a:pt x="756445" y="56355"/>
                      </a:cubicBezTo>
                      <a:cubicBezTo>
                        <a:pt x="792529" y="92438"/>
                        <a:pt x="812800" y="141377"/>
                        <a:pt x="812800" y="192406"/>
                      </a:cubicBezTo>
                      <a:lnTo>
                        <a:pt x="812800" y="620394"/>
                      </a:lnTo>
                      <a:cubicBezTo>
                        <a:pt x="812800" y="671423"/>
                        <a:pt x="792529" y="720362"/>
                        <a:pt x="756445" y="756445"/>
                      </a:cubicBezTo>
                      <a:cubicBezTo>
                        <a:pt x="720362" y="792529"/>
                        <a:pt x="671423" y="812800"/>
                        <a:pt x="620394" y="812800"/>
                      </a:cubicBezTo>
                      <a:lnTo>
                        <a:pt x="192406" y="812800"/>
                      </a:lnTo>
                      <a:cubicBezTo>
                        <a:pt x="141377" y="812800"/>
                        <a:pt x="92438" y="792529"/>
                        <a:pt x="56355" y="756445"/>
                      </a:cubicBezTo>
                      <a:cubicBezTo>
                        <a:pt x="20271" y="720362"/>
                        <a:pt x="0" y="671423"/>
                        <a:pt x="0" y="620394"/>
                      </a:cubicBezTo>
                      <a:lnTo>
                        <a:pt x="0" y="192406"/>
                      </a:lnTo>
                      <a:cubicBezTo>
                        <a:pt x="0" y="141377"/>
                        <a:pt x="20271" y="92438"/>
                        <a:pt x="56355" y="56355"/>
                      </a:cubicBezTo>
                      <a:cubicBezTo>
                        <a:pt x="92438" y="20271"/>
                        <a:pt x="141377" y="0"/>
                        <a:pt x="19240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  <p:sp>
              <p:nvSpPr>
                <p:cNvPr id="78" name="TextBox 28">
                  <a:extLst>
                    <a:ext uri="{FF2B5EF4-FFF2-40B4-BE49-F238E27FC236}">
                      <a16:creationId xmlns:a16="http://schemas.microsoft.com/office/drawing/2014/main" id="{A25CA9D4-5C93-4735-B4C6-F06F4D82E495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284"/>
                    </a:lnSpc>
                  </a:pPr>
                  <a:endParaRPr sz="2531"/>
                </a:p>
              </p:txBody>
            </p:sp>
          </p:grpSp>
          <p:sp>
            <p:nvSpPr>
              <p:cNvPr id="79" name="TextBox 29">
                <a:extLst>
                  <a:ext uri="{FF2B5EF4-FFF2-40B4-BE49-F238E27FC236}">
                    <a16:creationId xmlns:a16="http://schemas.microsoft.com/office/drawing/2014/main" id="{B81E31DC-E16C-4BE7-861A-C1CE95DA494C}"/>
                  </a:ext>
                </a:extLst>
              </p:cNvPr>
              <p:cNvSpPr txBox="1"/>
              <p:nvPr/>
            </p:nvSpPr>
            <p:spPr>
              <a:xfrm>
                <a:off x="11920798" y="2637893"/>
                <a:ext cx="704368" cy="52578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130"/>
                  </a:lnSpc>
                </a:pPr>
                <a:r>
                  <a:rPr lang="en-US" sz="4258" b="1">
                    <a:solidFill>
                      <a:srgbClr val="0E335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3</a:t>
                </a:r>
              </a:p>
            </p:txBody>
          </p:sp>
          <p:sp>
            <p:nvSpPr>
              <p:cNvPr id="80" name="TextBox 30">
                <a:extLst>
                  <a:ext uri="{FF2B5EF4-FFF2-40B4-BE49-F238E27FC236}">
                    <a16:creationId xmlns:a16="http://schemas.microsoft.com/office/drawing/2014/main" id="{E16DBEDA-0EC8-4BAD-97C2-E7F8186C18B5}"/>
                  </a:ext>
                </a:extLst>
              </p:cNvPr>
              <p:cNvSpPr txBox="1"/>
              <p:nvPr/>
            </p:nvSpPr>
            <p:spPr>
              <a:xfrm>
                <a:off x="11533151" y="3727122"/>
                <a:ext cx="4423645" cy="3462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2728"/>
                  </a:lnSpc>
                </a:pPr>
                <a:r>
                  <a:rPr lang="en-US" sz="2813" b="1" dirty="0">
                    <a:solidFill>
                      <a:srgbClr val="FF6B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Multicultural Env.</a:t>
                </a:r>
              </a:p>
            </p:txBody>
          </p:sp>
          <p:sp>
            <p:nvSpPr>
              <p:cNvPr id="87" name="TextBox 31">
                <a:extLst>
                  <a:ext uri="{FF2B5EF4-FFF2-40B4-BE49-F238E27FC236}">
                    <a16:creationId xmlns:a16="http://schemas.microsoft.com/office/drawing/2014/main" id="{D0BDA395-C9AD-4A16-95D9-FABA4E46F38B}"/>
                  </a:ext>
                </a:extLst>
              </p:cNvPr>
              <p:cNvSpPr txBox="1"/>
              <p:nvPr/>
            </p:nvSpPr>
            <p:spPr>
              <a:xfrm>
                <a:off x="11565235" y="4323114"/>
                <a:ext cx="2874587" cy="152125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285750" indent="-285750">
                  <a:lnSpc>
                    <a:spcPts val="196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5" dirty="0">
                    <a:solidFill>
                      <a:srgbClr val="FFFFF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Localized communication and marketing approach</a:t>
                </a:r>
              </a:p>
              <a:p>
                <a:pPr marL="285750" indent="-285750">
                  <a:lnSpc>
                    <a:spcPts val="196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5" dirty="0">
                    <a:solidFill>
                      <a:srgbClr val="FFFFF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Cultural sensitivity training for partner teams</a:t>
                </a:r>
              </a:p>
              <a:p>
                <a:pPr marL="285750" indent="-285750">
                  <a:lnSpc>
                    <a:spcPts val="1967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5" dirty="0">
                    <a:solidFill>
                      <a:srgbClr val="FFFFF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Allow time for internal consensus in decisions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937019A-1C82-46DA-B347-DA62AAFD9C5E}"/>
              </a:ext>
            </a:extLst>
          </p:cNvPr>
          <p:cNvGrpSpPr/>
          <p:nvPr/>
        </p:nvGrpSpPr>
        <p:grpSpPr>
          <a:xfrm>
            <a:off x="1374265" y="3091012"/>
            <a:ext cx="3806393" cy="4372585"/>
            <a:chOff x="3314700" y="5495315"/>
            <a:chExt cx="3806393" cy="4372585"/>
          </a:xfrm>
        </p:grpSpPr>
        <p:grpSp>
          <p:nvGrpSpPr>
            <p:cNvPr id="45" name="Group 2">
              <a:extLst>
                <a:ext uri="{FF2B5EF4-FFF2-40B4-BE49-F238E27FC236}">
                  <a16:creationId xmlns:a16="http://schemas.microsoft.com/office/drawing/2014/main" id="{41A2B836-6FAE-48B1-9A77-77A418E9588A}"/>
                </a:ext>
              </a:extLst>
            </p:cNvPr>
            <p:cNvGrpSpPr/>
            <p:nvPr/>
          </p:nvGrpSpPr>
          <p:grpSpPr>
            <a:xfrm>
              <a:off x="3314700" y="5495315"/>
              <a:ext cx="3806393" cy="4372585"/>
              <a:chOff x="0" y="-28575"/>
              <a:chExt cx="1496814" cy="1719462"/>
            </a:xfrm>
          </p:grpSpPr>
          <p:sp>
            <p:nvSpPr>
              <p:cNvPr id="46" name="Freeform 3">
                <a:extLst>
                  <a:ext uri="{FF2B5EF4-FFF2-40B4-BE49-F238E27FC236}">
                    <a16:creationId xmlns:a16="http://schemas.microsoft.com/office/drawing/2014/main" id="{9AAA2B3C-9EFF-466D-8845-FF6BDE59E88B}"/>
                  </a:ext>
                </a:extLst>
              </p:cNvPr>
              <p:cNvSpPr/>
              <p:nvPr/>
            </p:nvSpPr>
            <p:spPr>
              <a:xfrm>
                <a:off x="0" y="0"/>
                <a:ext cx="1496814" cy="1690887"/>
              </a:xfrm>
              <a:custGeom>
                <a:avLst/>
                <a:gdLst/>
                <a:ahLst/>
                <a:cxnLst/>
                <a:rect l="l" t="t" r="r" b="b"/>
                <a:pathLst>
                  <a:path w="1496814" h="1690887">
                    <a:moveTo>
                      <a:pt x="68645" y="0"/>
                    </a:moveTo>
                    <a:lnTo>
                      <a:pt x="1428169" y="0"/>
                    </a:lnTo>
                    <a:cubicBezTo>
                      <a:pt x="1446375" y="0"/>
                      <a:pt x="1463835" y="7232"/>
                      <a:pt x="1476709" y="20106"/>
                    </a:cubicBezTo>
                    <a:cubicBezTo>
                      <a:pt x="1489582" y="32979"/>
                      <a:pt x="1496814" y="50439"/>
                      <a:pt x="1496814" y="68645"/>
                    </a:cubicBezTo>
                    <a:lnTo>
                      <a:pt x="1496814" y="1622242"/>
                    </a:lnTo>
                    <a:cubicBezTo>
                      <a:pt x="1496814" y="1640448"/>
                      <a:pt x="1489582" y="1657908"/>
                      <a:pt x="1476709" y="1670782"/>
                    </a:cubicBezTo>
                    <a:cubicBezTo>
                      <a:pt x="1463835" y="1683655"/>
                      <a:pt x="1446375" y="1690887"/>
                      <a:pt x="1428169" y="1690887"/>
                    </a:cubicBezTo>
                    <a:lnTo>
                      <a:pt x="68645" y="1690887"/>
                    </a:lnTo>
                    <a:cubicBezTo>
                      <a:pt x="50439" y="1690887"/>
                      <a:pt x="32979" y="1683655"/>
                      <a:pt x="20106" y="1670782"/>
                    </a:cubicBezTo>
                    <a:cubicBezTo>
                      <a:pt x="7232" y="1657908"/>
                      <a:pt x="0" y="1640448"/>
                      <a:pt x="0" y="1622242"/>
                    </a:cubicBezTo>
                    <a:lnTo>
                      <a:pt x="0" y="68645"/>
                    </a:lnTo>
                    <a:cubicBezTo>
                      <a:pt x="0" y="50439"/>
                      <a:pt x="7232" y="32979"/>
                      <a:pt x="20106" y="20106"/>
                    </a:cubicBezTo>
                    <a:cubicBezTo>
                      <a:pt x="32979" y="7232"/>
                      <a:pt x="50439" y="0"/>
                      <a:pt x="68645" y="0"/>
                    </a:cubicBezTo>
                    <a:close/>
                  </a:path>
                </a:pathLst>
              </a:custGeom>
              <a:solidFill>
                <a:srgbClr val="313642"/>
              </a:solidFill>
            </p:spPr>
          </p:sp>
          <p:sp>
            <p:nvSpPr>
              <p:cNvPr id="48" name="TextBox 4">
                <a:extLst>
                  <a:ext uri="{FF2B5EF4-FFF2-40B4-BE49-F238E27FC236}">
                    <a16:creationId xmlns:a16="http://schemas.microsoft.com/office/drawing/2014/main" id="{EA85EDCD-59DA-4B85-A928-38BDC61C875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96814" cy="1719462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grpSp>
          <p:nvGrpSpPr>
            <p:cNvPr id="55" name="Group 5">
              <a:extLst>
                <a:ext uri="{FF2B5EF4-FFF2-40B4-BE49-F238E27FC236}">
                  <a16:creationId xmlns:a16="http://schemas.microsoft.com/office/drawing/2014/main" id="{4FE10015-58D1-4A44-9B75-7C36BF7D3007}"/>
                </a:ext>
              </a:extLst>
            </p:cNvPr>
            <p:cNvGrpSpPr/>
            <p:nvPr/>
          </p:nvGrpSpPr>
          <p:grpSpPr>
            <a:xfrm rot="5400000">
              <a:off x="3968105" y="6389977"/>
              <a:ext cx="905340" cy="905340"/>
              <a:chOff x="0" y="0"/>
              <a:chExt cx="812800" cy="812800"/>
            </a:xfrm>
          </p:grpSpPr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BEF37DBB-F982-4EA5-B58F-897396B8EFD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92406" y="0"/>
                    </a:moveTo>
                    <a:lnTo>
                      <a:pt x="620394" y="0"/>
                    </a:lnTo>
                    <a:cubicBezTo>
                      <a:pt x="671423" y="0"/>
                      <a:pt x="720362" y="20271"/>
                      <a:pt x="756445" y="56355"/>
                    </a:cubicBezTo>
                    <a:cubicBezTo>
                      <a:pt x="792529" y="92438"/>
                      <a:pt x="812800" y="141377"/>
                      <a:pt x="812800" y="192406"/>
                    </a:cubicBezTo>
                    <a:lnTo>
                      <a:pt x="812800" y="620394"/>
                    </a:lnTo>
                    <a:cubicBezTo>
                      <a:pt x="812800" y="671423"/>
                      <a:pt x="792529" y="720362"/>
                      <a:pt x="756445" y="756445"/>
                    </a:cubicBezTo>
                    <a:cubicBezTo>
                      <a:pt x="720362" y="792529"/>
                      <a:pt x="671423" y="812800"/>
                      <a:pt x="620394" y="812800"/>
                    </a:cubicBezTo>
                    <a:lnTo>
                      <a:pt x="192406" y="812800"/>
                    </a:lnTo>
                    <a:cubicBezTo>
                      <a:pt x="141377" y="812800"/>
                      <a:pt x="92438" y="792529"/>
                      <a:pt x="56355" y="756445"/>
                    </a:cubicBezTo>
                    <a:cubicBezTo>
                      <a:pt x="20271" y="720362"/>
                      <a:pt x="0" y="671423"/>
                      <a:pt x="0" y="620394"/>
                    </a:cubicBezTo>
                    <a:lnTo>
                      <a:pt x="0" y="192406"/>
                    </a:lnTo>
                    <a:cubicBezTo>
                      <a:pt x="0" y="141377"/>
                      <a:pt x="20271" y="92438"/>
                      <a:pt x="56355" y="56355"/>
                    </a:cubicBezTo>
                    <a:cubicBezTo>
                      <a:pt x="92438" y="20271"/>
                      <a:pt x="141377" y="0"/>
                      <a:pt x="192406" y="0"/>
                    </a:cubicBezTo>
                    <a:close/>
                  </a:path>
                </a:pathLst>
              </a:custGeom>
              <a:solidFill>
                <a:srgbClr val="FFFFFF">
                  <a:alpha val="41961"/>
                </a:srgbClr>
              </a:solidFill>
            </p:spPr>
          </p:sp>
          <p:sp>
            <p:nvSpPr>
              <p:cNvPr id="57" name="TextBox 7">
                <a:extLst>
                  <a:ext uri="{FF2B5EF4-FFF2-40B4-BE49-F238E27FC236}">
                    <a16:creationId xmlns:a16="http://schemas.microsoft.com/office/drawing/2014/main" id="{3229707A-ACC3-424F-A907-0FABC4100B3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grpSp>
          <p:nvGrpSpPr>
            <p:cNvPr id="58" name="Group 8">
              <a:extLst>
                <a:ext uri="{FF2B5EF4-FFF2-40B4-BE49-F238E27FC236}">
                  <a16:creationId xmlns:a16="http://schemas.microsoft.com/office/drawing/2014/main" id="{280E8A50-E4A1-445F-9D6C-4A2CE000A6E0}"/>
                </a:ext>
              </a:extLst>
            </p:cNvPr>
            <p:cNvGrpSpPr/>
            <p:nvPr/>
          </p:nvGrpSpPr>
          <p:grpSpPr>
            <a:xfrm rot="2700000">
              <a:off x="3968105" y="6389977"/>
              <a:ext cx="905340" cy="905340"/>
              <a:chOff x="0" y="0"/>
              <a:chExt cx="812800" cy="812800"/>
            </a:xfrm>
          </p:grpSpPr>
          <p:sp>
            <p:nvSpPr>
              <p:cNvPr id="59" name="Freeform 9">
                <a:extLst>
                  <a:ext uri="{FF2B5EF4-FFF2-40B4-BE49-F238E27FC236}">
                    <a16:creationId xmlns:a16="http://schemas.microsoft.com/office/drawing/2014/main" id="{69021051-7869-4489-99D0-0F8F39A18B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92406" y="0"/>
                    </a:moveTo>
                    <a:lnTo>
                      <a:pt x="620394" y="0"/>
                    </a:lnTo>
                    <a:cubicBezTo>
                      <a:pt x="671423" y="0"/>
                      <a:pt x="720362" y="20271"/>
                      <a:pt x="756445" y="56355"/>
                    </a:cubicBezTo>
                    <a:cubicBezTo>
                      <a:pt x="792529" y="92438"/>
                      <a:pt x="812800" y="141377"/>
                      <a:pt x="812800" y="192406"/>
                    </a:cubicBezTo>
                    <a:lnTo>
                      <a:pt x="812800" y="620394"/>
                    </a:lnTo>
                    <a:cubicBezTo>
                      <a:pt x="812800" y="671423"/>
                      <a:pt x="792529" y="720362"/>
                      <a:pt x="756445" y="756445"/>
                    </a:cubicBezTo>
                    <a:cubicBezTo>
                      <a:pt x="720362" y="792529"/>
                      <a:pt x="671423" y="812800"/>
                      <a:pt x="620394" y="812800"/>
                    </a:cubicBezTo>
                    <a:lnTo>
                      <a:pt x="192406" y="812800"/>
                    </a:lnTo>
                    <a:cubicBezTo>
                      <a:pt x="141377" y="812800"/>
                      <a:pt x="92438" y="792529"/>
                      <a:pt x="56355" y="756445"/>
                    </a:cubicBezTo>
                    <a:cubicBezTo>
                      <a:pt x="20271" y="720362"/>
                      <a:pt x="0" y="671423"/>
                      <a:pt x="0" y="620394"/>
                    </a:cubicBezTo>
                    <a:lnTo>
                      <a:pt x="0" y="192406"/>
                    </a:lnTo>
                    <a:cubicBezTo>
                      <a:pt x="0" y="141377"/>
                      <a:pt x="20271" y="92438"/>
                      <a:pt x="56355" y="56355"/>
                    </a:cubicBezTo>
                    <a:cubicBezTo>
                      <a:pt x="92438" y="20271"/>
                      <a:pt x="141377" y="0"/>
                      <a:pt x="192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0" name="TextBox 10">
                <a:extLst>
                  <a:ext uri="{FF2B5EF4-FFF2-40B4-BE49-F238E27FC236}">
                    <a16:creationId xmlns:a16="http://schemas.microsoft.com/office/drawing/2014/main" id="{2D806B6D-3D58-41C6-BA25-8A183EA6A49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sp>
          <p:nvSpPr>
            <p:cNvPr id="88" name="TextBox 32">
              <a:extLst>
                <a:ext uri="{FF2B5EF4-FFF2-40B4-BE49-F238E27FC236}">
                  <a16:creationId xmlns:a16="http://schemas.microsoft.com/office/drawing/2014/main" id="{6DAB2C72-58DB-478D-AEB6-9BA4EABCDA17}"/>
                </a:ext>
              </a:extLst>
            </p:cNvPr>
            <p:cNvSpPr txBox="1"/>
            <p:nvPr/>
          </p:nvSpPr>
          <p:spPr>
            <a:xfrm>
              <a:off x="4068591" y="6567574"/>
              <a:ext cx="704368" cy="525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4258" b="1">
                  <a:solidFill>
                    <a:srgbClr val="0E33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  <p:sp>
          <p:nvSpPr>
            <p:cNvPr id="89" name="TextBox 33">
              <a:extLst>
                <a:ext uri="{FF2B5EF4-FFF2-40B4-BE49-F238E27FC236}">
                  <a16:creationId xmlns:a16="http://schemas.microsoft.com/office/drawing/2014/main" id="{7718BED5-30EE-4932-95F2-B2036A7CDB9E}"/>
                </a:ext>
              </a:extLst>
            </p:cNvPr>
            <p:cNvSpPr txBox="1"/>
            <p:nvPr/>
          </p:nvSpPr>
          <p:spPr>
            <a:xfrm>
              <a:off x="3727059" y="7647740"/>
              <a:ext cx="3340490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28"/>
                </a:lnSpc>
              </a:pPr>
              <a:r>
                <a:rPr lang="en-US" sz="2813" b="1" dirty="0">
                  <a:solidFill>
                    <a:srgbClr val="FF6B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Hierarchy &amp; Respect</a:t>
              </a:r>
            </a:p>
          </p:txBody>
        </p:sp>
        <p:sp>
          <p:nvSpPr>
            <p:cNvPr id="90" name="TextBox 34">
              <a:extLst>
                <a:ext uri="{FF2B5EF4-FFF2-40B4-BE49-F238E27FC236}">
                  <a16:creationId xmlns:a16="http://schemas.microsoft.com/office/drawing/2014/main" id="{DCEEC620-D82A-4DD2-A9F7-FA31B31E29B1}"/>
                </a:ext>
              </a:extLst>
            </p:cNvPr>
            <p:cNvSpPr txBox="1"/>
            <p:nvPr/>
          </p:nvSpPr>
          <p:spPr>
            <a:xfrm>
              <a:off x="3727059" y="8471683"/>
              <a:ext cx="3340490" cy="10093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Senior-level engagement in negotiations</a:t>
              </a:r>
            </a:p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Clear decision authority mapping</a:t>
              </a:r>
            </a:p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Formal communication for key agreements</a:t>
              </a:r>
            </a:p>
          </p:txBody>
        </p:sp>
      </p:grpSp>
      <p:sp>
        <p:nvSpPr>
          <p:cNvPr id="91" name="TextBox 35">
            <a:extLst>
              <a:ext uri="{FF2B5EF4-FFF2-40B4-BE49-F238E27FC236}">
                <a16:creationId xmlns:a16="http://schemas.microsoft.com/office/drawing/2014/main" id="{7B8B8786-9EA7-4EEC-9C7E-8E8A9AE28FB2}"/>
              </a:ext>
            </a:extLst>
          </p:cNvPr>
          <p:cNvSpPr txBox="1"/>
          <p:nvPr/>
        </p:nvSpPr>
        <p:spPr>
          <a:xfrm>
            <a:off x="2252938" y="887651"/>
            <a:ext cx="13782123" cy="915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729"/>
              </a:lnSpc>
            </a:pPr>
            <a:r>
              <a:rPr lang="en-US" sz="6000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Culture-to-Action Mapping (Malaysia)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2E20A8-8EA1-46F9-ADB8-90B1D787C0F2}"/>
              </a:ext>
            </a:extLst>
          </p:cNvPr>
          <p:cNvGrpSpPr/>
          <p:nvPr/>
        </p:nvGrpSpPr>
        <p:grpSpPr>
          <a:xfrm>
            <a:off x="7440346" y="3001437"/>
            <a:ext cx="3939696" cy="4372585"/>
            <a:chOff x="7240804" y="3530475"/>
            <a:chExt cx="3939696" cy="4372585"/>
          </a:xfrm>
        </p:grpSpPr>
        <p:grpSp>
          <p:nvGrpSpPr>
            <p:cNvPr id="61" name="Group 11">
              <a:extLst>
                <a:ext uri="{FF2B5EF4-FFF2-40B4-BE49-F238E27FC236}">
                  <a16:creationId xmlns:a16="http://schemas.microsoft.com/office/drawing/2014/main" id="{95666DE9-A157-47E9-9B9E-31FE2C4D3E5C}"/>
                </a:ext>
              </a:extLst>
            </p:cNvPr>
            <p:cNvGrpSpPr/>
            <p:nvPr/>
          </p:nvGrpSpPr>
          <p:grpSpPr>
            <a:xfrm>
              <a:off x="7240804" y="3530475"/>
              <a:ext cx="3806393" cy="4372585"/>
              <a:chOff x="0" y="-28575"/>
              <a:chExt cx="1496814" cy="1719462"/>
            </a:xfrm>
          </p:grpSpPr>
          <p:sp>
            <p:nvSpPr>
              <p:cNvPr id="62" name="Freeform 12">
                <a:extLst>
                  <a:ext uri="{FF2B5EF4-FFF2-40B4-BE49-F238E27FC236}">
                    <a16:creationId xmlns:a16="http://schemas.microsoft.com/office/drawing/2014/main" id="{C13328A7-598C-4E4A-A3CC-DBE0D6FEFA00}"/>
                  </a:ext>
                </a:extLst>
              </p:cNvPr>
              <p:cNvSpPr/>
              <p:nvPr/>
            </p:nvSpPr>
            <p:spPr>
              <a:xfrm>
                <a:off x="0" y="0"/>
                <a:ext cx="1496814" cy="1690887"/>
              </a:xfrm>
              <a:custGeom>
                <a:avLst/>
                <a:gdLst/>
                <a:ahLst/>
                <a:cxnLst/>
                <a:rect l="l" t="t" r="r" b="b"/>
                <a:pathLst>
                  <a:path w="1496814" h="1690887">
                    <a:moveTo>
                      <a:pt x="68645" y="0"/>
                    </a:moveTo>
                    <a:lnTo>
                      <a:pt x="1428169" y="0"/>
                    </a:lnTo>
                    <a:cubicBezTo>
                      <a:pt x="1446375" y="0"/>
                      <a:pt x="1463835" y="7232"/>
                      <a:pt x="1476709" y="20106"/>
                    </a:cubicBezTo>
                    <a:cubicBezTo>
                      <a:pt x="1489582" y="32979"/>
                      <a:pt x="1496814" y="50439"/>
                      <a:pt x="1496814" y="68645"/>
                    </a:cubicBezTo>
                    <a:lnTo>
                      <a:pt x="1496814" y="1622242"/>
                    </a:lnTo>
                    <a:cubicBezTo>
                      <a:pt x="1496814" y="1640448"/>
                      <a:pt x="1489582" y="1657908"/>
                      <a:pt x="1476709" y="1670782"/>
                    </a:cubicBezTo>
                    <a:cubicBezTo>
                      <a:pt x="1463835" y="1683655"/>
                      <a:pt x="1446375" y="1690887"/>
                      <a:pt x="1428169" y="1690887"/>
                    </a:cubicBezTo>
                    <a:lnTo>
                      <a:pt x="68645" y="1690887"/>
                    </a:lnTo>
                    <a:cubicBezTo>
                      <a:pt x="50439" y="1690887"/>
                      <a:pt x="32979" y="1683655"/>
                      <a:pt x="20106" y="1670782"/>
                    </a:cubicBezTo>
                    <a:cubicBezTo>
                      <a:pt x="7232" y="1657908"/>
                      <a:pt x="0" y="1640448"/>
                      <a:pt x="0" y="1622242"/>
                    </a:cubicBezTo>
                    <a:lnTo>
                      <a:pt x="0" y="68645"/>
                    </a:lnTo>
                    <a:cubicBezTo>
                      <a:pt x="0" y="50439"/>
                      <a:pt x="7232" y="32979"/>
                      <a:pt x="20106" y="20106"/>
                    </a:cubicBezTo>
                    <a:cubicBezTo>
                      <a:pt x="32979" y="7232"/>
                      <a:pt x="50439" y="0"/>
                      <a:pt x="68645" y="0"/>
                    </a:cubicBezTo>
                    <a:close/>
                  </a:path>
                </a:pathLst>
              </a:custGeom>
              <a:solidFill>
                <a:srgbClr val="313642"/>
              </a:solidFill>
            </p:spPr>
          </p:sp>
          <p:sp>
            <p:nvSpPr>
              <p:cNvPr id="63" name="TextBox 13">
                <a:extLst>
                  <a:ext uri="{FF2B5EF4-FFF2-40B4-BE49-F238E27FC236}">
                    <a16:creationId xmlns:a16="http://schemas.microsoft.com/office/drawing/2014/main" id="{DC71A5F9-C9E9-4387-A5D0-EF93D45CF3C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496814" cy="1719462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grpSp>
          <p:nvGrpSpPr>
            <p:cNvPr id="64" name="Group 14">
              <a:extLst>
                <a:ext uri="{FF2B5EF4-FFF2-40B4-BE49-F238E27FC236}">
                  <a16:creationId xmlns:a16="http://schemas.microsoft.com/office/drawing/2014/main" id="{08AD19DA-B2B4-4248-9FBB-D03A228AB6A1}"/>
                </a:ext>
              </a:extLst>
            </p:cNvPr>
            <p:cNvGrpSpPr/>
            <p:nvPr/>
          </p:nvGrpSpPr>
          <p:grpSpPr>
            <a:xfrm rot="5400000">
              <a:off x="7894208" y="4425136"/>
              <a:ext cx="905340" cy="905340"/>
              <a:chOff x="0" y="0"/>
              <a:chExt cx="812800" cy="812800"/>
            </a:xfrm>
          </p:grpSpPr>
          <p:sp>
            <p:nvSpPr>
              <p:cNvPr id="65" name="Freeform 15">
                <a:extLst>
                  <a:ext uri="{FF2B5EF4-FFF2-40B4-BE49-F238E27FC236}">
                    <a16:creationId xmlns:a16="http://schemas.microsoft.com/office/drawing/2014/main" id="{EB762782-7612-4454-B016-71972B1A86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92406" y="0"/>
                    </a:moveTo>
                    <a:lnTo>
                      <a:pt x="620394" y="0"/>
                    </a:lnTo>
                    <a:cubicBezTo>
                      <a:pt x="671423" y="0"/>
                      <a:pt x="720362" y="20271"/>
                      <a:pt x="756445" y="56355"/>
                    </a:cubicBezTo>
                    <a:cubicBezTo>
                      <a:pt x="792529" y="92438"/>
                      <a:pt x="812800" y="141377"/>
                      <a:pt x="812800" y="192406"/>
                    </a:cubicBezTo>
                    <a:lnTo>
                      <a:pt x="812800" y="620394"/>
                    </a:lnTo>
                    <a:cubicBezTo>
                      <a:pt x="812800" y="671423"/>
                      <a:pt x="792529" y="720362"/>
                      <a:pt x="756445" y="756445"/>
                    </a:cubicBezTo>
                    <a:cubicBezTo>
                      <a:pt x="720362" y="792529"/>
                      <a:pt x="671423" y="812800"/>
                      <a:pt x="620394" y="812800"/>
                    </a:cubicBezTo>
                    <a:lnTo>
                      <a:pt x="192406" y="812800"/>
                    </a:lnTo>
                    <a:cubicBezTo>
                      <a:pt x="141377" y="812800"/>
                      <a:pt x="92438" y="792529"/>
                      <a:pt x="56355" y="756445"/>
                    </a:cubicBezTo>
                    <a:cubicBezTo>
                      <a:pt x="20271" y="720362"/>
                      <a:pt x="0" y="671423"/>
                      <a:pt x="0" y="620394"/>
                    </a:cubicBezTo>
                    <a:lnTo>
                      <a:pt x="0" y="192406"/>
                    </a:lnTo>
                    <a:cubicBezTo>
                      <a:pt x="0" y="141377"/>
                      <a:pt x="20271" y="92438"/>
                      <a:pt x="56355" y="56355"/>
                    </a:cubicBezTo>
                    <a:cubicBezTo>
                      <a:pt x="92438" y="20271"/>
                      <a:pt x="141377" y="0"/>
                      <a:pt x="192406" y="0"/>
                    </a:cubicBezTo>
                    <a:close/>
                  </a:path>
                </a:pathLst>
              </a:custGeom>
              <a:solidFill>
                <a:srgbClr val="FFFFFF">
                  <a:alpha val="41961"/>
                </a:srgbClr>
              </a:solidFill>
            </p:spPr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42339FE7-4BDA-4AF4-BEFF-87F026F295E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grpSp>
          <p:nvGrpSpPr>
            <p:cNvPr id="67" name="Group 17">
              <a:extLst>
                <a:ext uri="{FF2B5EF4-FFF2-40B4-BE49-F238E27FC236}">
                  <a16:creationId xmlns:a16="http://schemas.microsoft.com/office/drawing/2014/main" id="{B9AD5B08-A154-478F-AAD3-F82E76F67B96}"/>
                </a:ext>
              </a:extLst>
            </p:cNvPr>
            <p:cNvGrpSpPr/>
            <p:nvPr/>
          </p:nvGrpSpPr>
          <p:grpSpPr>
            <a:xfrm rot="2700000">
              <a:off x="7894208" y="4425136"/>
              <a:ext cx="905340" cy="905340"/>
              <a:chOff x="0" y="0"/>
              <a:chExt cx="812800" cy="812800"/>
            </a:xfrm>
          </p:grpSpPr>
          <p:sp>
            <p:nvSpPr>
              <p:cNvPr id="68" name="Freeform 18">
                <a:extLst>
                  <a:ext uri="{FF2B5EF4-FFF2-40B4-BE49-F238E27FC236}">
                    <a16:creationId xmlns:a16="http://schemas.microsoft.com/office/drawing/2014/main" id="{3A0ADD55-84BE-4A01-9BC6-E38842DCB59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192406" y="0"/>
                    </a:moveTo>
                    <a:lnTo>
                      <a:pt x="620394" y="0"/>
                    </a:lnTo>
                    <a:cubicBezTo>
                      <a:pt x="671423" y="0"/>
                      <a:pt x="720362" y="20271"/>
                      <a:pt x="756445" y="56355"/>
                    </a:cubicBezTo>
                    <a:cubicBezTo>
                      <a:pt x="792529" y="92438"/>
                      <a:pt x="812800" y="141377"/>
                      <a:pt x="812800" y="192406"/>
                    </a:cubicBezTo>
                    <a:lnTo>
                      <a:pt x="812800" y="620394"/>
                    </a:lnTo>
                    <a:cubicBezTo>
                      <a:pt x="812800" y="671423"/>
                      <a:pt x="792529" y="720362"/>
                      <a:pt x="756445" y="756445"/>
                    </a:cubicBezTo>
                    <a:cubicBezTo>
                      <a:pt x="720362" y="792529"/>
                      <a:pt x="671423" y="812800"/>
                      <a:pt x="620394" y="812800"/>
                    </a:cubicBezTo>
                    <a:lnTo>
                      <a:pt x="192406" y="812800"/>
                    </a:lnTo>
                    <a:cubicBezTo>
                      <a:pt x="141377" y="812800"/>
                      <a:pt x="92438" y="792529"/>
                      <a:pt x="56355" y="756445"/>
                    </a:cubicBezTo>
                    <a:cubicBezTo>
                      <a:pt x="20271" y="720362"/>
                      <a:pt x="0" y="671423"/>
                      <a:pt x="0" y="620394"/>
                    </a:cubicBezTo>
                    <a:lnTo>
                      <a:pt x="0" y="192406"/>
                    </a:lnTo>
                    <a:cubicBezTo>
                      <a:pt x="0" y="141377"/>
                      <a:pt x="20271" y="92438"/>
                      <a:pt x="56355" y="56355"/>
                    </a:cubicBezTo>
                    <a:cubicBezTo>
                      <a:pt x="92438" y="20271"/>
                      <a:pt x="141377" y="0"/>
                      <a:pt x="192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9" name="TextBox 19">
                <a:extLst>
                  <a:ext uri="{FF2B5EF4-FFF2-40B4-BE49-F238E27FC236}">
                    <a16:creationId xmlns:a16="http://schemas.microsoft.com/office/drawing/2014/main" id="{26FD7A29-E90E-467C-91D4-8D32417AC6D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284"/>
                  </a:lnSpc>
                </a:pPr>
                <a:endParaRPr sz="2531"/>
              </a:p>
            </p:txBody>
          </p:sp>
        </p:grpSp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ACF3332B-8967-41E1-88BF-10D915ED2067}"/>
                </a:ext>
              </a:extLst>
            </p:cNvPr>
            <p:cNvSpPr txBox="1"/>
            <p:nvPr/>
          </p:nvSpPr>
          <p:spPr>
            <a:xfrm>
              <a:off x="7994694" y="4602733"/>
              <a:ext cx="704368" cy="525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30"/>
                </a:lnSpc>
              </a:pPr>
              <a:r>
                <a:rPr lang="en-US" sz="4258" b="1">
                  <a:solidFill>
                    <a:srgbClr val="0E33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  <p:sp>
          <p:nvSpPr>
            <p:cNvPr id="96" name="TextBox 37">
              <a:extLst>
                <a:ext uri="{FF2B5EF4-FFF2-40B4-BE49-F238E27FC236}">
                  <a16:creationId xmlns:a16="http://schemas.microsoft.com/office/drawing/2014/main" id="{750A7112-A89B-4B74-92EC-F986EC07496F}"/>
                </a:ext>
              </a:extLst>
            </p:cNvPr>
            <p:cNvSpPr txBox="1"/>
            <p:nvPr/>
          </p:nvSpPr>
          <p:spPr>
            <a:xfrm>
              <a:off x="7537067" y="5607554"/>
              <a:ext cx="3584958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728"/>
                </a:lnSpc>
              </a:pPr>
              <a:r>
                <a:rPr lang="en-US" sz="2813" b="1" dirty="0">
                  <a:solidFill>
                    <a:srgbClr val="FF6B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Relationship-Driven Business Culture</a:t>
              </a:r>
            </a:p>
          </p:txBody>
        </p:sp>
        <p:sp>
          <p:nvSpPr>
            <p:cNvPr id="97" name="TextBox 38">
              <a:extLst>
                <a:ext uri="{FF2B5EF4-FFF2-40B4-BE49-F238E27FC236}">
                  <a16:creationId xmlns:a16="http://schemas.microsoft.com/office/drawing/2014/main" id="{0C75E1C6-C280-40C6-9740-3BC0D1244DED}"/>
                </a:ext>
              </a:extLst>
            </p:cNvPr>
            <p:cNvSpPr txBox="1"/>
            <p:nvPr/>
          </p:nvSpPr>
          <p:spPr>
            <a:xfrm>
              <a:off x="7595541" y="6341095"/>
              <a:ext cx="3584959" cy="12658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Long-term partner development programs</a:t>
              </a:r>
            </a:p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Regular in-person and relationship-building meetings</a:t>
              </a:r>
            </a:p>
            <a:p>
              <a:pPr marL="285750" indent="-285750">
                <a:lnSpc>
                  <a:spcPts val="1967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5" dirty="0">
                  <a:solidFill>
                    <a:srgbClr val="FFFFFF"/>
                  </a:solidFill>
                  <a:latin typeface="+mj-lt"/>
                  <a:ea typeface="Open Sans"/>
                  <a:cs typeface="Open Sans"/>
                  <a:sym typeface="Open Sans"/>
                </a:rPr>
                <a:t>Emphasis on trust over short-term transactions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663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2">
            <a:extLst>
              <a:ext uri="{FF2B5EF4-FFF2-40B4-BE49-F238E27FC236}">
                <a16:creationId xmlns:a16="http://schemas.microsoft.com/office/drawing/2014/main" id="{CCCB36FE-D5D0-49C7-AD14-4DF399679907}"/>
              </a:ext>
            </a:extLst>
          </p:cNvPr>
          <p:cNvSpPr/>
          <p:nvPr/>
        </p:nvSpPr>
        <p:spPr>
          <a:xfrm>
            <a:off x="13639800" y="6819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CEDAE-7B0B-4DD6-940E-5A7CB9051C9E}"/>
              </a:ext>
            </a:extLst>
          </p:cNvPr>
          <p:cNvSpPr txBox="1"/>
          <p:nvPr/>
        </p:nvSpPr>
        <p:spPr>
          <a:xfrm>
            <a:off x="1556084" y="571500"/>
            <a:ext cx="57737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</a:rPr>
              <a:t>References: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3C764-DC67-4319-AFAF-22867A089EA8}"/>
              </a:ext>
            </a:extLst>
          </p:cNvPr>
          <p:cNvSpPr txBox="1"/>
          <p:nvPr/>
        </p:nvSpPr>
        <p:spPr>
          <a:xfrm>
            <a:off x="1556084" y="3427869"/>
            <a:ext cx="7317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Smart Technologies (BD) Ltd. (2025). Company profile. https://smartbd.com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E32D9-7D55-43B6-896A-537BC68B47E5}"/>
              </a:ext>
            </a:extLst>
          </p:cNvPr>
          <p:cNvSpPr txBox="1"/>
          <p:nvPr/>
        </p:nvSpPr>
        <p:spPr>
          <a:xfrm>
            <a:off x="1592179" y="2627650"/>
            <a:ext cx="59745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effectLst/>
                <a:latin typeface="fkGroteskNeue"/>
              </a:rPr>
              <a:t>Company Background Slide: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0257F8-A256-4473-9653-C428FBD51CAF}"/>
              </a:ext>
            </a:extLst>
          </p:cNvPr>
          <p:cNvSpPr txBox="1"/>
          <p:nvPr/>
        </p:nvSpPr>
        <p:spPr>
          <a:xfrm>
            <a:off x="1556084" y="4036472"/>
            <a:ext cx="8122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effectLst/>
                <a:latin typeface="fkGroteskNeue"/>
              </a:rPr>
              <a:t>Market Economic Attractiveness Slide: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7A703-2B38-4971-BADE-4DD385E45B09}"/>
              </a:ext>
            </a:extLst>
          </p:cNvPr>
          <p:cNvSpPr txBox="1"/>
          <p:nvPr/>
        </p:nvSpPr>
        <p:spPr>
          <a:xfrm>
            <a:off x="1556084" y="4739204"/>
            <a:ext cx="15002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Mordor Intelligence. (2025). Malaysia ICT market size, share, trends, 2030 report. https://www.mordorintelligence.com/industry-reports/malaysia-ict-market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Data Insights Market. (2026). ICT industry in Malaysia 2026-2034 overview. https://www.datainsightsmarket.com/reports/ict-industry-in-malaysia-14525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811A1-2775-481C-B052-551286D47C3F}"/>
              </a:ext>
            </a:extLst>
          </p:cNvPr>
          <p:cNvSpPr txBox="1"/>
          <p:nvPr/>
        </p:nvSpPr>
        <p:spPr>
          <a:xfrm>
            <a:off x="1592179" y="5771960"/>
            <a:ext cx="6465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effectLst/>
                <a:latin typeface="fkGroteskNeue"/>
              </a:rPr>
              <a:t>Regulatory Environment Slide: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82082D-0840-45BF-ACE4-C537CB4A26E2}"/>
              </a:ext>
            </a:extLst>
          </p:cNvPr>
          <p:cNvSpPr txBox="1"/>
          <p:nvPr/>
        </p:nvSpPr>
        <p:spPr>
          <a:xfrm>
            <a:off x="1592179" y="6657809"/>
            <a:ext cx="12814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Emerhub</a:t>
            </a:r>
            <a:r>
              <a:rPr lang="en-US" dirty="0">
                <a:solidFill>
                  <a:schemeClr val="bg1"/>
                </a:solidFill>
              </a:rPr>
              <a:t>. (2025). How to secure an ICT license in Malaysia. https://emerhub.com/malaysia/how-to-secure-an-ict-license-in-malaysia/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48ED2-F8A6-4FDA-B682-A76C962476F3}"/>
              </a:ext>
            </a:extLst>
          </p:cNvPr>
          <p:cNvSpPr txBox="1"/>
          <p:nvPr/>
        </p:nvSpPr>
        <p:spPr>
          <a:xfrm>
            <a:off x="1604211" y="7071309"/>
            <a:ext cx="46790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effectLst/>
                <a:latin typeface="fkGroteskNeue"/>
              </a:rPr>
              <a:t>PESTLE Analysis Slide: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6E021-99B0-462B-B411-5A01DAE6787E}"/>
              </a:ext>
            </a:extLst>
          </p:cNvPr>
          <p:cNvSpPr txBox="1"/>
          <p:nvPr/>
        </p:nvSpPr>
        <p:spPr>
          <a:xfrm>
            <a:off x="1624263" y="7941286"/>
            <a:ext cx="13050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PESTLE Analysis. (2024). Malaysia PESTLE analysis focuses on the country's needs. https://pestleanalysis.com/malaysia-pestel-analysis/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1034</Words>
  <Application>Microsoft Office PowerPoint</Application>
  <PresentationFormat>Custom</PresentationFormat>
  <Paragraphs>184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32" baseType="lpstr">
      <vt:lpstr>Calibri</vt:lpstr>
      <vt:lpstr>Bricolage Grotesque Bold</vt:lpstr>
      <vt:lpstr>HK Grotesk Light</vt:lpstr>
      <vt:lpstr>Muli Semi-Bold</vt:lpstr>
      <vt:lpstr>Arial</vt:lpstr>
      <vt:lpstr>Overpass</vt:lpstr>
      <vt:lpstr>HK Grotesk Bold</vt:lpstr>
      <vt:lpstr>Gilda Display</vt:lpstr>
      <vt:lpstr>Google Sans</vt:lpstr>
      <vt:lpstr>fkGroteskNeue</vt:lpstr>
      <vt:lpstr>Ruda Heavy</vt:lpstr>
      <vt:lpstr>Wingdings</vt:lpstr>
      <vt:lpstr>TT Interphases</vt:lpstr>
      <vt:lpstr>Inter Bold</vt:lpstr>
      <vt:lpstr>Codec Pro</vt:lpstr>
      <vt:lpstr>Ruda Bold</vt:lpstr>
      <vt:lpstr>Helvetica World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Analysis and Solution</dc:title>
  <dc:creator>king Shohan</dc:creator>
  <dc:description>Presentation - Analysis and Solution</dc:description>
  <cp:lastModifiedBy>Shohan Islam</cp:lastModifiedBy>
  <cp:revision>41</cp:revision>
  <dcterms:created xsi:type="dcterms:W3CDTF">2006-08-16T00:00:00Z</dcterms:created>
  <dcterms:modified xsi:type="dcterms:W3CDTF">2026-02-09T15:15:00Z</dcterms:modified>
  <dc:identifier>DAHAy3JjWcA</dc:identifier>
</cp:coreProperties>
</file>