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4047" r:id="rId1"/>
  </p:sldMasterIdLst>
  <p:notesMasterIdLst>
    <p:notesMasterId r:id="rId17"/>
  </p:notesMasterIdLst>
  <p:sldIdLst>
    <p:sldId id="269" r:id="rId2"/>
    <p:sldId id="268" r:id="rId3"/>
    <p:sldId id="281" r:id="rId4"/>
    <p:sldId id="276" r:id="rId5"/>
    <p:sldId id="270" r:id="rId6"/>
    <p:sldId id="271" r:id="rId7"/>
    <p:sldId id="261" r:id="rId8"/>
    <p:sldId id="267" r:id="rId9"/>
    <p:sldId id="282" r:id="rId10"/>
    <p:sldId id="263" r:id="rId11"/>
    <p:sldId id="264" r:id="rId12"/>
    <p:sldId id="273" r:id="rId13"/>
    <p:sldId id="278" r:id="rId14"/>
    <p:sldId id="279" r:id="rId15"/>
    <p:sldId id="280" r:id="rId16"/>
  </p:sldIdLst>
  <p:sldSz cx="9144000" cy="5143500" type="screen16x9"/>
  <p:notesSz cx="5143500" cy="9144000"/>
  <p:embeddedFontLst>
    <p:embeddedFont>
      <p:font typeface="Arial Rounded MT Bold" panose="020F0704030504030204" pitchFamily="34" charset="0"/>
      <p:regular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CADE4"/>
    <a:srgbClr val="7C3AED"/>
    <a:srgbClr val="089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hade val="85000"/>
                      <a:satMod val="130000"/>
                    </a:schemeClr>
                  </a:gs>
                  <a:gs pos="34000">
                    <a:schemeClr val="accent1">
                      <a:shade val="87000"/>
                      <a:satMod val="125000"/>
                    </a:schemeClr>
                  </a:gs>
                  <a:gs pos="70000">
                    <a:schemeClr val="accent1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1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33B9-4AF0-BFEC-DAC7C1253BAD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hade val="85000"/>
                      <a:satMod val="130000"/>
                    </a:schemeClr>
                  </a:gs>
                  <a:gs pos="34000">
                    <a:schemeClr val="accent2">
                      <a:shade val="87000"/>
                      <a:satMod val="125000"/>
                    </a:schemeClr>
                  </a:gs>
                  <a:gs pos="70000">
                    <a:schemeClr val="accent2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2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33B9-4AF0-BFEC-DAC7C1253BAD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shade val="85000"/>
                      <a:satMod val="130000"/>
                    </a:schemeClr>
                  </a:gs>
                  <a:gs pos="34000">
                    <a:schemeClr val="accent3">
                      <a:shade val="87000"/>
                      <a:satMod val="125000"/>
                    </a:schemeClr>
                  </a:gs>
                  <a:gs pos="70000">
                    <a:schemeClr val="accent3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3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33B9-4AF0-BFEC-DAC7C1253BAD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shade val="85000"/>
                      <a:satMod val="130000"/>
                    </a:schemeClr>
                  </a:gs>
                  <a:gs pos="34000">
                    <a:schemeClr val="accent4">
                      <a:shade val="87000"/>
                      <a:satMod val="125000"/>
                    </a:schemeClr>
                  </a:gs>
                  <a:gs pos="70000">
                    <a:schemeClr val="accent4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4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33B9-4AF0-BFEC-DAC7C1253BAD}"/>
              </c:ext>
            </c:extLst>
          </c:dPt>
          <c:dPt>
            <c:idx val="4"/>
            <c:bubble3D val="0"/>
            <c:spPr>
              <a:gradFill rotWithShape="1">
                <a:gsLst>
                  <a:gs pos="0">
                    <a:schemeClr val="accent5">
                      <a:shade val="85000"/>
                      <a:satMod val="130000"/>
                    </a:schemeClr>
                  </a:gs>
                  <a:gs pos="34000">
                    <a:schemeClr val="accent5">
                      <a:shade val="87000"/>
                      <a:satMod val="125000"/>
                    </a:schemeClr>
                  </a:gs>
                  <a:gs pos="70000">
                    <a:schemeClr val="accent5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5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2-55A2-4328-B4A7-7B1F6697B73F}"/>
              </c:ext>
            </c:extLst>
          </c:dPt>
          <c:dPt>
            <c:idx val="5"/>
            <c:bubble3D val="0"/>
            <c:spPr>
              <a:gradFill rotWithShape="1">
                <a:gsLst>
                  <a:gs pos="0">
                    <a:schemeClr val="accent6">
                      <a:shade val="85000"/>
                      <a:satMod val="130000"/>
                    </a:schemeClr>
                  </a:gs>
                  <a:gs pos="34000">
                    <a:schemeClr val="accent6">
                      <a:shade val="87000"/>
                      <a:satMod val="125000"/>
                    </a:schemeClr>
                  </a:gs>
                  <a:gs pos="70000">
                    <a:schemeClr val="accent6"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6"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33B9-4AF0-BFEC-DAC7C1253BAD}"/>
              </c:ext>
            </c:extLst>
          </c:dPt>
          <c:dPt>
            <c:idx val="6"/>
            <c:bubble3D val="0"/>
            <c:spPr>
              <a:gradFill rotWithShape="1">
                <a:gsLst>
                  <a:gs pos="0">
                    <a:schemeClr val="accent1">
                      <a:lumMod val="60000"/>
                      <a:shade val="85000"/>
                      <a:satMod val="130000"/>
                    </a:schemeClr>
                  </a:gs>
                  <a:gs pos="34000">
                    <a:schemeClr val="accent1">
                      <a:lumMod val="60000"/>
                      <a:shade val="87000"/>
                      <a:satMod val="125000"/>
                    </a:schemeClr>
                  </a:gs>
                  <a:gs pos="70000">
                    <a:schemeClr val="accent1">
                      <a:lumMod val="60000"/>
                      <a:tint val="100000"/>
                      <a:shade val="90000"/>
                      <a:satMod val="130000"/>
                    </a:schemeClr>
                  </a:gs>
                  <a:gs pos="100000">
                    <a:schemeClr val="accent1">
                      <a:lumMod val="60000"/>
                      <a:tint val="100000"/>
                      <a:shade val="100000"/>
                      <a:satMod val="110000"/>
                    </a:schemeClr>
                  </a:gs>
                </a:gsLst>
                <a:path path="circle">
                  <a:fillToRect l="100000" t="100000" r="100000" b="100000"/>
                </a:path>
              </a:gradFill>
              <a:ln>
                <a:noFill/>
              </a:ln>
              <a:effectLst>
                <a:outerShdw blurRad="38100" dist="25400" dir="2700000" algn="br" rotWithShape="0">
                  <a:srgbClr val="000000">
                    <a:alpha val="60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33B9-4AF0-BFEC-DAC7C1253BA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1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tx2">
                      <a:lumMod val="35000"/>
                      <a:lumOff val="65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Digital Marketing &amp; Social Media Campaigns (35%)</c:v>
                </c:pt>
                <c:pt idx="1">
                  <c:v>Influencer &amp; Content Collaboration (20%)</c:v>
                </c:pt>
                <c:pt idx="2">
                  <c:v>Campus Activation &amp; Offline Events (15%)</c:v>
                </c:pt>
                <c:pt idx="3">
                  <c:v>Retail Branding &amp; POS Materials (10%)</c:v>
                </c:pt>
                <c:pt idx="4">
                  <c:v>Consumer Education Campaign (10%)</c:v>
                </c:pt>
                <c:pt idx="5">
                  <c:v>Sampling &amp; Trial Campaigns (5%)</c:v>
                </c:pt>
                <c:pt idx="6">
                  <c:v>Performance Tracking &amp; Research (5%)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10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A2-4328-B4A7-7B1F6697B73F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6949164261440932"/>
          <c:y val="3.0269227693850292E-2"/>
          <c:w val="0.43050835738559057"/>
          <c:h val="0.920155335012187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5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9636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4800600"/>
            <a:ext cx="9144000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4750737"/>
            <a:ext cx="9144000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569214"/>
            <a:ext cx="754380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60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3341716"/>
            <a:ext cx="754380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56045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74756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69214"/>
            <a:ext cx="754380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6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3339846"/>
            <a:ext cx="754380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325755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169617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384301"/>
            <a:ext cx="3703320" cy="30175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384301"/>
            <a:ext cx="3703320" cy="3017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04233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1936751"/>
            <a:ext cx="3703320" cy="2465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384539"/>
            <a:ext cx="370332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1936751"/>
            <a:ext cx="3703320" cy="24650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20461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66587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632437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45769"/>
            <a:ext cx="2400300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0450" y="548640"/>
            <a:ext cx="4869180" cy="39433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194560"/>
            <a:ext cx="2400300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4844839"/>
            <a:ext cx="1963883" cy="273844"/>
          </a:xfrm>
        </p:spPr>
        <p:txBody>
          <a:bodyPr/>
          <a:lstStyle>
            <a:lvl1pPr algn="l">
              <a:defRPr/>
            </a:lvl1pPr>
          </a:lstStyle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4844839"/>
            <a:ext cx="3486150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173804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714750"/>
            <a:ext cx="9141619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368630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806190"/>
            <a:ext cx="7585234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0" y="4430268"/>
            <a:ext cx="7584948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8138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5980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9226"/>
            <a:ext cx="1971675" cy="431992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9226"/>
            <a:ext cx="5800725" cy="4319924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372513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4800600"/>
            <a:ext cx="9141619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750737"/>
            <a:ext cx="9141619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14953"/>
            <a:ext cx="7543800" cy="108806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384301"/>
            <a:ext cx="7543800" cy="301752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4844839"/>
            <a:ext cx="18542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19-May-26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4844839"/>
            <a:ext cx="3617103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4844839"/>
            <a:ext cx="98401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303384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72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8" r:id="rId1"/>
    <p:sldLayoutId id="2147484049" r:id="rId2"/>
    <p:sldLayoutId id="2147484050" r:id="rId3"/>
    <p:sldLayoutId id="2147484051" r:id="rId4"/>
    <p:sldLayoutId id="2147484052" r:id="rId5"/>
    <p:sldLayoutId id="2147484053" r:id="rId6"/>
    <p:sldLayoutId id="2147484054" r:id="rId7"/>
    <p:sldLayoutId id="2147484055" r:id="rId8"/>
    <p:sldLayoutId id="2147484056" r:id="rId9"/>
    <p:sldLayoutId id="2147484057" r:id="rId10"/>
    <p:sldLayoutId id="2147484058" r:id="rId11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3600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7" Type="http://schemas.openxmlformats.org/officeDocument/2006/relationships/image" Target="../media/image2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jpeg"/><Relationship Id="rId5" Type="http://schemas.openxmlformats.org/officeDocument/2006/relationships/image" Target="../media/image17.jpeg"/><Relationship Id="rId4" Type="http://schemas.openxmlformats.org/officeDocument/2006/relationships/image" Target="../media/image16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7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jpeg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28.jpeg"/><Relationship Id="rId4" Type="http://schemas.openxmlformats.org/officeDocument/2006/relationships/image" Target="../media/image27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jpe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jpeg"/><Relationship Id="rId5" Type="http://schemas.openxmlformats.org/officeDocument/2006/relationships/image" Target="../media/image31.jpeg"/><Relationship Id="rId4" Type="http://schemas.openxmlformats.org/officeDocument/2006/relationships/image" Target="../media/image30.jpe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7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jpeg"/><Relationship Id="rId5" Type="http://schemas.openxmlformats.org/officeDocument/2006/relationships/image" Target="../media/image37.jpeg"/><Relationship Id="rId4" Type="http://schemas.openxmlformats.org/officeDocument/2006/relationships/image" Target="../media/image36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DC28269-7ABC-4CA9-8643-A47F8F27C7D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1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0" y="-5553"/>
            <a:ext cx="9144000" cy="5143500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</p:pic>
      <p:pic>
        <p:nvPicPr>
          <p:cNvPr id="17" name="Picture 2" descr="Skin Cafe">
            <a:extLst>
              <a:ext uri="{FF2B5EF4-FFF2-40B4-BE49-F238E27FC236}">
                <a16:creationId xmlns:a16="http://schemas.microsoft.com/office/drawing/2014/main" id="{093C850B-072C-47AD-A09E-3E7A00CED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6685" y="154926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49C4B4C-0BD4-49A3-88B0-B03C8893B018}"/>
              </a:ext>
            </a:extLst>
          </p:cNvPr>
          <p:cNvSpPr txBox="1"/>
          <p:nvPr/>
        </p:nvSpPr>
        <p:spPr>
          <a:xfrm>
            <a:off x="540287" y="1068871"/>
            <a:ext cx="80634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Skin Cafe Sunscreen Marketing Strategy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2B22AA-5555-45C0-A3AA-49BD420384B5}"/>
              </a:ext>
            </a:extLst>
          </p:cNvPr>
          <p:cNvSpPr txBox="1"/>
          <p:nvPr/>
        </p:nvSpPr>
        <p:spPr>
          <a:xfrm>
            <a:off x="3576488" y="1979544"/>
            <a:ext cx="4852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Trust-Driven Marketing Strategy to Make</a:t>
            </a:r>
          </a:p>
          <a:p>
            <a:pPr algn="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Sunscreen a Daily Habit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FADEE6-FC3D-401C-9B9A-036FCAC79F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8534" y="4176980"/>
            <a:ext cx="1708386" cy="960967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14391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5C333505-6756-47F7-B73C-EDB16B850196}"/>
              </a:ext>
            </a:extLst>
          </p:cNvPr>
          <p:cNvGrpSpPr/>
          <p:nvPr/>
        </p:nvGrpSpPr>
        <p:grpSpPr>
          <a:xfrm>
            <a:off x="708025" y="682020"/>
            <a:ext cx="8012642" cy="1817740"/>
            <a:chOff x="708025" y="106281"/>
            <a:chExt cx="8012642" cy="181774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F5BD866-AE85-4BAF-B0CA-325CCA74095B}"/>
                </a:ext>
              </a:extLst>
            </p:cNvPr>
            <p:cNvGrpSpPr/>
            <p:nvPr/>
          </p:nvGrpSpPr>
          <p:grpSpPr>
            <a:xfrm>
              <a:off x="708025" y="106281"/>
              <a:ext cx="8012642" cy="1817740"/>
              <a:chOff x="1629833" y="634635"/>
              <a:chExt cx="6395864" cy="2421831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EAEB40C6-1D87-400E-AB1C-8901679A17F1}"/>
                  </a:ext>
                </a:extLst>
              </p:cNvPr>
              <p:cNvSpPr/>
              <p:nvPr/>
            </p:nvSpPr>
            <p:spPr>
              <a:xfrm>
                <a:off x="1629833" y="634635"/>
                <a:ext cx="5884334" cy="2421831"/>
              </a:xfrm>
              <a:prstGeom prst="roundRect">
                <a:avLst/>
              </a:prstGeom>
              <a:noFill/>
              <a:ln w="381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8C79682-075A-4404-A765-F3B1588512B8}"/>
                  </a:ext>
                </a:extLst>
              </p:cNvPr>
              <p:cNvSpPr txBox="1"/>
              <p:nvPr/>
            </p:nvSpPr>
            <p:spPr>
              <a:xfrm>
                <a:off x="4402212" y="689496"/>
                <a:ext cx="1355352" cy="4920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4">
                        <a:lumMod val="75000"/>
                      </a:schemeClr>
                    </a:solidFill>
                  </a:rPr>
                  <a:t>Trust Barriers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A43983B-22CC-4074-8B32-34F9AD015899}"/>
                  </a:ext>
                </a:extLst>
              </p:cNvPr>
              <p:cNvSpPr txBox="1"/>
              <p:nvPr/>
            </p:nvSpPr>
            <p:spPr>
              <a:xfrm>
                <a:off x="3424944" y="1092135"/>
                <a:ext cx="4600753" cy="15582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Strong perception that foreign brands are safer 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and more effective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Fear of counterfeit and low-quality skincare products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Limited trust in locally manufactured cosmetics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Lack of scientific skincare awareness among consumers</a:t>
                </a:r>
              </a:p>
            </p:txBody>
          </p:sp>
        </p:grpSp>
        <p:pic>
          <p:nvPicPr>
            <p:cNvPr id="3074" name="Picture 2" descr="Communication Barriers Stock Photos ...">
              <a:extLst>
                <a:ext uri="{FF2B5EF4-FFF2-40B4-BE49-F238E27FC236}">
                  <a16:creationId xmlns:a16="http://schemas.microsoft.com/office/drawing/2014/main" id="{CA7DCD67-18F4-4F62-833B-2555ACE5C2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145" y="534631"/>
              <a:ext cx="1571095" cy="1064661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5C6635-F9CF-42B9-997F-FC043F9376D2}"/>
              </a:ext>
            </a:extLst>
          </p:cNvPr>
          <p:cNvGrpSpPr/>
          <p:nvPr/>
        </p:nvGrpSpPr>
        <p:grpSpPr>
          <a:xfrm>
            <a:off x="708025" y="2657742"/>
            <a:ext cx="7418917" cy="1817740"/>
            <a:chOff x="708025" y="2310609"/>
            <a:chExt cx="7418917" cy="18177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B21D06A5-97B2-4EA5-8BD4-A777D74E7B72}"/>
                </a:ext>
              </a:extLst>
            </p:cNvPr>
            <p:cNvGrpSpPr/>
            <p:nvPr/>
          </p:nvGrpSpPr>
          <p:grpSpPr>
            <a:xfrm>
              <a:off x="708025" y="2310609"/>
              <a:ext cx="7418917" cy="1817740"/>
              <a:chOff x="1629833" y="634635"/>
              <a:chExt cx="5884334" cy="2421831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8B8AD906-980B-4607-9035-62A7CC496E52}"/>
                  </a:ext>
                </a:extLst>
              </p:cNvPr>
              <p:cNvSpPr/>
              <p:nvPr/>
            </p:nvSpPr>
            <p:spPr>
              <a:xfrm>
                <a:off x="1629833" y="634635"/>
                <a:ext cx="5884334" cy="2421831"/>
              </a:xfrm>
              <a:prstGeom prst="roundRect">
                <a:avLst/>
              </a:prstGeom>
              <a:noFill/>
              <a:ln w="3810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8DBEAFA-B18B-476E-AA11-1A056582CA3F}"/>
                  </a:ext>
                </a:extLst>
              </p:cNvPr>
              <p:cNvSpPr txBox="1"/>
              <p:nvPr/>
            </p:nvSpPr>
            <p:spPr>
              <a:xfrm>
                <a:off x="2566233" y="806941"/>
                <a:ext cx="1763723" cy="4920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4">
                        <a:lumMod val="75000"/>
                      </a:schemeClr>
                    </a:solidFill>
                  </a:rPr>
                  <a:t>Market Challenges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CC1FDE1-2170-4A28-9C29-9D343573C290}"/>
                  </a:ext>
                </a:extLst>
              </p:cNvPr>
              <p:cNvSpPr txBox="1"/>
              <p:nvPr/>
            </p:nvSpPr>
            <p:spPr>
              <a:xfrm>
                <a:off x="1809974" y="1279663"/>
                <a:ext cx="4600753" cy="12711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Highly competitive skincare market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Consumers highly sensitive to price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Sunscreen still not part of daily routine</a:t>
                </a:r>
              </a:p>
              <a:p>
                <a:pPr marL="285750" indent="-285750">
                  <a:buFont typeface="Wingdings" panose="05000000000000000000" pitchFamily="2" charset="2"/>
                  <a:buChar char="Ø"/>
                </a:pPr>
                <a:r>
                  <a:rPr lang="en-US" sz="1400" dirty="0"/>
                  <a:t>Difficulty differentiating local brands from competitors</a:t>
                </a:r>
              </a:p>
            </p:txBody>
          </p:sp>
        </p:grpSp>
        <p:pic>
          <p:nvPicPr>
            <p:cNvPr id="3076" name="Picture 4" descr="Overcoming The Top Marketing Challenges ...">
              <a:extLst>
                <a:ext uri="{FF2B5EF4-FFF2-40B4-BE49-F238E27FC236}">
                  <a16:creationId xmlns:a16="http://schemas.microsoft.com/office/drawing/2014/main" id="{35731BE6-EE7C-4395-AAC2-3DD32B6B6D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4303" y="2669689"/>
              <a:ext cx="1571095" cy="1099580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B8B34649-DF65-4DDE-8415-1A87C5960429}"/>
              </a:ext>
            </a:extLst>
          </p:cNvPr>
          <p:cNvSpPr txBox="1"/>
          <p:nvPr/>
        </p:nvSpPr>
        <p:spPr>
          <a:xfrm>
            <a:off x="1794317" y="90838"/>
            <a:ext cx="5555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Trust Barrier and Market Challenges </a:t>
            </a:r>
          </a:p>
        </p:txBody>
      </p:sp>
    </p:spTree>
    <p:extLst>
      <p:ext uri="{BB962C8B-B14F-4D97-AF65-F5344CB8AC3E}">
        <p14:creationId xmlns:p14="http://schemas.microsoft.com/office/powerpoint/2010/main" val="1791182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6E9A24B-CD6C-4E40-8159-03FE00455E49}"/>
              </a:ext>
            </a:extLst>
          </p:cNvPr>
          <p:cNvGrpSpPr/>
          <p:nvPr/>
        </p:nvGrpSpPr>
        <p:grpSpPr>
          <a:xfrm>
            <a:off x="1" y="0"/>
            <a:ext cx="8975747" cy="5118203"/>
            <a:chOff x="1" y="0"/>
            <a:chExt cx="8975747" cy="511820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CDCC67-FBF8-4E60-A85C-600A2AC79DED}"/>
                </a:ext>
              </a:extLst>
            </p:cNvPr>
            <p:cNvGrpSpPr/>
            <p:nvPr/>
          </p:nvGrpSpPr>
          <p:grpSpPr>
            <a:xfrm>
              <a:off x="1" y="0"/>
              <a:ext cx="8023856" cy="5118203"/>
              <a:chOff x="1" y="0"/>
              <a:chExt cx="8023856" cy="5118203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CE84A5D-B141-4910-9E2D-6E8929911C96}"/>
                  </a:ext>
                </a:extLst>
              </p:cNvPr>
              <p:cNvGrpSpPr/>
              <p:nvPr/>
            </p:nvGrpSpPr>
            <p:grpSpPr>
              <a:xfrm>
                <a:off x="1062496" y="4810426"/>
                <a:ext cx="6961361" cy="307777"/>
                <a:chOff x="1062496" y="4810426"/>
                <a:chExt cx="6961361" cy="307777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F023A5-F4EA-4148-8471-CCDD1A9BCC6C}"/>
                    </a:ext>
                  </a:extLst>
                </p:cNvPr>
                <p:cNvSpPr txBox="1"/>
                <p:nvPr/>
              </p:nvSpPr>
              <p:spPr>
                <a:xfrm>
                  <a:off x="1062496" y="4810426"/>
                  <a:ext cx="88921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00B0F0"/>
                      </a:solidFill>
                    </a:rPr>
                    <a:t>ANALYSIS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C0D99B3-794D-4D39-B91B-DDF258680845}"/>
                    </a:ext>
                  </a:extLst>
                </p:cNvPr>
                <p:cNvSpPr txBox="1"/>
                <p:nvPr/>
              </p:nvSpPr>
              <p:spPr>
                <a:xfrm>
                  <a:off x="2913414" y="4810426"/>
                  <a:ext cx="9829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PLANNING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0F4E563-BD54-4E32-A88D-87D41AD06854}"/>
                    </a:ext>
                  </a:extLst>
                </p:cNvPr>
                <p:cNvSpPr txBox="1"/>
                <p:nvPr/>
              </p:nvSpPr>
              <p:spPr>
                <a:xfrm>
                  <a:off x="4958247" y="4810426"/>
                  <a:ext cx="10460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65000"/>
                        </a:schemeClr>
                      </a:solidFill>
                    </a:rPr>
                    <a:t>EXECUTION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B1B3FDA-4BC2-41CB-95C7-77ADA8EA704A}"/>
                    </a:ext>
                  </a:extLst>
                </p:cNvPr>
                <p:cNvSpPr txBox="1"/>
                <p:nvPr/>
              </p:nvSpPr>
              <p:spPr>
                <a:xfrm>
                  <a:off x="6890918" y="4810426"/>
                  <a:ext cx="113293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EVALUATION</a:t>
                  </a:r>
                </a:p>
              </p:txBody>
            </p:sp>
          </p:grp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707711-5A60-42F0-A86A-A3598CE87AE8}"/>
                  </a:ext>
                </a:extLst>
              </p:cNvPr>
              <p:cNvSpPr/>
              <p:nvPr/>
            </p:nvSpPr>
            <p:spPr>
              <a:xfrm>
                <a:off x="1" y="0"/>
                <a:ext cx="4622799" cy="474756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36987D-27C7-4A8E-9283-DC5308A7566F}"/>
                </a:ext>
              </a:extLst>
            </p:cNvPr>
            <p:cNvSpPr txBox="1"/>
            <p:nvPr/>
          </p:nvSpPr>
          <p:spPr>
            <a:xfrm>
              <a:off x="2913414" y="18223"/>
              <a:ext cx="339849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Situation</a:t>
              </a:r>
              <a:r>
                <a:rPr lang="en-US" sz="3200" dirty="0"/>
                <a:t> </a:t>
              </a:r>
              <a:r>
                <a:rPr lang="en-US" sz="3200" dirty="0">
                  <a:solidFill>
                    <a:schemeClr val="accent4">
                      <a:lumMod val="75000"/>
                    </a:schemeClr>
                  </a:solidFill>
                </a:rPr>
                <a:t>Analysis</a:t>
              </a:r>
            </a:p>
          </p:txBody>
        </p:sp>
        <p:pic>
          <p:nvPicPr>
            <p:cNvPr id="12" name="Picture 2" descr="Skin Cafe">
              <a:extLst>
                <a:ext uri="{FF2B5EF4-FFF2-40B4-BE49-F238E27FC236}">
                  <a16:creationId xmlns:a16="http://schemas.microsoft.com/office/drawing/2014/main" id="{F5EF9936-15D7-4289-8DAF-190EB0EBF3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5437" y="138060"/>
              <a:ext cx="680311" cy="6812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Graphic 13" descr="Clock with solid fill">
              <a:extLst>
                <a:ext uri="{FF2B5EF4-FFF2-40B4-BE49-F238E27FC236}">
                  <a16:creationId xmlns:a16="http://schemas.microsoft.com/office/drawing/2014/main" id="{6E1DB55B-576E-4A29-8512-47AF3C860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752126" y="525058"/>
              <a:ext cx="550808" cy="550808"/>
            </a:xfrm>
            <a:prstGeom prst="rect">
              <a:avLst/>
            </a:prstGeom>
          </p:spPr>
        </p:pic>
        <p:pic>
          <p:nvPicPr>
            <p:cNvPr id="16" name="Graphic 15" descr="Bullseye with solid fill">
              <a:extLst>
                <a:ext uri="{FF2B5EF4-FFF2-40B4-BE49-F238E27FC236}">
                  <a16:creationId xmlns:a16="http://schemas.microsoft.com/office/drawing/2014/main" id="{A003E0A7-D13B-4333-BFA1-2E415AEC9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644401" y="596437"/>
              <a:ext cx="493000" cy="493000"/>
            </a:xfrm>
            <a:prstGeom prst="rect">
              <a:avLst/>
            </a:prstGeom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6381416-E830-4F95-ACE9-CF11B15B4C08}"/>
              </a:ext>
            </a:extLst>
          </p:cNvPr>
          <p:cNvSpPr txBox="1"/>
          <p:nvPr/>
        </p:nvSpPr>
        <p:spPr>
          <a:xfrm>
            <a:off x="942938" y="1163481"/>
            <a:ext cx="21691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Where we are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78167-5085-467A-A6D3-E3B32D5BEF9F}"/>
              </a:ext>
            </a:extLst>
          </p:cNvPr>
          <p:cNvSpPr txBox="1"/>
          <p:nvPr/>
        </p:nvSpPr>
        <p:spPr>
          <a:xfrm>
            <a:off x="69061" y="1808608"/>
            <a:ext cx="46045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Trust gap toward local skincare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Market dominated by foreign skincare brand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Low male participation in skincare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Low awareness about UV protection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D31ECE-2333-4C46-B316-7CE7BF455CAB}"/>
              </a:ext>
            </a:extLst>
          </p:cNvPr>
          <p:cNvSpPr txBox="1"/>
          <p:nvPr/>
        </p:nvSpPr>
        <p:spPr>
          <a:xfrm>
            <a:off x="5424372" y="1171969"/>
            <a:ext cx="32255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Where we want to be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23F7E2CC-8731-4B1B-BC26-3221B2392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8247" y="2812427"/>
            <a:ext cx="40991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F2663A-D43D-4C88-AD68-C7502B00853A}"/>
              </a:ext>
            </a:extLst>
          </p:cNvPr>
          <p:cNvSpPr txBox="1"/>
          <p:nvPr/>
        </p:nvSpPr>
        <p:spPr>
          <a:xfrm>
            <a:off x="4907447" y="1796883"/>
            <a:ext cx="385745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Strong trust toward local skincare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Skin Cafe positioned as a trusted alternative to foreign brands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Higher male engagement in sunscreen usage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Increased awareness about daily UV protection and sunscreen benefits</a:t>
            </a:r>
          </a:p>
        </p:txBody>
      </p:sp>
    </p:spTree>
    <p:extLst>
      <p:ext uri="{BB962C8B-B14F-4D97-AF65-F5344CB8AC3E}">
        <p14:creationId xmlns:p14="http://schemas.microsoft.com/office/powerpoint/2010/main" val="425866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66E9A24B-CD6C-4E40-8159-03FE00455E49}"/>
              </a:ext>
            </a:extLst>
          </p:cNvPr>
          <p:cNvGrpSpPr/>
          <p:nvPr/>
        </p:nvGrpSpPr>
        <p:grpSpPr>
          <a:xfrm>
            <a:off x="1" y="0"/>
            <a:ext cx="8975747" cy="5118203"/>
            <a:chOff x="1" y="0"/>
            <a:chExt cx="8975747" cy="5118203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5CDCC67-FBF8-4E60-A85C-600A2AC79DED}"/>
                </a:ext>
              </a:extLst>
            </p:cNvPr>
            <p:cNvGrpSpPr/>
            <p:nvPr/>
          </p:nvGrpSpPr>
          <p:grpSpPr>
            <a:xfrm>
              <a:off x="1" y="0"/>
              <a:ext cx="8023856" cy="5118203"/>
              <a:chOff x="1" y="0"/>
              <a:chExt cx="8023856" cy="5118203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CE84A5D-B141-4910-9E2D-6E8929911C96}"/>
                  </a:ext>
                </a:extLst>
              </p:cNvPr>
              <p:cNvGrpSpPr/>
              <p:nvPr/>
            </p:nvGrpSpPr>
            <p:grpSpPr>
              <a:xfrm>
                <a:off x="1062496" y="4810426"/>
                <a:ext cx="6961361" cy="307777"/>
                <a:chOff x="1062496" y="4810426"/>
                <a:chExt cx="6961361" cy="307777"/>
              </a:xfrm>
            </p:grpSpPr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F023A5-F4EA-4148-8471-CCDD1A9BCC6C}"/>
                    </a:ext>
                  </a:extLst>
                </p:cNvPr>
                <p:cNvSpPr txBox="1"/>
                <p:nvPr/>
              </p:nvSpPr>
              <p:spPr>
                <a:xfrm>
                  <a:off x="1062496" y="4810426"/>
                  <a:ext cx="88921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rgbClr val="00B0F0"/>
                      </a:solidFill>
                    </a:rPr>
                    <a:t>ANALYSIS</a:t>
                  </a:r>
                </a:p>
              </p:txBody>
            </p:sp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EC0D99B3-794D-4D39-B91B-DDF258680845}"/>
                    </a:ext>
                  </a:extLst>
                </p:cNvPr>
                <p:cNvSpPr txBox="1"/>
                <p:nvPr/>
              </p:nvSpPr>
              <p:spPr>
                <a:xfrm>
                  <a:off x="2913414" y="4810426"/>
                  <a:ext cx="98296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PLANNING</a:t>
                  </a: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0F4E563-BD54-4E32-A88D-87D41AD06854}"/>
                    </a:ext>
                  </a:extLst>
                </p:cNvPr>
                <p:cNvSpPr txBox="1"/>
                <p:nvPr/>
              </p:nvSpPr>
              <p:spPr>
                <a:xfrm>
                  <a:off x="4958247" y="4810426"/>
                  <a:ext cx="104605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65000"/>
                        </a:schemeClr>
                      </a:solidFill>
                    </a:rPr>
                    <a:t>EXECUTION</a:t>
                  </a:r>
                </a:p>
              </p:txBody>
            </p: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BB1B3FDA-4BC2-41CB-95C7-77ADA8EA704A}"/>
                    </a:ext>
                  </a:extLst>
                </p:cNvPr>
                <p:cNvSpPr txBox="1"/>
                <p:nvPr/>
              </p:nvSpPr>
              <p:spPr>
                <a:xfrm>
                  <a:off x="6890918" y="4810426"/>
                  <a:ext cx="1132939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EVALUATION</a:t>
                  </a:r>
                </a:p>
              </p:txBody>
            </p:sp>
          </p:grp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707711-5A60-42F0-A86A-A3598CE87AE8}"/>
                  </a:ext>
                </a:extLst>
              </p:cNvPr>
              <p:cNvSpPr/>
              <p:nvPr/>
            </p:nvSpPr>
            <p:spPr>
              <a:xfrm>
                <a:off x="1" y="0"/>
                <a:ext cx="4572000" cy="474756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36987D-27C7-4A8E-9283-DC5308A7566F}"/>
                </a:ext>
              </a:extLst>
            </p:cNvPr>
            <p:cNvSpPr txBox="1"/>
            <p:nvPr/>
          </p:nvSpPr>
          <p:spPr>
            <a:xfrm>
              <a:off x="2563627" y="68057"/>
              <a:ext cx="413085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>
                  <a:solidFill>
                    <a:schemeClr val="bg1"/>
                  </a:solidFill>
                </a:rPr>
                <a:t>Consumer </a:t>
              </a:r>
              <a:r>
                <a:rPr lang="en-US" sz="3200" dirty="0">
                  <a:solidFill>
                    <a:schemeClr val="accent4">
                      <a:lumMod val="75000"/>
                    </a:schemeClr>
                  </a:solidFill>
                </a:rPr>
                <a:t>Analysis</a:t>
              </a:r>
            </a:p>
          </p:txBody>
        </p:sp>
        <p:pic>
          <p:nvPicPr>
            <p:cNvPr id="12" name="Picture 2" descr="Skin Cafe">
              <a:extLst>
                <a:ext uri="{FF2B5EF4-FFF2-40B4-BE49-F238E27FC236}">
                  <a16:creationId xmlns:a16="http://schemas.microsoft.com/office/drawing/2014/main" id="{F5EF9936-15D7-4289-8DAF-190EB0EBF3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95437" y="138060"/>
              <a:ext cx="680311" cy="6812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6381416-E830-4F95-ACE9-CF11B15B4C08}"/>
              </a:ext>
            </a:extLst>
          </p:cNvPr>
          <p:cNvSpPr txBox="1"/>
          <p:nvPr/>
        </p:nvSpPr>
        <p:spPr>
          <a:xfrm>
            <a:off x="522758" y="1119572"/>
            <a:ext cx="28821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Target Consumers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D778167-5085-467A-A6D3-E3B32D5BEF9F}"/>
              </a:ext>
            </a:extLst>
          </p:cNvPr>
          <p:cNvSpPr txBox="1"/>
          <p:nvPr/>
        </p:nvSpPr>
        <p:spPr>
          <a:xfrm>
            <a:off x="69061" y="1825542"/>
            <a:ext cx="39485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Age Group: 18–30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Urban &amp; semi-urban youth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Social media-driven consumers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bg1"/>
                </a:solidFill>
              </a:rPr>
              <a:t>Students and young professionals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D31ECE-2333-4C46-B316-7CE7BF455CAB}"/>
              </a:ext>
            </a:extLst>
          </p:cNvPr>
          <p:cNvSpPr txBox="1"/>
          <p:nvPr/>
        </p:nvSpPr>
        <p:spPr>
          <a:xfrm>
            <a:off x="5481005" y="1067372"/>
            <a:ext cx="26292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Buying Behavior</a:t>
            </a:r>
          </a:p>
        </p:txBody>
      </p:sp>
      <p:sp>
        <p:nvSpPr>
          <p:cNvPr id="23" name="Rectangle 2">
            <a:extLst>
              <a:ext uri="{FF2B5EF4-FFF2-40B4-BE49-F238E27FC236}">
                <a16:creationId xmlns:a16="http://schemas.microsoft.com/office/drawing/2014/main" id="{23F7E2CC-8731-4B1B-BC26-3221B23927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8247" y="2812427"/>
            <a:ext cx="409912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BF2663A-D43D-4C88-AD68-C7502B00853A}"/>
              </a:ext>
            </a:extLst>
          </p:cNvPr>
          <p:cNvSpPr txBox="1"/>
          <p:nvPr/>
        </p:nvSpPr>
        <p:spPr>
          <a:xfrm>
            <a:off x="4768719" y="1825542"/>
            <a:ext cx="38574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Trust influencer and peer reviews before purchase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Compare local brands with foreign alternatives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Highly price-sensitive but quality-conscious</a:t>
            </a:r>
          </a:p>
        </p:txBody>
      </p:sp>
      <p:pic>
        <p:nvPicPr>
          <p:cNvPr id="4" name="Graphic 3" descr="Target Audience with solid fill">
            <a:extLst>
              <a:ext uri="{FF2B5EF4-FFF2-40B4-BE49-F238E27FC236}">
                <a16:creationId xmlns:a16="http://schemas.microsoft.com/office/drawing/2014/main" id="{63C3E363-A18B-45E7-82FF-6096E3003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3289" y="486122"/>
            <a:ext cx="666357" cy="666357"/>
          </a:xfrm>
          <a:prstGeom prst="rect">
            <a:avLst/>
          </a:prstGeom>
        </p:spPr>
      </p:pic>
      <p:pic>
        <p:nvPicPr>
          <p:cNvPr id="15" name="Graphic 14" descr="Shopping cart with solid fill">
            <a:extLst>
              <a:ext uri="{FF2B5EF4-FFF2-40B4-BE49-F238E27FC236}">
                <a16:creationId xmlns:a16="http://schemas.microsoft.com/office/drawing/2014/main" id="{D5AEA2A3-A7D9-4EEF-B611-A99A23779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3648" y="540755"/>
            <a:ext cx="461665" cy="461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7518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0" name="Picture 12" descr="3,200+ Customer Review Stock Photos ...">
            <a:extLst>
              <a:ext uri="{FF2B5EF4-FFF2-40B4-BE49-F238E27FC236}">
                <a16:creationId xmlns:a16="http://schemas.microsoft.com/office/drawing/2014/main" id="{ADFD6E28-8455-40DF-825E-9EA80AD6E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247" y="2974685"/>
            <a:ext cx="4085976" cy="1692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Leadership Mythbusters: Busting the ...">
            <a:extLst>
              <a:ext uri="{FF2B5EF4-FFF2-40B4-BE49-F238E27FC236}">
                <a16:creationId xmlns:a16="http://schemas.microsoft.com/office/drawing/2014/main" id="{0813F8DF-D97B-404F-9133-E53D08CBDB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392" y="2992233"/>
            <a:ext cx="4094147" cy="1688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ctor At Work Background Images, HD ...">
            <a:extLst>
              <a:ext uri="{FF2B5EF4-FFF2-40B4-BE49-F238E27FC236}">
                <a16:creationId xmlns:a16="http://schemas.microsoft.com/office/drawing/2014/main" id="{6C0F0D44-C594-455E-91AB-0B9FC8132B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2316" y="1139505"/>
            <a:ext cx="4106094" cy="1691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Quality Assurance Background Stock ...">
            <a:extLst>
              <a:ext uri="{FF2B5EF4-FFF2-40B4-BE49-F238E27FC236}">
                <a16:creationId xmlns:a16="http://schemas.microsoft.com/office/drawing/2014/main" id="{F9305346-6593-4BE4-9A5E-CE2B407435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676" y="1142986"/>
            <a:ext cx="4085976" cy="170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0D61E2-1A24-445A-A1AD-DFDE18AA40E4}"/>
              </a:ext>
            </a:extLst>
          </p:cNvPr>
          <p:cNvSpPr/>
          <p:nvPr/>
        </p:nvSpPr>
        <p:spPr>
          <a:xfrm>
            <a:off x="0" y="0"/>
            <a:ext cx="9144000" cy="681241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/>
              <a:t>Trust Building Strategy</a:t>
            </a:r>
          </a:p>
        </p:txBody>
      </p:sp>
      <p:grpSp>
        <p:nvGrpSpPr>
          <p:cNvPr id="10" name="Group 11">
            <a:extLst>
              <a:ext uri="{FF2B5EF4-FFF2-40B4-BE49-F238E27FC236}">
                <a16:creationId xmlns:a16="http://schemas.microsoft.com/office/drawing/2014/main" id="{FFE6335D-4A70-43C8-B1D9-1F1E4615C930}"/>
              </a:ext>
            </a:extLst>
          </p:cNvPr>
          <p:cNvGrpSpPr/>
          <p:nvPr/>
        </p:nvGrpSpPr>
        <p:grpSpPr>
          <a:xfrm>
            <a:off x="176532" y="1136652"/>
            <a:ext cx="76710" cy="1704342"/>
            <a:chOff x="0" y="0"/>
            <a:chExt cx="204559" cy="4544911"/>
          </a:xfrm>
          <a:solidFill>
            <a:srgbClr val="1CADE4"/>
          </a:solidFill>
        </p:grpSpPr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41641B5E-0746-4226-9B63-E7CA3B750222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7314610D-FA82-4AFD-B3E2-DC716E5B4A9F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sp>
        <p:nvSpPr>
          <p:cNvPr id="16" name="TextBox 45">
            <a:extLst>
              <a:ext uri="{FF2B5EF4-FFF2-40B4-BE49-F238E27FC236}">
                <a16:creationId xmlns:a16="http://schemas.microsoft.com/office/drawing/2014/main" id="{B1B53101-3A4B-4739-ABF8-FEFB9E4A50F2}"/>
              </a:ext>
            </a:extLst>
          </p:cNvPr>
          <p:cNvSpPr txBox="1"/>
          <p:nvPr/>
        </p:nvSpPr>
        <p:spPr>
          <a:xfrm>
            <a:off x="246874" y="1324190"/>
            <a:ext cx="2689543" cy="2988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Canva Sans Bold"/>
                <a:cs typeface="Canva Sans Bold"/>
                <a:sym typeface="Canva Sans Bold"/>
              </a:rPr>
              <a:t>Prove of quality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835CC6-E2FF-4837-B887-CB6C520E75CF}"/>
              </a:ext>
            </a:extLst>
          </p:cNvPr>
          <p:cNvSpPr txBox="1"/>
          <p:nvPr/>
        </p:nvSpPr>
        <p:spPr>
          <a:xfrm>
            <a:off x="426011" y="1670244"/>
            <a:ext cx="34692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lab certification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Highlight ingredient transparency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Mention quality testing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Share source of ingredients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grpSp>
        <p:nvGrpSpPr>
          <p:cNvPr id="25" name="Group 17">
            <a:extLst>
              <a:ext uri="{FF2B5EF4-FFF2-40B4-BE49-F238E27FC236}">
                <a16:creationId xmlns:a16="http://schemas.microsoft.com/office/drawing/2014/main" id="{3EDEDB5C-B752-428E-83D4-35186E3CFF3E}"/>
              </a:ext>
            </a:extLst>
          </p:cNvPr>
          <p:cNvGrpSpPr/>
          <p:nvPr/>
        </p:nvGrpSpPr>
        <p:grpSpPr>
          <a:xfrm>
            <a:off x="4657092" y="1136652"/>
            <a:ext cx="76710" cy="1704342"/>
            <a:chOff x="0" y="0"/>
            <a:chExt cx="204559" cy="4544911"/>
          </a:xfrm>
          <a:solidFill>
            <a:srgbClr val="7C3AED"/>
          </a:solidFill>
        </p:grpSpPr>
        <p:sp>
          <p:nvSpPr>
            <p:cNvPr id="26" name="Freeform 18">
              <a:extLst>
                <a:ext uri="{FF2B5EF4-FFF2-40B4-BE49-F238E27FC236}">
                  <a16:creationId xmlns:a16="http://schemas.microsoft.com/office/drawing/2014/main" id="{C24D7178-7A99-48DA-923A-B564F2EF1342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27" name="Freeform 19">
              <a:extLst>
                <a:ext uri="{FF2B5EF4-FFF2-40B4-BE49-F238E27FC236}">
                  <a16:creationId xmlns:a16="http://schemas.microsoft.com/office/drawing/2014/main" id="{EB2A74D8-FE0F-4350-90B4-C79DCE119533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28" name="Group 20">
            <a:extLst>
              <a:ext uri="{FF2B5EF4-FFF2-40B4-BE49-F238E27FC236}">
                <a16:creationId xmlns:a16="http://schemas.microsoft.com/office/drawing/2014/main" id="{7E10BFC3-F075-41DA-BEFA-1598D378764C}"/>
              </a:ext>
            </a:extLst>
          </p:cNvPr>
          <p:cNvGrpSpPr/>
          <p:nvPr/>
        </p:nvGrpSpPr>
        <p:grpSpPr>
          <a:xfrm>
            <a:off x="5029198" y="1234440"/>
            <a:ext cx="3474720" cy="435804"/>
            <a:chOff x="0" y="0"/>
            <a:chExt cx="9265920" cy="1024128"/>
          </a:xfrm>
        </p:grpSpPr>
        <p:sp>
          <p:nvSpPr>
            <p:cNvPr id="29" name="Freeform 21">
              <a:extLst>
                <a:ext uri="{FF2B5EF4-FFF2-40B4-BE49-F238E27FC236}">
                  <a16:creationId xmlns:a16="http://schemas.microsoft.com/office/drawing/2014/main" id="{DE260345-1C79-42DF-8ECD-0582D9B691E4}"/>
                </a:ext>
              </a:extLst>
            </p:cNvPr>
            <p:cNvSpPr/>
            <p:nvPr/>
          </p:nvSpPr>
          <p:spPr>
            <a:xfrm>
              <a:off x="0" y="0"/>
              <a:ext cx="9265920" cy="1024128"/>
            </a:xfrm>
            <a:custGeom>
              <a:avLst/>
              <a:gdLst/>
              <a:ahLst/>
              <a:cxnLst/>
              <a:rect l="l" t="t" r="r" b="b"/>
              <a:pathLst>
                <a:path w="9265920" h="1024128">
                  <a:moveTo>
                    <a:pt x="0" y="0"/>
                  </a:moveTo>
                  <a:lnTo>
                    <a:pt x="9265920" y="0"/>
                  </a:lnTo>
                  <a:lnTo>
                    <a:pt x="92659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6293" b="-126293"/>
              </a:stretch>
            </a:blipFill>
          </p:spPr>
        </p:sp>
        <p:sp>
          <p:nvSpPr>
            <p:cNvPr id="30" name="TextBox 22">
              <a:extLst>
                <a:ext uri="{FF2B5EF4-FFF2-40B4-BE49-F238E27FC236}">
                  <a16:creationId xmlns:a16="http://schemas.microsoft.com/office/drawing/2014/main" id="{F0EECED1-E315-4DB8-9D0A-B75E41BE8B42}"/>
                </a:ext>
              </a:extLst>
            </p:cNvPr>
            <p:cNvSpPr txBox="1"/>
            <p:nvPr/>
          </p:nvSpPr>
          <p:spPr>
            <a:xfrm>
              <a:off x="0" y="-66675"/>
              <a:ext cx="9265920" cy="1090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lnSpc>
                  <a:spcPts val="2160"/>
                </a:lnSpc>
              </a:pPr>
              <a:r>
                <a:rPr lang="en-US" sz="2000" b="1" dirty="0">
                  <a:solidFill>
                    <a:srgbClr val="0D1B3E"/>
                  </a:solidFill>
                  <a:latin typeface="+mj-lt"/>
                  <a:ea typeface="Calibri (MS) Bold"/>
                  <a:cs typeface="Calibri (MS) Bold"/>
                  <a:sym typeface="Calibri (MS) Bold"/>
                </a:rPr>
                <a:t>Get Doctor to Say it works</a:t>
              </a:r>
            </a:p>
          </p:txBody>
        </p:sp>
      </p:grpSp>
      <p:grpSp>
        <p:nvGrpSpPr>
          <p:cNvPr id="33" name="Group 26">
            <a:extLst>
              <a:ext uri="{FF2B5EF4-FFF2-40B4-BE49-F238E27FC236}">
                <a16:creationId xmlns:a16="http://schemas.microsoft.com/office/drawing/2014/main" id="{23ACD87A-3889-4CB2-91DF-2F1D28C6224D}"/>
              </a:ext>
            </a:extLst>
          </p:cNvPr>
          <p:cNvGrpSpPr/>
          <p:nvPr/>
        </p:nvGrpSpPr>
        <p:grpSpPr>
          <a:xfrm>
            <a:off x="176532" y="3011172"/>
            <a:ext cx="76710" cy="1704342"/>
            <a:chOff x="0" y="0"/>
            <a:chExt cx="204559" cy="4544911"/>
          </a:xfrm>
          <a:solidFill>
            <a:srgbClr val="0891B2"/>
          </a:solidFill>
        </p:grpSpPr>
        <p:sp>
          <p:nvSpPr>
            <p:cNvPr id="34" name="Freeform 27">
              <a:extLst>
                <a:ext uri="{FF2B5EF4-FFF2-40B4-BE49-F238E27FC236}">
                  <a16:creationId xmlns:a16="http://schemas.microsoft.com/office/drawing/2014/main" id="{B0D8AFB6-35C8-4800-BAC7-E75843EF7E2D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solidFill>
              <a:srgbClr val="7C3AED"/>
            </a:solidFill>
          </p:spPr>
        </p:sp>
        <p:sp>
          <p:nvSpPr>
            <p:cNvPr id="35" name="Freeform 28">
              <a:extLst>
                <a:ext uri="{FF2B5EF4-FFF2-40B4-BE49-F238E27FC236}">
                  <a16:creationId xmlns:a16="http://schemas.microsoft.com/office/drawing/2014/main" id="{0BD295FB-C132-4E77-866E-A59EABFB039D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39" name="Group 32">
            <a:extLst>
              <a:ext uri="{FF2B5EF4-FFF2-40B4-BE49-F238E27FC236}">
                <a16:creationId xmlns:a16="http://schemas.microsoft.com/office/drawing/2014/main" id="{C1B4020E-A1B7-4500-895C-5AFF7B23099B}"/>
              </a:ext>
            </a:extLst>
          </p:cNvPr>
          <p:cNvGrpSpPr/>
          <p:nvPr/>
        </p:nvGrpSpPr>
        <p:grpSpPr>
          <a:xfrm>
            <a:off x="4657092" y="3011172"/>
            <a:ext cx="76710" cy="1704342"/>
            <a:chOff x="0" y="0"/>
            <a:chExt cx="204559" cy="4544911"/>
          </a:xfrm>
          <a:solidFill>
            <a:srgbClr val="1CADE4"/>
          </a:solidFill>
        </p:grpSpPr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918693F1-E668-4E80-B332-2167ED6D7005}"/>
                </a:ext>
              </a:extLst>
            </p:cNvPr>
            <p:cNvSpPr/>
            <p:nvPr/>
          </p:nvSpPr>
          <p:spPr>
            <a:xfrm>
              <a:off x="16891" y="16891"/>
              <a:ext cx="170688" cy="4511040"/>
            </a:xfrm>
            <a:custGeom>
              <a:avLst/>
              <a:gdLst/>
              <a:ahLst/>
              <a:cxnLst/>
              <a:rect l="l" t="t" r="r" b="b"/>
              <a:pathLst>
                <a:path w="170688" h="4511040">
                  <a:moveTo>
                    <a:pt x="0" y="0"/>
                  </a:moveTo>
                  <a:lnTo>
                    <a:pt x="170688" y="0"/>
                  </a:lnTo>
                  <a:lnTo>
                    <a:pt x="170688" y="4511040"/>
                  </a:lnTo>
                  <a:lnTo>
                    <a:pt x="0" y="4511040"/>
                  </a:lnTo>
                  <a:close/>
                </a:path>
              </a:pathLst>
            </a:custGeom>
            <a:grpFill/>
          </p:spPr>
        </p:sp>
        <p:sp>
          <p:nvSpPr>
            <p:cNvPr id="41" name="Freeform 34">
              <a:extLst>
                <a:ext uri="{FF2B5EF4-FFF2-40B4-BE49-F238E27FC236}">
                  <a16:creationId xmlns:a16="http://schemas.microsoft.com/office/drawing/2014/main" id="{0AD531C5-D4F7-4A2E-ABFD-D4DDC75F91AA}"/>
                </a:ext>
              </a:extLst>
            </p:cNvPr>
            <p:cNvSpPr/>
            <p:nvPr/>
          </p:nvSpPr>
          <p:spPr>
            <a:xfrm>
              <a:off x="0" y="0"/>
              <a:ext cx="204470" cy="4544822"/>
            </a:xfrm>
            <a:custGeom>
              <a:avLst/>
              <a:gdLst/>
              <a:ahLst/>
              <a:cxnLst/>
              <a:rect l="l" t="t" r="r" b="b"/>
              <a:pathLst>
                <a:path w="204470" h="4544822">
                  <a:moveTo>
                    <a:pt x="16891" y="0"/>
                  </a:moveTo>
                  <a:lnTo>
                    <a:pt x="187579" y="0"/>
                  </a:lnTo>
                  <a:cubicBezTo>
                    <a:pt x="196977" y="0"/>
                    <a:pt x="204470" y="7620"/>
                    <a:pt x="204470" y="16891"/>
                  </a:cubicBezTo>
                  <a:lnTo>
                    <a:pt x="204470" y="4527931"/>
                  </a:lnTo>
                  <a:cubicBezTo>
                    <a:pt x="204470" y="4537329"/>
                    <a:pt x="196850" y="4544822"/>
                    <a:pt x="187579" y="4544822"/>
                  </a:cubicBezTo>
                  <a:lnTo>
                    <a:pt x="16891" y="4544822"/>
                  </a:lnTo>
                  <a:cubicBezTo>
                    <a:pt x="7493" y="4544822"/>
                    <a:pt x="0" y="4537202"/>
                    <a:pt x="0" y="4527931"/>
                  </a:cubicBezTo>
                  <a:lnTo>
                    <a:pt x="0" y="16891"/>
                  </a:lnTo>
                  <a:cubicBezTo>
                    <a:pt x="0" y="7620"/>
                    <a:pt x="7620" y="0"/>
                    <a:pt x="16891" y="0"/>
                  </a:cubicBezTo>
                  <a:moveTo>
                    <a:pt x="16891" y="33909"/>
                  </a:moveTo>
                  <a:lnTo>
                    <a:pt x="16891" y="16891"/>
                  </a:lnTo>
                  <a:lnTo>
                    <a:pt x="33909" y="16891"/>
                  </a:lnTo>
                  <a:lnTo>
                    <a:pt x="33909" y="4527931"/>
                  </a:lnTo>
                  <a:lnTo>
                    <a:pt x="16891" y="4527931"/>
                  </a:lnTo>
                  <a:lnTo>
                    <a:pt x="16891" y="4511040"/>
                  </a:lnTo>
                  <a:lnTo>
                    <a:pt x="187579" y="4511040"/>
                  </a:lnTo>
                  <a:lnTo>
                    <a:pt x="187579" y="4527931"/>
                  </a:lnTo>
                  <a:lnTo>
                    <a:pt x="170688" y="4527931"/>
                  </a:lnTo>
                  <a:lnTo>
                    <a:pt x="170688" y="16891"/>
                  </a:lnTo>
                  <a:lnTo>
                    <a:pt x="187579" y="16891"/>
                  </a:lnTo>
                  <a:lnTo>
                    <a:pt x="187579" y="33909"/>
                  </a:lnTo>
                  <a:lnTo>
                    <a:pt x="16891" y="33909"/>
                  </a:lnTo>
                  <a:close/>
                </a:path>
              </a:pathLst>
            </a:custGeom>
            <a:grpFill/>
          </p:spPr>
        </p:sp>
      </p:grpSp>
      <p:grpSp>
        <p:nvGrpSpPr>
          <p:cNvPr id="42" name="Group 35">
            <a:extLst>
              <a:ext uri="{FF2B5EF4-FFF2-40B4-BE49-F238E27FC236}">
                <a16:creationId xmlns:a16="http://schemas.microsoft.com/office/drawing/2014/main" id="{EBB3C5A0-3F21-42DD-8664-87A0509B3C36}"/>
              </a:ext>
            </a:extLst>
          </p:cNvPr>
          <p:cNvGrpSpPr/>
          <p:nvPr/>
        </p:nvGrpSpPr>
        <p:grpSpPr>
          <a:xfrm>
            <a:off x="5029198" y="3065749"/>
            <a:ext cx="3474720" cy="384048"/>
            <a:chOff x="0" y="0"/>
            <a:chExt cx="9265920" cy="1024128"/>
          </a:xfrm>
        </p:grpSpPr>
        <p:sp>
          <p:nvSpPr>
            <p:cNvPr id="43" name="Freeform 36">
              <a:extLst>
                <a:ext uri="{FF2B5EF4-FFF2-40B4-BE49-F238E27FC236}">
                  <a16:creationId xmlns:a16="http://schemas.microsoft.com/office/drawing/2014/main" id="{F7A88489-08E4-4FE1-A37A-23130279FBCA}"/>
                </a:ext>
              </a:extLst>
            </p:cNvPr>
            <p:cNvSpPr/>
            <p:nvPr/>
          </p:nvSpPr>
          <p:spPr>
            <a:xfrm>
              <a:off x="0" y="0"/>
              <a:ext cx="9265920" cy="1024128"/>
            </a:xfrm>
            <a:custGeom>
              <a:avLst/>
              <a:gdLst/>
              <a:ahLst/>
              <a:cxnLst/>
              <a:rect l="l" t="t" r="r" b="b"/>
              <a:pathLst>
                <a:path w="9265920" h="1024128">
                  <a:moveTo>
                    <a:pt x="0" y="0"/>
                  </a:moveTo>
                  <a:lnTo>
                    <a:pt x="9265920" y="0"/>
                  </a:lnTo>
                  <a:lnTo>
                    <a:pt x="9265920" y="1024128"/>
                  </a:lnTo>
                  <a:lnTo>
                    <a:pt x="0" y="1024128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126293" b="-126293"/>
              </a:stretch>
            </a:blipFill>
          </p:spPr>
        </p:sp>
        <p:sp>
          <p:nvSpPr>
            <p:cNvPr id="44" name="TextBox 37">
              <a:extLst>
                <a:ext uri="{FF2B5EF4-FFF2-40B4-BE49-F238E27FC236}">
                  <a16:creationId xmlns:a16="http://schemas.microsoft.com/office/drawing/2014/main" id="{5574BEB4-0CBE-4E34-9D3E-E8DF03AD9FF0}"/>
                </a:ext>
              </a:extLst>
            </p:cNvPr>
            <p:cNvSpPr txBox="1"/>
            <p:nvPr/>
          </p:nvSpPr>
          <p:spPr>
            <a:xfrm>
              <a:off x="0" y="-66675"/>
              <a:ext cx="9265920" cy="109080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>
                <a:lnSpc>
                  <a:spcPts val="2160"/>
                </a:lnSpc>
              </a:pPr>
              <a:r>
                <a:rPr lang="en-US" sz="2000" b="1" dirty="0">
                  <a:solidFill>
                    <a:srgbClr val="0D1B3E"/>
                  </a:solidFill>
                  <a:latin typeface="Arial" panose="020B0604020202020204" pitchFamily="34" charset="0"/>
                  <a:ea typeface="Calibri (MS) Bold"/>
                  <a:cs typeface="Arial" panose="020B0604020202020204" pitchFamily="34" charset="0"/>
                  <a:sym typeface="Calibri (MS) Bold"/>
                </a:rPr>
                <a:t>Using Real Reviews </a:t>
              </a:r>
            </a:p>
          </p:txBody>
        </p:sp>
      </p:grpSp>
      <p:sp>
        <p:nvSpPr>
          <p:cNvPr id="48" name="TextBox 46">
            <a:extLst>
              <a:ext uri="{FF2B5EF4-FFF2-40B4-BE49-F238E27FC236}">
                <a16:creationId xmlns:a16="http://schemas.microsoft.com/office/drawing/2014/main" id="{32C2C5F5-F022-48F2-917A-2B1328F04CE2}"/>
              </a:ext>
            </a:extLst>
          </p:cNvPr>
          <p:cNvSpPr txBox="1"/>
          <p:nvPr/>
        </p:nvSpPr>
        <p:spPr>
          <a:xfrm>
            <a:off x="365760" y="3075623"/>
            <a:ext cx="3269894" cy="2988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sz="2000" b="1" dirty="0">
                <a:solidFill>
                  <a:srgbClr val="000000"/>
                </a:solidFill>
                <a:latin typeface="Arial" panose="020B0604020202020204" pitchFamily="34" charset="0"/>
                <a:ea typeface="Canva Sans Bold"/>
                <a:cs typeface="Arial" panose="020B0604020202020204" pitchFamily="34" charset="0"/>
                <a:sym typeface="Canva Sans Bold"/>
              </a:rPr>
              <a:t>Breaking the Myths</a:t>
            </a:r>
          </a:p>
        </p:txBody>
      </p:sp>
      <p:pic>
        <p:nvPicPr>
          <p:cNvPr id="51" name="Picture 2" descr="Skin Cafe">
            <a:extLst>
              <a:ext uri="{FF2B5EF4-FFF2-40B4-BE49-F238E27FC236}">
                <a16:creationId xmlns:a16="http://schemas.microsoft.com/office/drawing/2014/main" id="{D35CE64C-557F-4AB0-BF69-14A0670B6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12" y="112422"/>
            <a:ext cx="680311" cy="568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952C8C0-7FC4-47A3-A707-908DF100C1E3}"/>
              </a:ext>
            </a:extLst>
          </p:cNvPr>
          <p:cNvSpPr txBox="1"/>
          <p:nvPr/>
        </p:nvSpPr>
        <p:spPr>
          <a:xfrm>
            <a:off x="4958247" y="1604348"/>
            <a:ext cx="410609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dermatologist recommendations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clinical study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Highlight medically approved ingredients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64396B7-2686-473B-B7E4-63E356A1ACF1}"/>
              </a:ext>
            </a:extLst>
          </p:cNvPr>
          <p:cNvSpPr txBox="1"/>
          <p:nvPr/>
        </p:nvSpPr>
        <p:spPr>
          <a:xfrm>
            <a:off x="441992" y="3461905"/>
            <a:ext cx="29033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Address safety concerns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Provide scientific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Answer common customer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 questions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623F7F2-91A0-4602-9E99-DA8CA31A4FA4}"/>
              </a:ext>
            </a:extLst>
          </p:cNvPr>
          <p:cNvSpPr txBox="1"/>
          <p:nvPr/>
        </p:nvSpPr>
        <p:spPr>
          <a:xfrm>
            <a:off x="4980452" y="3466966"/>
            <a:ext cx="38587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Share verified customer reviews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Use video testimonials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Highlight ratings and success stories </a:t>
            </a:r>
          </a:p>
        </p:txBody>
      </p:sp>
    </p:spTree>
    <p:extLst>
      <p:ext uri="{BB962C8B-B14F-4D97-AF65-F5344CB8AC3E}">
        <p14:creationId xmlns:p14="http://schemas.microsoft.com/office/powerpoint/2010/main" val="2454849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0EE2A961-9DA5-42C2-9251-9FBB2CEBD121}"/>
              </a:ext>
            </a:extLst>
          </p:cNvPr>
          <p:cNvGrpSpPr/>
          <p:nvPr/>
        </p:nvGrpSpPr>
        <p:grpSpPr>
          <a:xfrm>
            <a:off x="1" y="0"/>
            <a:ext cx="9143999" cy="5118203"/>
            <a:chOff x="1" y="0"/>
            <a:chExt cx="9143999" cy="5118203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CBDFB9B-9543-489E-85B5-53D0D01EDF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50000"/>
            </a:blip>
            <a:stretch>
              <a:fillRect/>
            </a:stretch>
          </p:blipFill>
          <p:spPr>
            <a:xfrm>
              <a:off x="1" y="0"/>
              <a:ext cx="9143999" cy="4747565"/>
            </a:xfrm>
            <a:prstGeom prst="rect">
              <a:avLst/>
            </a:prstGeom>
            <a:effectLst>
              <a:innerShdw blurRad="114300">
                <a:prstClr val="black"/>
              </a:innerShdw>
            </a:effec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7F023A5-F4EA-4148-8471-CCDD1A9BCC6C}"/>
                </a:ext>
              </a:extLst>
            </p:cNvPr>
            <p:cNvSpPr txBox="1"/>
            <p:nvPr/>
          </p:nvSpPr>
          <p:spPr>
            <a:xfrm>
              <a:off x="1062496" y="4810426"/>
              <a:ext cx="109356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75000"/>
                    </a:schemeClr>
                  </a:solidFill>
                </a:rPr>
                <a:t>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C0D99B3-794D-4D39-B91B-DDF258680845}"/>
                </a:ext>
              </a:extLst>
            </p:cNvPr>
            <p:cNvSpPr txBox="1"/>
            <p:nvPr/>
          </p:nvSpPr>
          <p:spPr>
            <a:xfrm>
              <a:off x="2913414" y="4810426"/>
              <a:ext cx="112242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rgbClr val="00B0F0"/>
                  </a:solidFill>
                </a:rPr>
                <a:t>PLANNING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F4E563-BD54-4E32-A88D-87D41AD06854}"/>
                </a:ext>
              </a:extLst>
            </p:cNvPr>
            <p:cNvSpPr txBox="1"/>
            <p:nvPr/>
          </p:nvSpPr>
          <p:spPr>
            <a:xfrm>
              <a:off x="4958247" y="4810426"/>
              <a:ext cx="10460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65000"/>
                    </a:schemeClr>
                  </a:solidFill>
                </a:rPr>
                <a:t>EXECUTION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1B3FDA-4BC2-41CB-95C7-77ADA8EA704A}"/>
                </a:ext>
              </a:extLst>
            </p:cNvPr>
            <p:cNvSpPr txBox="1"/>
            <p:nvPr/>
          </p:nvSpPr>
          <p:spPr>
            <a:xfrm>
              <a:off x="6890918" y="4810426"/>
              <a:ext cx="11329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>
                      <a:lumMod val="75000"/>
                    </a:schemeClr>
                  </a:solidFill>
                </a:rPr>
                <a:t>EVALUATION</a:t>
              </a:r>
            </a:p>
          </p:txBody>
        </p:sp>
        <p:pic>
          <p:nvPicPr>
            <p:cNvPr id="51" name="Picture 2" descr="Skin Cafe">
              <a:extLst>
                <a:ext uri="{FF2B5EF4-FFF2-40B4-BE49-F238E27FC236}">
                  <a16:creationId xmlns:a16="http://schemas.microsoft.com/office/drawing/2014/main" id="{D35CE64C-557F-4AB0-BF69-14A0670B6B8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4406" y="185574"/>
              <a:ext cx="680311" cy="5688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107E797-3140-4BEE-A8F7-7307BE8B32BD}"/>
                </a:ext>
              </a:extLst>
            </p:cNvPr>
            <p:cNvSpPr txBox="1"/>
            <p:nvPr/>
          </p:nvSpPr>
          <p:spPr>
            <a:xfrm>
              <a:off x="3845314" y="1208313"/>
              <a:ext cx="163596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Tag Line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41072303-662E-468C-A181-340F1B9F7F02}"/>
                </a:ext>
              </a:extLst>
            </p:cNvPr>
            <p:cNvSpPr/>
            <p:nvPr/>
          </p:nvSpPr>
          <p:spPr>
            <a:xfrm>
              <a:off x="2816352" y="2048255"/>
              <a:ext cx="3511296" cy="1572767"/>
            </a:xfrm>
            <a:prstGeom prst="roundRect">
              <a:avLst/>
            </a:prstGeom>
            <a:noFill/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as-IN" sz="2800" b="1" i="1" dirty="0">
                  <a:latin typeface="+mj-lt"/>
                </a:rPr>
                <a:t>রোদ থাকুক বাইরে, </a:t>
              </a:r>
              <a:endParaRPr lang="en-US" sz="2800" b="1" i="1" dirty="0">
                <a:latin typeface="+mj-lt"/>
              </a:endParaRPr>
            </a:p>
            <a:p>
              <a:pPr algn="ctr"/>
              <a:r>
                <a:rPr lang="as-IN" sz="2800" b="1" i="1" dirty="0">
                  <a:latin typeface="+mj-lt"/>
                </a:rPr>
                <a:t>সুরক্ষা থাকুক ত্বকে</a:t>
              </a:r>
              <a:endParaRPr lang="en-US" sz="2800" b="1" i="1" dirty="0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68485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64806" y="-1999474"/>
            <a:ext cx="5215943" cy="914244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89798" y="1050433"/>
            <a:ext cx="4877873" cy="34531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2" name="Rounded Rectangle 11"/>
          <p:cNvSpPr/>
          <p:nvPr/>
        </p:nvSpPr>
        <p:spPr>
          <a:xfrm>
            <a:off x="628621" y="1050433"/>
            <a:ext cx="2434107" cy="3453149"/>
          </a:xfrm>
          <a:prstGeom prst="roundRect">
            <a:avLst/>
          </a:prstGeom>
          <a:solidFill>
            <a:srgbClr val="FFFFFF">
              <a:alpha val="5803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3" name="TextBox 12"/>
          <p:cNvSpPr txBox="1"/>
          <p:nvPr/>
        </p:nvSpPr>
        <p:spPr>
          <a:xfrm>
            <a:off x="751775" y="1218889"/>
            <a:ext cx="218779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See The Unseen Campaign Addresses the low consumer awareness and “Sunscreen is only for summer” misconceptions by physically proving UV damage</a:t>
            </a:r>
          </a:p>
        </p:txBody>
      </p:sp>
      <p:pic>
        <p:nvPicPr>
          <p:cNvPr id="8" name="Picture 2" descr="Skin Cafe">
            <a:extLst>
              <a:ext uri="{FF2B5EF4-FFF2-40B4-BE49-F238E27FC236}">
                <a16:creationId xmlns:a16="http://schemas.microsoft.com/office/drawing/2014/main" id="{E3B7D756-F64F-4F67-B347-1168957D0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0CD837D8-577D-4A9D-9F18-BF0A9B4BFDCE}"/>
              </a:ext>
            </a:extLst>
          </p:cNvPr>
          <p:cNvSpPr/>
          <p:nvPr/>
        </p:nvSpPr>
        <p:spPr>
          <a:xfrm>
            <a:off x="2253803" y="206299"/>
            <a:ext cx="4636394" cy="41894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4">
                    <a:lumMod val="75000"/>
                  </a:schemeClr>
                </a:solidFill>
              </a:rPr>
              <a:t>Campaign</a:t>
            </a:r>
          </a:p>
        </p:txBody>
      </p:sp>
    </p:spTree>
    <p:extLst>
      <p:ext uri="{BB962C8B-B14F-4D97-AF65-F5344CB8AC3E}">
        <p14:creationId xmlns:p14="http://schemas.microsoft.com/office/powerpoint/2010/main" val="2203165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95555" y="-2021044"/>
            <a:ext cx="5168989" cy="916009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2253803" y="131626"/>
            <a:ext cx="4636394" cy="41894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accent4">
                    <a:lumMod val="75000"/>
                  </a:schemeClr>
                </a:solidFill>
              </a:rPr>
              <a:t>Campaign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05875" y="2662710"/>
            <a:ext cx="2214992" cy="235056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17990" y="795709"/>
            <a:ext cx="2546798" cy="4149779"/>
          </a:xfrm>
          <a:prstGeom prst="rect">
            <a:avLst/>
          </a:prstGeom>
          <a:solidFill>
            <a:srgbClr val="FFFFFF">
              <a:alpha val="52157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6145" y="926104"/>
            <a:ext cx="2250487" cy="300399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2459" y="4060499"/>
            <a:ext cx="2577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“Peel And Protect” </a:t>
            </a:r>
          </a:p>
          <a:p>
            <a:pPr algn="ctr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Wall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874" y="2919562"/>
            <a:ext cx="2085937" cy="15793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7657" y="4507823"/>
            <a:ext cx="1954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Flyer Marketing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7188" y="775372"/>
            <a:ext cx="6021588" cy="1796378"/>
          </a:xfrm>
          <a:prstGeom prst="rect">
            <a:avLst/>
          </a:prstGeom>
          <a:solidFill>
            <a:srgbClr val="FFFFFF">
              <a:alpha val="5411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43" y="832761"/>
            <a:ext cx="2986592" cy="16816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89335" y="961882"/>
            <a:ext cx="294944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Raise awareness about sun damage in different areas with a dermatologist-led UV skin test booth. Educate participants and give them goodies, leaflets</a:t>
            </a:r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407643" y="2114350"/>
            <a:ext cx="2214989" cy="344728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25096" y="2870597"/>
            <a:ext cx="30598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50" b="1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UV Selfie Gift: </a:t>
            </a:r>
          </a:p>
          <a:p>
            <a:pPr algn="ctr"/>
            <a:r>
              <a:rPr lang="en-US" sz="1350" dirty="0">
                <a:solidFill>
                  <a:schemeClr val="accent2">
                    <a:lumMod val="50000"/>
                  </a:schemeClr>
                </a:solidFill>
                <a:latin typeface="Arial Rounded MT Bold" panose="020F0704030504030204" pitchFamily="34" charset="0"/>
              </a:rPr>
              <a:t>The most creative selfie wins a 6 month 30% discount card for anything at Skin Cafe. Winners are announced Second and Fourth #FunFriday of the month. Cards are delivered online with the discount timeline</a:t>
            </a:r>
            <a:r>
              <a:rPr lang="en-US" sz="1350" dirty="0">
                <a:latin typeface="Arial Rounded MT Bold" panose="020F0704030504030204" pitchFamily="34" charset="0"/>
              </a:rPr>
              <a:t>.</a:t>
            </a:r>
          </a:p>
        </p:txBody>
      </p:sp>
      <p:pic>
        <p:nvPicPr>
          <p:cNvPr id="17" name="Picture 2" descr="Skin Cafe">
            <a:extLst>
              <a:ext uri="{FF2B5EF4-FFF2-40B4-BE49-F238E27FC236}">
                <a16:creationId xmlns:a16="http://schemas.microsoft.com/office/drawing/2014/main" id="{621F8254-AF03-4C00-AFE8-3E9C9C5E32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976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99037" y="-1999037"/>
            <a:ext cx="5144373" cy="9142446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900161" y="344365"/>
            <a:ext cx="3343678" cy="50227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/>
          <p:cNvSpPr txBox="1"/>
          <p:nvPr/>
        </p:nvSpPr>
        <p:spPr>
          <a:xfrm>
            <a:off x="2617631" y="280115"/>
            <a:ext cx="1332963" cy="3000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350" dirty="0"/>
          </a:p>
        </p:txBody>
      </p:sp>
      <p:sp>
        <p:nvSpPr>
          <p:cNvPr id="5" name="TextBox 4"/>
          <p:cNvSpPr txBox="1"/>
          <p:nvPr/>
        </p:nvSpPr>
        <p:spPr>
          <a:xfrm>
            <a:off x="3103808" y="379884"/>
            <a:ext cx="29363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Goodies Distribution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6" y="1201290"/>
            <a:ext cx="2504837" cy="228922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6295" y="1191006"/>
            <a:ext cx="2504837" cy="22892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582" y="1201290"/>
            <a:ext cx="2504837" cy="22892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0890" y="3754693"/>
            <a:ext cx="22602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Mini UV Detection Stickers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0370" y="3754693"/>
            <a:ext cx="31834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Silicon Bands that changes color when exposed to harsh UV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53" y="3745468"/>
            <a:ext cx="26305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5ml Single use sample sachet</a:t>
            </a:r>
          </a:p>
        </p:txBody>
      </p:sp>
      <p:pic>
        <p:nvPicPr>
          <p:cNvPr id="13" name="Picture 2" descr="Skin Cafe">
            <a:extLst>
              <a:ext uri="{FF2B5EF4-FFF2-40B4-BE49-F238E27FC236}">
                <a16:creationId xmlns:a16="http://schemas.microsoft.com/office/drawing/2014/main" id="{0CFD821E-7D52-45E4-B994-366D763BA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333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59201" y="-2041302"/>
            <a:ext cx="5225602" cy="9144002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442933" y="205866"/>
            <a:ext cx="4259688" cy="473299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TextBox 3"/>
          <p:cNvSpPr txBox="1"/>
          <p:nvPr/>
        </p:nvSpPr>
        <p:spPr>
          <a:xfrm>
            <a:off x="2515376" y="246307"/>
            <a:ext cx="436091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Facebook Community  Building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16" y="2245241"/>
            <a:ext cx="4233153" cy="265022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185" y="913505"/>
            <a:ext cx="1951733" cy="1879209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6386" y="913505"/>
            <a:ext cx="1933148" cy="187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2854" y="819957"/>
            <a:ext cx="3681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Content Engine: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Sharing memes and realism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Interactive Polls</a:t>
            </a:r>
          </a:p>
          <a:p>
            <a:pPr marL="214313" indent="-214313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Skincare tips 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0185" y="2967752"/>
            <a:ext cx="1945535" cy="186010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6386" y="2967751"/>
            <a:ext cx="1933148" cy="186010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555" y="3485776"/>
            <a:ext cx="968693" cy="1163495"/>
          </a:xfrm>
          <a:prstGeom prst="rect">
            <a:avLst/>
          </a:prstGeom>
        </p:spPr>
      </p:pic>
      <p:pic>
        <p:nvPicPr>
          <p:cNvPr id="12" name="Picture 2" descr="Skin Cafe">
            <a:extLst>
              <a:ext uri="{FF2B5EF4-FFF2-40B4-BE49-F238E27FC236}">
                <a16:creationId xmlns:a16="http://schemas.microsoft.com/office/drawing/2014/main" id="{9CD09456-1D03-4553-85B4-EEC15D895B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89359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955908" y="-1945180"/>
            <a:ext cx="5233736" cy="9142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3006" y="672785"/>
            <a:ext cx="27669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Target Group based</a:t>
            </a:r>
          </a:p>
          <a:p>
            <a:pPr algn="ctr"/>
            <a:r>
              <a:rPr lang="en-US" dirty="0">
                <a:solidFill>
                  <a:schemeClr val="bg1"/>
                </a:solidFill>
                <a:latin typeface="Arial Rounded MT Bold" panose="020F0704030504030204" pitchFamily="34" charset="0"/>
              </a:rPr>
              <a:t> Influencer marketing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814" y="3322202"/>
            <a:ext cx="1968112" cy="17043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296" y="1434871"/>
            <a:ext cx="1968112" cy="17134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83728" y="1966478"/>
            <a:ext cx="1479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3729" y="3822847"/>
            <a:ext cx="1301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Arial Rounded MT Bold" panose="020F0704030504030204" pitchFamily="34" charset="0"/>
              </a:rPr>
              <a:t>Health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8307" y="292147"/>
            <a:ext cx="1900948" cy="32033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Rounded Rectangle 10"/>
          <p:cNvSpPr/>
          <p:nvPr/>
        </p:nvSpPr>
        <p:spPr>
          <a:xfrm>
            <a:off x="697815" y="244210"/>
            <a:ext cx="2957298" cy="30987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    Influencer Marketing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48068" y="261761"/>
            <a:ext cx="1806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4">
                    <a:lumMod val="75000"/>
                  </a:schemeClr>
                </a:solidFill>
                <a:latin typeface="Arial Rounded MT Bold" panose="020F0704030504030204" pitchFamily="34" charset="0"/>
              </a:rPr>
              <a:t>E-Commerce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1463" y="853898"/>
            <a:ext cx="165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 Rounded MT Bold" panose="020F0704030504030204" pitchFamily="34" charset="0"/>
              </a:rPr>
              <a:t>GDN Banner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427" y="1422012"/>
            <a:ext cx="2293855" cy="3156428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199" y="1413525"/>
            <a:ext cx="2279561" cy="3143570"/>
          </a:xfrm>
          <a:prstGeom prst="rect">
            <a:avLst/>
          </a:prstGeom>
        </p:spPr>
      </p:pic>
      <p:pic>
        <p:nvPicPr>
          <p:cNvPr id="16" name="Picture 2" descr="Skin Cafe">
            <a:extLst>
              <a:ext uri="{FF2B5EF4-FFF2-40B4-BE49-F238E27FC236}">
                <a16:creationId xmlns:a16="http://schemas.microsoft.com/office/drawing/2014/main" id="{66E8E5F1-8B1E-4E4C-8FD6-532473B69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969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233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1329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EVALUATION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4DE0681-9430-4953-A4E7-553E4CE2B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774203"/>
              </p:ext>
            </p:extLst>
          </p:nvPr>
        </p:nvGraphicFramePr>
        <p:xfrm>
          <a:off x="607161" y="735635"/>
          <a:ext cx="7929678" cy="3725305"/>
        </p:xfrm>
        <a:graphic>
          <a:graphicData uri="http://schemas.openxmlformats.org/drawingml/2006/table">
            <a:tbl>
              <a:tblPr firstRow="1" firstCol="1" bandRow="1">
                <a:tableStyleId>{17292A2E-F333-43FB-9621-5CBBE7FDCDCB}</a:tableStyleId>
              </a:tblPr>
              <a:tblGrid>
                <a:gridCol w="1321613">
                  <a:extLst>
                    <a:ext uri="{9D8B030D-6E8A-4147-A177-3AD203B41FA5}">
                      <a16:colId xmlns:a16="http://schemas.microsoft.com/office/drawing/2014/main" val="2770539529"/>
                    </a:ext>
                  </a:extLst>
                </a:gridCol>
                <a:gridCol w="1321613">
                  <a:extLst>
                    <a:ext uri="{9D8B030D-6E8A-4147-A177-3AD203B41FA5}">
                      <a16:colId xmlns:a16="http://schemas.microsoft.com/office/drawing/2014/main" val="200190852"/>
                    </a:ext>
                  </a:extLst>
                </a:gridCol>
                <a:gridCol w="1321613">
                  <a:extLst>
                    <a:ext uri="{9D8B030D-6E8A-4147-A177-3AD203B41FA5}">
                      <a16:colId xmlns:a16="http://schemas.microsoft.com/office/drawing/2014/main" val="619854737"/>
                    </a:ext>
                  </a:extLst>
                </a:gridCol>
                <a:gridCol w="1321613">
                  <a:extLst>
                    <a:ext uri="{9D8B030D-6E8A-4147-A177-3AD203B41FA5}">
                      <a16:colId xmlns:a16="http://schemas.microsoft.com/office/drawing/2014/main" val="4090901976"/>
                    </a:ext>
                  </a:extLst>
                </a:gridCol>
                <a:gridCol w="1321613">
                  <a:extLst>
                    <a:ext uri="{9D8B030D-6E8A-4147-A177-3AD203B41FA5}">
                      <a16:colId xmlns:a16="http://schemas.microsoft.com/office/drawing/2014/main" val="191568447"/>
                    </a:ext>
                  </a:extLst>
                </a:gridCol>
                <a:gridCol w="1321613">
                  <a:extLst>
                    <a:ext uri="{9D8B030D-6E8A-4147-A177-3AD203B41FA5}">
                      <a16:colId xmlns:a16="http://schemas.microsoft.com/office/drawing/2014/main" val="3764180427"/>
                    </a:ext>
                  </a:extLst>
                </a:gridCol>
              </a:tblGrid>
              <a:tr h="70669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Quarter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Strategic Theme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Product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Price</a:t>
                      </a:r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Place</a:t>
                      </a:r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Promotion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5639670"/>
                  </a:ext>
                </a:extLst>
              </a:tr>
              <a:tr h="89853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Q1(Jan–Mar)</a:t>
                      </a:r>
                    </a:p>
                    <a:p>
                      <a:endParaRPr lang="en-US" dirty="0">
                        <a:solidFill>
                          <a:schemeClr val="accent4">
                            <a:lumMod val="75000"/>
                          </a:schemeClr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Trust Building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Sample Packs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Promotional Pricing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Campus Booths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Influencer Reviews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864078"/>
                  </a:ext>
                </a:extLst>
              </a:tr>
              <a:tr h="70669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Q2 (Apr–Jun)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Summer Protection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SPF Bundles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Combo Offers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Retail &amp; Online Stores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Social Media Campaign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0103378"/>
                  </a:ext>
                </a:extLst>
              </a:tr>
              <a:tr h="70669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Q3 (Jul–Sep)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Daily Habit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Travel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Loyalty Deals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Retail &amp; Online Stores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Educational Reels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3176056"/>
                  </a:ext>
                </a:extLst>
              </a:tr>
              <a:tr h="706692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Q4 (Oct–Dec)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Brand Loyalty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Family Packs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Value Bundles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Nationwide Push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Social Work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439709"/>
                  </a:ext>
                </a:extLst>
              </a:tr>
            </a:tbl>
          </a:graphicData>
        </a:graphic>
      </p:graphicFrame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75B86A9-8E93-473C-A439-EE57612CB43F}"/>
              </a:ext>
            </a:extLst>
          </p:cNvPr>
          <p:cNvSpPr/>
          <p:nvPr/>
        </p:nvSpPr>
        <p:spPr>
          <a:xfrm>
            <a:off x="1816100" y="-99653"/>
            <a:ext cx="5511800" cy="68124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12-Month Roadmap</a:t>
            </a:r>
          </a:p>
        </p:txBody>
      </p:sp>
      <p:pic>
        <p:nvPicPr>
          <p:cNvPr id="11" name="Picture 2" descr="Skin Cafe">
            <a:extLst>
              <a:ext uri="{FF2B5EF4-FFF2-40B4-BE49-F238E27FC236}">
                <a16:creationId xmlns:a16="http://schemas.microsoft.com/office/drawing/2014/main" id="{D3F97709-17D6-4B26-BC86-725B87185C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735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2330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324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D4FDB97-5D90-4819-8809-08893A9E645C}"/>
              </a:ext>
            </a:extLst>
          </p:cNvPr>
          <p:cNvSpPr/>
          <p:nvPr/>
        </p:nvSpPr>
        <p:spPr>
          <a:xfrm>
            <a:off x="1723695" y="-99653"/>
            <a:ext cx="5696610" cy="68124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Marketing Budget Allocation (sector)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ACDC754-8220-4395-BC9B-F9FFA529912A}"/>
              </a:ext>
            </a:extLst>
          </p:cNvPr>
          <p:cNvGrpSpPr/>
          <p:nvPr/>
        </p:nvGrpSpPr>
        <p:grpSpPr>
          <a:xfrm>
            <a:off x="533400" y="953561"/>
            <a:ext cx="8077200" cy="3354917"/>
            <a:chOff x="643467" y="753533"/>
            <a:chExt cx="8077200" cy="3354917"/>
          </a:xfrm>
        </p:grpSpPr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773A4A1B-A232-4BC5-B5F0-AC17BAEF64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6250891"/>
                </p:ext>
              </p:extLst>
            </p:nvPr>
          </p:nvGraphicFramePr>
          <p:xfrm>
            <a:off x="856082" y="819301"/>
            <a:ext cx="7431836" cy="328914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399D3528-B3BC-4DB6-8F34-F95CBC30C0A5}"/>
                </a:ext>
              </a:extLst>
            </p:cNvPr>
            <p:cNvSpPr/>
            <p:nvPr/>
          </p:nvSpPr>
          <p:spPr>
            <a:xfrm>
              <a:off x="643467" y="753533"/>
              <a:ext cx="8077200" cy="3354917"/>
            </a:xfrm>
            <a:prstGeom prst="roundRect">
              <a:avLst/>
            </a:prstGeom>
            <a:noFill/>
            <a:ln w="381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3016747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F023A5-F4EA-4148-8471-CCDD1A9BCC6C}"/>
              </a:ext>
            </a:extLst>
          </p:cNvPr>
          <p:cNvSpPr txBox="1"/>
          <p:nvPr/>
        </p:nvSpPr>
        <p:spPr>
          <a:xfrm>
            <a:off x="1062496" y="4810426"/>
            <a:ext cx="10935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ANALYSIS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0D99B3-794D-4D39-B91B-DDF258680845}"/>
              </a:ext>
            </a:extLst>
          </p:cNvPr>
          <p:cNvSpPr txBox="1"/>
          <p:nvPr/>
        </p:nvSpPr>
        <p:spPr>
          <a:xfrm>
            <a:off x="2913414" y="481042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PLANNING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F4E563-BD54-4E32-A88D-87D41AD06854}"/>
              </a:ext>
            </a:extLst>
          </p:cNvPr>
          <p:cNvSpPr txBox="1"/>
          <p:nvPr/>
        </p:nvSpPr>
        <p:spPr>
          <a:xfrm>
            <a:off x="4958247" y="4810426"/>
            <a:ext cx="10460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65000"/>
                  </a:schemeClr>
                </a:solidFill>
              </a:rPr>
              <a:t>EXECUTION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1B3FDA-4BC2-41CB-95C7-77ADA8EA704A}"/>
              </a:ext>
            </a:extLst>
          </p:cNvPr>
          <p:cNvSpPr txBox="1"/>
          <p:nvPr/>
        </p:nvSpPr>
        <p:spPr>
          <a:xfrm>
            <a:off x="6890918" y="4810426"/>
            <a:ext cx="13249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</a:rPr>
              <a:t>EVALUATION</a:t>
            </a:r>
          </a:p>
        </p:txBody>
      </p:sp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D0D3359-9F6F-473D-AA96-5B03A4229D55}"/>
              </a:ext>
            </a:extLst>
          </p:cNvPr>
          <p:cNvSpPr/>
          <p:nvPr/>
        </p:nvSpPr>
        <p:spPr>
          <a:xfrm>
            <a:off x="1816100" y="-99653"/>
            <a:ext cx="5511800" cy="681241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Challenges &amp; Feasibility</a:t>
            </a:r>
          </a:p>
        </p:txBody>
      </p:sp>
      <p:graphicFrame>
        <p:nvGraphicFramePr>
          <p:cNvPr id="11" name="Table 11">
            <a:extLst>
              <a:ext uri="{FF2B5EF4-FFF2-40B4-BE49-F238E27FC236}">
                <a16:creationId xmlns:a16="http://schemas.microsoft.com/office/drawing/2014/main" id="{3DB4A3B3-823C-40A9-AAB0-0831CFBD8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53913"/>
              </p:ext>
            </p:extLst>
          </p:nvPr>
        </p:nvGraphicFramePr>
        <p:xfrm>
          <a:off x="367710" y="1018441"/>
          <a:ext cx="3668127" cy="108975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Low Trust in Local Brands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Science-backed communication &amp; real consumer reviews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4" name="Table 11">
            <a:extLst>
              <a:ext uri="{FF2B5EF4-FFF2-40B4-BE49-F238E27FC236}">
                <a16:creationId xmlns:a16="http://schemas.microsoft.com/office/drawing/2014/main" id="{3BA8E3EB-9C23-431E-AB24-247AD9266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395683"/>
              </p:ext>
            </p:extLst>
          </p:nvPr>
        </p:nvGraphicFramePr>
        <p:xfrm>
          <a:off x="5056854" y="881523"/>
          <a:ext cx="3668127" cy="137109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Dominance of Foreign Competitors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Competitive pricing &amp; localized positioning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5" name="Table 11">
            <a:extLst>
              <a:ext uri="{FF2B5EF4-FFF2-40B4-BE49-F238E27FC236}">
                <a16:creationId xmlns:a16="http://schemas.microsoft.com/office/drawing/2014/main" id="{0FB506BA-B540-4D87-B67C-4081A0A35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247075"/>
              </p:ext>
            </p:extLst>
          </p:nvPr>
        </p:nvGraphicFramePr>
        <p:xfrm>
          <a:off x="367708" y="2802282"/>
          <a:ext cx="3668127" cy="137109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Limited UV Protection Awareness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Educational content &amp; awareness campaigns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  <p:graphicFrame>
        <p:nvGraphicFramePr>
          <p:cNvPr id="16" name="Table 11">
            <a:extLst>
              <a:ext uri="{FF2B5EF4-FFF2-40B4-BE49-F238E27FC236}">
                <a16:creationId xmlns:a16="http://schemas.microsoft.com/office/drawing/2014/main" id="{6AAD4964-53E6-4E8F-B8A0-64A5B6987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0153356"/>
              </p:ext>
            </p:extLst>
          </p:nvPr>
        </p:nvGraphicFramePr>
        <p:xfrm>
          <a:off x="5108167" y="3083621"/>
          <a:ext cx="3668127" cy="108975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3668127">
                  <a:extLst>
                    <a:ext uri="{9D8B030D-6E8A-4147-A177-3AD203B41FA5}">
                      <a16:colId xmlns:a16="http://schemas.microsoft.com/office/drawing/2014/main" val="4056729196"/>
                    </a:ext>
                  </a:extLst>
                </a:gridCol>
              </a:tblGrid>
              <a:tr h="419701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Low Male Sunscreen Usage</a:t>
                      </a:r>
                      <a:endParaRPr lang="en-US" sz="20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7313"/>
                  </a:ext>
                </a:extLst>
              </a:tr>
              <a:tr h="670058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Gender-inclusive campaigns &amp; influencer engagement</a:t>
                      </a:r>
                      <a:endParaRPr lang="en-US" sz="16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399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4264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7C18EF2-22E3-4221-B09B-B717BAF6F72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-135467"/>
            <a:ext cx="9143999" cy="5143500"/>
          </a:xfrm>
          <a:prstGeom prst="rect">
            <a:avLst/>
          </a:prstGeom>
        </p:spPr>
      </p:pic>
      <p:pic>
        <p:nvPicPr>
          <p:cNvPr id="1026" name="Picture 2" descr="Skin Cafe">
            <a:extLst>
              <a:ext uri="{FF2B5EF4-FFF2-40B4-BE49-F238E27FC236}">
                <a16:creationId xmlns:a16="http://schemas.microsoft.com/office/drawing/2014/main" id="{D852E77B-35CD-423B-91B5-C525E6F9E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5437" y="138060"/>
            <a:ext cx="680311" cy="681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411928-62CD-441A-817E-D41BE651C1D8}"/>
              </a:ext>
            </a:extLst>
          </p:cNvPr>
          <p:cNvSpPr txBox="1"/>
          <p:nvPr/>
        </p:nvSpPr>
        <p:spPr>
          <a:xfrm>
            <a:off x="2162655" y="1556087"/>
            <a:ext cx="48186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b="1" dirty="0">
                <a:solidFill>
                  <a:schemeClr val="accent4">
                    <a:lumMod val="7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17841196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1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FFFFFF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783</TotalTime>
  <Words>562</Words>
  <Application>Microsoft Office PowerPoint</Application>
  <PresentationFormat>On-screen Show (16:9)</PresentationFormat>
  <Paragraphs>157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Wingdings</vt:lpstr>
      <vt:lpstr>Calibri</vt:lpstr>
      <vt:lpstr>Arial Rounded MT Bold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Shohan Islam</cp:lastModifiedBy>
  <cp:revision>116</cp:revision>
  <dcterms:created xsi:type="dcterms:W3CDTF">2026-05-16T10:25:59Z</dcterms:created>
  <dcterms:modified xsi:type="dcterms:W3CDTF">2026-05-19T15:58:48Z</dcterms:modified>
</cp:coreProperties>
</file>