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4047" r:id="rId1"/>
  </p:sldMasterIdLst>
  <p:notesMasterIdLst>
    <p:notesMasterId r:id="rId14"/>
  </p:notesMasterIdLst>
  <p:sldIdLst>
    <p:sldId id="269" r:id="rId2"/>
    <p:sldId id="267" r:id="rId3"/>
    <p:sldId id="276" r:id="rId4"/>
    <p:sldId id="268" r:id="rId5"/>
    <p:sldId id="270" r:id="rId6"/>
    <p:sldId id="271" r:id="rId7"/>
    <p:sldId id="272" r:id="rId8"/>
    <p:sldId id="275" r:id="rId9"/>
    <p:sldId id="273" r:id="rId10"/>
    <p:sldId id="278" r:id="rId11"/>
    <p:sldId id="279" r:id="rId12"/>
    <p:sldId id="280" r:id="rId13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ADE4"/>
    <a:srgbClr val="7C3AED"/>
    <a:srgbClr val="0891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03" autoAdjust="0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85000"/>
                      <a:satMod val="130000"/>
                    </a:schemeClr>
                  </a:gs>
                  <a:gs pos="34000">
                    <a:schemeClr val="accent1">
                      <a:shade val="87000"/>
                      <a:satMod val="125000"/>
                    </a:schemeClr>
                  </a:gs>
                  <a:gs pos="70000">
                    <a:schemeClr val="accent1"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1"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>
                <a:outerShdw blurRad="38100" dist="25400" dir="2700000" algn="br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33B9-4AF0-BFEC-DAC7C1253BAD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hade val="85000"/>
                      <a:satMod val="130000"/>
                    </a:schemeClr>
                  </a:gs>
                  <a:gs pos="34000">
                    <a:schemeClr val="accent2">
                      <a:shade val="87000"/>
                      <a:satMod val="125000"/>
                    </a:schemeClr>
                  </a:gs>
                  <a:gs pos="70000">
                    <a:schemeClr val="accent2"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2"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>
                <a:outerShdw blurRad="38100" dist="25400" dir="2700000" algn="br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33B9-4AF0-BFEC-DAC7C1253BAD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hade val="85000"/>
                      <a:satMod val="130000"/>
                    </a:schemeClr>
                  </a:gs>
                  <a:gs pos="34000">
                    <a:schemeClr val="accent3">
                      <a:shade val="87000"/>
                      <a:satMod val="125000"/>
                    </a:schemeClr>
                  </a:gs>
                  <a:gs pos="70000">
                    <a:schemeClr val="accent3"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3"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>
                <a:outerShdw blurRad="38100" dist="25400" dir="2700000" algn="br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33B9-4AF0-BFEC-DAC7C1253BAD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hade val="85000"/>
                      <a:satMod val="130000"/>
                    </a:schemeClr>
                  </a:gs>
                  <a:gs pos="34000">
                    <a:schemeClr val="accent4">
                      <a:shade val="87000"/>
                      <a:satMod val="125000"/>
                    </a:schemeClr>
                  </a:gs>
                  <a:gs pos="70000">
                    <a:schemeClr val="accent4"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4"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>
                <a:outerShdw blurRad="38100" dist="25400" dir="2700000" algn="br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33B9-4AF0-BFEC-DAC7C1253BAD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hade val="85000"/>
                      <a:satMod val="130000"/>
                    </a:schemeClr>
                  </a:gs>
                  <a:gs pos="34000">
                    <a:schemeClr val="accent5">
                      <a:shade val="87000"/>
                      <a:satMod val="125000"/>
                    </a:schemeClr>
                  </a:gs>
                  <a:gs pos="70000">
                    <a:schemeClr val="accent5"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5"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>
                <a:outerShdw blurRad="38100" dist="25400" dir="2700000" algn="br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55A2-4328-B4A7-7B1F6697B73F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shade val="85000"/>
                      <a:satMod val="130000"/>
                    </a:schemeClr>
                  </a:gs>
                  <a:gs pos="34000">
                    <a:schemeClr val="accent6">
                      <a:shade val="87000"/>
                      <a:satMod val="125000"/>
                    </a:schemeClr>
                  </a:gs>
                  <a:gs pos="70000">
                    <a:schemeClr val="accent6"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6"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>
                <a:outerShdw blurRad="38100" dist="25400" dir="2700000" algn="br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33B9-4AF0-BFEC-DAC7C1253BAD}"/>
              </c:ext>
            </c:extLst>
          </c:dPt>
          <c:dPt>
            <c:idx val="6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hade val="85000"/>
                      <a:satMod val="130000"/>
                    </a:schemeClr>
                  </a:gs>
                  <a:gs pos="34000">
                    <a:schemeClr val="accent1">
                      <a:lumMod val="60000"/>
                      <a:shade val="87000"/>
                      <a:satMod val="125000"/>
                    </a:schemeClr>
                  </a:gs>
                  <a:gs pos="70000">
                    <a:schemeClr val="accent1">
                      <a:lumMod val="60000"/>
                      <a:tint val="100000"/>
                      <a:shade val="90000"/>
                      <a:satMod val="130000"/>
                    </a:schemeClr>
                  </a:gs>
                  <a:gs pos="100000">
                    <a:schemeClr val="accent1">
                      <a:lumMod val="60000"/>
                      <a:tint val="100000"/>
                      <a:shade val="100000"/>
                      <a:satMod val="11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>
                <a:outerShdw blurRad="38100" dist="25400" dir="2700000" algn="br" rotWithShape="0">
                  <a:srgbClr val="000000">
                    <a:alpha val="6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33B9-4AF0-BFEC-DAC7C1253BA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1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Digital Marketing &amp; Social Media Campaigns (35%)</c:v>
                </c:pt>
                <c:pt idx="1">
                  <c:v>Influencer &amp; Content Collaboration (20%)</c:v>
                </c:pt>
                <c:pt idx="2">
                  <c:v>Campus Activation &amp; Offline Events (15%)</c:v>
                </c:pt>
                <c:pt idx="3">
                  <c:v>Retail Branding &amp; POS Materials (10%)</c:v>
                </c:pt>
                <c:pt idx="4">
                  <c:v>Consumer Education Campaign (10%)</c:v>
                </c:pt>
                <c:pt idx="5">
                  <c:v>Sampling &amp; Trial Campaigns (5%)</c:v>
                </c:pt>
                <c:pt idx="6">
                  <c:v>Performance Tracking &amp; Research (5%)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35</c:v>
                </c:pt>
                <c:pt idx="1">
                  <c:v>20</c:v>
                </c:pt>
                <c:pt idx="2">
                  <c:v>15</c:v>
                </c:pt>
                <c:pt idx="3">
                  <c:v>10</c:v>
                </c:pt>
                <c:pt idx="4">
                  <c:v>10</c:v>
                </c:pt>
                <c:pt idx="5">
                  <c:v>5</c:v>
                </c:pt>
                <c:pt idx="6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A2-4328-B4A7-7B1F6697B73F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6949164261440932"/>
          <c:y val="3.0269227693850292E-2"/>
          <c:w val="0.43050835738559057"/>
          <c:h val="0.9201553350121870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9636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4750737"/>
            <a:ext cx="9144000" cy="498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6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56045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74756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69617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384301"/>
            <a:ext cx="3703320" cy="3017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04233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465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465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20461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66587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32437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73804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5234" cy="617220"/>
          </a:xfrm>
        </p:spPr>
        <p:txBody>
          <a:bodyPr tIns="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8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81382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59807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9226"/>
            <a:ext cx="1971675" cy="431992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9226"/>
            <a:ext cx="5800725" cy="4319924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7251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19-May-26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725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8" r:id="rId1"/>
    <p:sldLayoutId id="2147484049" r:id="rId2"/>
    <p:sldLayoutId id="2147484050" r:id="rId3"/>
    <p:sldLayoutId id="2147484051" r:id="rId4"/>
    <p:sldLayoutId id="2147484052" r:id="rId5"/>
    <p:sldLayoutId id="2147484053" r:id="rId6"/>
    <p:sldLayoutId id="2147484054" r:id="rId7"/>
    <p:sldLayoutId id="2147484055" r:id="rId8"/>
    <p:sldLayoutId id="2147484056" r:id="rId9"/>
    <p:sldLayoutId id="2147484057" r:id="rId10"/>
    <p:sldLayoutId id="2147484058" r:id="rId11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21.jpeg"/><Relationship Id="rId7" Type="http://schemas.microsoft.com/office/2007/relationships/hdphoto" Target="../media/hdphoto3.wdp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microsoft.com/office/2007/relationships/hdphoto" Target="../media/hdphoto2.wdp"/><Relationship Id="rId4" Type="http://schemas.openxmlformats.org/officeDocument/2006/relationships/image" Target="../media/image22.png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DC28269-7ABC-4CA9-8643-A47F8F27C7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5553"/>
            <a:ext cx="9144000" cy="51435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pic>
      <p:pic>
        <p:nvPicPr>
          <p:cNvPr id="17" name="Picture 2" descr="Skin Cafe">
            <a:extLst>
              <a:ext uri="{FF2B5EF4-FFF2-40B4-BE49-F238E27FC236}">
                <a16:creationId xmlns:a16="http://schemas.microsoft.com/office/drawing/2014/main" id="{093C850B-072C-47AD-A09E-3E7A00CED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6685" y="154926"/>
            <a:ext cx="680311" cy="68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49C4B4C-0BD4-49A3-88B0-B03C8893B018}"/>
              </a:ext>
            </a:extLst>
          </p:cNvPr>
          <p:cNvSpPr txBox="1"/>
          <p:nvPr/>
        </p:nvSpPr>
        <p:spPr>
          <a:xfrm>
            <a:off x="540287" y="1068871"/>
            <a:ext cx="80634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Skin Cafe Sunscreen Marketing Strategy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2B22AA-5555-45C0-A3AA-49BD420384B5}"/>
              </a:ext>
            </a:extLst>
          </p:cNvPr>
          <p:cNvSpPr txBox="1"/>
          <p:nvPr/>
        </p:nvSpPr>
        <p:spPr>
          <a:xfrm>
            <a:off x="3576488" y="1979544"/>
            <a:ext cx="4852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Trust-Driven Marketing Strategy to Make</a:t>
            </a:r>
          </a:p>
          <a:p>
            <a:pPr algn="r"/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Sunscreen a Daily Habit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FADEE6-FC3D-401C-9B9A-036FCAC79F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8534" y="4176980"/>
            <a:ext cx="1708386" cy="96096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14391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6E9A24B-CD6C-4E40-8159-03FE00455E49}"/>
              </a:ext>
            </a:extLst>
          </p:cNvPr>
          <p:cNvGrpSpPr/>
          <p:nvPr/>
        </p:nvGrpSpPr>
        <p:grpSpPr>
          <a:xfrm>
            <a:off x="1" y="0"/>
            <a:ext cx="8975747" cy="5118203"/>
            <a:chOff x="1" y="0"/>
            <a:chExt cx="8975747" cy="511820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5CDCC67-FBF8-4E60-A85C-600A2AC79DED}"/>
                </a:ext>
              </a:extLst>
            </p:cNvPr>
            <p:cNvGrpSpPr/>
            <p:nvPr/>
          </p:nvGrpSpPr>
          <p:grpSpPr>
            <a:xfrm>
              <a:off x="1" y="0"/>
              <a:ext cx="8023856" cy="5118203"/>
              <a:chOff x="1" y="0"/>
              <a:chExt cx="8023856" cy="5118203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0CE84A5D-B141-4910-9E2D-6E8929911C96}"/>
                  </a:ext>
                </a:extLst>
              </p:cNvPr>
              <p:cNvGrpSpPr/>
              <p:nvPr/>
            </p:nvGrpSpPr>
            <p:grpSpPr>
              <a:xfrm>
                <a:off x="1062496" y="4810426"/>
                <a:ext cx="6961361" cy="307777"/>
                <a:chOff x="1062496" y="4810426"/>
                <a:chExt cx="6961361" cy="307777"/>
              </a:xfrm>
            </p:grpSpPr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7F023A5-F4EA-4148-8471-CCDD1A9BCC6C}"/>
                    </a:ext>
                  </a:extLst>
                </p:cNvPr>
                <p:cNvSpPr txBox="1"/>
                <p:nvPr/>
              </p:nvSpPr>
              <p:spPr>
                <a:xfrm>
                  <a:off x="1062496" y="4810426"/>
                  <a:ext cx="88921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rgbClr val="00B0F0"/>
                      </a:solidFill>
                    </a:rPr>
                    <a:t>ANALYSIS</a:t>
                  </a:r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C0D99B3-794D-4D39-B91B-DDF258680845}"/>
                    </a:ext>
                  </a:extLst>
                </p:cNvPr>
                <p:cNvSpPr txBox="1"/>
                <p:nvPr/>
              </p:nvSpPr>
              <p:spPr>
                <a:xfrm>
                  <a:off x="2913414" y="4810426"/>
                  <a:ext cx="98296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PLANNING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0F4E563-BD54-4E32-A88D-87D41AD06854}"/>
                    </a:ext>
                  </a:extLst>
                </p:cNvPr>
                <p:cNvSpPr txBox="1"/>
                <p:nvPr/>
              </p:nvSpPr>
              <p:spPr>
                <a:xfrm>
                  <a:off x="4958247" y="4810426"/>
                  <a:ext cx="104605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chemeClr val="accent2">
                          <a:lumMod val="65000"/>
                        </a:schemeClr>
                      </a:solidFill>
                    </a:rPr>
                    <a:t>EXECUTION</a:t>
                  </a:r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B1B3FDA-4BC2-41CB-95C7-77ADA8EA704A}"/>
                    </a:ext>
                  </a:extLst>
                </p:cNvPr>
                <p:cNvSpPr txBox="1"/>
                <p:nvPr/>
              </p:nvSpPr>
              <p:spPr>
                <a:xfrm>
                  <a:off x="6890918" y="4810426"/>
                  <a:ext cx="113293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EVALUATION</a:t>
                  </a:r>
                </a:p>
              </p:txBody>
            </p:sp>
          </p:grp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7707711-5A60-42F0-A86A-A3598CE87AE8}"/>
                  </a:ext>
                </a:extLst>
              </p:cNvPr>
              <p:cNvSpPr/>
              <p:nvPr/>
            </p:nvSpPr>
            <p:spPr>
              <a:xfrm>
                <a:off x="1" y="0"/>
                <a:ext cx="4622799" cy="4747565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436987D-27C7-4A8E-9283-DC5308A7566F}"/>
                </a:ext>
              </a:extLst>
            </p:cNvPr>
            <p:cNvSpPr txBox="1"/>
            <p:nvPr/>
          </p:nvSpPr>
          <p:spPr>
            <a:xfrm>
              <a:off x="2913414" y="18223"/>
              <a:ext cx="33984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Situation</a:t>
              </a:r>
              <a:r>
                <a:rPr lang="en-US" sz="3200" dirty="0"/>
                <a:t> </a:t>
              </a:r>
              <a:r>
                <a:rPr lang="en-US" sz="3200" dirty="0">
                  <a:solidFill>
                    <a:schemeClr val="accent4">
                      <a:lumMod val="75000"/>
                    </a:schemeClr>
                  </a:solidFill>
                </a:rPr>
                <a:t>Analysis</a:t>
              </a:r>
            </a:p>
          </p:txBody>
        </p:sp>
        <p:pic>
          <p:nvPicPr>
            <p:cNvPr id="12" name="Picture 2" descr="Skin Cafe">
              <a:extLst>
                <a:ext uri="{FF2B5EF4-FFF2-40B4-BE49-F238E27FC236}">
                  <a16:creationId xmlns:a16="http://schemas.microsoft.com/office/drawing/2014/main" id="{F5EF9936-15D7-4289-8DAF-190EB0EBF3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95437" y="138060"/>
              <a:ext cx="680311" cy="6812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Graphic 13" descr="Clock with solid fill">
              <a:extLst>
                <a:ext uri="{FF2B5EF4-FFF2-40B4-BE49-F238E27FC236}">
                  <a16:creationId xmlns:a16="http://schemas.microsoft.com/office/drawing/2014/main" id="{6E1DB55B-576E-4A29-8512-47AF3C8608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752126" y="525058"/>
              <a:ext cx="550808" cy="550808"/>
            </a:xfrm>
            <a:prstGeom prst="rect">
              <a:avLst/>
            </a:prstGeom>
          </p:spPr>
        </p:pic>
        <p:pic>
          <p:nvPicPr>
            <p:cNvPr id="16" name="Graphic 15" descr="Bullseye with solid fill">
              <a:extLst>
                <a:ext uri="{FF2B5EF4-FFF2-40B4-BE49-F238E27FC236}">
                  <a16:creationId xmlns:a16="http://schemas.microsoft.com/office/drawing/2014/main" id="{A003E0A7-D13B-4333-BFA1-2E415AEC9A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644401" y="596437"/>
              <a:ext cx="493000" cy="493000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6381416-E830-4F95-ACE9-CF11B15B4C08}"/>
              </a:ext>
            </a:extLst>
          </p:cNvPr>
          <p:cNvSpPr txBox="1"/>
          <p:nvPr/>
        </p:nvSpPr>
        <p:spPr>
          <a:xfrm>
            <a:off x="942938" y="1163481"/>
            <a:ext cx="2169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Where we are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778167-5085-467A-A6D3-E3B32D5BEF9F}"/>
              </a:ext>
            </a:extLst>
          </p:cNvPr>
          <p:cNvSpPr txBox="1"/>
          <p:nvPr/>
        </p:nvSpPr>
        <p:spPr>
          <a:xfrm>
            <a:off x="69061" y="1808608"/>
            <a:ext cx="46045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Trust gap toward local skincare brands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Market dominated by foreign skincare brand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Low male participation in skincare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Low awareness about UV protection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D31ECE-2333-4C46-B316-7CE7BF455CAB}"/>
              </a:ext>
            </a:extLst>
          </p:cNvPr>
          <p:cNvSpPr txBox="1"/>
          <p:nvPr/>
        </p:nvSpPr>
        <p:spPr>
          <a:xfrm>
            <a:off x="5424372" y="1171969"/>
            <a:ext cx="32255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Where we want to be</a:t>
            </a: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23F7E2CC-8731-4B1B-BC26-3221B2392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8247" y="2812427"/>
            <a:ext cx="40991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F2663A-D43D-4C88-AD68-C7502B00853A}"/>
              </a:ext>
            </a:extLst>
          </p:cNvPr>
          <p:cNvSpPr txBox="1"/>
          <p:nvPr/>
        </p:nvSpPr>
        <p:spPr>
          <a:xfrm>
            <a:off x="4907447" y="1796883"/>
            <a:ext cx="385745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Strong trust toward local skincare brands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Skin Cafe positioned as a trusted alternative to foreign brands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Higher male engagement in sunscreen usage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Increased awareness about daily UV protection and sunscreen benefits</a:t>
            </a:r>
          </a:p>
        </p:txBody>
      </p:sp>
    </p:spTree>
    <p:extLst>
      <p:ext uri="{BB962C8B-B14F-4D97-AF65-F5344CB8AC3E}">
        <p14:creationId xmlns:p14="http://schemas.microsoft.com/office/powerpoint/2010/main" val="3412568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6E9A24B-CD6C-4E40-8159-03FE00455E49}"/>
              </a:ext>
            </a:extLst>
          </p:cNvPr>
          <p:cNvGrpSpPr/>
          <p:nvPr/>
        </p:nvGrpSpPr>
        <p:grpSpPr>
          <a:xfrm>
            <a:off x="1" y="0"/>
            <a:ext cx="8975747" cy="5118203"/>
            <a:chOff x="1" y="0"/>
            <a:chExt cx="8975747" cy="511820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5CDCC67-FBF8-4E60-A85C-600A2AC79DED}"/>
                </a:ext>
              </a:extLst>
            </p:cNvPr>
            <p:cNvGrpSpPr/>
            <p:nvPr/>
          </p:nvGrpSpPr>
          <p:grpSpPr>
            <a:xfrm>
              <a:off x="1" y="0"/>
              <a:ext cx="8023856" cy="5118203"/>
              <a:chOff x="1" y="0"/>
              <a:chExt cx="8023856" cy="5118203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0CE84A5D-B141-4910-9E2D-6E8929911C96}"/>
                  </a:ext>
                </a:extLst>
              </p:cNvPr>
              <p:cNvGrpSpPr/>
              <p:nvPr/>
            </p:nvGrpSpPr>
            <p:grpSpPr>
              <a:xfrm>
                <a:off x="1062496" y="4810426"/>
                <a:ext cx="6961361" cy="307777"/>
                <a:chOff x="1062496" y="4810426"/>
                <a:chExt cx="6961361" cy="307777"/>
              </a:xfrm>
            </p:grpSpPr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7F023A5-F4EA-4148-8471-CCDD1A9BCC6C}"/>
                    </a:ext>
                  </a:extLst>
                </p:cNvPr>
                <p:cNvSpPr txBox="1"/>
                <p:nvPr/>
              </p:nvSpPr>
              <p:spPr>
                <a:xfrm>
                  <a:off x="1062496" y="4810426"/>
                  <a:ext cx="88921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rgbClr val="00B0F0"/>
                      </a:solidFill>
                    </a:rPr>
                    <a:t>ANALYSIS</a:t>
                  </a:r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C0D99B3-794D-4D39-B91B-DDF258680845}"/>
                    </a:ext>
                  </a:extLst>
                </p:cNvPr>
                <p:cNvSpPr txBox="1"/>
                <p:nvPr/>
              </p:nvSpPr>
              <p:spPr>
                <a:xfrm>
                  <a:off x="2913414" y="4810426"/>
                  <a:ext cx="98296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PLANNING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0F4E563-BD54-4E32-A88D-87D41AD06854}"/>
                    </a:ext>
                  </a:extLst>
                </p:cNvPr>
                <p:cNvSpPr txBox="1"/>
                <p:nvPr/>
              </p:nvSpPr>
              <p:spPr>
                <a:xfrm>
                  <a:off x="4958247" y="4810426"/>
                  <a:ext cx="104605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chemeClr val="accent2">
                          <a:lumMod val="65000"/>
                        </a:schemeClr>
                      </a:solidFill>
                    </a:rPr>
                    <a:t>EXECUTION</a:t>
                  </a:r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B1B3FDA-4BC2-41CB-95C7-77ADA8EA704A}"/>
                    </a:ext>
                  </a:extLst>
                </p:cNvPr>
                <p:cNvSpPr txBox="1"/>
                <p:nvPr/>
              </p:nvSpPr>
              <p:spPr>
                <a:xfrm>
                  <a:off x="6890918" y="4810426"/>
                  <a:ext cx="113293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EVALUATION</a:t>
                  </a:r>
                </a:p>
              </p:txBody>
            </p:sp>
          </p:grp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7707711-5A60-42F0-A86A-A3598CE87AE8}"/>
                  </a:ext>
                </a:extLst>
              </p:cNvPr>
              <p:cNvSpPr/>
              <p:nvPr/>
            </p:nvSpPr>
            <p:spPr>
              <a:xfrm>
                <a:off x="1" y="0"/>
                <a:ext cx="4572000" cy="4747565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436987D-27C7-4A8E-9283-DC5308A7566F}"/>
                </a:ext>
              </a:extLst>
            </p:cNvPr>
            <p:cNvSpPr txBox="1"/>
            <p:nvPr/>
          </p:nvSpPr>
          <p:spPr>
            <a:xfrm>
              <a:off x="2563627" y="68057"/>
              <a:ext cx="41308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Consumer </a:t>
              </a:r>
              <a:r>
                <a:rPr lang="en-US" sz="3200" dirty="0">
                  <a:solidFill>
                    <a:schemeClr val="accent4">
                      <a:lumMod val="75000"/>
                    </a:schemeClr>
                  </a:solidFill>
                </a:rPr>
                <a:t>Analysis</a:t>
              </a:r>
            </a:p>
          </p:txBody>
        </p:sp>
        <p:pic>
          <p:nvPicPr>
            <p:cNvPr id="12" name="Picture 2" descr="Skin Cafe">
              <a:extLst>
                <a:ext uri="{FF2B5EF4-FFF2-40B4-BE49-F238E27FC236}">
                  <a16:creationId xmlns:a16="http://schemas.microsoft.com/office/drawing/2014/main" id="{F5EF9936-15D7-4289-8DAF-190EB0EBF3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95437" y="138060"/>
              <a:ext cx="680311" cy="6812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6381416-E830-4F95-ACE9-CF11B15B4C08}"/>
              </a:ext>
            </a:extLst>
          </p:cNvPr>
          <p:cNvSpPr txBox="1"/>
          <p:nvPr/>
        </p:nvSpPr>
        <p:spPr>
          <a:xfrm>
            <a:off x="522758" y="1119572"/>
            <a:ext cx="28821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Target Consumers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778167-5085-467A-A6D3-E3B32D5BEF9F}"/>
              </a:ext>
            </a:extLst>
          </p:cNvPr>
          <p:cNvSpPr txBox="1"/>
          <p:nvPr/>
        </p:nvSpPr>
        <p:spPr>
          <a:xfrm>
            <a:off x="69061" y="1825542"/>
            <a:ext cx="39485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Age Group: 18–30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Urban &amp; semi-urban youth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Social media-driven consumers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Students and young professionals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D31ECE-2333-4C46-B316-7CE7BF455CAB}"/>
              </a:ext>
            </a:extLst>
          </p:cNvPr>
          <p:cNvSpPr txBox="1"/>
          <p:nvPr/>
        </p:nvSpPr>
        <p:spPr>
          <a:xfrm>
            <a:off x="5481005" y="1067372"/>
            <a:ext cx="2629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Buying Behavior</a:t>
            </a: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23F7E2CC-8731-4B1B-BC26-3221B2392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8247" y="2812427"/>
            <a:ext cx="40991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F2663A-D43D-4C88-AD68-C7502B00853A}"/>
              </a:ext>
            </a:extLst>
          </p:cNvPr>
          <p:cNvSpPr txBox="1"/>
          <p:nvPr/>
        </p:nvSpPr>
        <p:spPr>
          <a:xfrm>
            <a:off x="4768719" y="1825542"/>
            <a:ext cx="38574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Trust influencer and peer reviews before purchase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Compare local brands with foreign alternatives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Highly price-sensitive but quality-conscious</a:t>
            </a:r>
          </a:p>
        </p:txBody>
      </p:sp>
      <p:pic>
        <p:nvPicPr>
          <p:cNvPr id="4" name="Graphic 3" descr="Target Audience with solid fill">
            <a:extLst>
              <a:ext uri="{FF2B5EF4-FFF2-40B4-BE49-F238E27FC236}">
                <a16:creationId xmlns:a16="http://schemas.microsoft.com/office/drawing/2014/main" id="{63C3E363-A18B-45E7-82FF-6096E30032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3289" y="486122"/>
            <a:ext cx="666357" cy="666357"/>
          </a:xfrm>
          <a:prstGeom prst="rect">
            <a:avLst/>
          </a:prstGeom>
        </p:spPr>
      </p:pic>
      <p:pic>
        <p:nvPicPr>
          <p:cNvPr id="15" name="Graphic 14" descr="Shopping cart with solid fill">
            <a:extLst>
              <a:ext uri="{FF2B5EF4-FFF2-40B4-BE49-F238E27FC236}">
                <a16:creationId xmlns:a16="http://schemas.microsoft.com/office/drawing/2014/main" id="{D5AEA2A3-A7D9-4EEF-B611-A99A237797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3648" y="540755"/>
            <a:ext cx="461665" cy="46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751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F023A5-F4EA-4148-8471-CCDD1A9BCC6C}"/>
              </a:ext>
            </a:extLst>
          </p:cNvPr>
          <p:cNvSpPr txBox="1"/>
          <p:nvPr/>
        </p:nvSpPr>
        <p:spPr>
          <a:xfrm>
            <a:off x="1062496" y="4810426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</a:rPr>
              <a:t>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D99B3-794D-4D39-B91B-DDF258680845}"/>
              </a:ext>
            </a:extLst>
          </p:cNvPr>
          <p:cNvSpPr txBox="1"/>
          <p:nvPr/>
        </p:nvSpPr>
        <p:spPr>
          <a:xfrm>
            <a:off x="2913414" y="4810426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65000"/>
                  </a:schemeClr>
                </a:solidFill>
              </a:rPr>
              <a:t>PLANNING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F4E563-BD54-4E32-A88D-87D41AD06854}"/>
              </a:ext>
            </a:extLst>
          </p:cNvPr>
          <p:cNvSpPr txBox="1"/>
          <p:nvPr/>
        </p:nvSpPr>
        <p:spPr>
          <a:xfrm>
            <a:off x="4958247" y="4810426"/>
            <a:ext cx="1046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65000"/>
                  </a:schemeClr>
                </a:solidFill>
              </a:rPr>
              <a:t>EXECUTION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B3FDA-4BC2-41CB-95C7-77ADA8EA704A}"/>
              </a:ext>
            </a:extLst>
          </p:cNvPr>
          <p:cNvSpPr txBox="1"/>
          <p:nvPr/>
        </p:nvSpPr>
        <p:spPr>
          <a:xfrm>
            <a:off x="6890918" y="4810426"/>
            <a:ext cx="11329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EVALUATION</a:t>
            </a:r>
          </a:p>
        </p:txBody>
      </p:sp>
      <p:pic>
        <p:nvPicPr>
          <p:cNvPr id="1026" name="Picture 2" descr="Skin Cafe">
            <a:extLst>
              <a:ext uri="{FF2B5EF4-FFF2-40B4-BE49-F238E27FC236}">
                <a16:creationId xmlns:a16="http://schemas.microsoft.com/office/drawing/2014/main" id="{D852E77B-35CD-423B-91B5-C525E6F9E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437" y="138060"/>
            <a:ext cx="680311" cy="68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5C333505-6756-47F7-B73C-EDB16B850196}"/>
              </a:ext>
            </a:extLst>
          </p:cNvPr>
          <p:cNvGrpSpPr/>
          <p:nvPr/>
        </p:nvGrpSpPr>
        <p:grpSpPr>
          <a:xfrm>
            <a:off x="708025" y="682020"/>
            <a:ext cx="8012642" cy="1817740"/>
            <a:chOff x="708025" y="106281"/>
            <a:chExt cx="8012642" cy="181774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F5BD866-AE85-4BAF-B0CA-325CCA74095B}"/>
                </a:ext>
              </a:extLst>
            </p:cNvPr>
            <p:cNvGrpSpPr/>
            <p:nvPr/>
          </p:nvGrpSpPr>
          <p:grpSpPr>
            <a:xfrm>
              <a:off x="708025" y="106281"/>
              <a:ext cx="8012642" cy="1817740"/>
              <a:chOff x="1629833" y="634635"/>
              <a:chExt cx="6395864" cy="2421831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EAEB40C6-1D87-400E-AB1C-8901679A17F1}"/>
                  </a:ext>
                </a:extLst>
              </p:cNvPr>
              <p:cNvSpPr/>
              <p:nvPr/>
            </p:nvSpPr>
            <p:spPr>
              <a:xfrm>
                <a:off x="1629833" y="634635"/>
                <a:ext cx="5884334" cy="2421831"/>
              </a:xfrm>
              <a:prstGeom prst="roundRect">
                <a:avLst/>
              </a:prstGeom>
              <a:noFill/>
              <a:ln w="381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C79682-075A-4404-A765-F3B1588512B8}"/>
                  </a:ext>
                </a:extLst>
              </p:cNvPr>
              <p:cNvSpPr txBox="1"/>
              <p:nvPr/>
            </p:nvSpPr>
            <p:spPr>
              <a:xfrm>
                <a:off x="4402212" y="689496"/>
                <a:ext cx="1355352" cy="4920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accent4">
                        <a:lumMod val="75000"/>
                      </a:schemeClr>
                    </a:solidFill>
                  </a:rPr>
                  <a:t>Trust Barriers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43983B-22CC-4074-8B32-34F9AD015899}"/>
                  </a:ext>
                </a:extLst>
              </p:cNvPr>
              <p:cNvSpPr txBox="1"/>
              <p:nvPr/>
            </p:nvSpPr>
            <p:spPr>
              <a:xfrm>
                <a:off x="3424944" y="1092135"/>
                <a:ext cx="4600753" cy="15582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Strong perception that foreign brands are safer 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and more effective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Fear of counterfeit and low-quality skincare products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Limited trust in locally manufactured cosmetics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Lack of scientific skincare awareness among consumers</a:t>
                </a:r>
              </a:p>
            </p:txBody>
          </p:sp>
        </p:grpSp>
        <p:pic>
          <p:nvPicPr>
            <p:cNvPr id="3074" name="Picture 2" descr="Communication Barriers Stock Photos ...">
              <a:extLst>
                <a:ext uri="{FF2B5EF4-FFF2-40B4-BE49-F238E27FC236}">
                  <a16:creationId xmlns:a16="http://schemas.microsoft.com/office/drawing/2014/main" id="{CA7DCD67-18F4-4F62-833B-2555ACE5C2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5145" y="534631"/>
              <a:ext cx="1571095" cy="1064661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75C6635-F9CF-42B9-997F-FC043F9376D2}"/>
              </a:ext>
            </a:extLst>
          </p:cNvPr>
          <p:cNvGrpSpPr/>
          <p:nvPr/>
        </p:nvGrpSpPr>
        <p:grpSpPr>
          <a:xfrm>
            <a:off x="708025" y="2657742"/>
            <a:ext cx="7418917" cy="1817740"/>
            <a:chOff x="708025" y="2310609"/>
            <a:chExt cx="7418917" cy="181774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21D06A5-97B2-4EA5-8BD4-A777D74E7B72}"/>
                </a:ext>
              </a:extLst>
            </p:cNvPr>
            <p:cNvGrpSpPr/>
            <p:nvPr/>
          </p:nvGrpSpPr>
          <p:grpSpPr>
            <a:xfrm>
              <a:off x="708025" y="2310609"/>
              <a:ext cx="7418917" cy="1817740"/>
              <a:chOff x="1629833" y="634635"/>
              <a:chExt cx="5884334" cy="2421831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8B8AD906-980B-4607-9035-62A7CC496E52}"/>
                  </a:ext>
                </a:extLst>
              </p:cNvPr>
              <p:cNvSpPr/>
              <p:nvPr/>
            </p:nvSpPr>
            <p:spPr>
              <a:xfrm>
                <a:off x="1629833" y="634635"/>
                <a:ext cx="5884334" cy="2421831"/>
              </a:xfrm>
              <a:prstGeom prst="roundRect">
                <a:avLst/>
              </a:prstGeom>
              <a:noFill/>
              <a:ln w="381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8DBEAFA-B18B-476E-AA11-1A056582CA3F}"/>
                  </a:ext>
                </a:extLst>
              </p:cNvPr>
              <p:cNvSpPr txBox="1"/>
              <p:nvPr/>
            </p:nvSpPr>
            <p:spPr>
              <a:xfrm>
                <a:off x="2566233" y="806941"/>
                <a:ext cx="1763723" cy="4920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accent4">
                        <a:lumMod val="75000"/>
                      </a:schemeClr>
                    </a:solidFill>
                  </a:rPr>
                  <a:t>Market Challenges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CC1FDE1-2170-4A28-9C29-9D343573C290}"/>
                  </a:ext>
                </a:extLst>
              </p:cNvPr>
              <p:cNvSpPr txBox="1"/>
              <p:nvPr/>
            </p:nvSpPr>
            <p:spPr>
              <a:xfrm>
                <a:off x="1809974" y="1279663"/>
                <a:ext cx="4600753" cy="1271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Highly competitive skincare market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Consumers highly sensitive to price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Sunscreen still not part of daily routine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Difficulty differentiating local brands from competitors</a:t>
                </a:r>
              </a:p>
            </p:txBody>
          </p:sp>
        </p:grpSp>
        <p:pic>
          <p:nvPicPr>
            <p:cNvPr id="3076" name="Picture 4" descr="Overcoming The Top Marketing Challenges ...">
              <a:extLst>
                <a:ext uri="{FF2B5EF4-FFF2-40B4-BE49-F238E27FC236}">
                  <a16:creationId xmlns:a16="http://schemas.microsoft.com/office/drawing/2014/main" id="{35731BE6-EE7C-4395-AAC2-3DD32B6B6D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4303" y="2669689"/>
              <a:ext cx="1571095" cy="109958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B8B34649-DF65-4DDE-8415-1A87C5960429}"/>
              </a:ext>
            </a:extLst>
          </p:cNvPr>
          <p:cNvSpPr txBox="1"/>
          <p:nvPr/>
        </p:nvSpPr>
        <p:spPr>
          <a:xfrm>
            <a:off x="1794317" y="90838"/>
            <a:ext cx="5555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Trust Barrier and Market Challenges </a:t>
            </a:r>
          </a:p>
        </p:txBody>
      </p:sp>
    </p:spTree>
    <p:extLst>
      <p:ext uri="{BB962C8B-B14F-4D97-AF65-F5344CB8AC3E}">
        <p14:creationId xmlns:p14="http://schemas.microsoft.com/office/powerpoint/2010/main" val="1791182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0" name="Picture 12" descr="3,200+ Customer Review Stock Photos ...">
            <a:extLst>
              <a:ext uri="{FF2B5EF4-FFF2-40B4-BE49-F238E27FC236}">
                <a16:creationId xmlns:a16="http://schemas.microsoft.com/office/drawing/2014/main" id="{ADFD6E28-8455-40DF-825E-9EA80AD6E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8247" y="2974685"/>
            <a:ext cx="4085976" cy="1692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Leadership Mythbusters: Busting the ...">
            <a:extLst>
              <a:ext uri="{FF2B5EF4-FFF2-40B4-BE49-F238E27FC236}">
                <a16:creationId xmlns:a16="http://schemas.microsoft.com/office/drawing/2014/main" id="{0813F8DF-D97B-404F-9133-E53D08CBD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92" y="2992233"/>
            <a:ext cx="4094147" cy="1688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Doctor At Work Background Images, HD ...">
            <a:extLst>
              <a:ext uri="{FF2B5EF4-FFF2-40B4-BE49-F238E27FC236}">
                <a16:creationId xmlns:a16="http://schemas.microsoft.com/office/drawing/2014/main" id="{6C0F0D44-C594-455E-91AB-0B9FC8132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2316" y="1139505"/>
            <a:ext cx="4106094" cy="1691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Quality Assurance Background Stock ...">
            <a:extLst>
              <a:ext uri="{FF2B5EF4-FFF2-40B4-BE49-F238E27FC236}">
                <a16:creationId xmlns:a16="http://schemas.microsoft.com/office/drawing/2014/main" id="{F9305346-6593-4BE4-9A5E-CE2B40743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676" y="1142986"/>
            <a:ext cx="4085976" cy="17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F023A5-F4EA-4148-8471-CCDD1A9BCC6C}"/>
              </a:ext>
            </a:extLst>
          </p:cNvPr>
          <p:cNvSpPr txBox="1"/>
          <p:nvPr/>
        </p:nvSpPr>
        <p:spPr>
          <a:xfrm>
            <a:off x="1062496" y="4810426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D99B3-794D-4D39-B91B-DDF258680845}"/>
              </a:ext>
            </a:extLst>
          </p:cNvPr>
          <p:cNvSpPr txBox="1"/>
          <p:nvPr/>
        </p:nvSpPr>
        <p:spPr>
          <a:xfrm>
            <a:off x="2913414" y="4810426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</a:rPr>
              <a:t>PLANNING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F4E563-BD54-4E32-A88D-87D41AD06854}"/>
              </a:ext>
            </a:extLst>
          </p:cNvPr>
          <p:cNvSpPr txBox="1"/>
          <p:nvPr/>
        </p:nvSpPr>
        <p:spPr>
          <a:xfrm>
            <a:off x="4958247" y="4810426"/>
            <a:ext cx="1046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65000"/>
                  </a:schemeClr>
                </a:solidFill>
              </a:rPr>
              <a:t>EXECUTION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B3FDA-4BC2-41CB-95C7-77ADA8EA704A}"/>
              </a:ext>
            </a:extLst>
          </p:cNvPr>
          <p:cNvSpPr txBox="1"/>
          <p:nvPr/>
        </p:nvSpPr>
        <p:spPr>
          <a:xfrm>
            <a:off x="6890918" y="4810426"/>
            <a:ext cx="11329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EVALUATION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0D61E2-1A24-445A-A1AD-DFDE18AA40E4}"/>
              </a:ext>
            </a:extLst>
          </p:cNvPr>
          <p:cNvSpPr/>
          <p:nvPr/>
        </p:nvSpPr>
        <p:spPr>
          <a:xfrm>
            <a:off x="0" y="0"/>
            <a:ext cx="9144000" cy="68124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Trust Building Strategy</a:t>
            </a:r>
          </a:p>
        </p:txBody>
      </p:sp>
      <p:grpSp>
        <p:nvGrpSpPr>
          <p:cNvPr id="10" name="Group 11">
            <a:extLst>
              <a:ext uri="{FF2B5EF4-FFF2-40B4-BE49-F238E27FC236}">
                <a16:creationId xmlns:a16="http://schemas.microsoft.com/office/drawing/2014/main" id="{FFE6335D-4A70-43C8-B1D9-1F1E4615C930}"/>
              </a:ext>
            </a:extLst>
          </p:cNvPr>
          <p:cNvGrpSpPr/>
          <p:nvPr/>
        </p:nvGrpSpPr>
        <p:grpSpPr>
          <a:xfrm>
            <a:off x="176532" y="1136652"/>
            <a:ext cx="76710" cy="1704342"/>
            <a:chOff x="0" y="0"/>
            <a:chExt cx="204559" cy="4544911"/>
          </a:xfrm>
          <a:solidFill>
            <a:srgbClr val="1CADE4"/>
          </a:solidFill>
        </p:grpSpPr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41641B5E-0746-4226-9B63-E7CA3B750222}"/>
                </a:ext>
              </a:extLst>
            </p:cNvPr>
            <p:cNvSpPr/>
            <p:nvPr/>
          </p:nvSpPr>
          <p:spPr>
            <a:xfrm>
              <a:off x="16891" y="16891"/>
              <a:ext cx="170688" cy="4511040"/>
            </a:xfrm>
            <a:custGeom>
              <a:avLst/>
              <a:gdLst/>
              <a:ahLst/>
              <a:cxnLst/>
              <a:rect l="l" t="t" r="r" b="b"/>
              <a:pathLst>
                <a:path w="170688" h="4511040">
                  <a:moveTo>
                    <a:pt x="0" y="0"/>
                  </a:moveTo>
                  <a:lnTo>
                    <a:pt x="170688" y="0"/>
                  </a:lnTo>
                  <a:lnTo>
                    <a:pt x="170688" y="4511040"/>
                  </a:lnTo>
                  <a:lnTo>
                    <a:pt x="0" y="4511040"/>
                  </a:lnTo>
                  <a:close/>
                </a:path>
              </a:pathLst>
            </a:custGeom>
            <a:grpFill/>
          </p:spPr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7314610D-FA82-4AFD-B3E2-DC716E5B4A9F}"/>
                </a:ext>
              </a:extLst>
            </p:cNvPr>
            <p:cNvSpPr/>
            <p:nvPr/>
          </p:nvSpPr>
          <p:spPr>
            <a:xfrm>
              <a:off x="0" y="0"/>
              <a:ext cx="204470" cy="4544822"/>
            </a:xfrm>
            <a:custGeom>
              <a:avLst/>
              <a:gdLst/>
              <a:ahLst/>
              <a:cxnLst/>
              <a:rect l="l" t="t" r="r" b="b"/>
              <a:pathLst>
                <a:path w="204470" h="454482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527931"/>
                  </a:lnTo>
                  <a:cubicBezTo>
                    <a:pt x="204470" y="4537329"/>
                    <a:pt x="196850" y="4544822"/>
                    <a:pt x="187579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87579" y="4511040"/>
                  </a:lnTo>
                  <a:lnTo>
                    <a:pt x="187579" y="4527931"/>
                  </a:lnTo>
                  <a:lnTo>
                    <a:pt x="170688" y="45279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grpFill/>
          </p:spPr>
        </p:sp>
      </p:grpSp>
      <p:sp>
        <p:nvSpPr>
          <p:cNvPr id="16" name="TextBox 45">
            <a:extLst>
              <a:ext uri="{FF2B5EF4-FFF2-40B4-BE49-F238E27FC236}">
                <a16:creationId xmlns:a16="http://schemas.microsoft.com/office/drawing/2014/main" id="{B1B53101-3A4B-4739-ABF8-FEFB9E4A50F2}"/>
              </a:ext>
            </a:extLst>
          </p:cNvPr>
          <p:cNvSpPr txBox="1"/>
          <p:nvPr/>
        </p:nvSpPr>
        <p:spPr>
          <a:xfrm>
            <a:off x="246874" y="1324190"/>
            <a:ext cx="2689543" cy="298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Canva Sans Bold"/>
                <a:cs typeface="Canva Sans Bold"/>
                <a:sym typeface="Canva Sans Bold"/>
              </a:rPr>
              <a:t>Prove of quality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835CC6-E2FF-4837-B887-CB6C520E75CF}"/>
              </a:ext>
            </a:extLst>
          </p:cNvPr>
          <p:cNvSpPr txBox="1"/>
          <p:nvPr/>
        </p:nvSpPr>
        <p:spPr>
          <a:xfrm>
            <a:off x="426011" y="1670244"/>
            <a:ext cx="41216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Show lab certificate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Telling where the ingredients come from</a:t>
            </a:r>
          </a:p>
          <a:p>
            <a:endParaRPr lang="en-US" sz="1600" dirty="0"/>
          </a:p>
        </p:txBody>
      </p:sp>
      <p:grpSp>
        <p:nvGrpSpPr>
          <p:cNvPr id="25" name="Group 17">
            <a:extLst>
              <a:ext uri="{FF2B5EF4-FFF2-40B4-BE49-F238E27FC236}">
                <a16:creationId xmlns:a16="http://schemas.microsoft.com/office/drawing/2014/main" id="{3EDEDB5C-B752-428E-83D4-35186E3CFF3E}"/>
              </a:ext>
            </a:extLst>
          </p:cNvPr>
          <p:cNvGrpSpPr/>
          <p:nvPr/>
        </p:nvGrpSpPr>
        <p:grpSpPr>
          <a:xfrm>
            <a:off x="4657092" y="1136652"/>
            <a:ext cx="76710" cy="1704342"/>
            <a:chOff x="0" y="0"/>
            <a:chExt cx="204559" cy="4544911"/>
          </a:xfrm>
          <a:solidFill>
            <a:srgbClr val="7C3AED"/>
          </a:solidFill>
        </p:grpSpPr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C24D7178-7A99-48DA-923A-B564F2EF1342}"/>
                </a:ext>
              </a:extLst>
            </p:cNvPr>
            <p:cNvSpPr/>
            <p:nvPr/>
          </p:nvSpPr>
          <p:spPr>
            <a:xfrm>
              <a:off x="16891" y="16891"/>
              <a:ext cx="170688" cy="4511040"/>
            </a:xfrm>
            <a:custGeom>
              <a:avLst/>
              <a:gdLst/>
              <a:ahLst/>
              <a:cxnLst/>
              <a:rect l="l" t="t" r="r" b="b"/>
              <a:pathLst>
                <a:path w="170688" h="4511040">
                  <a:moveTo>
                    <a:pt x="0" y="0"/>
                  </a:moveTo>
                  <a:lnTo>
                    <a:pt x="170688" y="0"/>
                  </a:lnTo>
                  <a:lnTo>
                    <a:pt x="170688" y="4511040"/>
                  </a:lnTo>
                  <a:lnTo>
                    <a:pt x="0" y="4511040"/>
                  </a:lnTo>
                  <a:close/>
                </a:path>
              </a:pathLst>
            </a:custGeom>
            <a:grpFill/>
          </p:spPr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EB2A74D8-FE0F-4350-90B4-C79DCE119533}"/>
                </a:ext>
              </a:extLst>
            </p:cNvPr>
            <p:cNvSpPr/>
            <p:nvPr/>
          </p:nvSpPr>
          <p:spPr>
            <a:xfrm>
              <a:off x="0" y="0"/>
              <a:ext cx="204470" cy="4544822"/>
            </a:xfrm>
            <a:custGeom>
              <a:avLst/>
              <a:gdLst/>
              <a:ahLst/>
              <a:cxnLst/>
              <a:rect l="l" t="t" r="r" b="b"/>
              <a:pathLst>
                <a:path w="204470" h="454482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527931"/>
                  </a:lnTo>
                  <a:cubicBezTo>
                    <a:pt x="204470" y="4537329"/>
                    <a:pt x="196850" y="4544822"/>
                    <a:pt x="187579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87579" y="4511040"/>
                  </a:lnTo>
                  <a:lnTo>
                    <a:pt x="187579" y="4527931"/>
                  </a:lnTo>
                  <a:lnTo>
                    <a:pt x="170688" y="45279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grpFill/>
          </p:spPr>
        </p:sp>
      </p:grpSp>
      <p:grpSp>
        <p:nvGrpSpPr>
          <p:cNvPr id="28" name="Group 20">
            <a:extLst>
              <a:ext uri="{FF2B5EF4-FFF2-40B4-BE49-F238E27FC236}">
                <a16:creationId xmlns:a16="http://schemas.microsoft.com/office/drawing/2014/main" id="{7E10BFC3-F075-41DA-BEFA-1598D378764C}"/>
              </a:ext>
            </a:extLst>
          </p:cNvPr>
          <p:cNvGrpSpPr/>
          <p:nvPr/>
        </p:nvGrpSpPr>
        <p:grpSpPr>
          <a:xfrm>
            <a:off x="5029198" y="1234440"/>
            <a:ext cx="3474720" cy="435804"/>
            <a:chOff x="0" y="0"/>
            <a:chExt cx="9265920" cy="1024128"/>
          </a:xfrm>
        </p:grpSpPr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DE260345-1C79-42DF-8ECD-0582D9B691E4}"/>
                </a:ext>
              </a:extLst>
            </p:cNvPr>
            <p:cNvSpPr/>
            <p:nvPr/>
          </p:nvSpPr>
          <p:spPr>
            <a:xfrm>
              <a:off x="0" y="0"/>
              <a:ext cx="9265920" cy="1024128"/>
            </a:xfrm>
            <a:custGeom>
              <a:avLst/>
              <a:gdLst/>
              <a:ahLst/>
              <a:cxnLst/>
              <a:rect l="l" t="t" r="r" b="b"/>
              <a:pathLst>
                <a:path w="9265920" h="1024128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26293" b="-126293"/>
              </a:stretch>
            </a:blipFill>
          </p:spPr>
        </p:sp>
        <p:sp>
          <p:nvSpPr>
            <p:cNvPr id="30" name="TextBox 22">
              <a:extLst>
                <a:ext uri="{FF2B5EF4-FFF2-40B4-BE49-F238E27FC236}">
                  <a16:creationId xmlns:a16="http://schemas.microsoft.com/office/drawing/2014/main" id="{F0EECED1-E315-4DB8-9D0A-B75E41BE8B42}"/>
                </a:ext>
              </a:extLst>
            </p:cNvPr>
            <p:cNvSpPr txBox="1"/>
            <p:nvPr/>
          </p:nvSpPr>
          <p:spPr>
            <a:xfrm>
              <a:off x="0" y="-66675"/>
              <a:ext cx="9265920" cy="10908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160"/>
                </a:lnSpc>
              </a:pPr>
              <a:r>
                <a:rPr lang="en-US" sz="2000" b="1" dirty="0">
                  <a:solidFill>
                    <a:srgbClr val="0D1B3E"/>
                  </a:solidFill>
                  <a:latin typeface="+mj-lt"/>
                  <a:ea typeface="Calibri (MS) Bold"/>
                  <a:cs typeface="Calibri (MS) Bold"/>
                  <a:sym typeface="Calibri (MS) Bold"/>
                </a:rPr>
                <a:t>Get Doctor to Say it works</a:t>
              </a:r>
            </a:p>
          </p:txBody>
        </p:sp>
      </p:grpSp>
      <p:grpSp>
        <p:nvGrpSpPr>
          <p:cNvPr id="33" name="Group 26">
            <a:extLst>
              <a:ext uri="{FF2B5EF4-FFF2-40B4-BE49-F238E27FC236}">
                <a16:creationId xmlns:a16="http://schemas.microsoft.com/office/drawing/2014/main" id="{23ACD87A-3889-4CB2-91DF-2F1D28C6224D}"/>
              </a:ext>
            </a:extLst>
          </p:cNvPr>
          <p:cNvGrpSpPr/>
          <p:nvPr/>
        </p:nvGrpSpPr>
        <p:grpSpPr>
          <a:xfrm>
            <a:off x="176532" y="3011172"/>
            <a:ext cx="76710" cy="1704342"/>
            <a:chOff x="0" y="0"/>
            <a:chExt cx="204559" cy="4544911"/>
          </a:xfrm>
          <a:solidFill>
            <a:srgbClr val="0891B2"/>
          </a:solidFill>
        </p:grpSpPr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B0D8AFB6-35C8-4800-BAC7-E75843EF7E2D}"/>
                </a:ext>
              </a:extLst>
            </p:cNvPr>
            <p:cNvSpPr/>
            <p:nvPr/>
          </p:nvSpPr>
          <p:spPr>
            <a:xfrm>
              <a:off x="16891" y="16891"/>
              <a:ext cx="170688" cy="4511040"/>
            </a:xfrm>
            <a:custGeom>
              <a:avLst/>
              <a:gdLst/>
              <a:ahLst/>
              <a:cxnLst/>
              <a:rect l="l" t="t" r="r" b="b"/>
              <a:pathLst>
                <a:path w="170688" h="4511040">
                  <a:moveTo>
                    <a:pt x="0" y="0"/>
                  </a:moveTo>
                  <a:lnTo>
                    <a:pt x="170688" y="0"/>
                  </a:lnTo>
                  <a:lnTo>
                    <a:pt x="170688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0BD295FB-C132-4E77-866E-A59EABFB039D}"/>
                </a:ext>
              </a:extLst>
            </p:cNvPr>
            <p:cNvSpPr/>
            <p:nvPr/>
          </p:nvSpPr>
          <p:spPr>
            <a:xfrm>
              <a:off x="0" y="0"/>
              <a:ext cx="204470" cy="4544822"/>
            </a:xfrm>
            <a:custGeom>
              <a:avLst/>
              <a:gdLst/>
              <a:ahLst/>
              <a:cxnLst/>
              <a:rect l="l" t="t" r="r" b="b"/>
              <a:pathLst>
                <a:path w="204470" h="454482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527931"/>
                  </a:lnTo>
                  <a:cubicBezTo>
                    <a:pt x="204470" y="4537329"/>
                    <a:pt x="196850" y="4544822"/>
                    <a:pt x="187579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87579" y="4511040"/>
                  </a:lnTo>
                  <a:lnTo>
                    <a:pt x="187579" y="4527931"/>
                  </a:lnTo>
                  <a:lnTo>
                    <a:pt x="170688" y="45279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grpFill/>
          </p:spPr>
        </p:sp>
      </p:grpSp>
      <p:grpSp>
        <p:nvGrpSpPr>
          <p:cNvPr id="39" name="Group 32">
            <a:extLst>
              <a:ext uri="{FF2B5EF4-FFF2-40B4-BE49-F238E27FC236}">
                <a16:creationId xmlns:a16="http://schemas.microsoft.com/office/drawing/2014/main" id="{C1B4020E-A1B7-4500-895C-5AFF7B23099B}"/>
              </a:ext>
            </a:extLst>
          </p:cNvPr>
          <p:cNvGrpSpPr/>
          <p:nvPr/>
        </p:nvGrpSpPr>
        <p:grpSpPr>
          <a:xfrm>
            <a:off x="4657092" y="3011172"/>
            <a:ext cx="76710" cy="1704342"/>
            <a:chOff x="0" y="0"/>
            <a:chExt cx="204559" cy="4544911"/>
          </a:xfrm>
          <a:solidFill>
            <a:srgbClr val="1CADE4"/>
          </a:solidFill>
        </p:grpSpPr>
        <p:sp>
          <p:nvSpPr>
            <p:cNvPr id="40" name="Freeform 33">
              <a:extLst>
                <a:ext uri="{FF2B5EF4-FFF2-40B4-BE49-F238E27FC236}">
                  <a16:creationId xmlns:a16="http://schemas.microsoft.com/office/drawing/2014/main" id="{918693F1-E668-4E80-B332-2167ED6D7005}"/>
                </a:ext>
              </a:extLst>
            </p:cNvPr>
            <p:cNvSpPr/>
            <p:nvPr/>
          </p:nvSpPr>
          <p:spPr>
            <a:xfrm>
              <a:off x="16891" y="16891"/>
              <a:ext cx="170688" cy="4511040"/>
            </a:xfrm>
            <a:custGeom>
              <a:avLst/>
              <a:gdLst/>
              <a:ahLst/>
              <a:cxnLst/>
              <a:rect l="l" t="t" r="r" b="b"/>
              <a:pathLst>
                <a:path w="170688" h="4511040">
                  <a:moveTo>
                    <a:pt x="0" y="0"/>
                  </a:moveTo>
                  <a:lnTo>
                    <a:pt x="170688" y="0"/>
                  </a:lnTo>
                  <a:lnTo>
                    <a:pt x="170688" y="4511040"/>
                  </a:lnTo>
                  <a:lnTo>
                    <a:pt x="0" y="4511040"/>
                  </a:lnTo>
                  <a:close/>
                </a:path>
              </a:pathLst>
            </a:custGeom>
            <a:grpFill/>
          </p:spPr>
        </p:sp>
        <p:sp>
          <p:nvSpPr>
            <p:cNvPr id="41" name="Freeform 34">
              <a:extLst>
                <a:ext uri="{FF2B5EF4-FFF2-40B4-BE49-F238E27FC236}">
                  <a16:creationId xmlns:a16="http://schemas.microsoft.com/office/drawing/2014/main" id="{0AD531C5-D4F7-4A2E-ABFD-D4DDC75F91AA}"/>
                </a:ext>
              </a:extLst>
            </p:cNvPr>
            <p:cNvSpPr/>
            <p:nvPr/>
          </p:nvSpPr>
          <p:spPr>
            <a:xfrm>
              <a:off x="0" y="0"/>
              <a:ext cx="204470" cy="4544822"/>
            </a:xfrm>
            <a:custGeom>
              <a:avLst/>
              <a:gdLst/>
              <a:ahLst/>
              <a:cxnLst/>
              <a:rect l="l" t="t" r="r" b="b"/>
              <a:pathLst>
                <a:path w="204470" h="454482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527931"/>
                  </a:lnTo>
                  <a:cubicBezTo>
                    <a:pt x="204470" y="4537329"/>
                    <a:pt x="196850" y="4544822"/>
                    <a:pt x="187579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87579" y="4511040"/>
                  </a:lnTo>
                  <a:lnTo>
                    <a:pt x="187579" y="4527931"/>
                  </a:lnTo>
                  <a:lnTo>
                    <a:pt x="170688" y="45279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grpFill/>
          </p:spPr>
        </p:sp>
      </p:grpSp>
      <p:grpSp>
        <p:nvGrpSpPr>
          <p:cNvPr id="42" name="Group 35">
            <a:extLst>
              <a:ext uri="{FF2B5EF4-FFF2-40B4-BE49-F238E27FC236}">
                <a16:creationId xmlns:a16="http://schemas.microsoft.com/office/drawing/2014/main" id="{EBB3C5A0-3F21-42DD-8664-87A0509B3C36}"/>
              </a:ext>
            </a:extLst>
          </p:cNvPr>
          <p:cNvGrpSpPr/>
          <p:nvPr/>
        </p:nvGrpSpPr>
        <p:grpSpPr>
          <a:xfrm>
            <a:off x="5029198" y="3065749"/>
            <a:ext cx="3474720" cy="384048"/>
            <a:chOff x="0" y="0"/>
            <a:chExt cx="9265920" cy="1024128"/>
          </a:xfrm>
        </p:grpSpPr>
        <p:sp>
          <p:nvSpPr>
            <p:cNvPr id="43" name="Freeform 36">
              <a:extLst>
                <a:ext uri="{FF2B5EF4-FFF2-40B4-BE49-F238E27FC236}">
                  <a16:creationId xmlns:a16="http://schemas.microsoft.com/office/drawing/2014/main" id="{F7A88489-08E4-4FE1-A37A-23130279FBCA}"/>
                </a:ext>
              </a:extLst>
            </p:cNvPr>
            <p:cNvSpPr/>
            <p:nvPr/>
          </p:nvSpPr>
          <p:spPr>
            <a:xfrm>
              <a:off x="0" y="0"/>
              <a:ext cx="9265920" cy="1024128"/>
            </a:xfrm>
            <a:custGeom>
              <a:avLst/>
              <a:gdLst/>
              <a:ahLst/>
              <a:cxnLst/>
              <a:rect l="l" t="t" r="r" b="b"/>
              <a:pathLst>
                <a:path w="9265920" h="1024128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26293" b="-126293"/>
              </a:stretch>
            </a:blipFill>
          </p:spPr>
        </p:sp>
        <p:sp>
          <p:nvSpPr>
            <p:cNvPr id="44" name="TextBox 37">
              <a:extLst>
                <a:ext uri="{FF2B5EF4-FFF2-40B4-BE49-F238E27FC236}">
                  <a16:creationId xmlns:a16="http://schemas.microsoft.com/office/drawing/2014/main" id="{5574BEB4-0CBE-4E34-9D3E-E8DF03AD9FF0}"/>
                </a:ext>
              </a:extLst>
            </p:cNvPr>
            <p:cNvSpPr txBox="1"/>
            <p:nvPr/>
          </p:nvSpPr>
          <p:spPr>
            <a:xfrm>
              <a:off x="0" y="-66675"/>
              <a:ext cx="9265920" cy="10908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160"/>
                </a:lnSpc>
              </a:pPr>
              <a:r>
                <a:rPr lang="en-US" sz="2000" b="1" dirty="0">
                  <a:solidFill>
                    <a:srgbClr val="0D1B3E"/>
                  </a:solidFill>
                  <a:latin typeface="Arial" panose="020B0604020202020204" pitchFamily="34" charset="0"/>
                  <a:ea typeface="Calibri (MS) Bold"/>
                  <a:cs typeface="Arial" panose="020B0604020202020204" pitchFamily="34" charset="0"/>
                  <a:sym typeface="Calibri (MS) Bold"/>
                </a:rPr>
                <a:t>Using Real Reviews </a:t>
              </a:r>
            </a:p>
          </p:txBody>
        </p:sp>
      </p:grpSp>
      <p:sp>
        <p:nvSpPr>
          <p:cNvPr id="48" name="TextBox 46">
            <a:extLst>
              <a:ext uri="{FF2B5EF4-FFF2-40B4-BE49-F238E27FC236}">
                <a16:creationId xmlns:a16="http://schemas.microsoft.com/office/drawing/2014/main" id="{32C2C5F5-F022-48F2-917A-2B1328F04CE2}"/>
              </a:ext>
            </a:extLst>
          </p:cNvPr>
          <p:cNvSpPr txBox="1"/>
          <p:nvPr/>
        </p:nvSpPr>
        <p:spPr>
          <a:xfrm>
            <a:off x="365760" y="3075623"/>
            <a:ext cx="3269894" cy="2988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nva Sans Bold"/>
                <a:cs typeface="Arial" panose="020B0604020202020204" pitchFamily="34" charset="0"/>
                <a:sym typeface="Canva Sans Bold"/>
              </a:rPr>
              <a:t>Breaking the Myths</a:t>
            </a:r>
          </a:p>
        </p:txBody>
      </p:sp>
      <p:pic>
        <p:nvPicPr>
          <p:cNvPr id="51" name="Picture 2" descr="Skin Cafe">
            <a:extLst>
              <a:ext uri="{FF2B5EF4-FFF2-40B4-BE49-F238E27FC236}">
                <a16:creationId xmlns:a16="http://schemas.microsoft.com/office/drawing/2014/main" id="{D35CE64C-557F-4AB0-BF69-14A0670B6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3912" y="112422"/>
            <a:ext cx="680311" cy="56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4849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0EE2A961-9DA5-42C2-9251-9FBB2CEBD121}"/>
              </a:ext>
            </a:extLst>
          </p:cNvPr>
          <p:cNvGrpSpPr/>
          <p:nvPr/>
        </p:nvGrpSpPr>
        <p:grpSpPr>
          <a:xfrm>
            <a:off x="0" y="0"/>
            <a:ext cx="9144000" cy="5118203"/>
            <a:chOff x="0" y="0"/>
            <a:chExt cx="9144000" cy="5118203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CBDFB9B-9543-489E-85B5-53D0D01ED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tretch>
              <a:fillRect/>
            </a:stretch>
          </p:blipFill>
          <p:spPr>
            <a:xfrm>
              <a:off x="1" y="681240"/>
              <a:ext cx="9143999" cy="4066325"/>
            </a:xfrm>
            <a:prstGeom prst="rect">
              <a:avLst/>
            </a:prstGeom>
            <a:effectLst>
              <a:innerShdw blurRad="114300">
                <a:prstClr val="black"/>
              </a:innerShdw>
            </a:effec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7F023A5-F4EA-4148-8471-CCDD1A9BCC6C}"/>
                </a:ext>
              </a:extLst>
            </p:cNvPr>
            <p:cNvSpPr txBox="1"/>
            <p:nvPr/>
          </p:nvSpPr>
          <p:spPr>
            <a:xfrm>
              <a:off x="1062496" y="4810426"/>
              <a:ext cx="10935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ANALYSIS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C0D99B3-794D-4D39-B91B-DDF258680845}"/>
                </a:ext>
              </a:extLst>
            </p:cNvPr>
            <p:cNvSpPr txBox="1"/>
            <p:nvPr/>
          </p:nvSpPr>
          <p:spPr>
            <a:xfrm>
              <a:off x="2913414" y="4810426"/>
              <a:ext cx="11224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B0F0"/>
                  </a:solidFill>
                </a:rPr>
                <a:t>PLANNING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0F4E563-BD54-4E32-A88D-87D41AD06854}"/>
                </a:ext>
              </a:extLst>
            </p:cNvPr>
            <p:cNvSpPr txBox="1"/>
            <p:nvPr/>
          </p:nvSpPr>
          <p:spPr>
            <a:xfrm>
              <a:off x="4958247" y="4810426"/>
              <a:ext cx="10460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2">
                      <a:lumMod val="65000"/>
                    </a:schemeClr>
                  </a:solidFill>
                </a:rPr>
                <a:t>EXECUTION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B1B3FDA-4BC2-41CB-95C7-77ADA8EA704A}"/>
                </a:ext>
              </a:extLst>
            </p:cNvPr>
            <p:cNvSpPr txBox="1"/>
            <p:nvPr/>
          </p:nvSpPr>
          <p:spPr>
            <a:xfrm>
              <a:off x="6890918" y="4810426"/>
              <a:ext cx="11329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2">
                      <a:lumMod val="75000"/>
                    </a:schemeClr>
                  </a:solidFill>
                </a:rPr>
                <a:t>EVALUATION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0D61E2-1A24-445A-A1AD-DFDE18AA40E4}"/>
                </a:ext>
              </a:extLst>
            </p:cNvPr>
            <p:cNvSpPr/>
            <p:nvPr/>
          </p:nvSpPr>
          <p:spPr>
            <a:xfrm>
              <a:off x="0" y="0"/>
              <a:ext cx="9144000" cy="68124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Campaign Strategy </a:t>
              </a:r>
            </a:p>
          </p:txBody>
        </p:sp>
        <p:pic>
          <p:nvPicPr>
            <p:cNvPr id="51" name="Picture 2" descr="Skin Cafe">
              <a:extLst>
                <a:ext uri="{FF2B5EF4-FFF2-40B4-BE49-F238E27FC236}">
                  <a16:creationId xmlns:a16="http://schemas.microsoft.com/office/drawing/2014/main" id="{D35CE64C-557F-4AB0-BF69-14A0670B6B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63912" y="112422"/>
              <a:ext cx="680311" cy="568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107E797-3140-4BEE-A8F7-7307BE8B32BD}"/>
                </a:ext>
              </a:extLst>
            </p:cNvPr>
            <p:cNvSpPr txBox="1"/>
            <p:nvPr/>
          </p:nvSpPr>
          <p:spPr>
            <a:xfrm>
              <a:off x="3845314" y="1208313"/>
              <a:ext cx="163596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</a:rPr>
                <a:t>Tag Line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41072303-662E-468C-A181-340F1B9F7F02}"/>
                </a:ext>
              </a:extLst>
            </p:cNvPr>
            <p:cNvSpPr/>
            <p:nvPr/>
          </p:nvSpPr>
          <p:spPr>
            <a:xfrm>
              <a:off x="2816352" y="2048255"/>
              <a:ext cx="3511296" cy="1572767"/>
            </a:xfrm>
            <a:prstGeom prst="roundRect">
              <a:avLst/>
            </a:prstGeom>
            <a:noFill/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as-IN" sz="2800" b="1" i="1" dirty="0">
                  <a:latin typeface="+mj-lt"/>
                </a:rPr>
                <a:t>রোদ থাকুক বাইরে, </a:t>
              </a:r>
              <a:endParaRPr lang="en-US" sz="2800" b="1" i="1" dirty="0">
                <a:latin typeface="+mj-lt"/>
              </a:endParaRPr>
            </a:p>
            <a:p>
              <a:pPr algn="ctr"/>
              <a:r>
                <a:rPr lang="as-IN" sz="2800" b="1" i="1" dirty="0">
                  <a:latin typeface="+mj-lt"/>
                </a:rPr>
                <a:t>সুরক্ষা থাকুক ত্বকে</a:t>
              </a:r>
              <a:endParaRPr lang="en-US" sz="2800" b="1" i="1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6848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800 Dhaka Traffic Stock Photos - Free ...">
            <a:extLst>
              <a:ext uri="{FF2B5EF4-FFF2-40B4-BE49-F238E27FC236}">
                <a16:creationId xmlns:a16="http://schemas.microsoft.com/office/drawing/2014/main" id="{C146DCCB-A3BA-40D0-A0AF-CE11D6C49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5995" y="2974685"/>
            <a:ext cx="4088005" cy="170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ampus background Stock Photos, Royalty ...">
            <a:extLst>
              <a:ext uri="{FF2B5EF4-FFF2-40B4-BE49-F238E27FC236}">
                <a16:creationId xmlns:a16="http://schemas.microsoft.com/office/drawing/2014/main" id="{228BE2F5-1E32-4ACE-B832-5C88DE32F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569" y="2974685"/>
            <a:ext cx="4089989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nfluencer Marketing Stock Photos ...">
            <a:extLst>
              <a:ext uri="{FF2B5EF4-FFF2-40B4-BE49-F238E27FC236}">
                <a16:creationId xmlns:a16="http://schemas.microsoft.com/office/drawing/2014/main" id="{E0501A40-19F7-4781-B756-970EA7B9F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3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9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3070" y="1136652"/>
            <a:ext cx="4071153" cy="1690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ocial Media Icon Background Images, HD ...">
            <a:extLst>
              <a:ext uri="{FF2B5EF4-FFF2-40B4-BE49-F238E27FC236}">
                <a16:creationId xmlns:a16="http://schemas.microsoft.com/office/drawing/2014/main" id="{AE0C7600-8017-4D9C-B9EF-D98714177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alphaModFix amt="3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569" y="1206067"/>
            <a:ext cx="4085976" cy="1688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F023A5-F4EA-4148-8471-CCDD1A9BCC6C}"/>
              </a:ext>
            </a:extLst>
          </p:cNvPr>
          <p:cNvSpPr txBox="1"/>
          <p:nvPr/>
        </p:nvSpPr>
        <p:spPr>
          <a:xfrm>
            <a:off x="1062496" y="4810426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D99B3-794D-4D39-B91B-DDF258680845}"/>
              </a:ext>
            </a:extLst>
          </p:cNvPr>
          <p:cNvSpPr txBox="1"/>
          <p:nvPr/>
        </p:nvSpPr>
        <p:spPr>
          <a:xfrm>
            <a:off x="2913414" y="4810426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</a:rPr>
              <a:t>PLANNING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F4E563-BD54-4E32-A88D-87D41AD06854}"/>
              </a:ext>
            </a:extLst>
          </p:cNvPr>
          <p:cNvSpPr txBox="1"/>
          <p:nvPr/>
        </p:nvSpPr>
        <p:spPr>
          <a:xfrm>
            <a:off x="4958247" y="4810426"/>
            <a:ext cx="1046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65000"/>
                  </a:schemeClr>
                </a:solidFill>
              </a:rPr>
              <a:t>EXECUTION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B3FDA-4BC2-41CB-95C7-77ADA8EA704A}"/>
              </a:ext>
            </a:extLst>
          </p:cNvPr>
          <p:cNvSpPr txBox="1"/>
          <p:nvPr/>
        </p:nvSpPr>
        <p:spPr>
          <a:xfrm>
            <a:off x="6890918" y="4810426"/>
            <a:ext cx="11329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EVALUATION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0D61E2-1A24-445A-A1AD-DFDE18AA40E4}"/>
              </a:ext>
            </a:extLst>
          </p:cNvPr>
          <p:cNvSpPr/>
          <p:nvPr/>
        </p:nvSpPr>
        <p:spPr>
          <a:xfrm>
            <a:off x="0" y="0"/>
            <a:ext cx="9144000" cy="68124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Campaign Strategy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0C04FAB-DC07-4750-BB3F-BB13C61F1AC8}"/>
              </a:ext>
            </a:extLst>
          </p:cNvPr>
          <p:cNvGrpSpPr/>
          <p:nvPr/>
        </p:nvGrpSpPr>
        <p:grpSpPr>
          <a:xfrm>
            <a:off x="176532" y="1136652"/>
            <a:ext cx="2759885" cy="1704342"/>
            <a:chOff x="176532" y="1136652"/>
            <a:chExt cx="2759885" cy="1704342"/>
          </a:xfrm>
        </p:grpSpPr>
        <p:grpSp>
          <p:nvGrpSpPr>
            <p:cNvPr id="10" name="Group 11">
              <a:extLst>
                <a:ext uri="{FF2B5EF4-FFF2-40B4-BE49-F238E27FC236}">
                  <a16:creationId xmlns:a16="http://schemas.microsoft.com/office/drawing/2014/main" id="{FFE6335D-4A70-43C8-B1D9-1F1E4615C930}"/>
                </a:ext>
              </a:extLst>
            </p:cNvPr>
            <p:cNvGrpSpPr/>
            <p:nvPr/>
          </p:nvGrpSpPr>
          <p:grpSpPr>
            <a:xfrm>
              <a:off x="176532" y="1136652"/>
              <a:ext cx="76710" cy="1704342"/>
              <a:chOff x="0" y="0"/>
              <a:chExt cx="204559" cy="4544911"/>
            </a:xfrm>
            <a:solidFill>
              <a:srgbClr val="1CADE4"/>
            </a:solidFill>
          </p:grpSpPr>
          <p:sp>
            <p:nvSpPr>
              <p:cNvPr id="11" name="Freeform 12">
                <a:extLst>
                  <a:ext uri="{FF2B5EF4-FFF2-40B4-BE49-F238E27FC236}">
                    <a16:creationId xmlns:a16="http://schemas.microsoft.com/office/drawing/2014/main" id="{41641B5E-0746-4226-9B63-E7CA3B750222}"/>
                  </a:ext>
                </a:extLst>
              </p:cNvPr>
              <p:cNvSpPr/>
              <p:nvPr/>
            </p:nvSpPr>
            <p:spPr>
              <a:xfrm>
                <a:off x="16891" y="16891"/>
                <a:ext cx="170688" cy="4511040"/>
              </a:xfrm>
              <a:custGeom>
                <a:avLst/>
                <a:gdLst/>
                <a:ahLst/>
                <a:cxnLst/>
                <a:rect l="l" t="t" r="r" b="b"/>
                <a:pathLst>
                  <a:path w="170688" h="4511040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4511040"/>
                    </a:lnTo>
                    <a:lnTo>
                      <a:pt x="0" y="4511040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2" name="Freeform 13">
                <a:extLst>
                  <a:ext uri="{FF2B5EF4-FFF2-40B4-BE49-F238E27FC236}">
                    <a16:creationId xmlns:a16="http://schemas.microsoft.com/office/drawing/2014/main" id="{7314610D-FA82-4AFD-B3E2-DC716E5B4A9F}"/>
                  </a:ext>
                </a:extLst>
              </p:cNvPr>
              <p:cNvSpPr/>
              <p:nvPr/>
            </p:nvSpPr>
            <p:spPr>
              <a:xfrm>
                <a:off x="0" y="0"/>
                <a:ext cx="204470" cy="4544822"/>
              </a:xfrm>
              <a:custGeom>
                <a:avLst/>
                <a:gdLst/>
                <a:ahLst/>
                <a:cxnLst/>
                <a:rect l="l" t="t" r="r" b="b"/>
                <a:pathLst>
                  <a:path w="204470" h="4544822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7620"/>
                      <a:pt x="204470" y="16891"/>
                    </a:cubicBezTo>
                    <a:lnTo>
                      <a:pt x="204470" y="4527931"/>
                    </a:lnTo>
                    <a:cubicBezTo>
                      <a:pt x="204470" y="4537329"/>
                      <a:pt x="196850" y="4544822"/>
                      <a:pt x="187579" y="4544822"/>
                    </a:cubicBezTo>
                    <a:lnTo>
                      <a:pt x="16891" y="4544822"/>
                    </a:lnTo>
                    <a:cubicBezTo>
                      <a:pt x="7493" y="4544822"/>
                      <a:pt x="0" y="4537202"/>
                      <a:pt x="0" y="452793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4527931"/>
                    </a:lnTo>
                    <a:lnTo>
                      <a:pt x="16891" y="4527931"/>
                    </a:lnTo>
                    <a:lnTo>
                      <a:pt x="16891" y="4511040"/>
                    </a:lnTo>
                    <a:lnTo>
                      <a:pt x="187579" y="4511040"/>
                    </a:lnTo>
                    <a:lnTo>
                      <a:pt x="187579" y="4527931"/>
                    </a:lnTo>
                    <a:lnTo>
                      <a:pt x="170688" y="4527931"/>
                    </a:lnTo>
                    <a:lnTo>
                      <a:pt x="170688" y="16891"/>
                    </a:lnTo>
                    <a:lnTo>
                      <a:pt x="187579" y="16891"/>
                    </a:lnTo>
                    <a:lnTo>
                      <a:pt x="187579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grpFill/>
            </p:spPr>
          </p:sp>
        </p:grpSp>
        <p:sp>
          <p:nvSpPr>
            <p:cNvPr id="16" name="TextBox 45">
              <a:extLst>
                <a:ext uri="{FF2B5EF4-FFF2-40B4-BE49-F238E27FC236}">
                  <a16:creationId xmlns:a16="http://schemas.microsoft.com/office/drawing/2014/main" id="{B1B53101-3A4B-4739-ABF8-FEFB9E4A50F2}"/>
                </a:ext>
              </a:extLst>
            </p:cNvPr>
            <p:cNvSpPr txBox="1"/>
            <p:nvPr/>
          </p:nvSpPr>
          <p:spPr>
            <a:xfrm>
              <a:off x="246874" y="1324190"/>
              <a:ext cx="2689543" cy="298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ea typeface="Canva Sans Bold"/>
                  <a:cs typeface="Canva Sans Bold"/>
                  <a:sym typeface="Canva Sans Bold"/>
                </a:rPr>
                <a:t>Social media </a:t>
              </a:r>
            </a:p>
          </p:txBody>
        </p:sp>
      </p:grpSp>
      <p:grpSp>
        <p:nvGrpSpPr>
          <p:cNvPr id="25" name="Group 17">
            <a:extLst>
              <a:ext uri="{FF2B5EF4-FFF2-40B4-BE49-F238E27FC236}">
                <a16:creationId xmlns:a16="http://schemas.microsoft.com/office/drawing/2014/main" id="{3EDEDB5C-B752-428E-83D4-35186E3CFF3E}"/>
              </a:ext>
            </a:extLst>
          </p:cNvPr>
          <p:cNvGrpSpPr/>
          <p:nvPr/>
        </p:nvGrpSpPr>
        <p:grpSpPr>
          <a:xfrm>
            <a:off x="4657092" y="1136652"/>
            <a:ext cx="76710" cy="1704342"/>
            <a:chOff x="0" y="0"/>
            <a:chExt cx="204559" cy="4544911"/>
          </a:xfrm>
          <a:solidFill>
            <a:srgbClr val="7C3AED"/>
          </a:solidFill>
        </p:grpSpPr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C24D7178-7A99-48DA-923A-B564F2EF1342}"/>
                </a:ext>
              </a:extLst>
            </p:cNvPr>
            <p:cNvSpPr/>
            <p:nvPr/>
          </p:nvSpPr>
          <p:spPr>
            <a:xfrm>
              <a:off x="16891" y="16891"/>
              <a:ext cx="170688" cy="4511040"/>
            </a:xfrm>
            <a:custGeom>
              <a:avLst/>
              <a:gdLst/>
              <a:ahLst/>
              <a:cxnLst/>
              <a:rect l="l" t="t" r="r" b="b"/>
              <a:pathLst>
                <a:path w="170688" h="4511040">
                  <a:moveTo>
                    <a:pt x="0" y="0"/>
                  </a:moveTo>
                  <a:lnTo>
                    <a:pt x="170688" y="0"/>
                  </a:lnTo>
                  <a:lnTo>
                    <a:pt x="170688" y="4511040"/>
                  </a:lnTo>
                  <a:lnTo>
                    <a:pt x="0" y="4511040"/>
                  </a:lnTo>
                  <a:close/>
                </a:path>
              </a:pathLst>
            </a:custGeom>
            <a:grpFill/>
          </p:spPr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EB2A74D8-FE0F-4350-90B4-C79DCE119533}"/>
                </a:ext>
              </a:extLst>
            </p:cNvPr>
            <p:cNvSpPr/>
            <p:nvPr/>
          </p:nvSpPr>
          <p:spPr>
            <a:xfrm>
              <a:off x="0" y="0"/>
              <a:ext cx="204470" cy="4544822"/>
            </a:xfrm>
            <a:custGeom>
              <a:avLst/>
              <a:gdLst/>
              <a:ahLst/>
              <a:cxnLst/>
              <a:rect l="l" t="t" r="r" b="b"/>
              <a:pathLst>
                <a:path w="204470" h="454482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527931"/>
                  </a:lnTo>
                  <a:cubicBezTo>
                    <a:pt x="204470" y="4537329"/>
                    <a:pt x="196850" y="4544822"/>
                    <a:pt x="187579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87579" y="4511040"/>
                  </a:lnTo>
                  <a:lnTo>
                    <a:pt x="187579" y="4527931"/>
                  </a:lnTo>
                  <a:lnTo>
                    <a:pt x="170688" y="45279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grpFill/>
          </p:spPr>
        </p:sp>
      </p:grpSp>
      <p:grpSp>
        <p:nvGrpSpPr>
          <p:cNvPr id="28" name="Group 20">
            <a:extLst>
              <a:ext uri="{FF2B5EF4-FFF2-40B4-BE49-F238E27FC236}">
                <a16:creationId xmlns:a16="http://schemas.microsoft.com/office/drawing/2014/main" id="{7E10BFC3-F075-41DA-BEFA-1598D378764C}"/>
              </a:ext>
            </a:extLst>
          </p:cNvPr>
          <p:cNvGrpSpPr/>
          <p:nvPr/>
        </p:nvGrpSpPr>
        <p:grpSpPr>
          <a:xfrm>
            <a:off x="5029198" y="1234440"/>
            <a:ext cx="3474720" cy="435804"/>
            <a:chOff x="0" y="0"/>
            <a:chExt cx="9265920" cy="1024128"/>
          </a:xfrm>
        </p:grpSpPr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DE260345-1C79-42DF-8ECD-0582D9B691E4}"/>
                </a:ext>
              </a:extLst>
            </p:cNvPr>
            <p:cNvSpPr/>
            <p:nvPr/>
          </p:nvSpPr>
          <p:spPr>
            <a:xfrm>
              <a:off x="0" y="0"/>
              <a:ext cx="9265920" cy="1024128"/>
            </a:xfrm>
            <a:custGeom>
              <a:avLst/>
              <a:gdLst/>
              <a:ahLst/>
              <a:cxnLst/>
              <a:rect l="l" t="t" r="r" b="b"/>
              <a:pathLst>
                <a:path w="9265920" h="1024128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126293" b="-126293"/>
              </a:stretch>
            </a:blipFill>
          </p:spPr>
        </p:sp>
        <p:sp>
          <p:nvSpPr>
            <p:cNvPr id="30" name="TextBox 22">
              <a:extLst>
                <a:ext uri="{FF2B5EF4-FFF2-40B4-BE49-F238E27FC236}">
                  <a16:creationId xmlns:a16="http://schemas.microsoft.com/office/drawing/2014/main" id="{F0EECED1-E315-4DB8-9D0A-B75E41BE8B42}"/>
                </a:ext>
              </a:extLst>
            </p:cNvPr>
            <p:cNvSpPr txBox="1"/>
            <p:nvPr/>
          </p:nvSpPr>
          <p:spPr>
            <a:xfrm>
              <a:off x="0" y="-66675"/>
              <a:ext cx="9265920" cy="10908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160"/>
                </a:lnSpc>
              </a:pPr>
              <a:r>
                <a:rPr lang="en-US" sz="2000" b="1" dirty="0">
                  <a:solidFill>
                    <a:srgbClr val="0D1B3E"/>
                  </a:solidFill>
                  <a:latin typeface="+mj-lt"/>
                  <a:ea typeface="Calibri (MS) Bold"/>
                  <a:cs typeface="Calibri (MS) Bold"/>
                  <a:sym typeface="Calibri (MS) Bold"/>
                </a:rPr>
                <a:t>Advertise through influencer</a:t>
              </a:r>
            </a:p>
          </p:txBody>
        </p:sp>
      </p:grpSp>
      <p:grpSp>
        <p:nvGrpSpPr>
          <p:cNvPr id="33" name="Group 26">
            <a:extLst>
              <a:ext uri="{FF2B5EF4-FFF2-40B4-BE49-F238E27FC236}">
                <a16:creationId xmlns:a16="http://schemas.microsoft.com/office/drawing/2014/main" id="{23ACD87A-3889-4CB2-91DF-2F1D28C6224D}"/>
              </a:ext>
            </a:extLst>
          </p:cNvPr>
          <p:cNvGrpSpPr/>
          <p:nvPr/>
        </p:nvGrpSpPr>
        <p:grpSpPr>
          <a:xfrm>
            <a:off x="176532" y="3011172"/>
            <a:ext cx="76710" cy="1704342"/>
            <a:chOff x="0" y="0"/>
            <a:chExt cx="204559" cy="4544911"/>
          </a:xfrm>
          <a:solidFill>
            <a:srgbClr val="0891B2"/>
          </a:solidFill>
        </p:grpSpPr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B0D8AFB6-35C8-4800-BAC7-E75843EF7E2D}"/>
                </a:ext>
              </a:extLst>
            </p:cNvPr>
            <p:cNvSpPr/>
            <p:nvPr/>
          </p:nvSpPr>
          <p:spPr>
            <a:xfrm>
              <a:off x="16891" y="16891"/>
              <a:ext cx="170688" cy="4511040"/>
            </a:xfrm>
            <a:custGeom>
              <a:avLst/>
              <a:gdLst/>
              <a:ahLst/>
              <a:cxnLst/>
              <a:rect l="l" t="t" r="r" b="b"/>
              <a:pathLst>
                <a:path w="170688" h="4511040">
                  <a:moveTo>
                    <a:pt x="0" y="0"/>
                  </a:moveTo>
                  <a:lnTo>
                    <a:pt x="170688" y="0"/>
                  </a:lnTo>
                  <a:lnTo>
                    <a:pt x="170688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0BD295FB-C132-4E77-866E-A59EABFB039D}"/>
                </a:ext>
              </a:extLst>
            </p:cNvPr>
            <p:cNvSpPr/>
            <p:nvPr/>
          </p:nvSpPr>
          <p:spPr>
            <a:xfrm>
              <a:off x="0" y="0"/>
              <a:ext cx="204470" cy="4544822"/>
            </a:xfrm>
            <a:custGeom>
              <a:avLst/>
              <a:gdLst/>
              <a:ahLst/>
              <a:cxnLst/>
              <a:rect l="l" t="t" r="r" b="b"/>
              <a:pathLst>
                <a:path w="204470" h="454482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527931"/>
                  </a:lnTo>
                  <a:cubicBezTo>
                    <a:pt x="204470" y="4537329"/>
                    <a:pt x="196850" y="4544822"/>
                    <a:pt x="187579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87579" y="4511040"/>
                  </a:lnTo>
                  <a:lnTo>
                    <a:pt x="187579" y="4527931"/>
                  </a:lnTo>
                  <a:lnTo>
                    <a:pt x="170688" y="45279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grpFill/>
          </p:spPr>
        </p:sp>
      </p:grpSp>
      <p:grpSp>
        <p:nvGrpSpPr>
          <p:cNvPr id="39" name="Group 32">
            <a:extLst>
              <a:ext uri="{FF2B5EF4-FFF2-40B4-BE49-F238E27FC236}">
                <a16:creationId xmlns:a16="http://schemas.microsoft.com/office/drawing/2014/main" id="{C1B4020E-A1B7-4500-895C-5AFF7B23099B}"/>
              </a:ext>
            </a:extLst>
          </p:cNvPr>
          <p:cNvGrpSpPr/>
          <p:nvPr/>
        </p:nvGrpSpPr>
        <p:grpSpPr>
          <a:xfrm>
            <a:off x="4657092" y="3011172"/>
            <a:ext cx="76710" cy="1704342"/>
            <a:chOff x="0" y="0"/>
            <a:chExt cx="204559" cy="4544911"/>
          </a:xfrm>
          <a:solidFill>
            <a:srgbClr val="1CADE4"/>
          </a:solidFill>
        </p:grpSpPr>
        <p:sp>
          <p:nvSpPr>
            <p:cNvPr id="40" name="Freeform 33">
              <a:extLst>
                <a:ext uri="{FF2B5EF4-FFF2-40B4-BE49-F238E27FC236}">
                  <a16:creationId xmlns:a16="http://schemas.microsoft.com/office/drawing/2014/main" id="{918693F1-E668-4E80-B332-2167ED6D7005}"/>
                </a:ext>
              </a:extLst>
            </p:cNvPr>
            <p:cNvSpPr/>
            <p:nvPr/>
          </p:nvSpPr>
          <p:spPr>
            <a:xfrm>
              <a:off x="16891" y="16891"/>
              <a:ext cx="170688" cy="4511040"/>
            </a:xfrm>
            <a:custGeom>
              <a:avLst/>
              <a:gdLst/>
              <a:ahLst/>
              <a:cxnLst/>
              <a:rect l="l" t="t" r="r" b="b"/>
              <a:pathLst>
                <a:path w="170688" h="4511040">
                  <a:moveTo>
                    <a:pt x="0" y="0"/>
                  </a:moveTo>
                  <a:lnTo>
                    <a:pt x="170688" y="0"/>
                  </a:lnTo>
                  <a:lnTo>
                    <a:pt x="170688" y="4511040"/>
                  </a:lnTo>
                  <a:lnTo>
                    <a:pt x="0" y="4511040"/>
                  </a:lnTo>
                  <a:close/>
                </a:path>
              </a:pathLst>
            </a:custGeom>
            <a:grpFill/>
          </p:spPr>
        </p:sp>
        <p:sp>
          <p:nvSpPr>
            <p:cNvPr id="41" name="Freeform 34">
              <a:extLst>
                <a:ext uri="{FF2B5EF4-FFF2-40B4-BE49-F238E27FC236}">
                  <a16:creationId xmlns:a16="http://schemas.microsoft.com/office/drawing/2014/main" id="{0AD531C5-D4F7-4A2E-ABFD-D4DDC75F91AA}"/>
                </a:ext>
              </a:extLst>
            </p:cNvPr>
            <p:cNvSpPr/>
            <p:nvPr/>
          </p:nvSpPr>
          <p:spPr>
            <a:xfrm>
              <a:off x="0" y="0"/>
              <a:ext cx="204470" cy="4544822"/>
            </a:xfrm>
            <a:custGeom>
              <a:avLst/>
              <a:gdLst/>
              <a:ahLst/>
              <a:cxnLst/>
              <a:rect l="l" t="t" r="r" b="b"/>
              <a:pathLst>
                <a:path w="204470" h="454482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527931"/>
                  </a:lnTo>
                  <a:cubicBezTo>
                    <a:pt x="204470" y="4537329"/>
                    <a:pt x="196850" y="4544822"/>
                    <a:pt x="187579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187579" y="4511040"/>
                  </a:lnTo>
                  <a:lnTo>
                    <a:pt x="187579" y="4527931"/>
                  </a:lnTo>
                  <a:lnTo>
                    <a:pt x="170688" y="45279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grpFill/>
          </p:spPr>
        </p:sp>
      </p:grpSp>
      <p:sp>
        <p:nvSpPr>
          <p:cNvPr id="48" name="TextBox 46">
            <a:extLst>
              <a:ext uri="{FF2B5EF4-FFF2-40B4-BE49-F238E27FC236}">
                <a16:creationId xmlns:a16="http://schemas.microsoft.com/office/drawing/2014/main" id="{32C2C5F5-F022-48F2-917A-2B1328F04CE2}"/>
              </a:ext>
            </a:extLst>
          </p:cNvPr>
          <p:cNvSpPr txBox="1"/>
          <p:nvPr/>
        </p:nvSpPr>
        <p:spPr>
          <a:xfrm>
            <a:off x="365760" y="3075623"/>
            <a:ext cx="3269894" cy="2988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nva Sans Bold"/>
                <a:cs typeface="Arial" panose="020B0604020202020204" pitchFamily="34" charset="0"/>
                <a:sym typeface="Canva Sans Bold"/>
              </a:rPr>
              <a:t>In Campus Stalls</a:t>
            </a:r>
          </a:p>
        </p:txBody>
      </p:sp>
      <p:pic>
        <p:nvPicPr>
          <p:cNvPr id="51" name="Picture 2" descr="Skin Cafe">
            <a:extLst>
              <a:ext uri="{FF2B5EF4-FFF2-40B4-BE49-F238E27FC236}">
                <a16:creationId xmlns:a16="http://schemas.microsoft.com/office/drawing/2014/main" id="{D35CE64C-557F-4AB0-BF69-14A0670B6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3912" y="112422"/>
            <a:ext cx="680311" cy="56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D6763A-99EA-4D0D-9D8F-D8EF2F75FEC6}"/>
              </a:ext>
            </a:extLst>
          </p:cNvPr>
          <p:cNvSpPr txBox="1"/>
          <p:nvPr/>
        </p:nvSpPr>
        <p:spPr>
          <a:xfrm>
            <a:off x="5296005" y="3255801"/>
            <a:ext cx="34822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Visible posters and leaflets</a:t>
            </a:r>
          </a:p>
          <a:p>
            <a:r>
              <a:rPr lang="en-US" sz="2000" b="1" dirty="0"/>
              <a:t> in high-traffic areas</a:t>
            </a:r>
          </a:p>
        </p:txBody>
      </p:sp>
    </p:spTree>
    <p:extLst>
      <p:ext uri="{BB962C8B-B14F-4D97-AF65-F5344CB8AC3E}">
        <p14:creationId xmlns:p14="http://schemas.microsoft.com/office/powerpoint/2010/main" val="379589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F023A5-F4EA-4148-8471-CCDD1A9BCC6C}"/>
              </a:ext>
            </a:extLst>
          </p:cNvPr>
          <p:cNvSpPr txBox="1"/>
          <p:nvPr/>
        </p:nvSpPr>
        <p:spPr>
          <a:xfrm>
            <a:off x="1062496" y="4810426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D99B3-794D-4D39-B91B-DDF258680845}"/>
              </a:ext>
            </a:extLst>
          </p:cNvPr>
          <p:cNvSpPr txBox="1"/>
          <p:nvPr/>
        </p:nvSpPr>
        <p:spPr>
          <a:xfrm>
            <a:off x="2913414" y="4810426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</a:rPr>
              <a:t>PLANNING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F4E563-BD54-4E32-A88D-87D41AD06854}"/>
              </a:ext>
            </a:extLst>
          </p:cNvPr>
          <p:cNvSpPr txBox="1"/>
          <p:nvPr/>
        </p:nvSpPr>
        <p:spPr>
          <a:xfrm>
            <a:off x="4958247" y="4810426"/>
            <a:ext cx="1046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65000"/>
                  </a:schemeClr>
                </a:solidFill>
              </a:rPr>
              <a:t>EXECUTION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B3FDA-4BC2-41CB-95C7-77ADA8EA704A}"/>
              </a:ext>
            </a:extLst>
          </p:cNvPr>
          <p:cNvSpPr txBox="1"/>
          <p:nvPr/>
        </p:nvSpPr>
        <p:spPr>
          <a:xfrm>
            <a:off x="6890918" y="4810426"/>
            <a:ext cx="11329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EVALUATION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0D61E2-1A24-445A-A1AD-DFDE18AA40E4}"/>
              </a:ext>
            </a:extLst>
          </p:cNvPr>
          <p:cNvSpPr/>
          <p:nvPr/>
        </p:nvSpPr>
        <p:spPr>
          <a:xfrm>
            <a:off x="0" y="0"/>
            <a:ext cx="9144000" cy="68124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Channel Strategy </a:t>
            </a:r>
          </a:p>
        </p:txBody>
      </p:sp>
      <p:pic>
        <p:nvPicPr>
          <p:cNvPr id="51" name="Picture 2" descr="Skin Cafe">
            <a:extLst>
              <a:ext uri="{FF2B5EF4-FFF2-40B4-BE49-F238E27FC236}">
                <a16:creationId xmlns:a16="http://schemas.microsoft.com/office/drawing/2014/main" id="{D35CE64C-557F-4AB0-BF69-14A0670B6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3912" y="112422"/>
            <a:ext cx="680311" cy="56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50B1E56-9506-48D7-BF34-DDADBFC76988}"/>
              </a:ext>
            </a:extLst>
          </p:cNvPr>
          <p:cNvCxnSpPr/>
          <p:nvPr/>
        </p:nvCxnSpPr>
        <p:spPr>
          <a:xfrm>
            <a:off x="4572000" y="848563"/>
            <a:ext cx="0" cy="3701491"/>
          </a:xfrm>
          <a:prstGeom prst="line">
            <a:avLst/>
          </a:prstGeom>
          <a:ln w="38100">
            <a:headEnd type="oval" w="med" len="med"/>
            <a:tailEnd type="oval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A022F28-88BB-4CE1-B7DE-EE3BCA5E51BF}"/>
              </a:ext>
            </a:extLst>
          </p:cNvPr>
          <p:cNvSpPr txBox="1"/>
          <p:nvPr/>
        </p:nvSpPr>
        <p:spPr>
          <a:xfrm>
            <a:off x="1141076" y="1112081"/>
            <a:ext cx="2823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Online Integration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08BCE7-72E2-42D7-AE9D-27D1EEAC1528}"/>
              </a:ext>
            </a:extLst>
          </p:cNvPr>
          <p:cNvSpPr txBox="1"/>
          <p:nvPr/>
        </p:nvSpPr>
        <p:spPr>
          <a:xfrm>
            <a:off x="5586298" y="1112082"/>
            <a:ext cx="26092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Offline Integration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A1B5EE-D966-414B-8714-F031ECE84D79}"/>
              </a:ext>
            </a:extLst>
          </p:cNvPr>
          <p:cNvSpPr txBox="1"/>
          <p:nvPr/>
        </p:nvSpPr>
        <p:spPr>
          <a:xfrm>
            <a:off x="790042" y="2260397"/>
            <a:ext cx="3749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Sajgoj</a:t>
            </a:r>
            <a:r>
              <a:rPr lang="en-US" dirty="0"/>
              <a:t>, </a:t>
            </a:r>
            <a:r>
              <a:rPr lang="en-US" dirty="0" err="1"/>
              <a:t>Aroggo</a:t>
            </a:r>
            <a:r>
              <a:rPr lang="en-US" dirty="0"/>
              <a:t>, </a:t>
            </a:r>
            <a:r>
              <a:rPr lang="en-US" dirty="0" err="1"/>
              <a:t>Renowed</a:t>
            </a:r>
            <a:r>
              <a:rPr lang="en-US" dirty="0"/>
              <a:t> FB Page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CFADEC-BB5A-40E9-9A28-C89BB416B973}"/>
              </a:ext>
            </a:extLst>
          </p:cNvPr>
          <p:cNvSpPr txBox="1"/>
          <p:nvPr/>
        </p:nvSpPr>
        <p:spPr>
          <a:xfrm>
            <a:off x="5076748" y="2260397"/>
            <a:ext cx="2826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Super Shop, Harlen Store</a:t>
            </a:r>
          </a:p>
        </p:txBody>
      </p:sp>
    </p:spTree>
    <p:extLst>
      <p:ext uri="{BB962C8B-B14F-4D97-AF65-F5344CB8AC3E}">
        <p14:creationId xmlns:p14="http://schemas.microsoft.com/office/powerpoint/2010/main" val="1675924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F023A5-F4EA-4148-8471-CCDD1A9BCC6C}"/>
              </a:ext>
            </a:extLst>
          </p:cNvPr>
          <p:cNvSpPr txBox="1"/>
          <p:nvPr/>
        </p:nvSpPr>
        <p:spPr>
          <a:xfrm>
            <a:off x="1062496" y="4810426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D99B3-794D-4D39-B91B-DDF258680845}"/>
              </a:ext>
            </a:extLst>
          </p:cNvPr>
          <p:cNvSpPr txBox="1"/>
          <p:nvPr/>
        </p:nvSpPr>
        <p:spPr>
          <a:xfrm>
            <a:off x="2913414" y="4810426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>
                    <a:lumMod val="75000"/>
                  </a:schemeClr>
                </a:solidFill>
              </a:rPr>
              <a:t>PLANNING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F4E563-BD54-4E32-A88D-87D41AD06854}"/>
              </a:ext>
            </a:extLst>
          </p:cNvPr>
          <p:cNvSpPr txBox="1"/>
          <p:nvPr/>
        </p:nvSpPr>
        <p:spPr>
          <a:xfrm>
            <a:off x="4958247" y="4810426"/>
            <a:ext cx="1233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</a:rPr>
              <a:t>EXECUTION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B3FDA-4BC2-41CB-95C7-77ADA8EA704A}"/>
              </a:ext>
            </a:extLst>
          </p:cNvPr>
          <p:cNvSpPr txBox="1"/>
          <p:nvPr/>
        </p:nvSpPr>
        <p:spPr>
          <a:xfrm>
            <a:off x="6890918" y="4810426"/>
            <a:ext cx="11329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EVALUATION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44DE0681-9430-4953-A4E7-553E4CE2B2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112943"/>
              </p:ext>
            </p:extLst>
          </p:nvPr>
        </p:nvGraphicFramePr>
        <p:xfrm>
          <a:off x="607161" y="735635"/>
          <a:ext cx="7929678" cy="3725305"/>
        </p:xfrm>
        <a:graphic>
          <a:graphicData uri="http://schemas.openxmlformats.org/drawingml/2006/table">
            <a:tbl>
              <a:tblPr firstRow="1" firstCol="1" bandRow="1">
                <a:tableStyleId>{17292A2E-F333-43FB-9621-5CBBE7FDCDCB}</a:tableStyleId>
              </a:tblPr>
              <a:tblGrid>
                <a:gridCol w="1321613">
                  <a:extLst>
                    <a:ext uri="{9D8B030D-6E8A-4147-A177-3AD203B41FA5}">
                      <a16:colId xmlns:a16="http://schemas.microsoft.com/office/drawing/2014/main" val="2770539529"/>
                    </a:ext>
                  </a:extLst>
                </a:gridCol>
                <a:gridCol w="1321613">
                  <a:extLst>
                    <a:ext uri="{9D8B030D-6E8A-4147-A177-3AD203B41FA5}">
                      <a16:colId xmlns:a16="http://schemas.microsoft.com/office/drawing/2014/main" val="200190852"/>
                    </a:ext>
                  </a:extLst>
                </a:gridCol>
                <a:gridCol w="1321613">
                  <a:extLst>
                    <a:ext uri="{9D8B030D-6E8A-4147-A177-3AD203B41FA5}">
                      <a16:colId xmlns:a16="http://schemas.microsoft.com/office/drawing/2014/main" val="619854737"/>
                    </a:ext>
                  </a:extLst>
                </a:gridCol>
                <a:gridCol w="1321613">
                  <a:extLst>
                    <a:ext uri="{9D8B030D-6E8A-4147-A177-3AD203B41FA5}">
                      <a16:colId xmlns:a16="http://schemas.microsoft.com/office/drawing/2014/main" val="4090901976"/>
                    </a:ext>
                  </a:extLst>
                </a:gridCol>
                <a:gridCol w="1321613">
                  <a:extLst>
                    <a:ext uri="{9D8B030D-6E8A-4147-A177-3AD203B41FA5}">
                      <a16:colId xmlns:a16="http://schemas.microsoft.com/office/drawing/2014/main" val="191568447"/>
                    </a:ext>
                  </a:extLst>
                </a:gridCol>
                <a:gridCol w="1321613">
                  <a:extLst>
                    <a:ext uri="{9D8B030D-6E8A-4147-A177-3AD203B41FA5}">
                      <a16:colId xmlns:a16="http://schemas.microsoft.com/office/drawing/2014/main" val="3764180427"/>
                    </a:ext>
                  </a:extLst>
                </a:gridCol>
              </a:tblGrid>
              <a:tr h="70669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Strategic Theme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Product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Price</a:t>
                      </a:r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Place</a:t>
                      </a:r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Promotion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5639670"/>
                  </a:ext>
                </a:extLst>
              </a:tr>
              <a:tr h="89853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Q1(Jan–Mar)</a:t>
                      </a:r>
                    </a:p>
                    <a:p>
                      <a:endParaRPr lang="en-US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Trust Building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Sample Packs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Intro Pricing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Campus Booths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Influencer Reviews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864078"/>
                  </a:ext>
                </a:extLst>
              </a:tr>
              <a:tr h="70669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Q2 (Apr–Jun)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Summer Protection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SPF Bundles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Combo Offers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Retail Stores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Social Media Campaign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0103378"/>
                  </a:ext>
                </a:extLst>
              </a:tr>
              <a:tr h="70669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Q3 (Jul–Sep)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Daily Habit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Travel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Loyalty Deals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Online Delivery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Educational Reels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176056"/>
                  </a:ext>
                </a:extLst>
              </a:tr>
              <a:tr h="70669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Q4 (Oct–Dec)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Brand Loyalty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Family Packs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Value Bundles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Nationwide Push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CSR Storytelling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8439709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75B86A9-8E93-473C-A439-EE57612CB43F}"/>
              </a:ext>
            </a:extLst>
          </p:cNvPr>
          <p:cNvSpPr/>
          <p:nvPr/>
        </p:nvSpPr>
        <p:spPr>
          <a:xfrm>
            <a:off x="1816100" y="-99653"/>
            <a:ext cx="5511800" cy="681241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12-Month Roadmap</a:t>
            </a:r>
          </a:p>
        </p:txBody>
      </p:sp>
    </p:spTree>
    <p:extLst>
      <p:ext uri="{BB962C8B-B14F-4D97-AF65-F5344CB8AC3E}">
        <p14:creationId xmlns:p14="http://schemas.microsoft.com/office/powerpoint/2010/main" val="285735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F023A5-F4EA-4148-8471-CCDD1A9BCC6C}"/>
              </a:ext>
            </a:extLst>
          </p:cNvPr>
          <p:cNvSpPr txBox="1"/>
          <p:nvPr/>
        </p:nvSpPr>
        <p:spPr>
          <a:xfrm>
            <a:off x="1062496" y="4810426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D99B3-794D-4D39-B91B-DDF258680845}"/>
              </a:ext>
            </a:extLst>
          </p:cNvPr>
          <p:cNvSpPr txBox="1"/>
          <p:nvPr/>
        </p:nvSpPr>
        <p:spPr>
          <a:xfrm>
            <a:off x="2913414" y="4810426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PLANNING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F4E563-BD54-4E32-A88D-87D41AD06854}"/>
              </a:ext>
            </a:extLst>
          </p:cNvPr>
          <p:cNvSpPr txBox="1"/>
          <p:nvPr/>
        </p:nvSpPr>
        <p:spPr>
          <a:xfrm>
            <a:off x="4958247" y="4810426"/>
            <a:ext cx="1233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EXECUTION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B3FDA-4BC2-41CB-95C7-77ADA8EA704A}"/>
              </a:ext>
            </a:extLst>
          </p:cNvPr>
          <p:cNvSpPr txBox="1"/>
          <p:nvPr/>
        </p:nvSpPr>
        <p:spPr>
          <a:xfrm>
            <a:off x="6890918" y="4810426"/>
            <a:ext cx="1324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</a:rPr>
              <a:t>EVALUATION</a:t>
            </a:r>
          </a:p>
        </p:txBody>
      </p:sp>
      <p:pic>
        <p:nvPicPr>
          <p:cNvPr id="1026" name="Picture 2" descr="Skin Cafe">
            <a:extLst>
              <a:ext uri="{FF2B5EF4-FFF2-40B4-BE49-F238E27FC236}">
                <a16:creationId xmlns:a16="http://schemas.microsoft.com/office/drawing/2014/main" id="{D852E77B-35CD-423B-91B5-C525E6F9E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437" y="138060"/>
            <a:ext cx="680311" cy="68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4FDB97-5D90-4819-8809-08893A9E645C}"/>
              </a:ext>
            </a:extLst>
          </p:cNvPr>
          <p:cNvSpPr/>
          <p:nvPr/>
        </p:nvSpPr>
        <p:spPr>
          <a:xfrm>
            <a:off x="1816100" y="-99653"/>
            <a:ext cx="5511800" cy="681241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Financial Budget Allocation (sector)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ACDC754-8220-4395-BC9B-F9FFA529912A}"/>
              </a:ext>
            </a:extLst>
          </p:cNvPr>
          <p:cNvGrpSpPr/>
          <p:nvPr/>
        </p:nvGrpSpPr>
        <p:grpSpPr>
          <a:xfrm>
            <a:off x="533400" y="953561"/>
            <a:ext cx="8077200" cy="3354917"/>
            <a:chOff x="643467" y="753533"/>
            <a:chExt cx="8077200" cy="3354917"/>
          </a:xfrm>
        </p:grpSpPr>
        <p:graphicFrame>
          <p:nvGraphicFramePr>
            <p:cNvPr id="12" name="Chart 11">
              <a:extLst>
                <a:ext uri="{FF2B5EF4-FFF2-40B4-BE49-F238E27FC236}">
                  <a16:creationId xmlns:a16="http://schemas.microsoft.com/office/drawing/2014/main" id="{773A4A1B-A232-4BC5-B5F0-AC17BAEF64D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266250891"/>
                </p:ext>
              </p:extLst>
            </p:nvPr>
          </p:nvGraphicFramePr>
          <p:xfrm>
            <a:off x="856082" y="819301"/>
            <a:ext cx="7431836" cy="328914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99D3528-B3BC-4DB6-8F34-F95CBC30C0A5}"/>
                </a:ext>
              </a:extLst>
            </p:cNvPr>
            <p:cNvSpPr/>
            <p:nvPr/>
          </p:nvSpPr>
          <p:spPr>
            <a:xfrm>
              <a:off x="643467" y="753533"/>
              <a:ext cx="8077200" cy="3354917"/>
            </a:xfrm>
            <a:prstGeom prst="roundRect">
              <a:avLst/>
            </a:prstGeom>
            <a:noFill/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01674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F023A5-F4EA-4148-8471-CCDD1A9BCC6C}"/>
              </a:ext>
            </a:extLst>
          </p:cNvPr>
          <p:cNvSpPr txBox="1"/>
          <p:nvPr/>
        </p:nvSpPr>
        <p:spPr>
          <a:xfrm>
            <a:off x="1062496" y="4810426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D99B3-794D-4D39-B91B-DDF258680845}"/>
              </a:ext>
            </a:extLst>
          </p:cNvPr>
          <p:cNvSpPr txBox="1"/>
          <p:nvPr/>
        </p:nvSpPr>
        <p:spPr>
          <a:xfrm>
            <a:off x="2913414" y="4810426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PLANNING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F4E563-BD54-4E32-A88D-87D41AD06854}"/>
              </a:ext>
            </a:extLst>
          </p:cNvPr>
          <p:cNvSpPr txBox="1"/>
          <p:nvPr/>
        </p:nvSpPr>
        <p:spPr>
          <a:xfrm>
            <a:off x="4958247" y="4810426"/>
            <a:ext cx="1046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65000"/>
                  </a:schemeClr>
                </a:solidFill>
              </a:rPr>
              <a:t>EXECUTION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B3FDA-4BC2-41CB-95C7-77ADA8EA704A}"/>
              </a:ext>
            </a:extLst>
          </p:cNvPr>
          <p:cNvSpPr txBox="1"/>
          <p:nvPr/>
        </p:nvSpPr>
        <p:spPr>
          <a:xfrm>
            <a:off x="6890918" y="4810426"/>
            <a:ext cx="1324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</a:rPr>
              <a:t>EVALUATION</a:t>
            </a:r>
          </a:p>
        </p:txBody>
      </p:sp>
      <p:pic>
        <p:nvPicPr>
          <p:cNvPr id="1026" name="Picture 2" descr="Skin Cafe">
            <a:extLst>
              <a:ext uri="{FF2B5EF4-FFF2-40B4-BE49-F238E27FC236}">
                <a16:creationId xmlns:a16="http://schemas.microsoft.com/office/drawing/2014/main" id="{D852E77B-35CD-423B-91B5-C525E6F9E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437" y="138060"/>
            <a:ext cx="680311" cy="68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D0D3359-9F6F-473D-AA96-5B03A4229D55}"/>
              </a:ext>
            </a:extLst>
          </p:cNvPr>
          <p:cNvSpPr/>
          <p:nvPr/>
        </p:nvSpPr>
        <p:spPr>
          <a:xfrm>
            <a:off x="1816100" y="-99653"/>
            <a:ext cx="5511800" cy="681241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Challenges &amp; Feasibility</a:t>
            </a: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3DB4A3B3-823C-40A9-AAB0-0831CFBD8C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353913"/>
              </p:ext>
            </p:extLst>
          </p:nvPr>
        </p:nvGraphicFramePr>
        <p:xfrm>
          <a:off x="367710" y="1018441"/>
          <a:ext cx="3668127" cy="108975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668127">
                  <a:extLst>
                    <a:ext uri="{9D8B030D-6E8A-4147-A177-3AD203B41FA5}">
                      <a16:colId xmlns:a16="http://schemas.microsoft.com/office/drawing/2014/main" val="4056729196"/>
                    </a:ext>
                  </a:extLst>
                </a:gridCol>
              </a:tblGrid>
              <a:tr h="41970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Low Trust in Local Brands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7313"/>
                  </a:ext>
                </a:extLst>
              </a:tr>
              <a:tr h="67005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Science-backed communication &amp; real consumer reviews</a:t>
                      </a:r>
                      <a:endParaRPr 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399584"/>
                  </a:ext>
                </a:extLst>
              </a:tr>
            </a:tbl>
          </a:graphicData>
        </a:graphic>
      </p:graphicFrame>
      <p:graphicFrame>
        <p:nvGraphicFramePr>
          <p:cNvPr id="14" name="Table 11">
            <a:extLst>
              <a:ext uri="{FF2B5EF4-FFF2-40B4-BE49-F238E27FC236}">
                <a16:creationId xmlns:a16="http://schemas.microsoft.com/office/drawing/2014/main" id="{3BA8E3EB-9C23-431E-AB24-247AD9266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395683"/>
              </p:ext>
            </p:extLst>
          </p:nvPr>
        </p:nvGraphicFramePr>
        <p:xfrm>
          <a:off x="5056854" y="881523"/>
          <a:ext cx="3668127" cy="137109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668127">
                  <a:extLst>
                    <a:ext uri="{9D8B030D-6E8A-4147-A177-3AD203B41FA5}">
                      <a16:colId xmlns:a16="http://schemas.microsoft.com/office/drawing/2014/main" val="4056729196"/>
                    </a:ext>
                  </a:extLst>
                </a:gridCol>
              </a:tblGrid>
              <a:tr h="41970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Dominance of Foreign Competitors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7313"/>
                  </a:ext>
                </a:extLst>
              </a:tr>
              <a:tr h="67005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Competitive pricing &amp; localized positioning</a:t>
                      </a:r>
                      <a:endParaRPr 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399584"/>
                  </a:ext>
                </a:extLst>
              </a:tr>
            </a:tbl>
          </a:graphicData>
        </a:graphic>
      </p:graphicFrame>
      <p:graphicFrame>
        <p:nvGraphicFramePr>
          <p:cNvPr id="15" name="Table 11">
            <a:extLst>
              <a:ext uri="{FF2B5EF4-FFF2-40B4-BE49-F238E27FC236}">
                <a16:creationId xmlns:a16="http://schemas.microsoft.com/office/drawing/2014/main" id="{0FB506BA-B540-4D87-B67C-4081A0A35B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247075"/>
              </p:ext>
            </p:extLst>
          </p:nvPr>
        </p:nvGraphicFramePr>
        <p:xfrm>
          <a:off x="367708" y="2802282"/>
          <a:ext cx="3668127" cy="137109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668127">
                  <a:extLst>
                    <a:ext uri="{9D8B030D-6E8A-4147-A177-3AD203B41FA5}">
                      <a16:colId xmlns:a16="http://schemas.microsoft.com/office/drawing/2014/main" val="4056729196"/>
                    </a:ext>
                  </a:extLst>
                </a:gridCol>
              </a:tblGrid>
              <a:tr h="41970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Limited UV Protection Awareness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7313"/>
                  </a:ext>
                </a:extLst>
              </a:tr>
              <a:tr h="67005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Educational content &amp; awareness campaigns</a:t>
                      </a:r>
                      <a:endParaRPr 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399584"/>
                  </a:ext>
                </a:extLst>
              </a:tr>
            </a:tbl>
          </a:graphicData>
        </a:graphic>
      </p:graphicFrame>
      <p:graphicFrame>
        <p:nvGraphicFramePr>
          <p:cNvPr id="16" name="Table 11">
            <a:extLst>
              <a:ext uri="{FF2B5EF4-FFF2-40B4-BE49-F238E27FC236}">
                <a16:creationId xmlns:a16="http://schemas.microsoft.com/office/drawing/2014/main" id="{6AAD4964-53E6-4E8F-B8A0-64A5B6987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153356"/>
              </p:ext>
            </p:extLst>
          </p:nvPr>
        </p:nvGraphicFramePr>
        <p:xfrm>
          <a:off x="5108167" y="3083621"/>
          <a:ext cx="3668127" cy="108975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668127">
                  <a:extLst>
                    <a:ext uri="{9D8B030D-6E8A-4147-A177-3AD203B41FA5}">
                      <a16:colId xmlns:a16="http://schemas.microsoft.com/office/drawing/2014/main" val="4056729196"/>
                    </a:ext>
                  </a:extLst>
                </a:gridCol>
              </a:tblGrid>
              <a:tr h="41970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Low Male Sunscreen Usage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7313"/>
                  </a:ext>
                </a:extLst>
              </a:tr>
              <a:tr h="67005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Gender-inclusive campaigns &amp; influencer engagement</a:t>
                      </a:r>
                      <a:endParaRPr 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399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4264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7C18EF2-22E3-4221-B09B-B717BAF6F72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-135467"/>
            <a:ext cx="9143999" cy="5143500"/>
          </a:xfrm>
          <a:prstGeom prst="rect">
            <a:avLst/>
          </a:prstGeom>
        </p:spPr>
      </p:pic>
      <p:pic>
        <p:nvPicPr>
          <p:cNvPr id="1026" name="Picture 2" descr="Skin Cafe">
            <a:extLst>
              <a:ext uri="{FF2B5EF4-FFF2-40B4-BE49-F238E27FC236}">
                <a16:creationId xmlns:a16="http://schemas.microsoft.com/office/drawing/2014/main" id="{D852E77B-35CD-423B-91B5-C525E6F9E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437" y="138060"/>
            <a:ext cx="680311" cy="68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411928-62CD-441A-817E-D41BE651C1D8}"/>
              </a:ext>
            </a:extLst>
          </p:cNvPr>
          <p:cNvSpPr txBox="1"/>
          <p:nvPr/>
        </p:nvSpPr>
        <p:spPr>
          <a:xfrm>
            <a:off x="2162655" y="1556087"/>
            <a:ext cx="48186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7841196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1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FFFFFF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694</TotalTime>
  <Words>415</Words>
  <Application>Microsoft Office PowerPoint</Application>
  <PresentationFormat>On-screen Show (16:9)</PresentationFormat>
  <Paragraphs>140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Arial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Shohan Islam</cp:lastModifiedBy>
  <cp:revision>92</cp:revision>
  <dcterms:created xsi:type="dcterms:W3CDTF">2026-05-16T10:25:59Z</dcterms:created>
  <dcterms:modified xsi:type="dcterms:W3CDTF">2026-05-19T07:25:28Z</dcterms:modified>
</cp:coreProperties>
</file>