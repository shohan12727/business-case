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047" r:id="rId1"/>
  </p:sldMasterIdLst>
  <p:notesMasterIdLst>
    <p:notesMasterId r:id="rId15"/>
  </p:notesMasterIdLst>
  <p:sldIdLst>
    <p:sldId id="269" r:id="rId2"/>
    <p:sldId id="267" r:id="rId3"/>
    <p:sldId id="276" r:id="rId4"/>
    <p:sldId id="268" r:id="rId5"/>
    <p:sldId id="277" r:id="rId6"/>
    <p:sldId id="270" r:id="rId7"/>
    <p:sldId id="271" r:id="rId8"/>
    <p:sldId id="272" r:id="rId9"/>
    <p:sldId id="275" r:id="rId10"/>
    <p:sldId id="273" r:id="rId11"/>
    <p:sldId id="278" r:id="rId12"/>
    <p:sldId id="279" r:id="rId13"/>
    <p:sldId id="280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7C3AED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94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3B9-4AF0-BFEC-DAC7C1253BA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85000"/>
                      <a:satMod val="130000"/>
                    </a:schemeClr>
                  </a:gs>
                  <a:gs pos="34000">
                    <a:schemeClr val="accent2">
                      <a:shade val="87000"/>
                      <a:satMod val="125000"/>
                    </a:schemeClr>
                  </a:gs>
                  <a:gs pos="70000">
                    <a:schemeClr val="accent2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2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3B9-4AF0-BFEC-DAC7C1253BA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85000"/>
                      <a:satMod val="130000"/>
                    </a:schemeClr>
                  </a:gs>
                  <a:gs pos="34000">
                    <a:schemeClr val="accent3">
                      <a:shade val="87000"/>
                      <a:satMod val="125000"/>
                    </a:schemeClr>
                  </a:gs>
                  <a:gs pos="70000">
                    <a:schemeClr val="accent3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3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3B9-4AF0-BFEC-DAC7C1253BA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85000"/>
                      <a:satMod val="130000"/>
                    </a:schemeClr>
                  </a:gs>
                  <a:gs pos="34000">
                    <a:schemeClr val="accent4">
                      <a:shade val="87000"/>
                      <a:satMod val="125000"/>
                    </a:schemeClr>
                  </a:gs>
                  <a:gs pos="70000">
                    <a:schemeClr val="accent4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4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3B9-4AF0-BFEC-DAC7C1253BA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85000"/>
                      <a:satMod val="130000"/>
                    </a:schemeClr>
                  </a:gs>
                  <a:gs pos="34000">
                    <a:schemeClr val="accent5">
                      <a:shade val="87000"/>
                      <a:satMod val="125000"/>
                    </a:schemeClr>
                  </a:gs>
                  <a:gs pos="70000">
                    <a:schemeClr val="accent5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5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5A2-4328-B4A7-7B1F6697B73F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33B9-4AF0-BFEC-DAC7C1253BAD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85000"/>
                      <a:satMod val="130000"/>
                    </a:schemeClr>
                  </a:gs>
                  <a:gs pos="34000">
                    <a:schemeClr val="accent1">
                      <a:lumMod val="60000"/>
                      <a:shade val="87000"/>
                      <a:satMod val="125000"/>
                    </a:schemeClr>
                  </a:gs>
                  <a:gs pos="70000">
                    <a:schemeClr val="accent1">
                      <a:lumMod val="60000"/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lumMod val="60000"/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33B9-4AF0-BFEC-DAC7C1253B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Digital Marketing &amp; Social Media Campaigns (35%)</c:v>
                </c:pt>
                <c:pt idx="1">
                  <c:v>Influencer &amp; Content Collaboration (20%)</c:v>
                </c:pt>
                <c:pt idx="2">
                  <c:v>Campus Activation &amp; Offline Events (15%)</c:v>
                </c:pt>
                <c:pt idx="3">
                  <c:v>Retail Branding &amp; POS Materials (10%)</c:v>
                </c:pt>
                <c:pt idx="4">
                  <c:v>Consumer Education Campaign (10%)</c:v>
                </c:pt>
                <c:pt idx="5">
                  <c:v>Sampling &amp; Trial Campaigns (5%)</c:v>
                </c:pt>
                <c:pt idx="6">
                  <c:v>Performance Tracking &amp; Research (5%)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2-4328-B4A7-7B1F6697B73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949164261440932"/>
          <c:y val="3.0269227693850292E-2"/>
          <c:w val="0.43050835738559057"/>
          <c:h val="0.920155335012187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63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604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47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6961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423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2046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658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24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380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13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980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5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72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C28269-7ABC-4CA9-8643-A47F8F27C7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553"/>
            <a:ext cx="9144000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17" name="Picture 2" descr="Skin Cafe">
            <a:extLst>
              <a:ext uri="{FF2B5EF4-FFF2-40B4-BE49-F238E27FC236}">
                <a16:creationId xmlns:a16="http://schemas.microsoft.com/office/drawing/2014/main" id="{093C850B-072C-47AD-A09E-3E7A00CE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685" y="154926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9C4B4C-0BD4-49A3-88B0-B03C8893B018}"/>
              </a:ext>
            </a:extLst>
          </p:cNvPr>
          <p:cNvSpPr txBox="1"/>
          <p:nvPr/>
        </p:nvSpPr>
        <p:spPr>
          <a:xfrm>
            <a:off x="540287" y="1068871"/>
            <a:ext cx="8063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 Cafe Sunscreen Marketing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B22AA-5555-45C0-A3AA-49BD420384B5}"/>
              </a:ext>
            </a:extLst>
          </p:cNvPr>
          <p:cNvSpPr txBox="1"/>
          <p:nvPr/>
        </p:nvSpPr>
        <p:spPr>
          <a:xfrm>
            <a:off x="3576488" y="1979544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Trust-Driven Marketing Strategy to Make</a:t>
            </a:r>
          </a:p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Sunscreen a Daily Habit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ADEE6-FC3D-401C-9B9A-036FCAC79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534" y="4176980"/>
            <a:ext cx="1708386" cy="9609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439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622799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913414" y="18223"/>
              <a:ext cx="33984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Situation</a:t>
              </a:r>
              <a:r>
                <a:rPr lang="en-US" sz="3200" dirty="0"/>
                <a:t>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Graphic 13" descr="Clock with solid fill">
              <a:extLst>
                <a:ext uri="{FF2B5EF4-FFF2-40B4-BE49-F238E27FC236}">
                  <a16:creationId xmlns:a16="http://schemas.microsoft.com/office/drawing/2014/main" id="{6E1DB55B-576E-4A29-8512-47AF3C860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52126" y="525058"/>
              <a:ext cx="550808" cy="550808"/>
            </a:xfrm>
            <a:prstGeom prst="rect">
              <a:avLst/>
            </a:prstGeom>
          </p:spPr>
        </p:pic>
        <p:pic>
          <p:nvPicPr>
            <p:cNvPr id="16" name="Graphic 15" descr="Bullseye with solid fill">
              <a:extLst>
                <a:ext uri="{FF2B5EF4-FFF2-40B4-BE49-F238E27FC236}">
                  <a16:creationId xmlns:a16="http://schemas.microsoft.com/office/drawing/2014/main" id="{A003E0A7-D13B-4333-BFA1-2E415AEC9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44401" y="596437"/>
              <a:ext cx="493000" cy="493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942938" y="1163481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Where we 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08608"/>
            <a:ext cx="4604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Trust gap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Market dominated by foreign skincare brand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male participation in skincare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awareness about UV protection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24372" y="1171969"/>
            <a:ext cx="3225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Where we want to be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907447" y="1796883"/>
            <a:ext cx="3857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Strong trust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Skin Cafe positioned as a trusted alternative to foreign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Higher male engagement in sunscreen usage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Increased awareness about daily UV protection and sunscreen benefits</a:t>
            </a:r>
          </a:p>
        </p:txBody>
      </p:sp>
    </p:spTree>
    <p:extLst>
      <p:ext uri="{BB962C8B-B14F-4D97-AF65-F5344CB8AC3E}">
        <p14:creationId xmlns:p14="http://schemas.microsoft.com/office/powerpoint/2010/main" val="341256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572000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563627" y="68057"/>
              <a:ext cx="41308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Consumer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522758" y="1119572"/>
            <a:ext cx="288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Target Consumers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25542"/>
            <a:ext cx="3948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Age Group: 18–30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Urban &amp; semi-urban youth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Social media-driven consumers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Students and young professionals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81005" y="1067372"/>
            <a:ext cx="262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Buying Behavior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768719" y="1825542"/>
            <a:ext cx="3857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Trust influencer and peer reviews before purchase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Compare local brands with foreign alternatives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Highly price-sensitive but quality-conscious</a:t>
            </a:r>
          </a:p>
        </p:txBody>
      </p:sp>
      <p:pic>
        <p:nvPicPr>
          <p:cNvPr id="4" name="Graphic 3" descr="Target Audience with solid fill">
            <a:extLst>
              <a:ext uri="{FF2B5EF4-FFF2-40B4-BE49-F238E27FC236}">
                <a16:creationId xmlns:a16="http://schemas.microsoft.com/office/drawing/2014/main" id="{63C3E363-A18B-45E7-82FF-6096E3003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289" y="486122"/>
            <a:ext cx="666357" cy="666357"/>
          </a:xfrm>
          <a:prstGeom prst="rect">
            <a:avLst/>
          </a:prstGeom>
        </p:spPr>
      </p:pic>
      <p:pic>
        <p:nvPicPr>
          <p:cNvPr id="15" name="Graphic 14" descr="Shopping cart with solid fill">
            <a:extLst>
              <a:ext uri="{FF2B5EF4-FFF2-40B4-BE49-F238E27FC236}">
                <a16:creationId xmlns:a16="http://schemas.microsoft.com/office/drawing/2014/main" id="{D5AEA2A3-A7D9-4EEF-B611-A99A23779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648" y="540755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333505-6756-47F7-B73C-EDB16B850196}"/>
              </a:ext>
            </a:extLst>
          </p:cNvPr>
          <p:cNvGrpSpPr/>
          <p:nvPr/>
        </p:nvGrpSpPr>
        <p:grpSpPr>
          <a:xfrm>
            <a:off x="708025" y="682020"/>
            <a:ext cx="8012642" cy="1817740"/>
            <a:chOff x="708025" y="106281"/>
            <a:chExt cx="8012642" cy="181774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F5BD866-AE85-4BAF-B0CA-325CCA74095B}"/>
                </a:ext>
              </a:extLst>
            </p:cNvPr>
            <p:cNvGrpSpPr/>
            <p:nvPr/>
          </p:nvGrpSpPr>
          <p:grpSpPr>
            <a:xfrm>
              <a:off x="708025" y="106281"/>
              <a:ext cx="8012642" cy="1817740"/>
              <a:chOff x="1629833" y="634635"/>
              <a:chExt cx="6395864" cy="2421831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AEB40C6-1D87-400E-AB1C-8901679A17F1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C79682-075A-4404-A765-F3B1588512B8}"/>
                  </a:ext>
                </a:extLst>
              </p:cNvPr>
              <p:cNvSpPr txBox="1"/>
              <p:nvPr/>
            </p:nvSpPr>
            <p:spPr>
              <a:xfrm>
                <a:off x="4402212" y="689496"/>
                <a:ext cx="1355352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Trust Barriers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3983B-22CC-4074-8B32-34F9AD015899}"/>
                  </a:ext>
                </a:extLst>
              </p:cNvPr>
              <p:cNvSpPr txBox="1"/>
              <p:nvPr/>
            </p:nvSpPr>
            <p:spPr>
              <a:xfrm>
                <a:off x="3424944" y="1092135"/>
                <a:ext cx="4600753" cy="1558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Strong perception that foreign brands are safer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and more effective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Fear of counterfeit and low-quality skincare products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Limited trust in locally manufactured cosmetics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Lack of scientific skincare awareness among consumers</a:t>
                </a:r>
              </a:p>
            </p:txBody>
          </p:sp>
        </p:grpSp>
        <p:pic>
          <p:nvPicPr>
            <p:cNvPr id="3074" name="Picture 2" descr="Communication Barriers Stock Photos ...">
              <a:extLst>
                <a:ext uri="{FF2B5EF4-FFF2-40B4-BE49-F238E27FC236}">
                  <a16:creationId xmlns:a16="http://schemas.microsoft.com/office/drawing/2014/main" id="{CA7DCD67-18F4-4F62-833B-2555ACE5C2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145" y="534631"/>
              <a:ext cx="1571095" cy="106466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5C6635-F9CF-42B9-997F-FC043F9376D2}"/>
              </a:ext>
            </a:extLst>
          </p:cNvPr>
          <p:cNvGrpSpPr/>
          <p:nvPr/>
        </p:nvGrpSpPr>
        <p:grpSpPr>
          <a:xfrm>
            <a:off x="708025" y="2657742"/>
            <a:ext cx="7418917" cy="1817740"/>
            <a:chOff x="708025" y="2310609"/>
            <a:chExt cx="7418917" cy="18177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1D06A5-97B2-4EA5-8BD4-A777D74E7B72}"/>
                </a:ext>
              </a:extLst>
            </p:cNvPr>
            <p:cNvGrpSpPr/>
            <p:nvPr/>
          </p:nvGrpSpPr>
          <p:grpSpPr>
            <a:xfrm>
              <a:off x="708025" y="2310609"/>
              <a:ext cx="7418917" cy="1817740"/>
              <a:chOff x="1629833" y="634635"/>
              <a:chExt cx="5884334" cy="242183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B8AD906-980B-4607-9035-62A7CC496E52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BEAFA-B18B-476E-AA11-1A056582CA3F}"/>
                  </a:ext>
                </a:extLst>
              </p:cNvPr>
              <p:cNvSpPr txBox="1"/>
              <p:nvPr/>
            </p:nvSpPr>
            <p:spPr>
              <a:xfrm>
                <a:off x="2566233" y="806941"/>
                <a:ext cx="1763723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Market Challenges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C1FDE1-2170-4A28-9C29-9D343573C290}"/>
                  </a:ext>
                </a:extLst>
              </p:cNvPr>
              <p:cNvSpPr txBox="1"/>
              <p:nvPr/>
            </p:nvSpPr>
            <p:spPr>
              <a:xfrm>
                <a:off x="1809974" y="1279663"/>
                <a:ext cx="4600753" cy="127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Highly competitive skincare market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Consumers highly sensitive to price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Sunscreen still not part of daily routine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Difficulty differentiating local brands from competitors</a:t>
                </a:r>
              </a:p>
            </p:txBody>
          </p:sp>
        </p:grpSp>
        <p:pic>
          <p:nvPicPr>
            <p:cNvPr id="3076" name="Picture 4" descr="Overcoming The Top Marketing Challenges ...">
              <a:extLst>
                <a:ext uri="{FF2B5EF4-FFF2-40B4-BE49-F238E27FC236}">
                  <a16:creationId xmlns:a16="http://schemas.microsoft.com/office/drawing/2014/main" id="{35731BE6-EE7C-4395-AAC2-3DD32B6B6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303" y="2669689"/>
              <a:ext cx="1571095" cy="10995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8B34649-DF65-4DDE-8415-1A87C5960429}"/>
              </a:ext>
            </a:extLst>
          </p:cNvPr>
          <p:cNvSpPr txBox="1"/>
          <p:nvPr/>
        </p:nvSpPr>
        <p:spPr>
          <a:xfrm>
            <a:off x="1794317" y="90838"/>
            <a:ext cx="5555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Trust Barrier and Market Challenges </a:t>
            </a:r>
          </a:p>
        </p:txBody>
      </p:sp>
    </p:spTree>
    <p:extLst>
      <p:ext uri="{BB962C8B-B14F-4D97-AF65-F5344CB8AC3E}">
        <p14:creationId xmlns:p14="http://schemas.microsoft.com/office/powerpoint/2010/main" val="179118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A0F6FE-1B21-4253-8713-7E59CDC3B1EC}"/>
              </a:ext>
            </a:extLst>
          </p:cNvPr>
          <p:cNvSpPr txBox="1"/>
          <p:nvPr/>
        </p:nvSpPr>
        <p:spPr>
          <a:xfrm>
            <a:off x="2156065" y="1521562"/>
            <a:ext cx="3954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Strategic approach for trust building, </a:t>
            </a:r>
          </a:p>
          <a:p>
            <a:r>
              <a:rPr lang="en-US" dirty="0"/>
              <a:t>Core campaign idea and creativity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6C7AF-C217-4CA9-A4AB-2BCEAF465F39}"/>
              </a:ext>
            </a:extLst>
          </p:cNvPr>
          <p:cNvSpPr txBox="1"/>
          <p:nvPr/>
        </p:nvSpPr>
        <p:spPr>
          <a:xfrm>
            <a:off x="2691994" y="2655418"/>
            <a:ext cx="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D2DDC-8C0F-4078-8CB3-79C7B124C161}"/>
              </a:ext>
            </a:extLst>
          </p:cNvPr>
          <p:cNvSpPr txBox="1"/>
          <p:nvPr/>
        </p:nvSpPr>
        <p:spPr>
          <a:xfrm>
            <a:off x="1265971" y="634635"/>
            <a:ext cx="573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s-IN" dirty="0"/>
              <a:t>রোদ থাকুক বাইরে, সুরক্ষা থাকুক ত্বকে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66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3,200+ Customer Review Stock Photos ...">
            <a:extLst>
              <a:ext uri="{FF2B5EF4-FFF2-40B4-BE49-F238E27FC236}">
                <a16:creationId xmlns:a16="http://schemas.microsoft.com/office/drawing/2014/main" id="{ADFD6E28-8455-40DF-825E-9EA80AD6E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247" y="2974685"/>
            <a:ext cx="4085976" cy="16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eadership Mythbusters: Busting the ...">
            <a:extLst>
              <a:ext uri="{FF2B5EF4-FFF2-40B4-BE49-F238E27FC236}">
                <a16:creationId xmlns:a16="http://schemas.microsoft.com/office/drawing/2014/main" id="{0813F8DF-D97B-404F-9133-E53D08CB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92" y="2992233"/>
            <a:ext cx="4094147" cy="168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tor At Work Background Images, HD ...">
            <a:extLst>
              <a:ext uri="{FF2B5EF4-FFF2-40B4-BE49-F238E27FC236}">
                <a16:creationId xmlns:a16="http://schemas.microsoft.com/office/drawing/2014/main" id="{6C0F0D44-C594-455E-91AB-0B9FC813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316" y="1139505"/>
            <a:ext cx="4106094" cy="16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ality Assurance Background Stock ...">
            <a:extLst>
              <a:ext uri="{FF2B5EF4-FFF2-40B4-BE49-F238E27FC236}">
                <a16:creationId xmlns:a16="http://schemas.microsoft.com/office/drawing/2014/main" id="{F9305346-6593-4BE4-9A5E-CE2B40743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6" y="1142986"/>
            <a:ext cx="4085976" cy="17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Trust Building Strategy</a:t>
            </a: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FFE6335D-4A70-43C8-B1D9-1F1E4615C930}"/>
              </a:ext>
            </a:extLst>
          </p:cNvPr>
          <p:cNvGrpSpPr/>
          <p:nvPr/>
        </p:nvGrpSpPr>
        <p:grpSpPr>
          <a:xfrm>
            <a:off x="176532" y="113665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41641B5E-0746-4226-9B63-E7CA3B75022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314610D-FA82-4AFD-B3E2-DC716E5B4A9F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sp>
        <p:nvSpPr>
          <p:cNvPr id="16" name="TextBox 45">
            <a:extLst>
              <a:ext uri="{FF2B5EF4-FFF2-40B4-BE49-F238E27FC236}">
                <a16:creationId xmlns:a16="http://schemas.microsoft.com/office/drawing/2014/main" id="{B1B53101-3A4B-4739-ABF8-FEFB9E4A50F2}"/>
              </a:ext>
            </a:extLst>
          </p:cNvPr>
          <p:cNvSpPr txBox="1"/>
          <p:nvPr/>
        </p:nvSpPr>
        <p:spPr>
          <a:xfrm>
            <a:off x="246874" y="1324190"/>
            <a:ext cx="2689543" cy="2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Canva Sans Bold"/>
                <a:cs typeface="Canva Sans Bold"/>
                <a:sym typeface="Canva Sans Bold"/>
              </a:rPr>
              <a:t>Prove of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35CC6-E2FF-4837-B887-CB6C520E75CF}"/>
              </a:ext>
            </a:extLst>
          </p:cNvPr>
          <p:cNvSpPr txBox="1"/>
          <p:nvPr/>
        </p:nvSpPr>
        <p:spPr>
          <a:xfrm>
            <a:off x="426011" y="1670244"/>
            <a:ext cx="4121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lab certificate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Telling where the ingredients come from</a:t>
            </a:r>
          </a:p>
          <a:p>
            <a:endParaRPr lang="en-US" sz="1600" dirty="0"/>
          </a:p>
        </p:txBody>
      </p:sp>
      <p:grpSp>
        <p:nvGrpSpPr>
          <p:cNvPr id="25" name="Group 17">
            <a:extLst>
              <a:ext uri="{FF2B5EF4-FFF2-40B4-BE49-F238E27FC236}">
                <a16:creationId xmlns:a16="http://schemas.microsoft.com/office/drawing/2014/main" id="{3EDEDB5C-B752-428E-83D4-35186E3CFF3E}"/>
              </a:ext>
            </a:extLst>
          </p:cNvPr>
          <p:cNvGrpSpPr/>
          <p:nvPr/>
        </p:nvGrpSpPr>
        <p:grpSpPr>
          <a:xfrm>
            <a:off x="4657092" y="1136652"/>
            <a:ext cx="76710" cy="1704342"/>
            <a:chOff x="0" y="0"/>
            <a:chExt cx="204559" cy="4544911"/>
          </a:xfrm>
          <a:solidFill>
            <a:srgbClr val="7C3AED"/>
          </a:solidFill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24D7178-7A99-48DA-923A-B564F2EF134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B2A74D8-FE0F-4350-90B4-C79DCE119533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E10BFC3-F075-41DA-BEFA-1598D378764C}"/>
              </a:ext>
            </a:extLst>
          </p:cNvPr>
          <p:cNvGrpSpPr/>
          <p:nvPr/>
        </p:nvGrpSpPr>
        <p:grpSpPr>
          <a:xfrm>
            <a:off x="5029198" y="1234440"/>
            <a:ext cx="3474720" cy="435804"/>
            <a:chOff x="0" y="0"/>
            <a:chExt cx="9265920" cy="1024128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E260345-1C79-42DF-8ECD-0582D9B691E4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0EECED1-E315-4DB8-9D0A-B75E41BE8B42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Get Doctor to Say it works</a:t>
              </a:r>
            </a:p>
          </p:txBody>
        </p:sp>
      </p:grp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3ACD87A-3889-4CB2-91DF-2F1D28C6224D}"/>
              </a:ext>
            </a:extLst>
          </p:cNvPr>
          <p:cNvGrpSpPr/>
          <p:nvPr/>
        </p:nvGrpSpPr>
        <p:grpSpPr>
          <a:xfrm>
            <a:off x="176532" y="3011172"/>
            <a:ext cx="76710" cy="1704342"/>
            <a:chOff x="0" y="0"/>
            <a:chExt cx="204559" cy="4544911"/>
          </a:xfrm>
          <a:solidFill>
            <a:srgbClr val="0891B2"/>
          </a:solidFill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0D8AFB6-35C8-4800-BAC7-E75843EF7E2D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BD295FB-C132-4E77-866E-A59EABFB039D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39" name="Group 32">
            <a:extLst>
              <a:ext uri="{FF2B5EF4-FFF2-40B4-BE49-F238E27FC236}">
                <a16:creationId xmlns:a16="http://schemas.microsoft.com/office/drawing/2014/main" id="{C1B4020E-A1B7-4500-895C-5AFF7B23099B}"/>
              </a:ext>
            </a:extLst>
          </p:cNvPr>
          <p:cNvGrpSpPr/>
          <p:nvPr/>
        </p:nvGrpSpPr>
        <p:grpSpPr>
          <a:xfrm>
            <a:off x="4657092" y="301117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918693F1-E668-4E80-B332-2167ED6D7005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AD531C5-D4F7-4A2E-ABFD-D4DDC75F91AA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42" name="Group 35">
            <a:extLst>
              <a:ext uri="{FF2B5EF4-FFF2-40B4-BE49-F238E27FC236}">
                <a16:creationId xmlns:a16="http://schemas.microsoft.com/office/drawing/2014/main" id="{EBB3C5A0-3F21-42DD-8664-87A0509B3C36}"/>
              </a:ext>
            </a:extLst>
          </p:cNvPr>
          <p:cNvGrpSpPr/>
          <p:nvPr/>
        </p:nvGrpSpPr>
        <p:grpSpPr>
          <a:xfrm>
            <a:off x="5029198" y="3065749"/>
            <a:ext cx="3474720" cy="384048"/>
            <a:chOff x="0" y="0"/>
            <a:chExt cx="9265920" cy="1024128"/>
          </a:xfrm>
        </p:grpSpPr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F7A88489-08E4-4FE1-A37A-23130279FBCA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5574BEB4-0CBE-4E34-9D3E-E8DF03AD9FF0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Using Real Reviews </a:t>
              </a:r>
            </a:p>
          </p:txBody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32C2C5F5-F022-48F2-917A-2B1328F04CE2}"/>
              </a:ext>
            </a:extLst>
          </p:cNvPr>
          <p:cNvSpPr txBox="1"/>
          <p:nvPr/>
        </p:nvSpPr>
        <p:spPr>
          <a:xfrm>
            <a:off x="365760" y="3075623"/>
            <a:ext cx="3269894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Breaking the Myths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84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EE2A961-9DA5-42C2-9251-9FBB2CEBD121}"/>
              </a:ext>
            </a:extLst>
          </p:cNvPr>
          <p:cNvGrpSpPr/>
          <p:nvPr/>
        </p:nvGrpSpPr>
        <p:grpSpPr>
          <a:xfrm>
            <a:off x="0" y="0"/>
            <a:ext cx="9144000" cy="5118203"/>
            <a:chOff x="0" y="0"/>
            <a:chExt cx="9144000" cy="51182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CBDFB9B-9543-489E-85B5-53D0D01E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1" y="681240"/>
              <a:ext cx="9143999" cy="4066325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F023A5-F4EA-4148-8471-CCDD1A9BCC6C}"/>
                </a:ext>
              </a:extLst>
            </p:cNvPr>
            <p:cNvSpPr txBox="1"/>
            <p:nvPr/>
          </p:nvSpPr>
          <p:spPr>
            <a:xfrm>
              <a:off x="1062496" y="4810426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ANALYSIS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0D99B3-794D-4D39-B91B-DDF258680845}"/>
                </a:ext>
              </a:extLst>
            </p:cNvPr>
            <p:cNvSpPr txBox="1"/>
            <p:nvPr/>
          </p:nvSpPr>
          <p:spPr>
            <a:xfrm>
              <a:off x="2913414" y="4810426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F0"/>
                  </a:solidFill>
                </a:rPr>
                <a:t>PLANNING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F4E563-BD54-4E32-A88D-87D41AD06854}"/>
                </a:ext>
              </a:extLst>
            </p:cNvPr>
            <p:cNvSpPr txBox="1"/>
            <p:nvPr/>
          </p:nvSpPr>
          <p:spPr>
            <a:xfrm>
              <a:off x="4958247" y="4810426"/>
              <a:ext cx="1046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65000"/>
                    </a:schemeClr>
                  </a:solidFill>
                </a:rPr>
                <a:t>EXECUTION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1B3FDA-4BC2-41CB-95C7-77ADA8EA704A}"/>
                </a:ext>
              </a:extLst>
            </p:cNvPr>
            <p:cNvSpPr txBox="1"/>
            <p:nvPr/>
          </p:nvSpPr>
          <p:spPr>
            <a:xfrm>
              <a:off x="6890918" y="4810426"/>
              <a:ext cx="11329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EVALUATION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0D61E2-1A24-445A-A1AD-DFDE18AA40E4}"/>
                </a:ext>
              </a:extLst>
            </p:cNvPr>
            <p:cNvSpPr/>
            <p:nvPr/>
          </p:nvSpPr>
          <p:spPr>
            <a:xfrm>
              <a:off x="0" y="0"/>
              <a:ext cx="9144000" cy="6812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Campaign Strategy </a:t>
              </a:r>
            </a:p>
          </p:txBody>
        </p:sp>
        <p:pic>
          <p:nvPicPr>
            <p:cNvPr id="51" name="Picture 2" descr="Skin Cafe">
              <a:extLst>
                <a:ext uri="{FF2B5EF4-FFF2-40B4-BE49-F238E27FC236}">
                  <a16:creationId xmlns:a16="http://schemas.microsoft.com/office/drawing/2014/main" id="{D35CE64C-557F-4AB0-BF69-14A0670B6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3912" y="112422"/>
              <a:ext cx="680311" cy="568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07E797-3140-4BEE-A8F7-7307BE8B32BD}"/>
                </a:ext>
              </a:extLst>
            </p:cNvPr>
            <p:cNvSpPr txBox="1"/>
            <p:nvPr/>
          </p:nvSpPr>
          <p:spPr>
            <a:xfrm>
              <a:off x="3845314" y="1208313"/>
              <a:ext cx="16359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Tag Line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1072303-662E-468C-A181-340F1B9F7F02}"/>
                </a:ext>
              </a:extLst>
            </p:cNvPr>
            <p:cNvSpPr/>
            <p:nvPr/>
          </p:nvSpPr>
          <p:spPr>
            <a:xfrm>
              <a:off x="2816352" y="2048255"/>
              <a:ext cx="3511296" cy="1572767"/>
            </a:xfrm>
            <a:prstGeom prst="roundRect">
              <a:avLst/>
            </a:prstGeom>
            <a:noFill/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s-IN" sz="2800" b="1" i="1" dirty="0">
                  <a:latin typeface="+mj-lt"/>
                </a:rPr>
                <a:t>রোদ থাকুক বাইরে, </a:t>
              </a:r>
              <a:endParaRPr lang="en-US" sz="2800" b="1" i="1" dirty="0">
                <a:latin typeface="+mj-lt"/>
              </a:endParaRPr>
            </a:p>
            <a:p>
              <a:pPr algn="ctr"/>
              <a:r>
                <a:rPr lang="as-IN" sz="2800" b="1" i="1" dirty="0">
                  <a:latin typeface="+mj-lt"/>
                </a:rPr>
                <a:t>সুরক্ষা থাকুক ত্বকে</a:t>
              </a:r>
              <a:endParaRPr lang="en-US" sz="2800" b="1" i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84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3,200+ Customer Review Stock Photos ...">
            <a:extLst>
              <a:ext uri="{FF2B5EF4-FFF2-40B4-BE49-F238E27FC236}">
                <a16:creationId xmlns:a16="http://schemas.microsoft.com/office/drawing/2014/main" id="{ADFD6E28-8455-40DF-825E-9EA80AD6E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247" y="2974685"/>
            <a:ext cx="4085976" cy="16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eadership Mythbusters: Busting the ...">
            <a:extLst>
              <a:ext uri="{FF2B5EF4-FFF2-40B4-BE49-F238E27FC236}">
                <a16:creationId xmlns:a16="http://schemas.microsoft.com/office/drawing/2014/main" id="{0813F8DF-D97B-404F-9133-E53D08CB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92" y="2992233"/>
            <a:ext cx="4094147" cy="168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tor At Work Background Images, HD ...">
            <a:extLst>
              <a:ext uri="{FF2B5EF4-FFF2-40B4-BE49-F238E27FC236}">
                <a16:creationId xmlns:a16="http://schemas.microsoft.com/office/drawing/2014/main" id="{6C0F0D44-C594-455E-91AB-0B9FC813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316" y="1155684"/>
            <a:ext cx="4106094" cy="16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Campaign Strategy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C04FAB-DC07-4750-BB3F-BB13C61F1AC8}"/>
              </a:ext>
            </a:extLst>
          </p:cNvPr>
          <p:cNvGrpSpPr/>
          <p:nvPr/>
        </p:nvGrpSpPr>
        <p:grpSpPr>
          <a:xfrm>
            <a:off x="176532" y="1136652"/>
            <a:ext cx="4329120" cy="1710643"/>
            <a:chOff x="176532" y="1136652"/>
            <a:chExt cx="4329120" cy="1710643"/>
          </a:xfrm>
        </p:grpSpPr>
        <p:pic>
          <p:nvPicPr>
            <p:cNvPr id="2054" name="Picture 6" descr="Quality Assurance Background Stock ...">
              <a:extLst>
                <a:ext uri="{FF2B5EF4-FFF2-40B4-BE49-F238E27FC236}">
                  <a16:creationId xmlns:a16="http://schemas.microsoft.com/office/drawing/2014/main" id="{F9305346-6593-4BE4-9A5E-CE2B407435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676" y="1142986"/>
              <a:ext cx="4085976" cy="1704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FFE6335D-4A70-43C8-B1D9-1F1E4615C930}"/>
                </a:ext>
              </a:extLst>
            </p:cNvPr>
            <p:cNvGrpSpPr/>
            <p:nvPr/>
          </p:nvGrpSpPr>
          <p:grpSpPr>
            <a:xfrm>
              <a:off x="176532" y="1136652"/>
              <a:ext cx="76710" cy="1704342"/>
              <a:chOff x="0" y="0"/>
              <a:chExt cx="204559" cy="4544911"/>
            </a:xfrm>
            <a:solidFill>
              <a:srgbClr val="1CADE4"/>
            </a:solidFill>
          </p:grpSpPr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41641B5E-0746-4226-9B63-E7CA3B750222}"/>
                  </a:ext>
                </a:extLst>
              </p:cNvPr>
              <p:cNvSpPr/>
              <p:nvPr/>
            </p:nvSpPr>
            <p:spPr>
              <a:xfrm>
                <a:off x="16891" y="16891"/>
                <a:ext cx="170688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4511040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4511040"/>
                    </a:lnTo>
                    <a:lnTo>
                      <a:pt x="0" y="451104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7314610D-FA82-4AFD-B3E2-DC716E5B4A9F}"/>
                  </a:ext>
                </a:extLst>
              </p:cNvPr>
              <p:cNvSpPr/>
              <p:nvPr/>
            </p:nvSpPr>
            <p:spPr>
              <a:xfrm>
                <a:off x="0" y="0"/>
                <a:ext cx="204470" cy="454482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454482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4527931"/>
                    </a:lnTo>
                    <a:cubicBezTo>
                      <a:pt x="204470" y="4537329"/>
                      <a:pt x="196850" y="4544822"/>
                      <a:pt x="187579" y="4544822"/>
                    </a:cubicBezTo>
                    <a:lnTo>
                      <a:pt x="16891" y="4544822"/>
                    </a:lnTo>
                    <a:cubicBezTo>
                      <a:pt x="7493" y="4544822"/>
                      <a:pt x="0" y="4537202"/>
                      <a:pt x="0" y="4527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527931"/>
                    </a:lnTo>
                    <a:lnTo>
                      <a:pt x="16891" y="4527931"/>
                    </a:lnTo>
                    <a:lnTo>
                      <a:pt x="16891" y="4511040"/>
                    </a:lnTo>
                    <a:lnTo>
                      <a:pt x="187579" y="4511040"/>
                    </a:lnTo>
                    <a:lnTo>
                      <a:pt x="187579" y="4527931"/>
                    </a:lnTo>
                    <a:lnTo>
                      <a:pt x="170688" y="452793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grpFill/>
            </p:spPr>
          </p:sp>
        </p:grpSp>
        <p:sp>
          <p:nvSpPr>
            <p:cNvPr id="16" name="TextBox 45">
              <a:extLst>
                <a:ext uri="{FF2B5EF4-FFF2-40B4-BE49-F238E27FC236}">
                  <a16:creationId xmlns:a16="http://schemas.microsoft.com/office/drawing/2014/main" id="{B1B53101-3A4B-4739-ABF8-FEFB9E4A50F2}"/>
                </a:ext>
              </a:extLst>
            </p:cNvPr>
            <p:cNvSpPr txBox="1"/>
            <p:nvPr/>
          </p:nvSpPr>
          <p:spPr>
            <a:xfrm>
              <a:off x="246874" y="1324190"/>
              <a:ext cx="2689543" cy="298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ea typeface="Canva Sans Bold"/>
                  <a:cs typeface="Canva Sans Bold"/>
                  <a:sym typeface="Canva Sans Bold"/>
                </a:rPr>
                <a:t>Social media </a:t>
              </a:r>
            </a:p>
          </p:txBody>
        </p:sp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3EDEDB5C-B752-428E-83D4-35186E3CFF3E}"/>
              </a:ext>
            </a:extLst>
          </p:cNvPr>
          <p:cNvGrpSpPr/>
          <p:nvPr/>
        </p:nvGrpSpPr>
        <p:grpSpPr>
          <a:xfrm>
            <a:off x="4657092" y="1136652"/>
            <a:ext cx="76710" cy="1704342"/>
            <a:chOff x="0" y="0"/>
            <a:chExt cx="204559" cy="4544911"/>
          </a:xfrm>
          <a:solidFill>
            <a:srgbClr val="7C3AED"/>
          </a:solidFill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24D7178-7A99-48DA-923A-B564F2EF134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B2A74D8-FE0F-4350-90B4-C79DCE119533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E10BFC3-F075-41DA-BEFA-1598D378764C}"/>
              </a:ext>
            </a:extLst>
          </p:cNvPr>
          <p:cNvGrpSpPr/>
          <p:nvPr/>
        </p:nvGrpSpPr>
        <p:grpSpPr>
          <a:xfrm>
            <a:off x="5029198" y="1234440"/>
            <a:ext cx="3474720" cy="435804"/>
            <a:chOff x="0" y="0"/>
            <a:chExt cx="9265920" cy="1024128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E260345-1C79-42DF-8ECD-0582D9B691E4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0EECED1-E315-4DB8-9D0A-B75E41BE8B42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Advertise through influencer</a:t>
              </a:r>
            </a:p>
          </p:txBody>
        </p:sp>
      </p:grp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3ACD87A-3889-4CB2-91DF-2F1D28C6224D}"/>
              </a:ext>
            </a:extLst>
          </p:cNvPr>
          <p:cNvGrpSpPr/>
          <p:nvPr/>
        </p:nvGrpSpPr>
        <p:grpSpPr>
          <a:xfrm>
            <a:off x="176532" y="3011172"/>
            <a:ext cx="76710" cy="1704342"/>
            <a:chOff x="0" y="0"/>
            <a:chExt cx="204559" cy="4544911"/>
          </a:xfrm>
          <a:solidFill>
            <a:srgbClr val="0891B2"/>
          </a:solidFill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0D8AFB6-35C8-4800-BAC7-E75843EF7E2D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BD295FB-C132-4E77-866E-A59EABFB039D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39" name="Group 32">
            <a:extLst>
              <a:ext uri="{FF2B5EF4-FFF2-40B4-BE49-F238E27FC236}">
                <a16:creationId xmlns:a16="http://schemas.microsoft.com/office/drawing/2014/main" id="{C1B4020E-A1B7-4500-895C-5AFF7B23099B}"/>
              </a:ext>
            </a:extLst>
          </p:cNvPr>
          <p:cNvGrpSpPr/>
          <p:nvPr/>
        </p:nvGrpSpPr>
        <p:grpSpPr>
          <a:xfrm>
            <a:off x="4657092" y="301117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918693F1-E668-4E80-B332-2167ED6D7005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AD531C5-D4F7-4A2E-ABFD-D4DDC75F91AA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32C2C5F5-F022-48F2-917A-2B1328F04CE2}"/>
              </a:ext>
            </a:extLst>
          </p:cNvPr>
          <p:cNvSpPr txBox="1"/>
          <p:nvPr/>
        </p:nvSpPr>
        <p:spPr>
          <a:xfrm>
            <a:off x="365760" y="3075623"/>
            <a:ext cx="3269894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In Campus Stalls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D6763A-99EA-4D0D-9D8F-D8EF2F75FEC6}"/>
              </a:ext>
            </a:extLst>
          </p:cNvPr>
          <p:cNvSpPr txBox="1"/>
          <p:nvPr/>
        </p:nvSpPr>
        <p:spPr>
          <a:xfrm>
            <a:off x="5296005" y="3255801"/>
            <a:ext cx="3482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Visible posters and leaflets</a:t>
            </a:r>
          </a:p>
          <a:p>
            <a:r>
              <a:rPr lang="en-US" sz="2000" b="1" dirty="0"/>
              <a:t> in high-traffic areas</a:t>
            </a:r>
          </a:p>
        </p:txBody>
      </p:sp>
    </p:spTree>
    <p:extLst>
      <p:ext uri="{BB962C8B-B14F-4D97-AF65-F5344CB8AC3E}">
        <p14:creationId xmlns:p14="http://schemas.microsoft.com/office/powerpoint/2010/main" val="37958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Channel Strategy 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0B1E56-9506-48D7-BF34-DDADBFC76988}"/>
              </a:ext>
            </a:extLst>
          </p:cNvPr>
          <p:cNvCxnSpPr/>
          <p:nvPr/>
        </p:nvCxnSpPr>
        <p:spPr>
          <a:xfrm>
            <a:off x="4572000" y="848563"/>
            <a:ext cx="0" cy="3701491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022F28-88BB-4CE1-B7DE-EE3BCA5E51BF}"/>
              </a:ext>
            </a:extLst>
          </p:cNvPr>
          <p:cNvSpPr txBox="1"/>
          <p:nvPr/>
        </p:nvSpPr>
        <p:spPr>
          <a:xfrm>
            <a:off x="1141076" y="1112081"/>
            <a:ext cx="2823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Online Integration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8BCE7-72E2-42D7-AE9D-27D1EEAC1528}"/>
              </a:ext>
            </a:extLst>
          </p:cNvPr>
          <p:cNvSpPr txBox="1"/>
          <p:nvPr/>
        </p:nvSpPr>
        <p:spPr>
          <a:xfrm>
            <a:off x="5586298" y="1112082"/>
            <a:ext cx="2609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Offline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1B5EE-D966-414B-8714-F031ECE84D79}"/>
              </a:ext>
            </a:extLst>
          </p:cNvPr>
          <p:cNvSpPr txBox="1"/>
          <p:nvPr/>
        </p:nvSpPr>
        <p:spPr>
          <a:xfrm>
            <a:off x="790042" y="2260397"/>
            <a:ext cx="3749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Sajgoj</a:t>
            </a:r>
            <a:r>
              <a:rPr lang="en-US" dirty="0"/>
              <a:t>, </a:t>
            </a:r>
            <a:r>
              <a:rPr lang="en-US" dirty="0" err="1"/>
              <a:t>Aroggo</a:t>
            </a:r>
            <a:r>
              <a:rPr lang="en-US" dirty="0"/>
              <a:t>, </a:t>
            </a:r>
            <a:r>
              <a:rPr lang="en-US" dirty="0" err="1"/>
              <a:t>Renowed</a:t>
            </a:r>
            <a:r>
              <a:rPr lang="en-US" dirty="0"/>
              <a:t> FB Page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FADEC-BB5A-40E9-9A28-C89BB416B973}"/>
              </a:ext>
            </a:extLst>
          </p:cNvPr>
          <p:cNvSpPr txBox="1"/>
          <p:nvPr/>
        </p:nvSpPr>
        <p:spPr>
          <a:xfrm>
            <a:off x="5076748" y="2260397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Shop, Harlen Store</a:t>
            </a:r>
          </a:p>
        </p:txBody>
      </p:sp>
    </p:spTree>
    <p:extLst>
      <p:ext uri="{BB962C8B-B14F-4D97-AF65-F5344CB8AC3E}">
        <p14:creationId xmlns:p14="http://schemas.microsoft.com/office/powerpoint/2010/main" val="167592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4DE0681-9430-4953-A4E7-553E4CE2B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796581"/>
              </p:ext>
            </p:extLst>
          </p:nvPr>
        </p:nvGraphicFramePr>
        <p:xfrm>
          <a:off x="709574" y="636423"/>
          <a:ext cx="7768746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91">
                  <a:extLst>
                    <a:ext uri="{9D8B030D-6E8A-4147-A177-3AD203B41FA5}">
                      <a16:colId xmlns:a16="http://schemas.microsoft.com/office/drawing/2014/main" val="2770539529"/>
                    </a:ext>
                  </a:extLst>
                </a:gridCol>
                <a:gridCol w="1294791">
                  <a:extLst>
                    <a:ext uri="{9D8B030D-6E8A-4147-A177-3AD203B41FA5}">
                      <a16:colId xmlns:a16="http://schemas.microsoft.com/office/drawing/2014/main" val="200190852"/>
                    </a:ext>
                  </a:extLst>
                </a:gridCol>
                <a:gridCol w="1294791">
                  <a:extLst>
                    <a:ext uri="{9D8B030D-6E8A-4147-A177-3AD203B41FA5}">
                      <a16:colId xmlns:a16="http://schemas.microsoft.com/office/drawing/2014/main" val="619854737"/>
                    </a:ext>
                  </a:extLst>
                </a:gridCol>
                <a:gridCol w="1294791">
                  <a:extLst>
                    <a:ext uri="{9D8B030D-6E8A-4147-A177-3AD203B41FA5}">
                      <a16:colId xmlns:a16="http://schemas.microsoft.com/office/drawing/2014/main" val="4090901976"/>
                    </a:ext>
                  </a:extLst>
                </a:gridCol>
                <a:gridCol w="1294791">
                  <a:extLst>
                    <a:ext uri="{9D8B030D-6E8A-4147-A177-3AD203B41FA5}">
                      <a16:colId xmlns:a16="http://schemas.microsoft.com/office/drawing/2014/main" val="191568447"/>
                    </a:ext>
                  </a:extLst>
                </a:gridCol>
                <a:gridCol w="1294791">
                  <a:extLst>
                    <a:ext uri="{9D8B030D-6E8A-4147-A177-3AD203B41FA5}">
                      <a16:colId xmlns:a16="http://schemas.microsoft.com/office/drawing/2014/main" val="3764180427"/>
                    </a:ext>
                  </a:extLst>
                </a:gridCol>
              </a:tblGrid>
              <a:tr h="476177">
                <a:tc>
                  <a:txBody>
                    <a:bodyPr/>
                    <a:lstStyle/>
                    <a:p>
                      <a:r>
                        <a:rPr lang="en-US" dirty="0"/>
                        <a:t>Quarter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Strategic Theme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Promotion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639670"/>
                  </a:ext>
                </a:extLst>
              </a:tr>
              <a:tr h="3203369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  <a:p>
                      <a:br>
                        <a:rPr lang="en-US" dirty="0"/>
                      </a:br>
                      <a:r>
                        <a:rPr lang="en-US" dirty="0"/>
                        <a:t>(Jan–Mar)</a:t>
                      </a:r>
                    </a:p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Winter-to-Spring Transition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Finalize batch production.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Run shelf-life &amp; leakage stability audits on tubes.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Prepare travel/mini-size sample tubes.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Anchor standard retail pricing (e.g., ৳650–৳700 range).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Lock in wholesale margins for beauty retailers.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Partner with skincare e-commerce platforms (</a:t>
                      </a:r>
                      <a:r>
                        <a:rPr lang="en-US" dirty="0" err="1"/>
                        <a:t>Daraz</a:t>
                      </a:r>
                      <a:r>
                        <a:rPr lang="en-US" dirty="0"/>
                        <a:t>, The Mall BD, etc.).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Pitch to physical pharmacy &amp; beauty counters.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The "Clouds Don't Block UV" Campaign:</a:t>
                      </a:r>
                      <a:r>
                        <a:rPr lang="en-US" dirty="0"/>
                        <a:t> Educate on indoor/winter UV damage.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Send PR seeding boxes to micro-influencers for honest formulation reviews.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6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35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4FDB97-5D90-4819-8809-08893A9E645C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Financial Budget Allocation (sector)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CDC754-8220-4395-BC9B-F9FFA529912A}"/>
              </a:ext>
            </a:extLst>
          </p:cNvPr>
          <p:cNvGrpSpPr/>
          <p:nvPr/>
        </p:nvGrpSpPr>
        <p:grpSpPr>
          <a:xfrm>
            <a:off x="533400" y="953561"/>
            <a:ext cx="8077200" cy="3354917"/>
            <a:chOff x="643467" y="753533"/>
            <a:chExt cx="8077200" cy="3354917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773A4A1B-A232-4BC5-B5F0-AC17BAEF64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66250891"/>
                </p:ext>
              </p:extLst>
            </p:nvPr>
          </p:nvGraphicFramePr>
          <p:xfrm>
            <a:off x="856082" y="819301"/>
            <a:ext cx="7431836" cy="32891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99D3528-B3BC-4DB6-8F34-F95CBC30C0A5}"/>
                </a:ext>
              </a:extLst>
            </p:cNvPr>
            <p:cNvSpPr/>
            <p:nvPr/>
          </p:nvSpPr>
          <p:spPr>
            <a:xfrm>
              <a:off x="643467" y="753533"/>
              <a:ext cx="8077200" cy="3354917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67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0D3359-9F6F-473D-AA96-5B03A4229D55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Challenges &amp; Feasibility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DB4A3B3-823C-40A9-AAB0-0831CFBD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53913"/>
              </p:ext>
            </p:extLst>
          </p:nvPr>
        </p:nvGraphicFramePr>
        <p:xfrm>
          <a:off x="367710" y="101844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Trust in Local Brands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Science-backed communication &amp; real consumer reviews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3BA8E3EB-9C23-431E-AB24-247AD9266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395683"/>
              </p:ext>
            </p:extLst>
          </p:nvPr>
        </p:nvGraphicFramePr>
        <p:xfrm>
          <a:off x="5056854" y="881523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Dominance of Foreign Competitors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Competitive pricing &amp; localized positioning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0FB506BA-B540-4D87-B67C-4081A0A35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247075"/>
              </p:ext>
            </p:extLst>
          </p:nvPr>
        </p:nvGraphicFramePr>
        <p:xfrm>
          <a:off x="367708" y="2802282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Limited UV Protection Awareness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Educational content &amp; awareness campaigns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6AAD4964-53E6-4E8F-B8A0-64A5B6987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53356"/>
              </p:ext>
            </p:extLst>
          </p:nvPr>
        </p:nvGraphicFramePr>
        <p:xfrm>
          <a:off x="5108167" y="308362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Male Sunscreen Usage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Gender-inclusive campaigns &amp; influencer engagement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26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C18EF2-22E3-4221-B09B-B717BAF6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135467"/>
            <a:ext cx="9143999" cy="5143500"/>
          </a:xfrm>
          <a:prstGeom prst="rect">
            <a:avLst/>
          </a:prstGeom>
        </p:spPr>
      </p:pic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411928-62CD-441A-817E-D41BE651C1D8}"/>
              </a:ext>
            </a:extLst>
          </p:cNvPr>
          <p:cNvSpPr txBox="1"/>
          <p:nvPr/>
        </p:nvSpPr>
        <p:spPr>
          <a:xfrm>
            <a:off x="2162655" y="1556087"/>
            <a:ext cx="48186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84119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FFFFFF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</TotalTime>
  <Words>475</Words>
  <Application>Microsoft Office PowerPoint</Application>
  <PresentationFormat>On-screen Show (16:9)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Wingdings</vt:lpstr>
      <vt:lpstr>Calibri</vt:lpstr>
      <vt:lpstr>Arial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Shohan Islam</cp:lastModifiedBy>
  <cp:revision>88</cp:revision>
  <dcterms:created xsi:type="dcterms:W3CDTF">2026-05-16T10:25:59Z</dcterms:created>
  <dcterms:modified xsi:type="dcterms:W3CDTF">2026-05-19T00:36:22Z</dcterms:modified>
</cp:coreProperties>
</file>