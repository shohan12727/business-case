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alibri (MS) Bold" charset="1" panose="020F0702030404030204"/>
      <p:regular r:id="rId22"/>
    </p:embeddedFont>
    <p:embeddedFont>
      <p:font typeface="Canva Sans Bold" charset="1" panose="020B0803030501040103"/>
      <p:regular r:id="rId23"/>
    </p:embeddedFont>
    <p:embeddedFont>
      <p:font typeface="Francois One" charset="1" panose="02000503040000020004"/>
      <p:regular r:id="rId24"/>
    </p:embeddedFont>
    <p:embeddedFont>
      <p:font typeface="Lexend Deca" charset="1" panose="00000000000000000000"/>
      <p:regular r:id="rId25"/>
    </p:embeddedFont>
    <p:embeddedFont>
      <p:font typeface="Canva Sans" charset="1" panose="020B0503030501040103"/>
      <p:regular r:id="rId26"/>
    </p:embeddedFont>
    <p:embeddedFont>
      <p:font typeface="Calibri (MS)" charset="1" panose="020F0502020204030204"/>
      <p:regular r:id="rId27"/>
    </p:embeddedFont>
    <p:embeddedFont>
      <p:font typeface="Arial Bold" charset="1" panose="020B0704020202020204"/>
      <p:regular r:id="rId28"/>
    </p:embeddedFont>
    <p:embeddedFont>
      <p:font typeface="Open Sauce Heavy" charset="1" panose="00000A00000000000000"/>
      <p:regular r:id="rId29"/>
    </p:embeddedFont>
    <p:embeddedFont>
      <p:font typeface="Open Sauce Light" charset="1" panose="000004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800AD"/>
        </a:solidFill>
      </p:bgPr>
    </p:bg>
    <p:spTree>
      <p:nvGrpSpPr>
        <p:cNvPr id="1" name=""/>
        <p:cNvGrpSpPr/>
        <p:nvPr/>
      </p:nvGrpSpPr>
      <p:grpSpPr>
        <a:xfrm>
          <a:off x="0" y="0"/>
          <a:ext cx="0" cy="0"/>
          <a:chOff x="0" y="0"/>
          <a:chExt cx="0" cy="0"/>
        </a:xfrm>
      </p:grpSpPr>
      <p:sp>
        <p:nvSpPr>
          <p:cNvPr name="Freeform 2" id="2"/>
          <p:cNvSpPr/>
          <p:nvPr/>
        </p:nvSpPr>
        <p:spPr>
          <a:xfrm flipH="false" flipV="false" rot="0">
            <a:off x="15718853" y="0"/>
            <a:ext cx="2569147" cy="2493059"/>
          </a:xfrm>
          <a:custGeom>
            <a:avLst/>
            <a:gdLst/>
            <a:ahLst/>
            <a:cxnLst/>
            <a:rect r="r" b="b" t="t" l="l"/>
            <a:pathLst>
              <a:path h="2493059" w="2569147">
                <a:moveTo>
                  <a:pt x="0" y="0"/>
                </a:moveTo>
                <a:lnTo>
                  <a:pt x="2569147" y="0"/>
                </a:lnTo>
                <a:lnTo>
                  <a:pt x="2569147" y="2493059"/>
                </a:lnTo>
                <a:lnTo>
                  <a:pt x="0" y="2493059"/>
                </a:lnTo>
                <a:lnTo>
                  <a:pt x="0" y="0"/>
                </a:lnTo>
                <a:close/>
              </a:path>
            </a:pathLst>
          </a:custGeom>
          <a:blipFill>
            <a:blip r:embed="rId2"/>
            <a:stretch>
              <a:fillRect l="0" t="-3630" r="-4083" b="-3630"/>
            </a:stretch>
          </a:blipFill>
        </p:spPr>
      </p:sp>
      <p:grpSp>
        <p:nvGrpSpPr>
          <p:cNvPr name="Group 3" id="3"/>
          <p:cNvGrpSpPr/>
          <p:nvPr/>
        </p:nvGrpSpPr>
        <p:grpSpPr>
          <a:xfrm rot="0">
            <a:off x="-38584" y="-8039"/>
            <a:ext cx="6266656" cy="10295039"/>
            <a:chOff x="0" y="0"/>
            <a:chExt cx="8355541" cy="13726719"/>
          </a:xfrm>
        </p:grpSpPr>
        <p:sp>
          <p:nvSpPr>
            <p:cNvPr name="Freeform 4" id="4"/>
            <p:cNvSpPr/>
            <p:nvPr/>
          </p:nvSpPr>
          <p:spPr>
            <a:xfrm flipH="false" flipV="false" rot="0">
              <a:off x="0" y="0"/>
              <a:ext cx="8355579" cy="13726668"/>
            </a:xfrm>
            <a:custGeom>
              <a:avLst/>
              <a:gdLst/>
              <a:ahLst/>
              <a:cxnLst/>
              <a:rect r="r" b="b" t="t" l="l"/>
              <a:pathLst>
                <a:path h="13726668" w="8355579">
                  <a:moveTo>
                    <a:pt x="0" y="0"/>
                  </a:moveTo>
                  <a:lnTo>
                    <a:pt x="8355579" y="0"/>
                  </a:lnTo>
                  <a:lnTo>
                    <a:pt x="8355579" y="13726668"/>
                  </a:lnTo>
                  <a:lnTo>
                    <a:pt x="0" y="13726668"/>
                  </a:lnTo>
                  <a:close/>
                </a:path>
              </a:pathLst>
            </a:custGeom>
            <a:solidFill>
              <a:srgbClr val="CC0000"/>
            </a:solidFill>
          </p:spPr>
        </p:sp>
      </p:grpSp>
      <p:sp>
        <p:nvSpPr>
          <p:cNvPr name="TextBox 5" id="5"/>
          <p:cNvSpPr txBox="true"/>
          <p:nvPr/>
        </p:nvSpPr>
        <p:spPr>
          <a:xfrm rot="0">
            <a:off x="152617" y="1081035"/>
            <a:ext cx="6371318" cy="1938426"/>
          </a:xfrm>
          <a:prstGeom prst="rect">
            <a:avLst/>
          </a:prstGeom>
        </p:spPr>
        <p:txBody>
          <a:bodyPr anchor="t" rtlCol="false" tIns="0" lIns="0" bIns="0" rIns="0">
            <a:spAutoFit/>
          </a:bodyPr>
          <a:lstStyle/>
          <a:p>
            <a:pPr algn="ctr">
              <a:lnSpc>
                <a:spcPts val="11542"/>
              </a:lnSpc>
            </a:pPr>
            <a:r>
              <a:rPr lang="en-US" sz="9618" b="true">
                <a:solidFill>
                  <a:srgbClr val="FFFFFF"/>
                </a:solidFill>
                <a:latin typeface="Calibri (MS) Bold"/>
                <a:ea typeface="Calibri (MS) Bold"/>
                <a:cs typeface="Calibri (MS) Bold"/>
                <a:sym typeface="Calibri (MS) Bold"/>
              </a:rPr>
              <a:t>WALTON</a:t>
            </a:r>
          </a:p>
        </p:txBody>
      </p:sp>
      <p:sp>
        <p:nvSpPr>
          <p:cNvPr name="TextBox 6" id="6"/>
          <p:cNvSpPr txBox="true"/>
          <p:nvPr/>
        </p:nvSpPr>
        <p:spPr>
          <a:xfrm rot="0">
            <a:off x="218695" y="2621631"/>
            <a:ext cx="6009377" cy="712890"/>
          </a:xfrm>
          <a:prstGeom prst="rect">
            <a:avLst/>
          </a:prstGeom>
        </p:spPr>
        <p:txBody>
          <a:bodyPr anchor="t" rtlCol="false" tIns="0" lIns="0" bIns="0" rIns="0">
            <a:spAutoFit/>
          </a:bodyPr>
          <a:lstStyle/>
          <a:p>
            <a:pPr algn="ctr">
              <a:lnSpc>
                <a:spcPts val="5853"/>
              </a:lnSpc>
            </a:pPr>
            <a:r>
              <a:rPr lang="en-US" sz="4181" b="true">
                <a:solidFill>
                  <a:srgbClr val="FFFFFF"/>
                </a:solidFill>
                <a:latin typeface="Canva Sans Bold"/>
                <a:ea typeface="Canva Sans Bold"/>
                <a:cs typeface="Canva Sans Bold"/>
                <a:sym typeface="Canva Sans Bold"/>
              </a:rPr>
              <a:t>Hi-Tech Industries PLC</a:t>
            </a:r>
          </a:p>
        </p:txBody>
      </p:sp>
      <p:sp>
        <p:nvSpPr>
          <p:cNvPr name="TextBox 7" id="7"/>
          <p:cNvSpPr txBox="true"/>
          <p:nvPr/>
        </p:nvSpPr>
        <p:spPr>
          <a:xfrm rot="0">
            <a:off x="7084321" y="1077962"/>
            <a:ext cx="6141085" cy="2734945"/>
          </a:xfrm>
          <a:prstGeom prst="rect">
            <a:avLst/>
          </a:prstGeom>
        </p:spPr>
        <p:txBody>
          <a:bodyPr anchor="t" rtlCol="false" tIns="0" lIns="0" bIns="0" rIns="0">
            <a:spAutoFit/>
          </a:bodyPr>
          <a:lstStyle/>
          <a:p>
            <a:pPr algn="ctr">
              <a:lnSpc>
                <a:spcPts val="7279"/>
              </a:lnSpc>
            </a:pPr>
            <a:r>
              <a:rPr lang="en-US" sz="5199" b="true">
                <a:solidFill>
                  <a:srgbClr val="A0AABB"/>
                </a:solidFill>
                <a:latin typeface="Canva Sans Bold"/>
                <a:ea typeface="Canva Sans Bold"/>
                <a:cs typeface="Canva Sans Bold"/>
                <a:sym typeface="Canva Sans Bold"/>
              </a:rPr>
              <a:t>Customer Driven</a:t>
            </a:r>
          </a:p>
          <a:p>
            <a:pPr algn="ctr">
              <a:lnSpc>
                <a:spcPts val="7279"/>
              </a:lnSpc>
            </a:pPr>
            <a:r>
              <a:rPr lang="en-US" sz="5199" b="true">
                <a:solidFill>
                  <a:srgbClr val="CC0000"/>
                </a:solidFill>
                <a:latin typeface="Canva Sans Bold"/>
                <a:ea typeface="Canva Sans Bold"/>
                <a:cs typeface="Canva Sans Bold"/>
                <a:sym typeface="Canva Sans Bold"/>
              </a:rPr>
              <a:t>Marketing Strategy</a:t>
            </a:r>
          </a:p>
          <a:p>
            <a:pPr algn="ctr">
              <a:lnSpc>
                <a:spcPts val="7279"/>
              </a:lnSpc>
            </a:pPr>
          </a:p>
        </p:txBody>
      </p:sp>
      <p:sp>
        <p:nvSpPr>
          <p:cNvPr name="TextBox 8" id="8"/>
          <p:cNvSpPr txBox="true"/>
          <p:nvPr/>
        </p:nvSpPr>
        <p:spPr>
          <a:xfrm rot="0">
            <a:off x="6523934" y="4131421"/>
            <a:ext cx="11764066" cy="3934693"/>
          </a:xfrm>
          <a:prstGeom prst="rect">
            <a:avLst/>
          </a:prstGeom>
        </p:spPr>
        <p:txBody>
          <a:bodyPr anchor="t" rtlCol="false" tIns="0" lIns="0" bIns="0" rIns="0">
            <a:spAutoFit/>
          </a:bodyPr>
          <a:lstStyle/>
          <a:p>
            <a:pPr algn="ctr">
              <a:lnSpc>
                <a:spcPts val="5202"/>
              </a:lnSpc>
            </a:pPr>
            <a:r>
              <a:rPr lang="en-US" b="true" sz="3715">
                <a:gradFill>
                  <a:gsLst>
                    <a:gs pos="0">
                      <a:srgbClr val="A6A6A6">
                        <a:alpha val="100000"/>
                      </a:srgbClr>
                    </a:gs>
                    <a:gs pos="100000">
                      <a:srgbClr val="FFFFFF">
                        <a:alpha val="100000"/>
                      </a:srgbClr>
                    </a:gs>
                  </a:gsLst>
                  <a:lin ang="0"/>
                </a:gradFill>
                <a:latin typeface="Canva Sans Bold"/>
                <a:ea typeface="Canva Sans Bold"/>
                <a:cs typeface="Canva Sans Bold"/>
                <a:sym typeface="Canva Sans Bold"/>
              </a:rPr>
              <a:t>A comprehensive analysis of segmentation, targeting, positioning,</a:t>
            </a:r>
          </a:p>
          <a:p>
            <a:pPr algn="ctr">
              <a:lnSpc>
                <a:spcPts val="5202"/>
              </a:lnSpc>
            </a:pPr>
            <a:r>
              <a:rPr lang="en-US" b="true" sz="3715">
                <a:gradFill>
                  <a:gsLst>
                    <a:gs pos="0">
                      <a:srgbClr val="A6A6A6">
                        <a:alpha val="100000"/>
                      </a:srgbClr>
                    </a:gs>
                    <a:gs pos="100000">
                      <a:srgbClr val="FFFFFF">
                        <a:alpha val="100000"/>
                      </a:srgbClr>
                    </a:gs>
                  </a:gsLst>
                  <a:lin ang="0"/>
                </a:gradFill>
                <a:latin typeface="Canva Sans Bold"/>
                <a:ea typeface="Canva Sans Bold"/>
                <a:cs typeface="Canva Sans Bold"/>
                <a:sym typeface="Canva Sans Bold"/>
              </a:rPr>
              <a:t>marketing mix and strategic growth of Bangladesh's leading</a:t>
            </a:r>
          </a:p>
          <a:p>
            <a:pPr algn="ctr">
              <a:lnSpc>
                <a:spcPts val="5202"/>
              </a:lnSpc>
            </a:pPr>
            <a:r>
              <a:rPr lang="en-US" b="true" sz="3715">
                <a:gradFill>
                  <a:gsLst>
                    <a:gs pos="0">
                      <a:srgbClr val="A6A6A6">
                        <a:alpha val="100000"/>
                      </a:srgbClr>
                    </a:gs>
                    <a:gs pos="100000">
                      <a:srgbClr val="FFFFFF">
                        <a:alpha val="100000"/>
                      </a:srgbClr>
                    </a:gs>
                  </a:gsLst>
                  <a:lin ang="0"/>
                </a:gradFill>
                <a:latin typeface="Canva Sans Bold"/>
                <a:ea typeface="Canva Sans Bold"/>
                <a:cs typeface="Canva Sans Bold"/>
                <a:sym typeface="Canva Sans Bold"/>
              </a:rPr>
              <a:t>electronics brand.</a:t>
            </a:r>
          </a:p>
          <a:p>
            <a:pPr algn="ctr">
              <a:lnSpc>
                <a:spcPts val="5202"/>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C0000"/>
        </a:solidFill>
      </p:bgPr>
    </p:bg>
    <p:spTree>
      <p:nvGrpSpPr>
        <p:cNvPr id="1" name=""/>
        <p:cNvGrpSpPr/>
        <p:nvPr/>
      </p:nvGrpSpPr>
      <p:grpSpPr>
        <a:xfrm>
          <a:off x="0" y="0"/>
          <a:ext cx="0" cy="0"/>
          <a:chOff x="0" y="0"/>
          <a:chExt cx="0" cy="0"/>
        </a:xfrm>
      </p:grpSpPr>
      <p:sp>
        <p:nvSpPr>
          <p:cNvPr name="Freeform 2" id="2"/>
          <p:cNvSpPr/>
          <p:nvPr/>
        </p:nvSpPr>
        <p:spPr>
          <a:xfrm flipH="false" flipV="false" rot="0">
            <a:off x="1270179" y="1218811"/>
            <a:ext cx="7260615" cy="3867928"/>
          </a:xfrm>
          <a:custGeom>
            <a:avLst/>
            <a:gdLst/>
            <a:ahLst/>
            <a:cxnLst/>
            <a:rect r="r" b="b" t="t" l="l"/>
            <a:pathLst>
              <a:path h="3867928" w="7260615">
                <a:moveTo>
                  <a:pt x="0" y="0"/>
                </a:moveTo>
                <a:lnTo>
                  <a:pt x="7260615" y="0"/>
                </a:lnTo>
                <a:lnTo>
                  <a:pt x="7260615" y="3867928"/>
                </a:lnTo>
                <a:lnTo>
                  <a:pt x="0" y="38679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0179" y="5515364"/>
            <a:ext cx="7260615" cy="3867928"/>
          </a:xfrm>
          <a:custGeom>
            <a:avLst/>
            <a:gdLst/>
            <a:ahLst/>
            <a:cxnLst/>
            <a:rect r="r" b="b" t="t" l="l"/>
            <a:pathLst>
              <a:path h="3867928" w="7260615">
                <a:moveTo>
                  <a:pt x="0" y="0"/>
                </a:moveTo>
                <a:lnTo>
                  <a:pt x="7260615" y="0"/>
                </a:lnTo>
                <a:lnTo>
                  <a:pt x="7260615" y="3867928"/>
                </a:lnTo>
                <a:lnTo>
                  <a:pt x="0" y="38679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920849" y="5515364"/>
            <a:ext cx="7260615" cy="3867928"/>
          </a:xfrm>
          <a:custGeom>
            <a:avLst/>
            <a:gdLst/>
            <a:ahLst/>
            <a:cxnLst/>
            <a:rect r="r" b="b" t="t" l="l"/>
            <a:pathLst>
              <a:path h="3867928" w="7260615">
                <a:moveTo>
                  <a:pt x="0" y="0"/>
                </a:moveTo>
                <a:lnTo>
                  <a:pt x="7260615" y="0"/>
                </a:lnTo>
                <a:lnTo>
                  <a:pt x="7260615" y="3867928"/>
                </a:lnTo>
                <a:lnTo>
                  <a:pt x="0" y="38679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920849" y="1275572"/>
            <a:ext cx="7260615" cy="3867928"/>
          </a:xfrm>
          <a:custGeom>
            <a:avLst/>
            <a:gdLst/>
            <a:ahLst/>
            <a:cxnLst/>
            <a:rect r="r" b="b" t="t" l="l"/>
            <a:pathLst>
              <a:path h="3867928" w="7260615">
                <a:moveTo>
                  <a:pt x="0" y="0"/>
                </a:moveTo>
                <a:lnTo>
                  <a:pt x="7260615" y="0"/>
                </a:lnTo>
                <a:lnTo>
                  <a:pt x="7260615" y="3867928"/>
                </a:lnTo>
                <a:lnTo>
                  <a:pt x="0" y="38679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792122" y="2053316"/>
            <a:ext cx="4969099" cy="1099459"/>
          </a:xfrm>
          <a:prstGeom prst="rect">
            <a:avLst/>
          </a:prstGeom>
        </p:spPr>
        <p:txBody>
          <a:bodyPr anchor="t" rtlCol="false" tIns="0" lIns="0" bIns="0" rIns="0">
            <a:spAutoFit/>
          </a:bodyPr>
          <a:lstStyle/>
          <a:p>
            <a:pPr algn="ctr">
              <a:lnSpc>
                <a:spcPts val="4499"/>
              </a:lnSpc>
            </a:pPr>
            <a:r>
              <a:rPr lang="en-US" sz="3214" b="true">
                <a:solidFill>
                  <a:srgbClr val="000000"/>
                </a:solidFill>
                <a:latin typeface="Canva Sans Bold"/>
                <a:ea typeface="Canva Sans Bold"/>
                <a:cs typeface="Canva Sans Bold"/>
                <a:sym typeface="Canva Sans Bold"/>
              </a:rPr>
              <a:t>Nasimul Hoque Nabil</a:t>
            </a:r>
          </a:p>
          <a:p>
            <a:pPr algn="ctr">
              <a:lnSpc>
                <a:spcPts val="4499"/>
              </a:lnSpc>
            </a:pPr>
          </a:p>
        </p:txBody>
      </p:sp>
      <p:sp>
        <p:nvSpPr>
          <p:cNvPr name="TextBox 7" id="7"/>
          <p:cNvSpPr txBox="true"/>
          <p:nvPr/>
        </p:nvSpPr>
        <p:spPr>
          <a:xfrm rot="0">
            <a:off x="2949381" y="3301709"/>
            <a:ext cx="880677" cy="712222"/>
          </a:xfrm>
          <a:prstGeom prst="rect">
            <a:avLst/>
          </a:prstGeom>
        </p:spPr>
        <p:txBody>
          <a:bodyPr anchor="t" rtlCol="false" tIns="0" lIns="0" bIns="0" rIns="0">
            <a:spAutoFit/>
          </a:bodyPr>
          <a:lstStyle/>
          <a:p>
            <a:pPr algn="ctr">
              <a:lnSpc>
                <a:spcPts val="5893"/>
              </a:lnSpc>
            </a:pPr>
            <a:r>
              <a:rPr lang="en-US" sz="4209" b="true">
                <a:solidFill>
                  <a:srgbClr val="000000"/>
                </a:solidFill>
                <a:latin typeface="Canva Sans Bold"/>
                <a:ea typeface="Canva Sans Bold"/>
                <a:cs typeface="Canva Sans Bold"/>
                <a:sym typeface="Canva Sans Bold"/>
              </a:rPr>
              <a:t>ID:</a:t>
            </a:r>
          </a:p>
        </p:txBody>
      </p:sp>
      <p:sp>
        <p:nvSpPr>
          <p:cNvPr name="TextBox 8" id="8"/>
          <p:cNvSpPr txBox="true"/>
          <p:nvPr/>
        </p:nvSpPr>
        <p:spPr>
          <a:xfrm rot="0">
            <a:off x="3631199" y="3506559"/>
            <a:ext cx="4899596" cy="1064772"/>
          </a:xfrm>
          <a:prstGeom prst="rect">
            <a:avLst/>
          </a:prstGeom>
        </p:spPr>
        <p:txBody>
          <a:bodyPr anchor="t" rtlCol="false" tIns="0" lIns="0" bIns="0" rIns="0">
            <a:spAutoFit/>
          </a:bodyPr>
          <a:lstStyle/>
          <a:p>
            <a:pPr algn="ctr">
              <a:lnSpc>
                <a:spcPts val="4311"/>
              </a:lnSpc>
            </a:pPr>
            <a:r>
              <a:rPr lang="en-US" sz="3079" b="true">
                <a:solidFill>
                  <a:srgbClr val="E94F37"/>
                </a:solidFill>
                <a:latin typeface="Canva Sans Bold"/>
                <a:ea typeface="Canva Sans Bold"/>
                <a:cs typeface="Canva Sans Bold"/>
                <a:sym typeface="Canva Sans Bold"/>
              </a:rPr>
              <a:t>2522219630</a:t>
            </a:r>
          </a:p>
          <a:p>
            <a:pPr algn="ctr">
              <a:lnSpc>
                <a:spcPts val="4311"/>
              </a:lnSpc>
            </a:pPr>
          </a:p>
        </p:txBody>
      </p:sp>
      <p:sp>
        <p:nvSpPr>
          <p:cNvPr name="TextBox 9" id="9"/>
          <p:cNvSpPr txBox="true"/>
          <p:nvPr/>
        </p:nvSpPr>
        <p:spPr>
          <a:xfrm rot="0">
            <a:off x="12359704" y="3506559"/>
            <a:ext cx="4899596" cy="1064772"/>
          </a:xfrm>
          <a:prstGeom prst="rect">
            <a:avLst/>
          </a:prstGeom>
        </p:spPr>
        <p:txBody>
          <a:bodyPr anchor="t" rtlCol="false" tIns="0" lIns="0" bIns="0" rIns="0">
            <a:spAutoFit/>
          </a:bodyPr>
          <a:lstStyle/>
          <a:p>
            <a:pPr algn="ctr">
              <a:lnSpc>
                <a:spcPts val="4311"/>
              </a:lnSpc>
            </a:pPr>
            <a:r>
              <a:rPr lang="en-US" sz="3079" b="true">
                <a:solidFill>
                  <a:srgbClr val="E94F37"/>
                </a:solidFill>
                <a:latin typeface="Canva Sans Bold"/>
                <a:ea typeface="Canva Sans Bold"/>
                <a:cs typeface="Canva Sans Bold"/>
                <a:sym typeface="Canva Sans Bold"/>
              </a:rPr>
              <a:t>2524217630</a:t>
            </a:r>
          </a:p>
          <a:p>
            <a:pPr algn="ctr">
              <a:lnSpc>
                <a:spcPts val="4311"/>
              </a:lnSpc>
            </a:pPr>
          </a:p>
        </p:txBody>
      </p:sp>
      <p:sp>
        <p:nvSpPr>
          <p:cNvPr name="TextBox 10" id="10"/>
          <p:cNvSpPr txBox="true"/>
          <p:nvPr/>
        </p:nvSpPr>
        <p:spPr>
          <a:xfrm rot="0">
            <a:off x="12359704" y="7752989"/>
            <a:ext cx="4899596" cy="1064772"/>
          </a:xfrm>
          <a:prstGeom prst="rect">
            <a:avLst/>
          </a:prstGeom>
        </p:spPr>
        <p:txBody>
          <a:bodyPr anchor="t" rtlCol="false" tIns="0" lIns="0" bIns="0" rIns="0">
            <a:spAutoFit/>
          </a:bodyPr>
          <a:lstStyle/>
          <a:p>
            <a:pPr algn="ctr">
              <a:lnSpc>
                <a:spcPts val="4311"/>
              </a:lnSpc>
            </a:pPr>
            <a:r>
              <a:rPr lang="en-US" sz="3079" b="true">
                <a:solidFill>
                  <a:srgbClr val="E94F37"/>
                </a:solidFill>
                <a:latin typeface="Canva Sans Bold"/>
                <a:ea typeface="Canva Sans Bold"/>
                <a:cs typeface="Canva Sans Bold"/>
                <a:sym typeface="Canva Sans Bold"/>
              </a:rPr>
              <a:t>2534227030</a:t>
            </a:r>
          </a:p>
          <a:p>
            <a:pPr algn="ctr">
              <a:lnSpc>
                <a:spcPts val="4311"/>
              </a:lnSpc>
            </a:pPr>
          </a:p>
        </p:txBody>
      </p:sp>
      <p:sp>
        <p:nvSpPr>
          <p:cNvPr name="TextBox 11" id="11"/>
          <p:cNvSpPr txBox="true"/>
          <p:nvPr/>
        </p:nvSpPr>
        <p:spPr>
          <a:xfrm rot="0">
            <a:off x="11660593" y="7601728"/>
            <a:ext cx="880677" cy="712222"/>
          </a:xfrm>
          <a:prstGeom prst="rect">
            <a:avLst/>
          </a:prstGeom>
        </p:spPr>
        <p:txBody>
          <a:bodyPr anchor="t" rtlCol="false" tIns="0" lIns="0" bIns="0" rIns="0">
            <a:spAutoFit/>
          </a:bodyPr>
          <a:lstStyle/>
          <a:p>
            <a:pPr algn="ctr">
              <a:lnSpc>
                <a:spcPts val="5893"/>
              </a:lnSpc>
            </a:pPr>
            <a:r>
              <a:rPr lang="en-US" sz="4209" b="true">
                <a:solidFill>
                  <a:srgbClr val="000000"/>
                </a:solidFill>
                <a:latin typeface="Canva Sans Bold"/>
                <a:ea typeface="Canva Sans Bold"/>
                <a:cs typeface="Canva Sans Bold"/>
                <a:sym typeface="Canva Sans Bold"/>
              </a:rPr>
              <a:t>ID:</a:t>
            </a:r>
          </a:p>
        </p:txBody>
      </p:sp>
      <p:sp>
        <p:nvSpPr>
          <p:cNvPr name="TextBox 12" id="12"/>
          <p:cNvSpPr txBox="true"/>
          <p:nvPr/>
        </p:nvSpPr>
        <p:spPr>
          <a:xfrm rot="0">
            <a:off x="2949381" y="7601728"/>
            <a:ext cx="880677" cy="712222"/>
          </a:xfrm>
          <a:prstGeom prst="rect">
            <a:avLst/>
          </a:prstGeom>
        </p:spPr>
        <p:txBody>
          <a:bodyPr anchor="t" rtlCol="false" tIns="0" lIns="0" bIns="0" rIns="0">
            <a:spAutoFit/>
          </a:bodyPr>
          <a:lstStyle/>
          <a:p>
            <a:pPr algn="ctr">
              <a:lnSpc>
                <a:spcPts val="5893"/>
              </a:lnSpc>
            </a:pPr>
            <a:r>
              <a:rPr lang="en-US" sz="4209" b="true">
                <a:solidFill>
                  <a:srgbClr val="000000"/>
                </a:solidFill>
                <a:latin typeface="Canva Sans Bold"/>
                <a:ea typeface="Canva Sans Bold"/>
                <a:cs typeface="Canva Sans Bold"/>
                <a:sym typeface="Canva Sans Bold"/>
              </a:rPr>
              <a:t>ID:</a:t>
            </a:r>
          </a:p>
        </p:txBody>
      </p:sp>
      <p:sp>
        <p:nvSpPr>
          <p:cNvPr name="TextBox 13" id="13"/>
          <p:cNvSpPr txBox="true"/>
          <p:nvPr/>
        </p:nvSpPr>
        <p:spPr>
          <a:xfrm rot="0">
            <a:off x="11660593" y="3355298"/>
            <a:ext cx="880677" cy="712222"/>
          </a:xfrm>
          <a:prstGeom prst="rect">
            <a:avLst/>
          </a:prstGeom>
        </p:spPr>
        <p:txBody>
          <a:bodyPr anchor="t" rtlCol="false" tIns="0" lIns="0" bIns="0" rIns="0">
            <a:spAutoFit/>
          </a:bodyPr>
          <a:lstStyle/>
          <a:p>
            <a:pPr algn="ctr">
              <a:lnSpc>
                <a:spcPts val="5893"/>
              </a:lnSpc>
            </a:pPr>
            <a:r>
              <a:rPr lang="en-US" sz="4209" b="true">
                <a:solidFill>
                  <a:srgbClr val="000000"/>
                </a:solidFill>
                <a:latin typeface="Canva Sans Bold"/>
                <a:ea typeface="Canva Sans Bold"/>
                <a:cs typeface="Canva Sans Bold"/>
                <a:sym typeface="Canva Sans Bold"/>
              </a:rPr>
              <a:t>ID:</a:t>
            </a:r>
          </a:p>
        </p:txBody>
      </p:sp>
      <p:sp>
        <p:nvSpPr>
          <p:cNvPr name="TextBox 14" id="14"/>
          <p:cNvSpPr txBox="true"/>
          <p:nvPr/>
        </p:nvSpPr>
        <p:spPr>
          <a:xfrm rot="0">
            <a:off x="2792122" y="6349869"/>
            <a:ext cx="4969099" cy="1099459"/>
          </a:xfrm>
          <a:prstGeom prst="rect">
            <a:avLst/>
          </a:prstGeom>
        </p:spPr>
        <p:txBody>
          <a:bodyPr anchor="t" rtlCol="false" tIns="0" lIns="0" bIns="0" rIns="0">
            <a:spAutoFit/>
          </a:bodyPr>
          <a:lstStyle/>
          <a:p>
            <a:pPr algn="ctr">
              <a:lnSpc>
                <a:spcPts val="4499"/>
              </a:lnSpc>
            </a:pPr>
            <a:r>
              <a:rPr lang="en-US" sz="3214" b="true">
                <a:solidFill>
                  <a:srgbClr val="000000"/>
                </a:solidFill>
                <a:latin typeface="Canva Sans Bold"/>
                <a:ea typeface="Canva Sans Bold"/>
                <a:cs typeface="Canva Sans Bold"/>
                <a:sym typeface="Canva Sans Bold"/>
              </a:rPr>
              <a:t>Rafia Sanjana</a:t>
            </a:r>
          </a:p>
          <a:p>
            <a:pPr algn="ctr">
              <a:lnSpc>
                <a:spcPts val="4499"/>
              </a:lnSpc>
            </a:pPr>
          </a:p>
        </p:txBody>
      </p:sp>
      <p:sp>
        <p:nvSpPr>
          <p:cNvPr name="TextBox 15" id="15"/>
          <p:cNvSpPr txBox="true"/>
          <p:nvPr/>
        </p:nvSpPr>
        <p:spPr>
          <a:xfrm rot="0">
            <a:off x="11660593" y="2053316"/>
            <a:ext cx="4969099" cy="1099459"/>
          </a:xfrm>
          <a:prstGeom prst="rect">
            <a:avLst/>
          </a:prstGeom>
        </p:spPr>
        <p:txBody>
          <a:bodyPr anchor="t" rtlCol="false" tIns="0" lIns="0" bIns="0" rIns="0">
            <a:spAutoFit/>
          </a:bodyPr>
          <a:lstStyle/>
          <a:p>
            <a:pPr algn="ctr">
              <a:lnSpc>
                <a:spcPts val="4499"/>
              </a:lnSpc>
            </a:pPr>
            <a:r>
              <a:rPr lang="en-US" sz="3214" b="true">
                <a:solidFill>
                  <a:srgbClr val="000000"/>
                </a:solidFill>
                <a:latin typeface="Canva Sans Bold"/>
                <a:ea typeface="Canva Sans Bold"/>
                <a:cs typeface="Canva Sans Bold"/>
                <a:sym typeface="Canva Sans Bold"/>
              </a:rPr>
              <a:t>Protik Sikder</a:t>
            </a:r>
          </a:p>
          <a:p>
            <a:pPr algn="ctr">
              <a:lnSpc>
                <a:spcPts val="4499"/>
              </a:lnSpc>
            </a:pPr>
          </a:p>
        </p:txBody>
      </p:sp>
      <p:sp>
        <p:nvSpPr>
          <p:cNvPr name="TextBox 16" id="16"/>
          <p:cNvSpPr txBox="true"/>
          <p:nvPr/>
        </p:nvSpPr>
        <p:spPr>
          <a:xfrm rot="0">
            <a:off x="3631199" y="7752989"/>
            <a:ext cx="4899596" cy="1064772"/>
          </a:xfrm>
          <a:prstGeom prst="rect">
            <a:avLst/>
          </a:prstGeom>
        </p:spPr>
        <p:txBody>
          <a:bodyPr anchor="t" rtlCol="false" tIns="0" lIns="0" bIns="0" rIns="0">
            <a:spAutoFit/>
          </a:bodyPr>
          <a:lstStyle/>
          <a:p>
            <a:pPr algn="ctr">
              <a:lnSpc>
                <a:spcPts val="4311"/>
              </a:lnSpc>
            </a:pPr>
            <a:r>
              <a:rPr lang="en-US" sz="3079" b="true">
                <a:solidFill>
                  <a:srgbClr val="E94F37"/>
                </a:solidFill>
                <a:latin typeface="Canva Sans Bold"/>
                <a:ea typeface="Canva Sans Bold"/>
                <a:cs typeface="Canva Sans Bold"/>
                <a:sym typeface="Canva Sans Bold"/>
              </a:rPr>
              <a:t>2531172630</a:t>
            </a:r>
          </a:p>
          <a:p>
            <a:pPr algn="ctr">
              <a:lnSpc>
                <a:spcPts val="4311"/>
              </a:lnSpc>
            </a:pPr>
          </a:p>
        </p:txBody>
      </p:sp>
      <p:sp>
        <p:nvSpPr>
          <p:cNvPr name="TextBox 17" id="17"/>
          <p:cNvSpPr txBox="true"/>
          <p:nvPr/>
        </p:nvSpPr>
        <p:spPr>
          <a:xfrm rot="0">
            <a:off x="11660593" y="6172200"/>
            <a:ext cx="4969099" cy="1099459"/>
          </a:xfrm>
          <a:prstGeom prst="rect">
            <a:avLst/>
          </a:prstGeom>
        </p:spPr>
        <p:txBody>
          <a:bodyPr anchor="t" rtlCol="false" tIns="0" lIns="0" bIns="0" rIns="0">
            <a:spAutoFit/>
          </a:bodyPr>
          <a:lstStyle/>
          <a:p>
            <a:pPr algn="ctr">
              <a:lnSpc>
                <a:spcPts val="4499"/>
              </a:lnSpc>
              <a:spcBef>
                <a:spcPct val="0"/>
              </a:spcBef>
            </a:pPr>
            <a:r>
              <a:rPr lang="en-US" b="true" sz="3214">
                <a:solidFill>
                  <a:srgbClr val="000000"/>
                </a:solidFill>
                <a:latin typeface="Canva Sans Bold"/>
                <a:ea typeface="Canva Sans Bold"/>
                <a:cs typeface="Canva Sans Bold"/>
                <a:sym typeface="Canva Sans Bold"/>
              </a:rPr>
              <a:t>Abdullah Muhammad Faisal </a:t>
            </a:r>
          </a:p>
        </p:txBody>
      </p:sp>
      <p:sp>
        <p:nvSpPr>
          <p:cNvPr name="TextBox 18" id="18"/>
          <p:cNvSpPr txBox="true"/>
          <p:nvPr/>
        </p:nvSpPr>
        <p:spPr>
          <a:xfrm rot="0">
            <a:off x="4900487" y="-16406"/>
            <a:ext cx="8487027" cy="1045106"/>
          </a:xfrm>
          <a:prstGeom prst="rect">
            <a:avLst/>
          </a:prstGeom>
        </p:spPr>
        <p:txBody>
          <a:bodyPr anchor="t" rtlCol="false" tIns="0" lIns="0" bIns="0" rIns="0">
            <a:spAutoFit/>
          </a:bodyPr>
          <a:lstStyle/>
          <a:p>
            <a:pPr algn="ctr">
              <a:lnSpc>
                <a:spcPts val="8469"/>
              </a:lnSpc>
            </a:pPr>
            <a:r>
              <a:rPr lang="en-US" sz="6049">
                <a:solidFill>
                  <a:srgbClr val="A0AABB"/>
                </a:solidFill>
                <a:latin typeface="Francois One"/>
                <a:ea typeface="Francois One"/>
                <a:cs typeface="Francois One"/>
                <a:sym typeface="Francois One"/>
              </a:rPr>
              <a:t>TEAM MEMBERS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509139"/>
            <a:chOff x="0" y="0"/>
            <a:chExt cx="24396967" cy="2013255"/>
          </a:xfrm>
        </p:grpSpPr>
        <p:sp>
          <p:nvSpPr>
            <p:cNvPr name="Freeform 3" id="3"/>
            <p:cNvSpPr/>
            <p:nvPr/>
          </p:nvSpPr>
          <p:spPr>
            <a:xfrm flipH="false" flipV="false" rot="0">
              <a:off x="0" y="0"/>
              <a:ext cx="24396954" cy="2013204"/>
            </a:xfrm>
            <a:custGeom>
              <a:avLst/>
              <a:gdLst/>
              <a:ahLst/>
              <a:cxnLst/>
              <a:rect r="r" b="b" t="t" l="l"/>
              <a:pathLst>
                <a:path h="2013204" w="24396954">
                  <a:moveTo>
                    <a:pt x="0" y="0"/>
                  </a:moveTo>
                  <a:lnTo>
                    <a:pt x="24396954" y="0"/>
                  </a:lnTo>
                  <a:lnTo>
                    <a:pt x="24396954" y="2013204"/>
                  </a:lnTo>
                  <a:lnTo>
                    <a:pt x="0" y="2013204"/>
                  </a:lnTo>
                  <a:close/>
                </a:path>
              </a:pathLst>
            </a:custGeom>
            <a:solidFill>
              <a:srgbClr val="CC0000"/>
            </a:solidFill>
          </p:spPr>
        </p:sp>
      </p:grpSp>
      <p:grpSp>
        <p:nvGrpSpPr>
          <p:cNvPr name="Group 4" id="4"/>
          <p:cNvGrpSpPr/>
          <p:nvPr/>
        </p:nvGrpSpPr>
        <p:grpSpPr>
          <a:xfrm rot="0">
            <a:off x="328451" y="2926590"/>
            <a:ext cx="5490686" cy="5353421"/>
            <a:chOff x="0" y="0"/>
            <a:chExt cx="7320915" cy="7137895"/>
          </a:xfrm>
        </p:grpSpPr>
        <p:sp>
          <p:nvSpPr>
            <p:cNvPr name="Freeform 5" id="5"/>
            <p:cNvSpPr/>
            <p:nvPr/>
          </p:nvSpPr>
          <p:spPr>
            <a:xfrm flipH="false" flipV="false" rot="0">
              <a:off x="0" y="0"/>
              <a:ext cx="7320915" cy="7137895"/>
            </a:xfrm>
            <a:custGeom>
              <a:avLst/>
              <a:gdLst/>
              <a:ahLst/>
              <a:cxnLst/>
              <a:rect r="r" b="b" t="t" l="l"/>
              <a:pathLst>
                <a:path h="7137895" w="7320915">
                  <a:moveTo>
                    <a:pt x="0" y="0"/>
                  </a:moveTo>
                  <a:lnTo>
                    <a:pt x="7320915" y="0"/>
                  </a:lnTo>
                  <a:lnTo>
                    <a:pt x="7320915" y="7137895"/>
                  </a:lnTo>
                  <a:lnTo>
                    <a:pt x="0" y="7137895"/>
                  </a:lnTo>
                  <a:close/>
                </a:path>
              </a:pathLst>
            </a:custGeom>
            <a:solidFill>
              <a:srgbClr val="222D42"/>
            </a:solidFill>
          </p:spPr>
        </p:sp>
      </p:grpSp>
      <p:grpSp>
        <p:nvGrpSpPr>
          <p:cNvPr name="Group 6" id="6"/>
          <p:cNvGrpSpPr/>
          <p:nvPr/>
        </p:nvGrpSpPr>
        <p:grpSpPr>
          <a:xfrm rot="0">
            <a:off x="361540" y="2926590"/>
            <a:ext cx="892235" cy="5353421"/>
            <a:chOff x="0" y="0"/>
            <a:chExt cx="1189647" cy="7137895"/>
          </a:xfrm>
        </p:grpSpPr>
        <p:sp>
          <p:nvSpPr>
            <p:cNvPr name="Freeform 7" id="7"/>
            <p:cNvSpPr/>
            <p:nvPr/>
          </p:nvSpPr>
          <p:spPr>
            <a:xfrm flipH="false" flipV="false" rot="0">
              <a:off x="0" y="0"/>
              <a:ext cx="1189609" cy="7137895"/>
            </a:xfrm>
            <a:custGeom>
              <a:avLst/>
              <a:gdLst/>
              <a:ahLst/>
              <a:cxnLst/>
              <a:rect r="r" b="b" t="t" l="l"/>
              <a:pathLst>
                <a:path h="7137895" w="1189609">
                  <a:moveTo>
                    <a:pt x="0" y="0"/>
                  </a:moveTo>
                  <a:lnTo>
                    <a:pt x="1189609" y="0"/>
                  </a:lnTo>
                  <a:lnTo>
                    <a:pt x="1189609" y="7137895"/>
                  </a:lnTo>
                  <a:lnTo>
                    <a:pt x="0" y="7137895"/>
                  </a:lnTo>
                  <a:close/>
                </a:path>
              </a:pathLst>
            </a:custGeom>
            <a:solidFill>
              <a:srgbClr val="CC0000"/>
            </a:solidFill>
          </p:spPr>
        </p:sp>
      </p:grpSp>
      <p:sp>
        <p:nvSpPr>
          <p:cNvPr name="TextBox 8" id="8"/>
          <p:cNvSpPr txBox="true"/>
          <p:nvPr/>
        </p:nvSpPr>
        <p:spPr>
          <a:xfrm rot="0">
            <a:off x="750322" y="3008452"/>
            <a:ext cx="503453" cy="789318"/>
          </a:xfrm>
          <a:prstGeom prst="rect">
            <a:avLst/>
          </a:prstGeom>
        </p:spPr>
        <p:txBody>
          <a:bodyPr anchor="t" rtlCol="false" tIns="0" lIns="0" bIns="0" rIns="0">
            <a:spAutoFit/>
          </a:bodyPr>
          <a:lstStyle/>
          <a:p>
            <a:pPr algn="ctr">
              <a:lnSpc>
                <a:spcPts val="3242"/>
              </a:lnSpc>
            </a:pPr>
            <a:r>
              <a:rPr lang="en-US" sz="2702" b="true">
                <a:solidFill>
                  <a:srgbClr val="FFFFFF"/>
                </a:solidFill>
                <a:latin typeface="Calibri (MS) Bold"/>
                <a:ea typeface="Calibri (MS) Bold"/>
                <a:cs typeface="Calibri (MS) Bold"/>
                <a:sym typeface="Calibri (MS) Bold"/>
              </a:rPr>
              <a:t>01</a:t>
            </a:r>
          </a:p>
        </p:txBody>
      </p:sp>
      <p:grpSp>
        <p:nvGrpSpPr>
          <p:cNvPr name="Group 9" id="9"/>
          <p:cNvGrpSpPr/>
          <p:nvPr/>
        </p:nvGrpSpPr>
        <p:grpSpPr>
          <a:xfrm rot="0">
            <a:off x="6451559" y="2926590"/>
            <a:ext cx="5490686" cy="5353421"/>
            <a:chOff x="0" y="0"/>
            <a:chExt cx="7320915" cy="7137895"/>
          </a:xfrm>
        </p:grpSpPr>
        <p:sp>
          <p:nvSpPr>
            <p:cNvPr name="Freeform 10" id="10"/>
            <p:cNvSpPr/>
            <p:nvPr/>
          </p:nvSpPr>
          <p:spPr>
            <a:xfrm flipH="false" flipV="false" rot="0">
              <a:off x="0" y="0"/>
              <a:ext cx="7320915" cy="7137895"/>
            </a:xfrm>
            <a:custGeom>
              <a:avLst/>
              <a:gdLst/>
              <a:ahLst/>
              <a:cxnLst/>
              <a:rect r="r" b="b" t="t" l="l"/>
              <a:pathLst>
                <a:path h="7137895" w="7320915">
                  <a:moveTo>
                    <a:pt x="0" y="0"/>
                  </a:moveTo>
                  <a:lnTo>
                    <a:pt x="7320915" y="0"/>
                  </a:lnTo>
                  <a:lnTo>
                    <a:pt x="7320915" y="7137895"/>
                  </a:lnTo>
                  <a:lnTo>
                    <a:pt x="0" y="7137895"/>
                  </a:lnTo>
                  <a:close/>
                </a:path>
              </a:pathLst>
            </a:custGeom>
            <a:solidFill>
              <a:srgbClr val="222D42"/>
            </a:solidFill>
          </p:spPr>
        </p:sp>
      </p:grpSp>
      <p:grpSp>
        <p:nvGrpSpPr>
          <p:cNvPr name="Group 11" id="11"/>
          <p:cNvGrpSpPr/>
          <p:nvPr/>
        </p:nvGrpSpPr>
        <p:grpSpPr>
          <a:xfrm rot="0">
            <a:off x="6458421" y="2926590"/>
            <a:ext cx="892235" cy="5353421"/>
            <a:chOff x="0" y="0"/>
            <a:chExt cx="1189647" cy="7137895"/>
          </a:xfrm>
        </p:grpSpPr>
        <p:sp>
          <p:nvSpPr>
            <p:cNvPr name="Freeform 12" id="12"/>
            <p:cNvSpPr/>
            <p:nvPr/>
          </p:nvSpPr>
          <p:spPr>
            <a:xfrm flipH="false" flipV="false" rot="0">
              <a:off x="0" y="0"/>
              <a:ext cx="1189609" cy="7137895"/>
            </a:xfrm>
            <a:custGeom>
              <a:avLst/>
              <a:gdLst/>
              <a:ahLst/>
              <a:cxnLst/>
              <a:rect r="r" b="b" t="t" l="l"/>
              <a:pathLst>
                <a:path h="7137895" w="1189609">
                  <a:moveTo>
                    <a:pt x="0" y="0"/>
                  </a:moveTo>
                  <a:lnTo>
                    <a:pt x="1189609" y="0"/>
                  </a:lnTo>
                  <a:lnTo>
                    <a:pt x="1189609" y="7137895"/>
                  </a:lnTo>
                  <a:lnTo>
                    <a:pt x="0" y="7137895"/>
                  </a:lnTo>
                  <a:close/>
                </a:path>
              </a:pathLst>
            </a:custGeom>
            <a:solidFill>
              <a:srgbClr val="A0AABB"/>
            </a:solidFill>
          </p:spPr>
        </p:sp>
      </p:grpSp>
      <p:sp>
        <p:nvSpPr>
          <p:cNvPr name="TextBox 13" id="13"/>
          <p:cNvSpPr txBox="true"/>
          <p:nvPr/>
        </p:nvSpPr>
        <p:spPr>
          <a:xfrm rot="0">
            <a:off x="6652812" y="3008452"/>
            <a:ext cx="503453" cy="789318"/>
          </a:xfrm>
          <a:prstGeom prst="rect">
            <a:avLst/>
          </a:prstGeom>
        </p:spPr>
        <p:txBody>
          <a:bodyPr anchor="t" rtlCol="false" tIns="0" lIns="0" bIns="0" rIns="0">
            <a:spAutoFit/>
          </a:bodyPr>
          <a:lstStyle/>
          <a:p>
            <a:pPr algn="ctr">
              <a:lnSpc>
                <a:spcPts val="3242"/>
              </a:lnSpc>
            </a:pPr>
            <a:r>
              <a:rPr lang="en-US" sz="2702" b="true">
                <a:solidFill>
                  <a:srgbClr val="FFFFFF"/>
                </a:solidFill>
                <a:latin typeface="Calibri (MS) Bold"/>
                <a:ea typeface="Calibri (MS) Bold"/>
                <a:cs typeface="Calibri (MS) Bold"/>
                <a:sym typeface="Calibri (MS) Bold"/>
              </a:rPr>
              <a:t>02</a:t>
            </a:r>
          </a:p>
        </p:txBody>
      </p:sp>
      <p:grpSp>
        <p:nvGrpSpPr>
          <p:cNvPr name="Group 14" id="14"/>
          <p:cNvGrpSpPr/>
          <p:nvPr/>
        </p:nvGrpSpPr>
        <p:grpSpPr>
          <a:xfrm rot="0">
            <a:off x="12451980" y="2926590"/>
            <a:ext cx="5490686" cy="5353421"/>
            <a:chOff x="0" y="0"/>
            <a:chExt cx="7320915" cy="7137895"/>
          </a:xfrm>
        </p:grpSpPr>
        <p:sp>
          <p:nvSpPr>
            <p:cNvPr name="Freeform 15" id="15"/>
            <p:cNvSpPr/>
            <p:nvPr/>
          </p:nvSpPr>
          <p:spPr>
            <a:xfrm flipH="false" flipV="false" rot="0">
              <a:off x="0" y="0"/>
              <a:ext cx="7320915" cy="7137895"/>
            </a:xfrm>
            <a:custGeom>
              <a:avLst/>
              <a:gdLst/>
              <a:ahLst/>
              <a:cxnLst/>
              <a:rect r="r" b="b" t="t" l="l"/>
              <a:pathLst>
                <a:path h="7137895" w="7320915">
                  <a:moveTo>
                    <a:pt x="0" y="0"/>
                  </a:moveTo>
                  <a:lnTo>
                    <a:pt x="7320915" y="0"/>
                  </a:lnTo>
                  <a:lnTo>
                    <a:pt x="7320915" y="7137895"/>
                  </a:lnTo>
                  <a:lnTo>
                    <a:pt x="0" y="7137895"/>
                  </a:lnTo>
                  <a:close/>
                </a:path>
              </a:pathLst>
            </a:custGeom>
            <a:solidFill>
              <a:srgbClr val="222D42"/>
            </a:solidFill>
          </p:spPr>
        </p:sp>
      </p:grpSp>
      <p:grpSp>
        <p:nvGrpSpPr>
          <p:cNvPr name="Group 16" id="16"/>
          <p:cNvGrpSpPr/>
          <p:nvPr/>
        </p:nvGrpSpPr>
        <p:grpSpPr>
          <a:xfrm rot="0">
            <a:off x="12471030" y="2926590"/>
            <a:ext cx="867580" cy="5353421"/>
            <a:chOff x="0" y="0"/>
            <a:chExt cx="1156773" cy="7137895"/>
          </a:xfrm>
        </p:grpSpPr>
        <p:sp>
          <p:nvSpPr>
            <p:cNvPr name="Freeform 17" id="17"/>
            <p:cNvSpPr/>
            <p:nvPr/>
          </p:nvSpPr>
          <p:spPr>
            <a:xfrm flipH="false" flipV="false" rot="0">
              <a:off x="0" y="0"/>
              <a:ext cx="1156736" cy="7137895"/>
            </a:xfrm>
            <a:custGeom>
              <a:avLst/>
              <a:gdLst/>
              <a:ahLst/>
              <a:cxnLst/>
              <a:rect r="r" b="b" t="t" l="l"/>
              <a:pathLst>
                <a:path h="7137895" w="1156736">
                  <a:moveTo>
                    <a:pt x="0" y="0"/>
                  </a:moveTo>
                  <a:lnTo>
                    <a:pt x="1156736" y="0"/>
                  </a:lnTo>
                  <a:lnTo>
                    <a:pt x="1156736" y="7137895"/>
                  </a:lnTo>
                  <a:lnTo>
                    <a:pt x="0" y="7137895"/>
                  </a:lnTo>
                  <a:close/>
                </a:path>
              </a:pathLst>
            </a:custGeom>
            <a:solidFill>
              <a:srgbClr val="CC0000"/>
            </a:solidFill>
          </p:spPr>
        </p:sp>
      </p:grpSp>
      <p:sp>
        <p:nvSpPr>
          <p:cNvPr name="TextBox 18" id="18"/>
          <p:cNvSpPr txBox="true"/>
          <p:nvPr/>
        </p:nvSpPr>
        <p:spPr>
          <a:xfrm rot="0">
            <a:off x="12555303" y="3008452"/>
            <a:ext cx="503453" cy="789318"/>
          </a:xfrm>
          <a:prstGeom prst="rect">
            <a:avLst/>
          </a:prstGeom>
        </p:spPr>
        <p:txBody>
          <a:bodyPr anchor="t" rtlCol="false" tIns="0" lIns="0" bIns="0" rIns="0">
            <a:spAutoFit/>
          </a:bodyPr>
          <a:lstStyle/>
          <a:p>
            <a:pPr algn="ctr">
              <a:lnSpc>
                <a:spcPts val="3242"/>
              </a:lnSpc>
            </a:pPr>
            <a:r>
              <a:rPr lang="en-US" sz="2702" b="true">
                <a:solidFill>
                  <a:srgbClr val="FFFFFF"/>
                </a:solidFill>
                <a:latin typeface="Calibri (MS) Bold"/>
                <a:ea typeface="Calibri (MS) Bold"/>
                <a:cs typeface="Calibri (MS) Bold"/>
                <a:sym typeface="Calibri (MS) Bold"/>
              </a:rPr>
              <a:t>03</a:t>
            </a:r>
          </a:p>
        </p:txBody>
      </p:sp>
      <p:sp>
        <p:nvSpPr>
          <p:cNvPr name="TextBox 19" id="19"/>
          <p:cNvSpPr txBox="true"/>
          <p:nvPr/>
        </p:nvSpPr>
        <p:spPr>
          <a:xfrm rot="0">
            <a:off x="1441304" y="3388243"/>
            <a:ext cx="4143480" cy="609600"/>
          </a:xfrm>
          <a:prstGeom prst="rect">
            <a:avLst/>
          </a:prstGeom>
        </p:spPr>
        <p:txBody>
          <a:bodyPr anchor="t" rtlCol="false" tIns="0" lIns="0" bIns="0" rIns="0">
            <a:spAutoFit/>
          </a:bodyPr>
          <a:lstStyle/>
          <a:p>
            <a:pPr algn="l">
              <a:lnSpc>
                <a:spcPts val="4320"/>
              </a:lnSpc>
            </a:pPr>
            <a:r>
              <a:rPr lang="en-US" sz="3600" b="true">
                <a:solidFill>
                  <a:srgbClr val="FFFFFF"/>
                </a:solidFill>
                <a:latin typeface="Calibri (MS) Bold"/>
                <a:ea typeface="Calibri (MS) Bold"/>
                <a:cs typeface="Calibri (MS) Bold"/>
                <a:sym typeface="Calibri (MS) Bold"/>
              </a:rPr>
              <a:t>STP Analysis</a:t>
            </a:r>
          </a:p>
        </p:txBody>
      </p:sp>
      <p:sp>
        <p:nvSpPr>
          <p:cNvPr name="TextBox 20" id="20"/>
          <p:cNvSpPr txBox="true"/>
          <p:nvPr/>
        </p:nvSpPr>
        <p:spPr>
          <a:xfrm rot="0">
            <a:off x="1455172" y="4111512"/>
            <a:ext cx="4129611" cy="4471670"/>
          </a:xfrm>
          <a:prstGeom prst="rect">
            <a:avLst/>
          </a:prstGeom>
        </p:spPr>
        <p:txBody>
          <a:bodyPr anchor="t" rtlCol="false" tIns="0" lIns="0" bIns="0" rIns="0">
            <a:spAutoFit/>
          </a:bodyPr>
          <a:lstStyle/>
          <a:p>
            <a:pPr algn="ctr">
              <a:lnSpc>
                <a:spcPts val="4480"/>
              </a:lnSpc>
            </a:pPr>
            <a:r>
              <a:rPr lang="en-US" b="true" sz="3200">
                <a:solidFill>
                  <a:srgbClr val="A0AABB"/>
                </a:solidFill>
                <a:latin typeface="Canva Sans Bold"/>
                <a:ea typeface="Canva Sans Bold"/>
                <a:cs typeface="Canva Sans Bold"/>
                <a:sym typeface="Canva Sans Bold"/>
              </a:rPr>
              <a:t>Briefing on how walton </a:t>
            </a:r>
          </a:p>
          <a:p>
            <a:pPr algn="ctr">
              <a:lnSpc>
                <a:spcPts val="4480"/>
              </a:lnSpc>
            </a:pPr>
            <a:r>
              <a:rPr lang="en-US" b="true" sz="3200">
                <a:solidFill>
                  <a:srgbClr val="A0AABB"/>
                </a:solidFill>
                <a:latin typeface="Canva Sans Bold"/>
                <a:ea typeface="Canva Sans Bold"/>
                <a:cs typeface="Canva Sans Bold"/>
                <a:sym typeface="Canva Sans Bold"/>
              </a:rPr>
              <a:t>segments, targets and </a:t>
            </a:r>
          </a:p>
          <a:p>
            <a:pPr algn="ctr">
              <a:lnSpc>
                <a:spcPts val="4480"/>
              </a:lnSpc>
            </a:pPr>
            <a:r>
              <a:rPr lang="en-US" b="true" sz="3200">
                <a:solidFill>
                  <a:srgbClr val="A0AABB"/>
                </a:solidFill>
                <a:latin typeface="Canva Sans Bold"/>
                <a:ea typeface="Canva Sans Bold"/>
                <a:cs typeface="Canva Sans Bold"/>
                <a:sym typeface="Canva Sans Bold"/>
              </a:rPr>
              <a:t>position ' s its business </a:t>
            </a:r>
          </a:p>
          <a:p>
            <a:pPr algn="ctr">
              <a:lnSpc>
                <a:spcPts val="4480"/>
              </a:lnSpc>
            </a:pPr>
            <a:r>
              <a:rPr lang="en-US" b="true" sz="3200">
                <a:solidFill>
                  <a:srgbClr val="A0AABB"/>
                </a:solidFill>
                <a:latin typeface="Canva Sans Bold"/>
                <a:ea typeface="Canva Sans Bold"/>
                <a:cs typeface="Canva Sans Bold"/>
                <a:sym typeface="Canva Sans Bold"/>
              </a:rPr>
              <a:t>model </a:t>
            </a:r>
          </a:p>
          <a:p>
            <a:pPr algn="ctr">
              <a:lnSpc>
                <a:spcPts val="4480"/>
              </a:lnSpc>
            </a:pPr>
          </a:p>
        </p:txBody>
      </p:sp>
      <p:sp>
        <p:nvSpPr>
          <p:cNvPr name="TextBox 21" id="21"/>
          <p:cNvSpPr txBox="true"/>
          <p:nvPr/>
        </p:nvSpPr>
        <p:spPr>
          <a:xfrm rot="0">
            <a:off x="7922157" y="3388243"/>
            <a:ext cx="4529823" cy="609600"/>
          </a:xfrm>
          <a:prstGeom prst="rect">
            <a:avLst/>
          </a:prstGeom>
        </p:spPr>
        <p:txBody>
          <a:bodyPr anchor="t" rtlCol="false" tIns="0" lIns="0" bIns="0" rIns="0">
            <a:spAutoFit/>
          </a:bodyPr>
          <a:lstStyle/>
          <a:p>
            <a:pPr algn="l">
              <a:lnSpc>
                <a:spcPts val="4320"/>
              </a:lnSpc>
            </a:pPr>
            <a:r>
              <a:rPr lang="en-US" sz="3600" b="true">
                <a:solidFill>
                  <a:srgbClr val="FFFFFF"/>
                </a:solidFill>
                <a:latin typeface="Calibri (MS) Bold"/>
                <a:ea typeface="Calibri (MS) Bold"/>
                <a:cs typeface="Calibri (MS) Bold"/>
                <a:sym typeface="Calibri (MS) Bold"/>
              </a:rPr>
              <a:t>Marketing Mix</a:t>
            </a:r>
          </a:p>
        </p:txBody>
      </p:sp>
      <p:sp>
        <p:nvSpPr>
          <p:cNvPr name="TextBox 22" id="22"/>
          <p:cNvSpPr txBox="true"/>
          <p:nvPr/>
        </p:nvSpPr>
        <p:spPr>
          <a:xfrm rot="0">
            <a:off x="13719610" y="3388243"/>
            <a:ext cx="4072404" cy="609600"/>
          </a:xfrm>
          <a:prstGeom prst="rect">
            <a:avLst/>
          </a:prstGeom>
        </p:spPr>
        <p:txBody>
          <a:bodyPr anchor="t" rtlCol="false" tIns="0" lIns="0" bIns="0" rIns="0">
            <a:spAutoFit/>
          </a:bodyPr>
          <a:lstStyle/>
          <a:p>
            <a:pPr algn="l">
              <a:lnSpc>
                <a:spcPts val="4320"/>
              </a:lnSpc>
            </a:pPr>
            <a:r>
              <a:rPr lang="en-US" sz="3600" b="true">
                <a:solidFill>
                  <a:srgbClr val="FFFFFF"/>
                </a:solidFill>
                <a:latin typeface="Calibri (MS) Bold"/>
                <a:ea typeface="Calibri (MS) Bold"/>
                <a:cs typeface="Calibri (MS) Bold"/>
                <a:sym typeface="Calibri (MS) Bold"/>
              </a:rPr>
              <a:t>Strategic </a:t>
            </a:r>
            <a:r>
              <a:rPr lang="en-US" sz="3600" b="true">
                <a:solidFill>
                  <a:srgbClr val="FFFFFF"/>
                </a:solidFill>
                <a:latin typeface="Calibri (MS) Bold"/>
                <a:ea typeface="Calibri (MS) Bold"/>
                <a:cs typeface="Calibri (MS) Bold"/>
                <a:sym typeface="Calibri (MS) Bold"/>
              </a:rPr>
              <a:t>Analysis</a:t>
            </a:r>
          </a:p>
        </p:txBody>
      </p:sp>
      <p:sp>
        <p:nvSpPr>
          <p:cNvPr name="TextBox 23" id="23"/>
          <p:cNvSpPr txBox="true"/>
          <p:nvPr/>
        </p:nvSpPr>
        <p:spPr>
          <a:xfrm rot="0">
            <a:off x="7550682" y="4392499"/>
            <a:ext cx="4401088" cy="3347720"/>
          </a:xfrm>
          <a:prstGeom prst="rect">
            <a:avLst/>
          </a:prstGeom>
        </p:spPr>
        <p:txBody>
          <a:bodyPr anchor="t" rtlCol="false" tIns="0" lIns="0" bIns="0" rIns="0">
            <a:spAutoFit/>
          </a:bodyPr>
          <a:lstStyle/>
          <a:p>
            <a:pPr algn="ctr">
              <a:lnSpc>
                <a:spcPts val="4480"/>
              </a:lnSpc>
            </a:pPr>
            <a:r>
              <a:rPr lang="en-US" b="true" sz="3200">
                <a:solidFill>
                  <a:srgbClr val="A0AABB"/>
                </a:solidFill>
                <a:latin typeface="Canva Sans Bold"/>
                <a:ea typeface="Canva Sans Bold"/>
                <a:cs typeface="Canva Sans Bold"/>
                <a:sym typeface="Canva Sans Bold"/>
              </a:rPr>
              <a:t>How walton manages its </a:t>
            </a:r>
          </a:p>
          <a:p>
            <a:pPr algn="ctr">
              <a:lnSpc>
                <a:spcPts val="4480"/>
              </a:lnSpc>
            </a:pPr>
            <a:r>
              <a:rPr lang="en-US" b="true" sz="3200">
                <a:solidFill>
                  <a:srgbClr val="A0AABB"/>
                </a:solidFill>
                <a:latin typeface="Canva Sans Bold"/>
                <a:ea typeface="Canva Sans Bold"/>
                <a:cs typeface="Canva Sans Bold"/>
                <a:sym typeface="Canva Sans Bold"/>
              </a:rPr>
              <a:t>4 p ' s to provide superior </a:t>
            </a:r>
          </a:p>
          <a:p>
            <a:pPr algn="ctr">
              <a:lnSpc>
                <a:spcPts val="4480"/>
              </a:lnSpc>
            </a:pPr>
            <a:r>
              <a:rPr lang="en-US" b="true" sz="3200">
                <a:solidFill>
                  <a:srgbClr val="A0AABB"/>
                </a:solidFill>
                <a:latin typeface="Canva Sans Bold"/>
                <a:ea typeface="Canva Sans Bold"/>
                <a:cs typeface="Canva Sans Bold"/>
                <a:sym typeface="Canva Sans Bold"/>
              </a:rPr>
              <a:t>customer value</a:t>
            </a:r>
          </a:p>
          <a:p>
            <a:pPr algn="ctr">
              <a:lnSpc>
                <a:spcPts val="4480"/>
              </a:lnSpc>
            </a:pPr>
          </a:p>
        </p:txBody>
      </p:sp>
      <p:sp>
        <p:nvSpPr>
          <p:cNvPr name="TextBox 24" id="24"/>
          <p:cNvSpPr txBox="true"/>
          <p:nvPr/>
        </p:nvSpPr>
        <p:spPr>
          <a:xfrm rot="0">
            <a:off x="13419299" y="4392499"/>
            <a:ext cx="4372716" cy="3909695"/>
          </a:xfrm>
          <a:prstGeom prst="rect">
            <a:avLst/>
          </a:prstGeom>
        </p:spPr>
        <p:txBody>
          <a:bodyPr anchor="t" rtlCol="false" tIns="0" lIns="0" bIns="0" rIns="0">
            <a:spAutoFit/>
          </a:bodyPr>
          <a:lstStyle/>
          <a:p>
            <a:pPr algn="ctr">
              <a:lnSpc>
                <a:spcPts val="4480"/>
              </a:lnSpc>
            </a:pPr>
            <a:r>
              <a:rPr lang="en-US" b="true" sz="3200">
                <a:solidFill>
                  <a:srgbClr val="A0AABB"/>
                </a:solidFill>
                <a:latin typeface="Canva Sans Bold"/>
                <a:ea typeface="Canva Sans Bold"/>
                <a:cs typeface="Canva Sans Bold"/>
                <a:sym typeface="Canva Sans Bold"/>
              </a:rPr>
              <a:t>SWOT, Competitors and their </a:t>
            </a:r>
          </a:p>
          <a:p>
            <a:pPr algn="ctr">
              <a:lnSpc>
                <a:spcPts val="4480"/>
              </a:lnSpc>
            </a:pPr>
            <a:r>
              <a:rPr lang="en-US" b="true" sz="3200">
                <a:solidFill>
                  <a:srgbClr val="A0AABB"/>
                </a:solidFill>
                <a:latin typeface="Canva Sans Bold"/>
                <a:ea typeface="Canva Sans Bold"/>
                <a:cs typeface="Canva Sans Bold"/>
                <a:sym typeface="Canva Sans Bold"/>
              </a:rPr>
              <a:t>recent innitiative to make </a:t>
            </a:r>
          </a:p>
          <a:p>
            <a:pPr algn="ctr">
              <a:lnSpc>
                <a:spcPts val="4480"/>
              </a:lnSpc>
            </a:pPr>
            <a:r>
              <a:rPr lang="en-US" b="true" sz="3200">
                <a:solidFill>
                  <a:srgbClr val="A0AABB"/>
                </a:solidFill>
                <a:latin typeface="Canva Sans Bold"/>
                <a:ea typeface="Canva Sans Bold"/>
                <a:cs typeface="Canva Sans Bold"/>
                <a:sym typeface="Canva Sans Bold"/>
              </a:rPr>
              <a:t>the brand a better one</a:t>
            </a:r>
          </a:p>
          <a:p>
            <a:pPr algn="ctr">
              <a:lnSpc>
                <a:spcPts val="4480"/>
              </a:lnSpc>
            </a:pPr>
          </a:p>
        </p:txBody>
      </p:sp>
      <p:sp>
        <p:nvSpPr>
          <p:cNvPr name="TextBox 25" id="25"/>
          <p:cNvSpPr txBox="true"/>
          <p:nvPr/>
        </p:nvSpPr>
        <p:spPr>
          <a:xfrm rot="0">
            <a:off x="2749932" y="235223"/>
            <a:ext cx="12447391" cy="1083645"/>
          </a:xfrm>
          <a:prstGeom prst="rect">
            <a:avLst/>
          </a:prstGeom>
        </p:spPr>
        <p:txBody>
          <a:bodyPr anchor="t" rtlCol="false" tIns="0" lIns="0" bIns="0" rIns="0">
            <a:spAutoFit/>
          </a:bodyPr>
          <a:lstStyle/>
          <a:p>
            <a:pPr algn="ctr">
              <a:lnSpc>
                <a:spcPts val="8856"/>
              </a:lnSpc>
            </a:pPr>
            <a:r>
              <a:rPr lang="en-US" sz="6325" b="true">
                <a:solidFill>
                  <a:srgbClr val="FFFFFF"/>
                </a:solidFill>
                <a:latin typeface="Canva Sans Bold"/>
                <a:ea typeface="Canva Sans Bold"/>
                <a:cs typeface="Canva Sans Bold"/>
                <a:sym typeface="Canva Sans Bold"/>
              </a:rPr>
              <a:t>Outline of the Session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22D42"/>
        </a:solidFill>
      </p:bgPr>
    </p:bg>
    <p:spTree>
      <p:nvGrpSpPr>
        <p:cNvPr id="1" name=""/>
        <p:cNvGrpSpPr/>
        <p:nvPr/>
      </p:nvGrpSpPr>
      <p:grpSpPr>
        <a:xfrm>
          <a:off x="0" y="0"/>
          <a:ext cx="0" cy="0"/>
          <a:chOff x="0" y="0"/>
          <a:chExt cx="0" cy="0"/>
        </a:xfrm>
      </p:grpSpPr>
      <p:grpSp>
        <p:nvGrpSpPr>
          <p:cNvPr name="Group 2" id="2"/>
          <p:cNvGrpSpPr/>
          <p:nvPr/>
        </p:nvGrpSpPr>
        <p:grpSpPr>
          <a:xfrm rot="0">
            <a:off x="-9725" y="0"/>
            <a:ext cx="18297725" cy="1886914"/>
            <a:chOff x="0" y="0"/>
            <a:chExt cx="24396967" cy="2515886"/>
          </a:xfrm>
        </p:grpSpPr>
        <p:sp>
          <p:nvSpPr>
            <p:cNvPr name="Freeform 3" id="3"/>
            <p:cNvSpPr/>
            <p:nvPr/>
          </p:nvSpPr>
          <p:spPr>
            <a:xfrm flipH="false" flipV="false" rot="0">
              <a:off x="0" y="0"/>
              <a:ext cx="24396954" cy="2515911"/>
            </a:xfrm>
            <a:custGeom>
              <a:avLst/>
              <a:gdLst/>
              <a:ahLst/>
              <a:cxnLst/>
              <a:rect r="r" b="b" t="t" l="l"/>
              <a:pathLst>
                <a:path h="2515911" w="24396954">
                  <a:moveTo>
                    <a:pt x="0" y="0"/>
                  </a:moveTo>
                  <a:lnTo>
                    <a:pt x="24396954" y="0"/>
                  </a:lnTo>
                  <a:lnTo>
                    <a:pt x="24396954" y="2515911"/>
                  </a:lnTo>
                  <a:lnTo>
                    <a:pt x="0" y="2515911"/>
                  </a:lnTo>
                  <a:close/>
                </a:path>
              </a:pathLst>
            </a:custGeom>
            <a:solidFill>
              <a:srgbClr val="1800AD"/>
            </a:solidFill>
          </p:spPr>
        </p:sp>
      </p:grpSp>
      <p:sp>
        <p:nvSpPr>
          <p:cNvPr name="TextBox 4" id="4"/>
          <p:cNvSpPr txBox="true"/>
          <p:nvPr/>
        </p:nvSpPr>
        <p:spPr>
          <a:xfrm rot="0">
            <a:off x="296230" y="2074414"/>
            <a:ext cx="17991770" cy="5146746"/>
          </a:xfrm>
          <a:prstGeom prst="rect">
            <a:avLst/>
          </a:prstGeom>
        </p:spPr>
        <p:txBody>
          <a:bodyPr anchor="t" rtlCol="false" tIns="0" lIns="0" bIns="0" rIns="0">
            <a:spAutoFit/>
          </a:bodyPr>
          <a:lstStyle/>
          <a:p>
            <a:pPr algn="l">
              <a:lnSpc>
                <a:spcPts val="5882"/>
              </a:lnSpc>
            </a:pPr>
            <a:r>
              <a:rPr lang="en-US" b="true" sz="4201">
                <a:solidFill>
                  <a:srgbClr val="FFFFFF"/>
                </a:solidFill>
                <a:latin typeface="Canva Sans Bold"/>
                <a:ea typeface="Canva Sans Bold"/>
                <a:cs typeface="Canva Sans Bold"/>
                <a:sym typeface="Canva Sans Bold"/>
              </a:rPr>
              <a:t>Walton is one of the largest and leading electronics &amp; electrical manufacturer in Bangladesh producing refrigerators, ACs, TVs, and home appliances. Walton is expanding both locally and globally with an 8% growth rate. Today our team will discuss about the ways how Walton grabs their consumer and uses marketing strategies to maintain their position as one of the leading manufacturer in Bangladesh eading</a:t>
            </a:r>
          </a:p>
        </p:txBody>
      </p:sp>
      <p:sp>
        <p:nvSpPr>
          <p:cNvPr name="Freeform 5" id="5"/>
          <p:cNvSpPr/>
          <p:nvPr/>
        </p:nvSpPr>
        <p:spPr>
          <a:xfrm flipH="false" flipV="false" rot="0">
            <a:off x="16393021" y="8382296"/>
            <a:ext cx="1904704" cy="1904704"/>
          </a:xfrm>
          <a:custGeom>
            <a:avLst/>
            <a:gdLst/>
            <a:ahLst/>
            <a:cxnLst/>
            <a:rect r="r" b="b" t="t" l="l"/>
            <a:pathLst>
              <a:path h="1904704" w="1904704">
                <a:moveTo>
                  <a:pt x="0" y="0"/>
                </a:moveTo>
                <a:lnTo>
                  <a:pt x="1904704" y="0"/>
                </a:lnTo>
                <a:lnTo>
                  <a:pt x="1904704" y="1904704"/>
                </a:lnTo>
                <a:lnTo>
                  <a:pt x="0" y="1904704"/>
                </a:lnTo>
                <a:lnTo>
                  <a:pt x="0" y="0"/>
                </a:lnTo>
                <a:close/>
              </a:path>
            </a:pathLst>
          </a:custGeom>
          <a:blipFill>
            <a:blip r:embed="rId2"/>
            <a:stretch>
              <a:fillRect l="0" t="0" r="0" b="0"/>
            </a:stretch>
          </a:blipFill>
        </p:spPr>
      </p:sp>
      <p:grpSp>
        <p:nvGrpSpPr>
          <p:cNvPr name="Group 6" id="6"/>
          <p:cNvGrpSpPr/>
          <p:nvPr/>
        </p:nvGrpSpPr>
        <p:grpSpPr>
          <a:xfrm rot="0">
            <a:off x="5685799" y="-24304"/>
            <a:ext cx="7407557" cy="1911218"/>
            <a:chOff x="0" y="0"/>
            <a:chExt cx="8625703" cy="2225511"/>
          </a:xfrm>
        </p:grpSpPr>
        <p:sp>
          <p:nvSpPr>
            <p:cNvPr name="Freeform 7" id="7"/>
            <p:cNvSpPr/>
            <p:nvPr/>
          </p:nvSpPr>
          <p:spPr>
            <a:xfrm flipH="false" flipV="false" rot="0">
              <a:off x="0" y="0"/>
              <a:ext cx="8625699" cy="2225455"/>
            </a:xfrm>
            <a:custGeom>
              <a:avLst/>
              <a:gdLst/>
              <a:ahLst/>
              <a:cxnLst/>
              <a:rect r="r" b="b" t="t" l="l"/>
              <a:pathLst>
                <a:path h="2225455" w="8625699">
                  <a:moveTo>
                    <a:pt x="0" y="0"/>
                  </a:moveTo>
                  <a:lnTo>
                    <a:pt x="8625699" y="0"/>
                  </a:lnTo>
                  <a:lnTo>
                    <a:pt x="8625699" y="2225455"/>
                  </a:lnTo>
                  <a:lnTo>
                    <a:pt x="0" y="2225455"/>
                  </a:lnTo>
                  <a:close/>
                </a:path>
              </a:pathLst>
            </a:custGeom>
            <a:solidFill>
              <a:srgbClr val="CC0000"/>
            </a:solidFill>
          </p:spPr>
        </p:sp>
      </p:grpSp>
      <p:sp>
        <p:nvSpPr>
          <p:cNvPr name="TextBox 8" id="8"/>
          <p:cNvSpPr txBox="true"/>
          <p:nvPr/>
        </p:nvSpPr>
        <p:spPr>
          <a:xfrm rot="0">
            <a:off x="5803542" y="52783"/>
            <a:ext cx="6690640" cy="1609091"/>
          </a:xfrm>
          <a:prstGeom prst="rect">
            <a:avLst/>
          </a:prstGeom>
        </p:spPr>
        <p:txBody>
          <a:bodyPr anchor="t" rtlCol="false" tIns="0" lIns="0" bIns="0" rIns="0">
            <a:spAutoFit/>
          </a:bodyPr>
          <a:lstStyle/>
          <a:p>
            <a:pPr algn="ctr">
              <a:lnSpc>
                <a:spcPts val="13159"/>
              </a:lnSpc>
            </a:pPr>
            <a:r>
              <a:rPr lang="en-US" sz="9399" b="true">
                <a:solidFill>
                  <a:srgbClr val="FFFFFF"/>
                </a:solidFill>
                <a:latin typeface="Canva Sans Bold"/>
                <a:ea typeface="Canva Sans Bold"/>
                <a:cs typeface="Canva Sans Bold"/>
                <a:sym typeface="Canva Sans Bold"/>
              </a:rPr>
              <a:t>WALTON</a:t>
            </a:r>
          </a:p>
        </p:txBody>
      </p:sp>
      <p:sp>
        <p:nvSpPr>
          <p:cNvPr name="Freeform 9" id="9"/>
          <p:cNvSpPr/>
          <p:nvPr/>
        </p:nvSpPr>
        <p:spPr>
          <a:xfrm flipH="false" flipV="false" rot="0">
            <a:off x="0" y="8456761"/>
            <a:ext cx="1904704" cy="1904704"/>
          </a:xfrm>
          <a:custGeom>
            <a:avLst/>
            <a:gdLst/>
            <a:ahLst/>
            <a:cxnLst/>
            <a:rect r="r" b="b" t="t" l="l"/>
            <a:pathLst>
              <a:path h="1904704" w="1904704">
                <a:moveTo>
                  <a:pt x="0" y="0"/>
                </a:moveTo>
                <a:lnTo>
                  <a:pt x="1904704" y="0"/>
                </a:lnTo>
                <a:lnTo>
                  <a:pt x="1904704" y="1904703"/>
                </a:lnTo>
                <a:lnTo>
                  <a:pt x="0" y="1904703"/>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C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8291874" cy="10287000"/>
            <a:chOff x="0" y="0"/>
            <a:chExt cx="8291868" cy="10287000"/>
          </a:xfrm>
        </p:grpSpPr>
        <p:sp>
          <p:nvSpPr>
            <p:cNvPr name="Freeform 3" id="3"/>
            <p:cNvSpPr/>
            <p:nvPr/>
          </p:nvSpPr>
          <p:spPr>
            <a:xfrm flipH="false" flipV="false" rot="0">
              <a:off x="0" y="0"/>
              <a:ext cx="8291827" cy="10287000"/>
            </a:xfrm>
            <a:custGeom>
              <a:avLst/>
              <a:gdLst/>
              <a:ahLst/>
              <a:cxnLst/>
              <a:rect r="r" b="b" t="t" l="l"/>
              <a:pathLst>
                <a:path h="10287000" w="8291827">
                  <a:moveTo>
                    <a:pt x="0" y="0"/>
                  </a:moveTo>
                  <a:lnTo>
                    <a:pt x="0" y="10287000"/>
                  </a:lnTo>
                  <a:lnTo>
                    <a:pt x="8291827" y="10287000"/>
                  </a:lnTo>
                  <a:lnTo>
                    <a:pt x="8291827" y="0"/>
                  </a:lnTo>
                  <a:close/>
                </a:path>
              </a:pathLst>
            </a:custGeom>
            <a:solidFill>
              <a:srgbClr val="A0AABB"/>
            </a:solidFill>
          </p:spPr>
        </p:sp>
      </p:grpSp>
      <p:grpSp>
        <p:nvGrpSpPr>
          <p:cNvPr name="Group 4" id="4"/>
          <p:cNvGrpSpPr/>
          <p:nvPr/>
        </p:nvGrpSpPr>
        <p:grpSpPr>
          <a:xfrm rot="0">
            <a:off x="8886015" y="1706676"/>
            <a:ext cx="8788849" cy="8047365"/>
            <a:chOff x="0" y="0"/>
            <a:chExt cx="11718466" cy="10729820"/>
          </a:xfrm>
        </p:grpSpPr>
        <p:sp>
          <p:nvSpPr>
            <p:cNvPr name="Freeform 5" id="5"/>
            <p:cNvSpPr/>
            <p:nvPr/>
          </p:nvSpPr>
          <p:spPr>
            <a:xfrm flipH="false" flipV="false" rot="0">
              <a:off x="0" y="0"/>
              <a:ext cx="11718440" cy="10729820"/>
            </a:xfrm>
            <a:custGeom>
              <a:avLst/>
              <a:gdLst/>
              <a:ahLst/>
              <a:cxnLst/>
              <a:rect r="r" b="b" t="t" l="l"/>
              <a:pathLst>
                <a:path h="10729820" w="11718440">
                  <a:moveTo>
                    <a:pt x="0" y="0"/>
                  </a:moveTo>
                  <a:lnTo>
                    <a:pt x="11718440" y="0"/>
                  </a:lnTo>
                  <a:lnTo>
                    <a:pt x="11718440" y="10729820"/>
                  </a:lnTo>
                  <a:lnTo>
                    <a:pt x="0" y="10729820"/>
                  </a:lnTo>
                  <a:lnTo>
                    <a:pt x="0" y="0"/>
                  </a:lnTo>
                  <a:close/>
                </a:path>
              </a:pathLst>
            </a:custGeom>
            <a:blipFill>
              <a:blip r:embed="rId2"/>
              <a:stretch>
                <a:fillRect l="-63" t="0" r="-63" b="0"/>
              </a:stretch>
            </a:blipFill>
          </p:spPr>
        </p:sp>
      </p:grpSp>
      <p:grpSp>
        <p:nvGrpSpPr>
          <p:cNvPr name="Group 6" id="6"/>
          <p:cNvGrpSpPr/>
          <p:nvPr/>
        </p:nvGrpSpPr>
        <p:grpSpPr>
          <a:xfrm rot="0">
            <a:off x="0" y="-164172"/>
            <a:ext cx="8295008" cy="10287000"/>
            <a:chOff x="0" y="0"/>
            <a:chExt cx="8295005" cy="10287000"/>
          </a:xfrm>
        </p:grpSpPr>
        <p:sp>
          <p:nvSpPr>
            <p:cNvPr name="Freeform 7" id="7"/>
            <p:cNvSpPr/>
            <p:nvPr/>
          </p:nvSpPr>
          <p:spPr>
            <a:xfrm flipH="false" flipV="false" rot="0">
              <a:off x="0" y="0"/>
              <a:ext cx="8295005" cy="10287000"/>
            </a:xfrm>
            <a:custGeom>
              <a:avLst/>
              <a:gdLst/>
              <a:ahLst/>
              <a:cxnLst/>
              <a:rect r="r" b="b" t="t" l="l"/>
              <a:pathLst>
                <a:path h="10287000" w="8295005">
                  <a:moveTo>
                    <a:pt x="0" y="0"/>
                  </a:moveTo>
                  <a:lnTo>
                    <a:pt x="0" y="10287000"/>
                  </a:lnTo>
                  <a:lnTo>
                    <a:pt x="8295005" y="10287000"/>
                  </a:lnTo>
                  <a:lnTo>
                    <a:pt x="8295005" y="0"/>
                  </a:lnTo>
                  <a:close/>
                </a:path>
              </a:pathLst>
            </a:custGeom>
            <a:solidFill>
              <a:srgbClr val="E94F37">
                <a:alpha val="0"/>
              </a:srgbClr>
            </a:solidFill>
          </p:spPr>
        </p:sp>
      </p:grpSp>
      <p:sp>
        <p:nvSpPr>
          <p:cNvPr name="TextBox 8" id="8"/>
          <p:cNvSpPr txBox="true"/>
          <p:nvPr/>
        </p:nvSpPr>
        <p:spPr>
          <a:xfrm rot="0">
            <a:off x="11239752" y="537515"/>
            <a:ext cx="4880991" cy="887120"/>
          </a:xfrm>
          <a:prstGeom prst="rect">
            <a:avLst/>
          </a:prstGeom>
        </p:spPr>
        <p:txBody>
          <a:bodyPr anchor="t" rtlCol="false" tIns="0" lIns="0" bIns="0" rIns="0">
            <a:spAutoFit/>
          </a:bodyPr>
          <a:lstStyle/>
          <a:p>
            <a:pPr algn="l">
              <a:lnSpc>
                <a:spcPts val="7278"/>
              </a:lnSpc>
            </a:pPr>
            <a:r>
              <a:rPr lang="en-US" sz="5198">
                <a:solidFill>
                  <a:srgbClr val="000000"/>
                </a:solidFill>
                <a:latin typeface="Francois One"/>
                <a:ea typeface="Francois One"/>
                <a:cs typeface="Francois One"/>
                <a:sym typeface="Francois One"/>
              </a:rPr>
              <a:t>S.T.P Analysis </a:t>
            </a:r>
          </a:p>
        </p:txBody>
      </p:sp>
      <p:sp>
        <p:nvSpPr>
          <p:cNvPr name="TextBox 9" id="9"/>
          <p:cNvSpPr txBox="true"/>
          <p:nvPr/>
        </p:nvSpPr>
        <p:spPr>
          <a:xfrm rot="0">
            <a:off x="747262" y="1577979"/>
            <a:ext cx="2218468" cy="1224531"/>
          </a:xfrm>
          <a:prstGeom prst="rect">
            <a:avLst/>
          </a:prstGeom>
        </p:spPr>
        <p:txBody>
          <a:bodyPr anchor="t" rtlCol="false" tIns="0" lIns="0" bIns="0" rIns="0">
            <a:spAutoFit/>
          </a:bodyPr>
          <a:lstStyle/>
          <a:p>
            <a:pPr algn="l">
              <a:lnSpc>
                <a:spcPts val="10029"/>
              </a:lnSpc>
            </a:pPr>
            <a:r>
              <a:rPr lang="en-US" sz="7163">
                <a:solidFill>
                  <a:srgbClr val="000000"/>
                </a:solidFill>
                <a:latin typeface="Lexend Deca"/>
                <a:ea typeface="Lexend Deca"/>
                <a:cs typeface="Lexend Deca"/>
                <a:sym typeface="Lexend Deca"/>
              </a:rPr>
              <a:t>S.T.P</a:t>
            </a:r>
          </a:p>
        </p:txBody>
      </p:sp>
      <p:sp>
        <p:nvSpPr>
          <p:cNvPr name="TextBox 10" id="10"/>
          <p:cNvSpPr txBox="true"/>
          <p:nvPr/>
        </p:nvSpPr>
        <p:spPr>
          <a:xfrm rot="0">
            <a:off x="-164944" y="3230537"/>
            <a:ext cx="8621762" cy="4177345"/>
          </a:xfrm>
          <a:prstGeom prst="rect">
            <a:avLst/>
          </a:prstGeom>
        </p:spPr>
        <p:txBody>
          <a:bodyPr anchor="t" rtlCol="false" tIns="0" lIns="0" bIns="0" rIns="0">
            <a:spAutoFit/>
          </a:bodyPr>
          <a:lstStyle/>
          <a:p>
            <a:pPr algn="ctr">
              <a:lnSpc>
                <a:spcPts val="6622"/>
              </a:lnSpc>
            </a:pPr>
            <a:r>
              <a:rPr lang="en-US" sz="4730" b="true">
                <a:solidFill>
                  <a:srgbClr val="000000"/>
                </a:solidFill>
                <a:latin typeface="Canva Sans Bold"/>
                <a:ea typeface="Canva Sans Bold"/>
                <a:cs typeface="Canva Sans Bold"/>
                <a:sym typeface="Canva Sans Bold"/>
              </a:rPr>
              <a:t>Walton's segmentation, </a:t>
            </a:r>
          </a:p>
          <a:p>
            <a:pPr algn="ctr">
              <a:lnSpc>
                <a:spcPts val="6622"/>
              </a:lnSpc>
            </a:pPr>
            <a:r>
              <a:rPr lang="en-US" sz="4730" b="true">
                <a:solidFill>
                  <a:srgbClr val="000000"/>
                </a:solidFill>
                <a:latin typeface="Canva Sans Bold"/>
                <a:ea typeface="Canva Sans Bold"/>
                <a:cs typeface="Canva Sans Bold"/>
                <a:sym typeface="Canva Sans Bold"/>
              </a:rPr>
              <a:t>targeting and positioning their </a:t>
            </a:r>
          </a:p>
          <a:p>
            <a:pPr algn="ctr">
              <a:lnSpc>
                <a:spcPts val="6622"/>
              </a:lnSpc>
            </a:pPr>
            <a:r>
              <a:rPr lang="en-US" sz="4730" b="true">
                <a:solidFill>
                  <a:srgbClr val="000000"/>
                </a:solidFill>
                <a:latin typeface="Canva Sans Bold"/>
                <a:ea typeface="Canva Sans Bold"/>
                <a:cs typeface="Canva Sans Bold"/>
                <a:sym typeface="Canva Sans Bold"/>
              </a:rPr>
              <a:t>brand in the market</a:t>
            </a:r>
          </a:p>
          <a:p>
            <a:pPr algn="ctr">
              <a:lnSpc>
                <a:spcPts val="6622"/>
              </a:lnSpc>
            </a:pPr>
          </a:p>
        </p:txBody>
      </p:sp>
      <p:grpSp>
        <p:nvGrpSpPr>
          <p:cNvPr name="Group 11" id="11"/>
          <p:cNvGrpSpPr/>
          <p:nvPr/>
        </p:nvGrpSpPr>
        <p:grpSpPr>
          <a:xfrm rot="0">
            <a:off x="0" y="0"/>
            <a:ext cx="8291874" cy="306363"/>
            <a:chOff x="0" y="0"/>
            <a:chExt cx="25339768" cy="936237"/>
          </a:xfrm>
        </p:grpSpPr>
        <p:sp>
          <p:nvSpPr>
            <p:cNvPr name="Freeform 12" id="12"/>
            <p:cNvSpPr/>
            <p:nvPr/>
          </p:nvSpPr>
          <p:spPr>
            <a:xfrm flipH="false" flipV="false" rot="0">
              <a:off x="0" y="0"/>
              <a:ext cx="25339756" cy="936263"/>
            </a:xfrm>
            <a:custGeom>
              <a:avLst/>
              <a:gdLst/>
              <a:ahLst/>
              <a:cxnLst/>
              <a:rect r="r" b="b" t="t" l="l"/>
              <a:pathLst>
                <a:path h="936263" w="25339756">
                  <a:moveTo>
                    <a:pt x="0" y="0"/>
                  </a:moveTo>
                  <a:lnTo>
                    <a:pt x="25339756" y="0"/>
                  </a:lnTo>
                  <a:lnTo>
                    <a:pt x="25339756" y="936263"/>
                  </a:lnTo>
                  <a:lnTo>
                    <a:pt x="0" y="936263"/>
                  </a:lnTo>
                  <a:close/>
                </a:path>
              </a:pathLst>
            </a:custGeom>
            <a:solidFill>
              <a:srgbClr val="CC0000"/>
            </a:solidFill>
          </p:spPr>
        </p:sp>
      </p:grpSp>
      <p:grpSp>
        <p:nvGrpSpPr>
          <p:cNvPr name="Group 13" id="13"/>
          <p:cNvGrpSpPr/>
          <p:nvPr/>
        </p:nvGrpSpPr>
        <p:grpSpPr>
          <a:xfrm rot="0">
            <a:off x="161810" y="1192327"/>
            <a:ext cx="8295008" cy="10634014"/>
            <a:chOff x="0" y="0"/>
            <a:chExt cx="8295005" cy="10634014"/>
          </a:xfrm>
        </p:grpSpPr>
        <p:sp>
          <p:nvSpPr>
            <p:cNvPr name="Freeform 14" id="14"/>
            <p:cNvSpPr/>
            <p:nvPr/>
          </p:nvSpPr>
          <p:spPr>
            <a:xfrm flipH="false" flipV="false" rot="0">
              <a:off x="0" y="0"/>
              <a:ext cx="8295005" cy="10634014"/>
            </a:xfrm>
            <a:custGeom>
              <a:avLst/>
              <a:gdLst/>
              <a:ahLst/>
              <a:cxnLst/>
              <a:rect r="r" b="b" t="t" l="l"/>
              <a:pathLst>
                <a:path h="10634014" w="8295005">
                  <a:moveTo>
                    <a:pt x="0" y="0"/>
                  </a:moveTo>
                  <a:lnTo>
                    <a:pt x="0" y="10634014"/>
                  </a:lnTo>
                  <a:lnTo>
                    <a:pt x="8295005" y="10634014"/>
                  </a:lnTo>
                  <a:lnTo>
                    <a:pt x="8295005" y="0"/>
                  </a:lnTo>
                  <a:close/>
                </a:path>
              </a:pathLst>
            </a:custGeom>
            <a:solidFill>
              <a:srgbClr val="E94F37">
                <a:alpha val="0"/>
              </a:srgbClr>
            </a:solidFill>
          </p:spPr>
        </p:sp>
      </p:grpSp>
      <p:grpSp>
        <p:nvGrpSpPr>
          <p:cNvPr name="Group 15" id="15"/>
          <p:cNvGrpSpPr/>
          <p:nvPr/>
        </p:nvGrpSpPr>
        <p:grpSpPr>
          <a:xfrm rot="0">
            <a:off x="5701424" y="1192327"/>
            <a:ext cx="9996126" cy="1028700"/>
            <a:chOff x="0" y="0"/>
            <a:chExt cx="47777817" cy="4916809"/>
          </a:xfrm>
        </p:grpSpPr>
        <p:sp>
          <p:nvSpPr>
            <p:cNvPr name="Freeform 16" id="16"/>
            <p:cNvSpPr/>
            <p:nvPr/>
          </p:nvSpPr>
          <p:spPr>
            <a:xfrm flipH="false" flipV="false" rot="0">
              <a:off x="0" y="0"/>
              <a:ext cx="47777812" cy="4916810"/>
            </a:xfrm>
            <a:custGeom>
              <a:avLst/>
              <a:gdLst/>
              <a:ahLst/>
              <a:cxnLst/>
              <a:rect r="r" b="b" t="t" l="l"/>
              <a:pathLst>
                <a:path h="4916810" w="47777812">
                  <a:moveTo>
                    <a:pt x="0" y="0"/>
                  </a:moveTo>
                  <a:lnTo>
                    <a:pt x="0" y="4916810"/>
                  </a:lnTo>
                  <a:lnTo>
                    <a:pt x="47777812" y="4916810"/>
                  </a:lnTo>
                  <a:lnTo>
                    <a:pt x="47777812" y="0"/>
                  </a:lnTo>
                  <a:close/>
                </a:path>
              </a:pathLst>
            </a:custGeom>
            <a:solidFill>
              <a:srgbClr val="CC5000">
                <a:alpha val="0"/>
              </a:srgbClr>
            </a:solidFill>
          </p:spPr>
        </p:sp>
      </p:grpSp>
      <p:grpSp>
        <p:nvGrpSpPr>
          <p:cNvPr name="Group 17" id="17"/>
          <p:cNvGrpSpPr/>
          <p:nvPr/>
        </p:nvGrpSpPr>
        <p:grpSpPr>
          <a:xfrm rot="0">
            <a:off x="3835859" y="1720854"/>
            <a:ext cx="8295008" cy="2225679"/>
            <a:chOff x="0" y="0"/>
            <a:chExt cx="8295005" cy="2225679"/>
          </a:xfrm>
        </p:grpSpPr>
        <p:sp>
          <p:nvSpPr>
            <p:cNvPr name="Freeform 18" id="18"/>
            <p:cNvSpPr/>
            <p:nvPr/>
          </p:nvSpPr>
          <p:spPr>
            <a:xfrm flipH="false" flipV="false" rot="0">
              <a:off x="0" y="0"/>
              <a:ext cx="8295005" cy="2225680"/>
            </a:xfrm>
            <a:custGeom>
              <a:avLst/>
              <a:gdLst/>
              <a:ahLst/>
              <a:cxnLst/>
              <a:rect r="r" b="b" t="t" l="l"/>
              <a:pathLst>
                <a:path h="2225680" w="8295005">
                  <a:moveTo>
                    <a:pt x="0" y="0"/>
                  </a:moveTo>
                  <a:lnTo>
                    <a:pt x="0" y="2225680"/>
                  </a:lnTo>
                  <a:lnTo>
                    <a:pt x="8295005" y="2225680"/>
                  </a:lnTo>
                  <a:lnTo>
                    <a:pt x="8295005" y="0"/>
                  </a:lnTo>
                  <a:close/>
                </a:path>
              </a:pathLst>
            </a:custGeom>
            <a:solidFill>
              <a:srgbClr val="A0AABB">
                <a:alpha val="0"/>
              </a:srgbClr>
            </a:solidFill>
          </p:spPr>
        </p:sp>
      </p:grpSp>
      <p:grpSp>
        <p:nvGrpSpPr>
          <p:cNvPr name="Group 19" id="19"/>
          <p:cNvGrpSpPr/>
          <p:nvPr/>
        </p:nvGrpSpPr>
        <p:grpSpPr>
          <a:xfrm rot="0">
            <a:off x="0" y="1706676"/>
            <a:ext cx="8456818" cy="9138884"/>
            <a:chOff x="0" y="0"/>
            <a:chExt cx="8456815" cy="9138884"/>
          </a:xfrm>
        </p:grpSpPr>
        <p:sp>
          <p:nvSpPr>
            <p:cNvPr name="Freeform 20" id="20"/>
            <p:cNvSpPr/>
            <p:nvPr/>
          </p:nvSpPr>
          <p:spPr>
            <a:xfrm flipH="false" flipV="false" rot="0">
              <a:off x="0" y="0"/>
              <a:ext cx="8456814" cy="9138884"/>
            </a:xfrm>
            <a:custGeom>
              <a:avLst/>
              <a:gdLst/>
              <a:ahLst/>
              <a:cxnLst/>
              <a:rect r="r" b="b" t="t" l="l"/>
              <a:pathLst>
                <a:path h="9138884" w="8456814">
                  <a:moveTo>
                    <a:pt x="0" y="0"/>
                  </a:moveTo>
                  <a:lnTo>
                    <a:pt x="0" y="9138884"/>
                  </a:lnTo>
                  <a:lnTo>
                    <a:pt x="8456814" y="9138884"/>
                  </a:lnTo>
                  <a:lnTo>
                    <a:pt x="8456814" y="0"/>
                  </a:lnTo>
                  <a:close/>
                </a:path>
              </a:pathLst>
            </a:custGeom>
            <a:solidFill>
              <a:srgbClr val="E94F37">
                <a:alpha val="0"/>
              </a:srgbClr>
            </a:solidFill>
          </p:spPr>
        </p:sp>
      </p:grpSp>
      <p:grpSp>
        <p:nvGrpSpPr>
          <p:cNvPr name="Group 21" id="21"/>
          <p:cNvGrpSpPr/>
          <p:nvPr/>
        </p:nvGrpSpPr>
        <p:grpSpPr>
          <a:xfrm rot="0">
            <a:off x="8295008" y="0"/>
            <a:ext cx="9992992" cy="306363"/>
            <a:chOff x="0" y="0"/>
            <a:chExt cx="30538342" cy="936236"/>
          </a:xfrm>
        </p:grpSpPr>
        <p:sp>
          <p:nvSpPr>
            <p:cNvPr name="Freeform 22" id="22"/>
            <p:cNvSpPr/>
            <p:nvPr/>
          </p:nvSpPr>
          <p:spPr>
            <a:xfrm flipH="false" flipV="false" rot="0">
              <a:off x="0" y="0"/>
              <a:ext cx="30538325" cy="936262"/>
            </a:xfrm>
            <a:custGeom>
              <a:avLst/>
              <a:gdLst/>
              <a:ahLst/>
              <a:cxnLst/>
              <a:rect r="r" b="b" t="t" l="l"/>
              <a:pathLst>
                <a:path h="936262" w="30538325">
                  <a:moveTo>
                    <a:pt x="0" y="0"/>
                  </a:moveTo>
                  <a:lnTo>
                    <a:pt x="30538325" y="0"/>
                  </a:lnTo>
                  <a:lnTo>
                    <a:pt x="30538325" y="936262"/>
                  </a:lnTo>
                  <a:lnTo>
                    <a:pt x="0" y="936262"/>
                  </a:lnTo>
                  <a:close/>
                </a:path>
              </a:pathLst>
            </a:custGeom>
            <a:solidFill>
              <a:srgbClr val="A0AABB"/>
            </a:solidFill>
          </p:spPr>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0" y="0"/>
            <a:ext cx="18297725" cy="1441304"/>
            <a:chOff x="0" y="0"/>
            <a:chExt cx="24396967" cy="1921739"/>
          </a:xfrm>
        </p:grpSpPr>
        <p:sp>
          <p:nvSpPr>
            <p:cNvPr name="Freeform 3" id="3"/>
            <p:cNvSpPr/>
            <p:nvPr/>
          </p:nvSpPr>
          <p:spPr>
            <a:xfrm flipH="false" flipV="false" rot="0">
              <a:off x="0" y="0"/>
              <a:ext cx="24396954" cy="1921764"/>
            </a:xfrm>
            <a:custGeom>
              <a:avLst/>
              <a:gdLst/>
              <a:ahLst/>
              <a:cxnLst/>
              <a:rect r="r" b="b" t="t" l="l"/>
              <a:pathLst>
                <a:path h="1921764" w="24396954">
                  <a:moveTo>
                    <a:pt x="0" y="0"/>
                  </a:moveTo>
                  <a:lnTo>
                    <a:pt x="24396954" y="0"/>
                  </a:lnTo>
                  <a:lnTo>
                    <a:pt x="24396954" y="1921764"/>
                  </a:lnTo>
                  <a:lnTo>
                    <a:pt x="0" y="1921764"/>
                  </a:lnTo>
                  <a:close/>
                </a:path>
              </a:pathLst>
            </a:custGeom>
            <a:solidFill>
              <a:srgbClr val="CC0000"/>
            </a:solidFill>
          </p:spPr>
        </p:sp>
      </p:grpSp>
      <p:grpSp>
        <p:nvGrpSpPr>
          <p:cNvPr name="Group 4" id="4"/>
          <p:cNvGrpSpPr/>
          <p:nvPr/>
        </p:nvGrpSpPr>
        <p:grpSpPr>
          <a:xfrm rot="0">
            <a:off x="232189" y="1564687"/>
            <a:ext cx="17869447" cy="8566623"/>
            <a:chOff x="0" y="0"/>
            <a:chExt cx="24028446" cy="11519251"/>
          </a:xfrm>
        </p:grpSpPr>
        <p:sp>
          <p:nvSpPr>
            <p:cNvPr name="Freeform 5" id="5"/>
            <p:cNvSpPr/>
            <p:nvPr/>
          </p:nvSpPr>
          <p:spPr>
            <a:xfrm flipH="false" flipV="false" rot="0">
              <a:off x="0" y="0"/>
              <a:ext cx="24028485" cy="11519264"/>
            </a:xfrm>
            <a:custGeom>
              <a:avLst/>
              <a:gdLst/>
              <a:ahLst/>
              <a:cxnLst/>
              <a:rect r="r" b="b" t="t" l="l"/>
              <a:pathLst>
                <a:path h="11519264" w="24028485">
                  <a:moveTo>
                    <a:pt x="0" y="0"/>
                  </a:moveTo>
                  <a:lnTo>
                    <a:pt x="24028485" y="0"/>
                  </a:lnTo>
                  <a:lnTo>
                    <a:pt x="24028485" y="11519264"/>
                  </a:lnTo>
                  <a:lnTo>
                    <a:pt x="0" y="11519264"/>
                  </a:lnTo>
                  <a:close/>
                </a:path>
              </a:pathLst>
            </a:custGeom>
            <a:solidFill>
              <a:srgbClr val="222D42"/>
            </a:solidFill>
          </p:spPr>
        </p:sp>
      </p:grpSp>
      <p:grpSp>
        <p:nvGrpSpPr>
          <p:cNvPr name="Group 6" id="6"/>
          <p:cNvGrpSpPr/>
          <p:nvPr/>
        </p:nvGrpSpPr>
        <p:grpSpPr>
          <a:xfrm rot="0">
            <a:off x="45825" y="1564687"/>
            <a:ext cx="18242175" cy="155690"/>
            <a:chOff x="0" y="0"/>
            <a:chExt cx="7440287" cy="63500"/>
          </a:xfrm>
        </p:grpSpPr>
        <p:sp>
          <p:nvSpPr>
            <p:cNvPr name="Freeform 7" id="7"/>
            <p:cNvSpPr/>
            <p:nvPr/>
          </p:nvSpPr>
          <p:spPr>
            <a:xfrm flipH="false" flipV="false" rot="0">
              <a:off x="0" y="0"/>
              <a:ext cx="7440325" cy="63538"/>
            </a:xfrm>
            <a:custGeom>
              <a:avLst/>
              <a:gdLst/>
              <a:ahLst/>
              <a:cxnLst/>
              <a:rect r="r" b="b" t="t" l="l"/>
              <a:pathLst>
                <a:path h="63538" w="7440325">
                  <a:moveTo>
                    <a:pt x="0" y="0"/>
                  </a:moveTo>
                  <a:lnTo>
                    <a:pt x="7440325" y="0"/>
                  </a:lnTo>
                  <a:lnTo>
                    <a:pt x="7440325" y="63538"/>
                  </a:lnTo>
                  <a:lnTo>
                    <a:pt x="0" y="63538"/>
                  </a:lnTo>
                  <a:close/>
                </a:path>
              </a:pathLst>
            </a:custGeom>
            <a:solidFill>
              <a:srgbClr val="CC0000"/>
            </a:solidFill>
          </p:spPr>
        </p:sp>
      </p:grpSp>
      <p:sp>
        <p:nvSpPr>
          <p:cNvPr name="TextBox 8" id="8"/>
          <p:cNvSpPr txBox="true"/>
          <p:nvPr/>
        </p:nvSpPr>
        <p:spPr>
          <a:xfrm rot="0">
            <a:off x="232189" y="209477"/>
            <a:ext cx="17681868" cy="927100"/>
          </a:xfrm>
          <a:prstGeom prst="rect">
            <a:avLst/>
          </a:prstGeom>
        </p:spPr>
        <p:txBody>
          <a:bodyPr anchor="t" rtlCol="false" tIns="0" lIns="0" bIns="0" rIns="0">
            <a:spAutoFit/>
          </a:bodyPr>
          <a:lstStyle/>
          <a:p>
            <a:pPr algn="ctr">
              <a:lnSpc>
                <a:spcPts val="7699"/>
              </a:lnSpc>
            </a:pPr>
            <a:r>
              <a:rPr lang="en-US" sz="5499" b="true">
                <a:solidFill>
                  <a:srgbClr val="FFFFFF"/>
                </a:solidFill>
                <a:latin typeface="Canva Sans Bold"/>
                <a:ea typeface="Canva Sans Bold"/>
                <a:cs typeface="Canva Sans Bold"/>
                <a:sym typeface="Canva Sans Bold"/>
              </a:rPr>
              <a:t>Market sgmentation in which Walton operates</a:t>
            </a:r>
          </a:p>
        </p:txBody>
      </p:sp>
      <p:sp>
        <p:nvSpPr>
          <p:cNvPr name="TextBox 9" id="9"/>
          <p:cNvSpPr txBox="true"/>
          <p:nvPr/>
        </p:nvSpPr>
        <p:spPr>
          <a:xfrm rot="0">
            <a:off x="232189" y="1934369"/>
            <a:ext cx="4128001" cy="613410"/>
          </a:xfrm>
          <a:prstGeom prst="rect">
            <a:avLst/>
          </a:prstGeom>
        </p:spPr>
        <p:txBody>
          <a:bodyPr anchor="t" rtlCol="false" tIns="0" lIns="0" bIns="0" rIns="0">
            <a:spAutoFit/>
          </a:bodyPr>
          <a:lstStyle/>
          <a:p>
            <a:pPr algn="l" marL="777240" indent="-388620" lvl="1">
              <a:lnSpc>
                <a:spcPts val="5040"/>
              </a:lnSpc>
              <a:buFont typeface="Arial"/>
              <a:buChar char="•"/>
            </a:pPr>
            <a:r>
              <a:rPr lang="en-US" b="true" sz="3600">
                <a:solidFill>
                  <a:srgbClr val="FFFFFF"/>
                </a:solidFill>
                <a:latin typeface="Canva Sans Bold"/>
                <a:ea typeface="Canva Sans Bold"/>
                <a:cs typeface="Canva Sans Bold"/>
                <a:sym typeface="Canva Sans Bold"/>
              </a:rPr>
              <a:t>Geographic:</a:t>
            </a:r>
          </a:p>
        </p:txBody>
      </p:sp>
      <p:sp>
        <p:nvSpPr>
          <p:cNvPr name="TextBox 10" id="10"/>
          <p:cNvSpPr txBox="true"/>
          <p:nvPr/>
        </p:nvSpPr>
        <p:spPr>
          <a:xfrm rot="0">
            <a:off x="4139330" y="1969294"/>
            <a:ext cx="13340829" cy="1099820"/>
          </a:xfrm>
          <a:prstGeom prst="rect">
            <a:avLst/>
          </a:prstGeom>
        </p:spPr>
        <p:txBody>
          <a:bodyPr anchor="t" rtlCol="false" tIns="0" lIns="0" bIns="0" rIns="0">
            <a:spAutoFit/>
          </a:bodyPr>
          <a:lstStyle/>
          <a:p>
            <a:pPr algn="l">
              <a:lnSpc>
                <a:spcPts val="4480"/>
              </a:lnSpc>
            </a:pPr>
            <a:r>
              <a:rPr lang="en-US" sz="3200">
                <a:solidFill>
                  <a:srgbClr val="FFFFFF"/>
                </a:solidFill>
                <a:latin typeface="Canva Sans"/>
                <a:ea typeface="Canva Sans"/>
                <a:cs typeface="Canva Sans"/>
                <a:sym typeface="Canva Sans"/>
              </a:rPr>
              <a:t>1. Walton is focusing on rural Bangladesh </a:t>
            </a:r>
          </a:p>
          <a:p>
            <a:pPr algn="l">
              <a:lnSpc>
                <a:spcPts val="4480"/>
              </a:lnSpc>
            </a:pPr>
            <a:r>
              <a:rPr lang="en-US" sz="3200">
                <a:solidFill>
                  <a:srgbClr val="FFFFFF"/>
                </a:solidFill>
                <a:latin typeface="Canva Sans"/>
                <a:ea typeface="Canva Sans"/>
                <a:cs typeface="Canva Sans"/>
                <a:sym typeface="Canva Sans"/>
              </a:rPr>
              <a:t>2. Internationally expanding across Asia, Europe, Africa, Middle East</a:t>
            </a:r>
          </a:p>
        </p:txBody>
      </p:sp>
      <p:sp>
        <p:nvSpPr>
          <p:cNvPr name="TextBox 11" id="11"/>
          <p:cNvSpPr txBox="true"/>
          <p:nvPr/>
        </p:nvSpPr>
        <p:spPr>
          <a:xfrm rot="0">
            <a:off x="232189" y="3720586"/>
            <a:ext cx="4968422" cy="613448"/>
          </a:xfrm>
          <a:prstGeom prst="rect">
            <a:avLst/>
          </a:prstGeom>
        </p:spPr>
        <p:txBody>
          <a:bodyPr anchor="t" rtlCol="false" tIns="0" lIns="0" bIns="0" rIns="0">
            <a:spAutoFit/>
          </a:bodyPr>
          <a:lstStyle/>
          <a:p>
            <a:pPr algn="l" marL="776918" indent="-388459" lvl="1">
              <a:lnSpc>
                <a:spcPts val="5037"/>
              </a:lnSpc>
              <a:buFont typeface="Arial"/>
              <a:buChar char="•"/>
            </a:pPr>
            <a:r>
              <a:rPr lang="en-US" b="true" sz="3598">
                <a:solidFill>
                  <a:srgbClr val="FFFFFF"/>
                </a:solidFill>
                <a:latin typeface="Canva Sans Bold"/>
                <a:ea typeface="Canva Sans Bold"/>
                <a:cs typeface="Canva Sans Bold"/>
                <a:sym typeface="Canva Sans Bold"/>
              </a:rPr>
              <a:t>Demographic:</a:t>
            </a:r>
          </a:p>
        </p:txBody>
      </p:sp>
      <p:sp>
        <p:nvSpPr>
          <p:cNvPr name="TextBox 12" id="12"/>
          <p:cNvSpPr txBox="true"/>
          <p:nvPr/>
        </p:nvSpPr>
        <p:spPr>
          <a:xfrm rot="0">
            <a:off x="4360190" y="3730111"/>
            <a:ext cx="13141564" cy="1661795"/>
          </a:xfrm>
          <a:prstGeom prst="rect">
            <a:avLst/>
          </a:prstGeom>
        </p:spPr>
        <p:txBody>
          <a:bodyPr anchor="t" rtlCol="false" tIns="0" lIns="0" bIns="0" rIns="0">
            <a:spAutoFit/>
          </a:bodyPr>
          <a:lstStyle/>
          <a:p>
            <a:pPr algn="l">
              <a:lnSpc>
                <a:spcPts val="4480"/>
              </a:lnSpc>
            </a:pPr>
            <a:r>
              <a:rPr lang="en-US" sz="3200">
                <a:solidFill>
                  <a:srgbClr val="FFFFFF"/>
                </a:solidFill>
                <a:latin typeface="Canva Sans"/>
                <a:ea typeface="Canva Sans"/>
                <a:cs typeface="Canva Sans"/>
                <a:sym typeface="Canva Sans"/>
              </a:rPr>
              <a:t>1. Walton divided the market into Premium, mid-range, and value-         seeking consumers </a:t>
            </a:r>
          </a:p>
          <a:p>
            <a:pPr algn="l">
              <a:lnSpc>
                <a:spcPts val="4480"/>
              </a:lnSpc>
            </a:pPr>
            <a:r>
              <a:rPr lang="en-US" sz="3200">
                <a:solidFill>
                  <a:srgbClr val="FFFFFF"/>
                </a:solidFill>
                <a:latin typeface="Canva Sans"/>
                <a:ea typeface="Canva Sans"/>
                <a:cs typeface="Canva Sans"/>
                <a:sym typeface="Canva Sans"/>
              </a:rPr>
              <a:t>2. Allows them to offer everything</a:t>
            </a:r>
          </a:p>
        </p:txBody>
      </p:sp>
      <p:sp>
        <p:nvSpPr>
          <p:cNvPr name="TextBox 13" id="13"/>
          <p:cNvSpPr txBox="true"/>
          <p:nvPr/>
        </p:nvSpPr>
        <p:spPr>
          <a:xfrm rot="0">
            <a:off x="232189" y="5781323"/>
            <a:ext cx="4968422" cy="613410"/>
          </a:xfrm>
          <a:prstGeom prst="rect">
            <a:avLst/>
          </a:prstGeom>
        </p:spPr>
        <p:txBody>
          <a:bodyPr anchor="t" rtlCol="false" tIns="0" lIns="0" bIns="0" rIns="0">
            <a:spAutoFit/>
          </a:bodyPr>
          <a:lstStyle/>
          <a:p>
            <a:pPr algn="l" marL="777240" indent="-388620" lvl="1">
              <a:lnSpc>
                <a:spcPts val="5040"/>
              </a:lnSpc>
              <a:buFont typeface="Arial"/>
              <a:buChar char="•"/>
            </a:pPr>
            <a:r>
              <a:rPr lang="en-US" b="true" sz="3600">
                <a:solidFill>
                  <a:srgbClr val="FFFFFF"/>
                </a:solidFill>
                <a:latin typeface="Canva Sans Bold"/>
                <a:ea typeface="Canva Sans Bold"/>
                <a:cs typeface="Canva Sans Bold"/>
                <a:sym typeface="Canva Sans Bold"/>
              </a:rPr>
              <a:t> </a:t>
            </a:r>
            <a:r>
              <a:rPr lang="en-US" b="true" sz="3600">
                <a:solidFill>
                  <a:srgbClr val="FFFFFF"/>
                </a:solidFill>
                <a:latin typeface="Canva Sans Bold"/>
                <a:ea typeface="Canva Sans Bold"/>
                <a:cs typeface="Canva Sans Bold"/>
                <a:sym typeface="Canva Sans Bold"/>
              </a:rPr>
              <a:t>Psychographic:</a:t>
            </a:r>
          </a:p>
        </p:txBody>
      </p:sp>
      <p:sp>
        <p:nvSpPr>
          <p:cNvPr name="TextBox 14" id="14"/>
          <p:cNvSpPr txBox="true"/>
          <p:nvPr/>
        </p:nvSpPr>
        <p:spPr>
          <a:xfrm rot="0">
            <a:off x="4802081" y="5790848"/>
            <a:ext cx="12699673" cy="1661795"/>
          </a:xfrm>
          <a:prstGeom prst="rect">
            <a:avLst/>
          </a:prstGeom>
        </p:spPr>
        <p:txBody>
          <a:bodyPr anchor="t" rtlCol="false" tIns="0" lIns="0" bIns="0" rIns="0">
            <a:spAutoFit/>
          </a:bodyPr>
          <a:lstStyle/>
          <a:p>
            <a:pPr algn="l">
              <a:lnSpc>
                <a:spcPts val="4480"/>
              </a:lnSpc>
            </a:pPr>
            <a:r>
              <a:rPr lang="en-US" sz="3200">
                <a:solidFill>
                  <a:srgbClr val="FFFFFF"/>
                </a:solidFill>
                <a:latin typeface="Canva Sans"/>
                <a:ea typeface="Canva Sans"/>
                <a:cs typeface="Canva Sans"/>
                <a:sym typeface="Canva Sans"/>
              </a:rPr>
              <a:t>1. Walton focuses on Tech savvy users. </a:t>
            </a:r>
          </a:p>
          <a:p>
            <a:pPr algn="l">
              <a:lnSpc>
                <a:spcPts val="4480"/>
              </a:lnSpc>
            </a:pPr>
            <a:r>
              <a:rPr lang="en-US" sz="3200">
                <a:solidFill>
                  <a:srgbClr val="FFFFFF"/>
                </a:solidFill>
                <a:latin typeface="Canva Sans"/>
                <a:ea typeface="Canva Sans"/>
                <a:cs typeface="Canva Sans"/>
                <a:sym typeface="Canva Sans"/>
              </a:rPr>
              <a:t>2. Also focuses on affordability of the customer</a:t>
            </a:r>
          </a:p>
          <a:p>
            <a:pPr algn="ctr">
              <a:lnSpc>
                <a:spcPts val="4480"/>
              </a:lnSpc>
            </a:pPr>
          </a:p>
        </p:txBody>
      </p:sp>
      <p:sp>
        <p:nvSpPr>
          <p:cNvPr name="TextBox 15" id="15"/>
          <p:cNvSpPr txBox="true"/>
          <p:nvPr/>
        </p:nvSpPr>
        <p:spPr>
          <a:xfrm rot="0">
            <a:off x="232189" y="7686136"/>
            <a:ext cx="4128001" cy="613410"/>
          </a:xfrm>
          <a:prstGeom prst="rect">
            <a:avLst/>
          </a:prstGeom>
        </p:spPr>
        <p:txBody>
          <a:bodyPr anchor="t" rtlCol="false" tIns="0" lIns="0" bIns="0" rIns="0">
            <a:spAutoFit/>
          </a:bodyPr>
          <a:lstStyle/>
          <a:p>
            <a:pPr algn="l" marL="777240" indent="-388620" lvl="1">
              <a:lnSpc>
                <a:spcPts val="5040"/>
              </a:lnSpc>
              <a:buFont typeface="Arial"/>
              <a:buChar char="•"/>
            </a:pPr>
            <a:r>
              <a:rPr lang="en-US" b="true" sz="3600">
                <a:solidFill>
                  <a:srgbClr val="FFFFFF"/>
                </a:solidFill>
                <a:latin typeface="Canva Sans Bold"/>
                <a:ea typeface="Canva Sans Bold"/>
                <a:cs typeface="Canva Sans Bold"/>
                <a:sym typeface="Canva Sans Bold"/>
              </a:rPr>
              <a:t>Behavioral:</a:t>
            </a:r>
          </a:p>
        </p:txBody>
      </p:sp>
      <p:sp>
        <p:nvSpPr>
          <p:cNvPr name="TextBox 16" id="16"/>
          <p:cNvSpPr txBox="true"/>
          <p:nvPr/>
        </p:nvSpPr>
        <p:spPr>
          <a:xfrm rot="0">
            <a:off x="3762394" y="7690768"/>
            <a:ext cx="12899110" cy="1688910"/>
          </a:xfrm>
          <a:prstGeom prst="rect">
            <a:avLst/>
          </a:prstGeom>
        </p:spPr>
        <p:txBody>
          <a:bodyPr anchor="t" rtlCol="false" tIns="0" lIns="0" bIns="0" rIns="0">
            <a:spAutoFit/>
          </a:bodyPr>
          <a:lstStyle/>
          <a:p>
            <a:pPr algn="l">
              <a:lnSpc>
                <a:spcPts val="4422"/>
              </a:lnSpc>
            </a:pPr>
            <a:r>
              <a:rPr lang="en-US" sz="3158">
                <a:solidFill>
                  <a:srgbClr val="FFFFFF"/>
                </a:solidFill>
                <a:latin typeface="Canva Sans"/>
                <a:ea typeface="Canva Sans"/>
                <a:cs typeface="Canva Sans"/>
                <a:sym typeface="Canva Sans"/>
              </a:rPr>
              <a:t>1. Demand for modern design &amp; features </a:t>
            </a:r>
          </a:p>
          <a:p>
            <a:pPr algn="l">
              <a:lnSpc>
                <a:spcPts val="4480"/>
              </a:lnSpc>
            </a:pPr>
            <a:r>
              <a:rPr lang="en-US" sz="3200">
                <a:solidFill>
                  <a:srgbClr val="FFFFFF"/>
                </a:solidFill>
                <a:latin typeface="Canva Sans"/>
                <a:ea typeface="Canva Sans"/>
                <a:cs typeface="Canva Sans"/>
                <a:sym typeface="Canva Sans"/>
              </a:rPr>
              <a:t>2. Loyalty programs &amp; distributor relationships</a:t>
            </a:r>
          </a:p>
          <a:p>
            <a:pPr algn="ctr">
              <a:lnSpc>
                <a:spcPts val="4698"/>
              </a:lnSpc>
            </a:pPr>
          </a:p>
        </p:txBody>
      </p:sp>
      <p:grpSp>
        <p:nvGrpSpPr>
          <p:cNvPr name="Group 17" id="17"/>
          <p:cNvGrpSpPr/>
          <p:nvPr/>
        </p:nvGrpSpPr>
        <p:grpSpPr>
          <a:xfrm rot="0">
            <a:off x="18050" y="9668028"/>
            <a:ext cx="18269950" cy="655107"/>
            <a:chOff x="0" y="0"/>
            <a:chExt cx="35758739" cy="1282204"/>
          </a:xfrm>
        </p:grpSpPr>
        <p:sp>
          <p:nvSpPr>
            <p:cNvPr name="Freeform 18" id="18"/>
            <p:cNvSpPr/>
            <p:nvPr/>
          </p:nvSpPr>
          <p:spPr>
            <a:xfrm flipH="false" flipV="false" rot="0">
              <a:off x="0" y="0"/>
              <a:ext cx="35758720" cy="1282230"/>
            </a:xfrm>
            <a:custGeom>
              <a:avLst/>
              <a:gdLst/>
              <a:ahLst/>
              <a:cxnLst/>
              <a:rect r="r" b="b" t="t" l="l"/>
              <a:pathLst>
                <a:path h="1282230" w="35758720">
                  <a:moveTo>
                    <a:pt x="0" y="0"/>
                  </a:moveTo>
                  <a:lnTo>
                    <a:pt x="35758720" y="0"/>
                  </a:lnTo>
                  <a:lnTo>
                    <a:pt x="35758720" y="1282230"/>
                  </a:lnTo>
                  <a:lnTo>
                    <a:pt x="0" y="1282230"/>
                  </a:lnTo>
                  <a:close/>
                </a:path>
              </a:pathLst>
            </a:custGeom>
            <a:solidFill>
              <a:srgbClr val="1800AD"/>
            </a:solidFill>
          </p:spPr>
        </p:sp>
      </p:grpSp>
      <p:grpSp>
        <p:nvGrpSpPr>
          <p:cNvPr name="Group 19" id="19"/>
          <p:cNvGrpSpPr/>
          <p:nvPr/>
        </p:nvGrpSpPr>
        <p:grpSpPr>
          <a:xfrm rot="0">
            <a:off x="45825" y="9941653"/>
            <a:ext cx="18297725" cy="345347"/>
            <a:chOff x="0" y="0"/>
            <a:chExt cx="24396967" cy="460462"/>
          </a:xfrm>
        </p:grpSpPr>
        <p:sp>
          <p:nvSpPr>
            <p:cNvPr name="Freeform 20" id="20"/>
            <p:cNvSpPr/>
            <p:nvPr/>
          </p:nvSpPr>
          <p:spPr>
            <a:xfrm flipH="false" flipV="false" rot="0">
              <a:off x="0" y="0"/>
              <a:ext cx="24396954" cy="460488"/>
            </a:xfrm>
            <a:custGeom>
              <a:avLst/>
              <a:gdLst/>
              <a:ahLst/>
              <a:cxnLst/>
              <a:rect r="r" b="b" t="t" l="l"/>
              <a:pathLst>
                <a:path h="460488" w="24396954">
                  <a:moveTo>
                    <a:pt x="0" y="0"/>
                  </a:moveTo>
                  <a:lnTo>
                    <a:pt x="24396954" y="0"/>
                  </a:lnTo>
                  <a:lnTo>
                    <a:pt x="24396954" y="460488"/>
                  </a:lnTo>
                  <a:lnTo>
                    <a:pt x="0" y="460488"/>
                  </a:lnTo>
                  <a:close/>
                </a:path>
              </a:pathLst>
            </a:custGeom>
            <a:solidFill>
              <a:srgbClr val="CC0000"/>
            </a:solidFill>
          </p:spPr>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0" y="0"/>
            <a:ext cx="18297725" cy="1441304"/>
            <a:chOff x="0" y="0"/>
            <a:chExt cx="24396967" cy="1921739"/>
          </a:xfrm>
        </p:grpSpPr>
        <p:sp>
          <p:nvSpPr>
            <p:cNvPr name="Freeform 3" id="3"/>
            <p:cNvSpPr/>
            <p:nvPr/>
          </p:nvSpPr>
          <p:spPr>
            <a:xfrm flipH="false" flipV="false" rot="0">
              <a:off x="0" y="0"/>
              <a:ext cx="24396954" cy="1921764"/>
            </a:xfrm>
            <a:custGeom>
              <a:avLst/>
              <a:gdLst/>
              <a:ahLst/>
              <a:cxnLst/>
              <a:rect r="r" b="b" t="t" l="l"/>
              <a:pathLst>
                <a:path h="1921764" w="24396954">
                  <a:moveTo>
                    <a:pt x="0" y="0"/>
                  </a:moveTo>
                  <a:lnTo>
                    <a:pt x="24396954" y="0"/>
                  </a:lnTo>
                  <a:lnTo>
                    <a:pt x="24396954" y="1921764"/>
                  </a:lnTo>
                  <a:lnTo>
                    <a:pt x="0" y="1921764"/>
                  </a:lnTo>
                  <a:close/>
                </a:path>
              </a:pathLst>
            </a:custGeom>
            <a:solidFill>
              <a:srgbClr val="CC0000"/>
            </a:solidFill>
          </p:spPr>
        </p:sp>
      </p:grpSp>
      <p:grpSp>
        <p:nvGrpSpPr>
          <p:cNvPr name="Group 4" id="4"/>
          <p:cNvGrpSpPr/>
          <p:nvPr/>
        </p:nvGrpSpPr>
        <p:grpSpPr>
          <a:xfrm rot="0">
            <a:off x="420513" y="1665328"/>
            <a:ext cx="9038067" cy="527667"/>
            <a:chOff x="0" y="0"/>
            <a:chExt cx="5736822" cy="334932"/>
          </a:xfrm>
        </p:grpSpPr>
        <p:sp>
          <p:nvSpPr>
            <p:cNvPr name="Freeform 5" id="5"/>
            <p:cNvSpPr/>
            <p:nvPr/>
          </p:nvSpPr>
          <p:spPr>
            <a:xfrm flipH="false" flipV="false" rot="0">
              <a:off x="0" y="0"/>
              <a:ext cx="5736860" cy="334970"/>
            </a:xfrm>
            <a:custGeom>
              <a:avLst/>
              <a:gdLst/>
              <a:ahLst/>
              <a:cxnLst/>
              <a:rect r="r" b="b" t="t" l="l"/>
              <a:pathLst>
                <a:path h="334970" w="5736860">
                  <a:moveTo>
                    <a:pt x="0" y="0"/>
                  </a:moveTo>
                  <a:lnTo>
                    <a:pt x="5736860" y="0"/>
                  </a:lnTo>
                  <a:lnTo>
                    <a:pt x="5736860" y="334970"/>
                  </a:lnTo>
                  <a:lnTo>
                    <a:pt x="0" y="334970"/>
                  </a:lnTo>
                  <a:close/>
                </a:path>
              </a:pathLst>
            </a:custGeom>
            <a:solidFill>
              <a:srgbClr val="A0AABB"/>
            </a:solidFill>
          </p:spPr>
        </p:sp>
      </p:grpSp>
      <p:grpSp>
        <p:nvGrpSpPr>
          <p:cNvPr name="Group 6" id="6"/>
          <p:cNvGrpSpPr/>
          <p:nvPr/>
        </p:nvGrpSpPr>
        <p:grpSpPr>
          <a:xfrm rot="0">
            <a:off x="358237" y="2269196"/>
            <a:ext cx="17571526" cy="1894284"/>
            <a:chOff x="0" y="0"/>
            <a:chExt cx="23428701" cy="2525712"/>
          </a:xfrm>
        </p:grpSpPr>
        <p:sp>
          <p:nvSpPr>
            <p:cNvPr name="Freeform 7" id="7"/>
            <p:cNvSpPr/>
            <p:nvPr/>
          </p:nvSpPr>
          <p:spPr>
            <a:xfrm flipH="false" flipV="false" rot="0">
              <a:off x="0" y="0"/>
              <a:ext cx="23428739" cy="2525776"/>
            </a:xfrm>
            <a:custGeom>
              <a:avLst/>
              <a:gdLst/>
              <a:ahLst/>
              <a:cxnLst/>
              <a:rect r="r" b="b" t="t" l="l"/>
              <a:pathLst>
                <a:path h="2525776" w="23428739">
                  <a:moveTo>
                    <a:pt x="0" y="0"/>
                  </a:moveTo>
                  <a:lnTo>
                    <a:pt x="23428739" y="0"/>
                  </a:lnTo>
                  <a:lnTo>
                    <a:pt x="23428739" y="2525776"/>
                  </a:lnTo>
                  <a:lnTo>
                    <a:pt x="0" y="2525776"/>
                  </a:lnTo>
                  <a:close/>
                </a:path>
              </a:pathLst>
            </a:custGeom>
            <a:solidFill>
              <a:srgbClr val="222D42"/>
            </a:solidFill>
          </p:spPr>
        </p:sp>
      </p:grpSp>
      <p:grpSp>
        <p:nvGrpSpPr>
          <p:cNvPr name="Group 8" id="8"/>
          <p:cNvGrpSpPr/>
          <p:nvPr/>
        </p:nvGrpSpPr>
        <p:grpSpPr>
          <a:xfrm rot="0">
            <a:off x="429223" y="5054157"/>
            <a:ext cx="17571526" cy="5100798"/>
            <a:chOff x="0" y="0"/>
            <a:chExt cx="11164405" cy="3240890"/>
          </a:xfrm>
        </p:grpSpPr>
        <p:sp>
          <p:nvSpPr>
            <p:cNvPr name="Freeform 9" id="9"/>
            <p:cNvSpPr/>
            <p:nvPr/>
          </p:nvSpPr>
          <p:spPr>
            <a:xfrm flipH="false" flipV="false" rot="0">
              <a:off x="0" y="0"/>
              <a:ext cx="11164443" cy="3240862"/>
            </a:xfrm>
            <a:custGeom>
              <a:avLst/>
              <a:gdLst/>
              <a:ahLst/>
              <a:cxnLst/>
              <a:rect r="r" b="b" t="t" l="l"/>
              <a:pathLst>
                <a:path h="3240862" w="11164443">
                  <a:moveTo>
                    <a:pt x="0" y="0"/>
                  </a:moveTo>
                  <a:lnTo>
                    <a:pt x="11164443" y="0"/>
                  </a:lnTo>
                  <a:lnTo>
                    <a:pt x="11164443" y="3240862"/>
                  </a:lnTo>
                  <a:lnTo>
                    <a:pt x="0" y="3240862"/>
                  </a:lnTo>
                  <a:close/>
                </a:path>
              </a:pathLst>
            </a:custGeom>
            <a:solidFill>
              <a:srgbClr val="222D42"/>
            </a:solidFill>
          </p:spPr>
        </p:sp>
      </p:grpSp>
      <p:grpSp>
        <p:nvGrpSpPr>
          <p:cNvPr name="Group 10" id="10"/>
          <p:cNvGrpSpPr/>
          <p:nvPr/>
        </p:nvGrpSpPr>
        <p:grpSpPr>
          <a:xfrm rot="0">
            <a:off x="420513" y="4549225"/>
            <a:ext cx="9029358" cy="466939"/>
            <a:chOff x="0" y="0"/>
            <a:chExt cx="11164405" cy="577350"/>
          </a:xfrm>
        </p:grpSpPr>
        <p:sp>
          <p:nvSpPr>
            <p:cNvPr name="Freeform 11" id="11"/>
            <p:cNvSpPr/>
            <p:nvPr/>
          </p:nvSpPr>
          <p:spPr>
            <a:xfrm flipH="false" flipV="false" rot="0">
              <a:off x="0" y="0"/>
              <a:ext cx="11164443" cy="577388"/>
            </a:xfrm>
            <a:custGeom>
              <a:avLst/>
              <a:gdLst/>
              <a:ahLst/>
              <a:cxnLst/>
              <a:rect r="r" b="b" t="t" l="l"/>
              <a:pathLst>
                <a:path h="577388" w="11164443">
                  <a:moveTo>
                    <a:pt x="0" y="0"/>
                  </a:moveTo>
                  <a:lnTo>
                    <a:pt x="11164443" y="0"/>
                  </a:lnTo>
                  <a:lnTo>
                    <a:pt x="11164443" y="577388"/>
                  </a:lnTo>
                  <a:lnTo>
                    <a:pt x="0" y="577388"/>
                  </a:lnTo>
                  <a:close/>
                </a:path>
              </a:pathLst>
            </a:custGeom>
            <a:solidFill>
              <a:srgbClr val="E00E23"/>
            </a:solidFill>
          </p:spPr>
        </p:sp>
      </p:grpSp>
      <p:grpSp>
        <p:nvGrpSpPr>
          <p:cNvPr name="Group 12" id="12"/>
          <p:cNvGrpSpPr/>
          <p:nvPr/>
        </p:nvGrpSpPr>
        <p:grpSpPr>
          <a:xfrm rot="0">
            <a:off x="1233332" y="5282757"/>
            <a:ext cx="4436225" cy="4365513"/>
            <a:chOff x="0" y="0"/>
            <a:chExt cx="5914967" cy="5820684"/>
          </a:xfrm>
        </p:grpSpPr>
        <p:sp>
          <p:nvSpPr>
            <p:cNvPr name="Freeform 13" id="13"/>
            <p:cNvSpPr/>
            <p:nvPr/>
          </p:nvSpPr>
          <p:spPr>
            <a:xfrm flipH="false" flipV="false" rot="0">
              <a:off x="0" y="0"/>
              <a:ext cx="5914906" cy="5820709"/>
            </a:xfrm>
            <a:custGeom>
              <a:avLst/>
              <a:gdLst/>
              <a:ahLst/>
              <a:cxnLst/>
              <a:rect r="r" b="b" t="t" l="l"/>
              <a:pathLst>
                <a:path h="5820709" w="5914906">
                  <a:moveTo>
                    <a:pt x="0" y="0"/>
                  </a:moveTo>
                  <a:lnTo>
                    <a:pt x="5914906" y="0"/>
                  </a:lnTo>
                  <a:lnTo>
                    <a:pt x="5914906" y="5820709"/>
                  </a:lnTo>
                  <a:lnTo>
                    <a:pt x="0" y="5820709"/>
                  </a:lnTo>
                  <a:close/>
                </a:path>
              </a:pathLst>
            </a:custGeom>
            <a:solidFill>
              <a:srgbClr val="CC0000"/>
            </a:solidFill>
          </p:spPr>
        </p:sp>
      </p:grpSp>
      <p:grpSp>
        <p:nvGrpSpPr>
          <p:cNvPr name="Group 14" id="14"/>
          <p:cNvGrpSpPr/>
          <p:nvPr/>
        </p:nvGrpSpPr>
        <p:grpSpPr>
          <a:xfrm rot="0">
            <a:off x="7108660" y="5349432"/>
            <a:ext cx="4436225" cy="4365513"/>
            <a:chOff x="0" y="0"/>
            <a:chExt cx="5914967" cy="5820684"/>
          </a:xfrm>
        </p:grpSpPr>
        <p:sp>
          <p:nvSpPr>
            <p:cNvPr name="Freeform 15" id="15"/>
            <p:cNvSpPr/>
            <p:nvPr/>
          </p:nvSpPr>
          <p:spPr>
            <a:xfrm flipH="false" flipV="false" rot="0">
              <a:off x="0" y="0"/>
              <a:ext cx="5914906" cy="5820709"/>
            </a:xfrm>
            <a:custGeom>
              <a:avLst/>
              <a:gdLst/>
              <a:ahLst/>
              <a:cxnLst/>
              <a:rect r="r" b="b" t="t" l="l"/>
              <a:pathLst>
                <a:path h="5820709" w="5914906">
                  <a:moveTo>
                    <a:pt x="0" y="0"/>
                  </a:moveTo>
                  <a:lnTo>
                    <a:pt x="5914906" y="0"/>
                  </a:lnTo>
                  <a:lnTo>
                    <a:pt x="5914906" y="5820709"/>
                  </a:lnTo>
                  <a:lnTo>
                    <a:pt x="0" y="5820709"/>
                  </a:lnTo>
                  <a:close/>
                </a:path>
              </a:pathLst>
            </a:custGeom>
            <a:solidFill>
              <a:srgbClr val="990000"/>
            </a:solidFill>
          </p:spPr>
        </p:sp>
      </p:grpSp>
      <p:grpSp>
        <p:nvGrpSpPr>
          <p:cNvPr name="Group 16" id="16"/>
          <p:cNvGrpSpPr/>
          <p:nvPr/>
        </p:nvGrpSpPr>
        <p:grpSpPr>
          <a:xfrm rot="0">
            <a:off x="12983989" y="5421800"/>
            <a:ext cx="4442319" cy="4365513"/>
            <a:chOff x="0" y="0"/>
            <a:chExt cx="5923092" cy="5820684"/>
          </a:xfrm>
        </p:grpSpPr>
        <p:sp>
          <p:nvSpPr>
            <p:cNvPr name="Freeform 17" id="17"/>
            <p:cNvSpPr/>
            <p:nvPr/>
          </p:nvSpPr>
          <p:spPr>
            <a:xfrm flipH="false" flipV="false" rot="0">
              <a:off x="0" y="0"/>
              <a:ext cx="5923031" cy="5820709"/>
            </a:xfrm>
            <a:custGeom>
              <a:avLst/>
              <a:gdLst/>
              <a:ahLst/>
              <a:cxnLst/>
              <a:rect r="r" b="b" t="t" l="l"/>
              <a:pathLst>
                <a:path h="5820709" w="5923031">
                  <a:moveTo>
                    <a:pt x="0" y="0"/>
                  </a:moveTo>
                  <a:lnTo>
                    <a:pt x="5923031" y="0"/>
                  </a:lnTo>
                  <a:lnTo>
                    <a:pt x="5923031" y="5820709"/>
                  </a:lnTo>
                  <a:lnTo>
                    <a:pt x="0" y="5820709"/>
                  </a:lnTo>
                  <a:close/>
                </a:path>
              </a:pathLst>
            </a:custGeom>
            <a:solidFill>
              <a:srgbClr val="FF6633"/>
            </a:solidFill>
          </p:spPr>
        </p:sp>
      </p:grpSp>
      <p:sp>
        <p:nvSpPr>
          <p:cNvPr name="TextBox 18" id="18"/>
          <p:cNvSpPr txBox="true"/>
          <p:nvPr/>
        </p:nvSpPr>
        <p:spPr>
          <a:xfrm rot="0">
            <a:off x="777773" y="165897"/>
            <a:ext cx="16289188" cy="1023785"/>
          </a:xfrm>
          <a:prstGeom prst="rect">
            <a:avLst/>
          </a:prstGeom>
        </p:spPr>
        <p:txBody>
          <a:bodyPr anchor="t" rtlCol="false" tIns="0" lIns="0" bIns="0" rIns="0">
            <a:spAutoFit/>
          </a:bodyPr>
          <a:lstStyle/>
          <a:p>
            <a:pPr algn="l">
              <a:lnSpc>
                <a:spcPts val="5043"/>
              </a:lnSpc>
            </a:pPr>
            <a:r>
              <a:rPr lang="en-US" sz="4203" b="true">
                <a:solidFill>
                  <a:srgbClr val="FFFFFF"/>
                </a:solidFill>
                <a:latin typeface="Calibri (MS) Bold"/>
                <a:ea typeface="Calibri (MS) Bold"/>
                <a:cs typeface="Calibri (MS) Bold"/>
                <a:sym typeface="Calibri (MS) Bold"/>
              </a:rPr>
              <a:t>STP Analysis</a:t>
            </a:r>
          </a:p>
        </p:txBody>
      </p:sp>
      <p:sp>
        <p:nvSpPr>
          <p:cNvPr name="TextBox 19" id="19"/>
          <p:cNvSpPr txBox="true"/>
          <p:nvPr/>
        </p:nvSpPr>
        <p:spPr>
          <a:xfrm rot="0">
            <a:off x="777773" y="931516"/>
            <a:ext cx="16289188" cy="436616"/>
          </a:xfrm>
          <a:prstGeom prst="rect">
            <a:avLst/>
          </a:prstGeom>
        </p:spPr>
        <p:txBody>
          <a:bodyPr anchor="t" rtlCol="false" tIns="0" lIns="0" bIns="0" rIns="0">
            <a:spAutoFit/>
          </a:bodyPr>
          <a:lstStyle/>
          <a:p>
            <a:pPr algn="l">
              <a:lnSpc>
                <a:spcPts val="2341"/>
              </a:lnSpc>
            </a:pPr>
            <a:r>
              <a:rPr lang="en-US" sz="1951">
                <a:solidFill>
                  <a:srgbClr val="FFCCCC"/>
                </a:solidFill>
                <a:latin typeface="Calibri (MS)"/>
                <a:ea typeface="Calibri (MS)"/>
                <a:cs typeface="Calibri (MS)"/>
                <a:sym typeface="Calibri (MS)"/>
              </a:rPr>
              <a:t>Segmentation · Targeting · Positioning</a:t>
            </a:r>
          </a:p>
        </p:txBody>
      </p:sp>
      <p:sp>
        <p:nvSpPr>
          <p:cNvPr name="TextBox 20" id="20"/>
          <p:cNvSpPr txBox="true"/>
          <p:nvPr/>
        </p:nvSpPr>
        <p:spPr>
          <a:xfrm rot="0">
            <a:off x="358237" y="1598653"/>
            <a:ext cx="7641355" cy="609600"/>
          </a:xfrm>
          <a:prstGeom prst="rect">
            <a:avLst/>
          </a:prstGeom>
        </p:spPr>
        <p:txBody>
          <a:bodyPr anchor="t" rtlCol="false" tIns="0" lIns="0" bIns="0" rIns="0">
            <a:spAutoFit/>
          </a:bodyPr>
          <a:lstStyle/>
          <a:p>
            <a:pPr algn="l" marL="777240" indent="-388620" lvl="1">
              <a:lnSpc>
                <a:spcPts val="4320"/>
              </a:lnSpc>
              <a:buFont typeface="Arial"/>
              <a:buChar char="•"/>
            </a:pPr>
            <a:r>
              <a:rPr lang="en-US" b="true" sz="3600">
                <a:solidFill>
                  <a:srgbClr val="FFFFFF"/>
                </a:solidFill>
                <a:latin typeface="Calibri (MS) Bold"/>
                <a:ea typeface="Calibri (MS) Bold"/>
                <a:cs typeface="Calibri (MS) Bold"/>
                <a:sym typeface="Calibri (MS) Bold"/>
              </a:rPr>
              <a:t>TARGETING:</a:t>
            </a:r>
          </a:p>
        </p:txBody>
      </p:sp>
      <p:sp>
        <p:nvSpPr>
          <p:cNvPr name="TextBox 21" id="21"/>
          <p:cNvSpPr txBox="true"/>
          <p:nvPr/>
        </p:nvSpPr>
        <p:spPr>
          <a:xfrm rot="0">
            <a:off x="674621" y="4444557"/>
            <a:ext cx="7641355" cy="609600"/>
          </a:xfrm>
          <a:prstGeom prst="rect">
            <a:avLst/>
          </a:prstGeom>
        </p:spPr>
        <p:txBody>
          <a:bodyPr anchor="t" rtlCol="false" tIns="0" lIns="0" bIns="0" rIns="0">
            <a:spAutoFit/>
          </a:bodyPr>
          <a:lstStyle/>
          <a:p>
            <a:pPr algn="l">
              <a:lnSpc>
                <a:spcPts val="4320"/>
              </a:lnSpc>
            </a:pPr>
            <a:r>
              <a:rPr lang="en-US" sz="3600" b="true">
                <a:solidFill>
                  <a:srgbClr val="FFFFFF"/>
                </a:solidFill>
                <a:latin typeface="Calibri (MS) Bold"/>
                <a:ea typeface="Calibri (MS) Bold"/>
                <a:cs typeface="Calibri (MS) Bold"/>
                <a:sym typeface="Calibri (MS) Bold"/>
              </a:rPr>
              <a:t>POSITIONING</a:t>
            </a:r>
          </a:p>
        </p:txBody>
      </p:sp>
      <p:sp>
        <p:nvSpPr>
          <p:cNvPr name="TextBox 22" id="22"/>
          <p:cNvSpPr txBox="true"/>
          <p:nvPr/>
        </p:nvSpPr>
        <p:spPr>
          <a:xfrm rot="0">
            <a:off x="2244301" y="2501685"/>
            <a:ext cx="15014999" cy="1661795"/>
          </a:xfrm>
          <a:prstGeom prst="rect">
            <a:avLst/>
          </a:prstGeom>
        </p:spPr>
        <p:txBody>
          <a:bodyPr anchor="t" rtlCol="false" tIns="0" lIns="0" bIns="0" rIns="0">
            <a:spAutoFit/>
          </a:bodyPr>
          <a:lstStyle/>
          <a:p>
            <a:pPr algn="l">
              <a:lnSpc>
                <a:spcPts val="4480"/>
              </a:lnSpc>
            </a:pPr>
            <a:r>
              <a:rPr lang="en-US" sz="3200">
                <a:solidFill>
                  <a:srgbClr val="FFFFFF"/>
                </a:solidFill>
                <a:latin typeface="Canva Sans"/>
                <a:ea typeface="Canva Sans"/>
                <a:cs typeface="Canva Sans"/>
                <a:sym typeface="Canva Sans"/>
              </a:rPr>
              <a:t>1. Walton focuses on middle income mass market </a:t>
            </a:r>
          </a:p>
          <a:p>
            <a:pPr algn="l">
              <a:lnSpc>
                <a:spcPts val="4480"/>
              </a:lnSpc>
            </a:pPr>
            <a:r>
              <a:rPr lang="en-US" sz="3200">
                <a:solidFill>
                  <a:srgbClr val="FFFFFF"/>
                </a:solidFill>
                <a:latin typeface="Canva Sans"/>
                <a:ea typeface="Canva Sans"/>
                <a:cs typeface="Canva Sans"/>
                <a:sym typeface="Canva Sans"/>
              </a:rPr>
              <a:t>2. Targeting the Asian &amp; global markets to build strong brand identity</a:t>
            </a:r>
          </a:p>
          <a:p>
            <a:pPr algn="ctr">
              <a:lnSpc>
                <a:spcPts val="4480"/>
              </a:lnSpc>
            </a:pPr>
            <a:r>
              <a:rPr lang="en-US" sz="3200">
                <a:solidFill>
                  <a:srgbClr val="FFFFFF"/>
                </a:solidFill>
                <a:latin typeface="Canva Sans"/>
                <a:ea typeface="Canva Sans"/>
                <a:cs typeface="Canva Sans"/>
                <a:sym typeface="Canva Sans"/>
              </a:rPr>
              <a:t> </a:t>
            </a:r>
          </a:p>
        </p:txBody>
      </p:sp>
      <p:sp>
        <p:nvSpPr>
          <p:cNvPr name="TextBox 23" id="23"/>
          <p:cNvSpPr txBox="true"/>
          <p:nvPr/>
        </p:nvSpPr>
        <p:spPr>
          <a:xfrm rot="0">
            <a:off x="1596159" y="5292282"/>
            <a:ext cx="3710570" cy="976630"/>
          </a:xfrm>
          <a:prstGeom prst="rect">
            <a:avLst/>
          </a:prstGeom>
        </p:spPr>
        <p:txBody>
          <a:bodyPr anchor="t" rtlCol="false" tIns="0" lIns="0" bIns="0" rIns="0">
            <a:spAutoFit/>
          </a:bodyPr>
          <a:lstStyle/>
          <a:p>
            <a:pPr algn="ctr">
              <a:lnSpc>
                <a:spcPts val="3919"/>
              </a:lnSpc>
            </a:pPr>
            <a:r>
              <a:rPr lang="en-US" sz="2799" b="true">
                <a:solidFill>
                  <a:srgbClr val="FFFFFF"/>
                </a:solidFill>
                <a:latin typeface="Canva Sans Bold"/>
                <a:ea typeface="Canva Sans Bold"/>
                <a:cs typeface="Canva Sans Bold"/>
                <a:sym typeface="Canva Sans Bold"/>
              </a:rPr>
              <a:t>Smart Technology at Affordable Prices</a:t>
            </a:r>
          </a:p>
        </p:txBody>
      </p:sp>
      <p:sp>
        <p:nvSpPr>
          <p:cNvPr name="TextBox 24" id="24"/>
          <p:cNvSpPr txBox="true"/>
          <p:nvPr/>
        </p:nvSpPr>
        <p:spPr>
          <a:xfrm rot="0">
            <a:off x="1233332" y="6373687"/>
            <a:ext cx="4437054" cy="2956325"/>
          </a:xfrm>
          <a:prstGeom prst="rect">
            <a:avLst/>
          </a:prstGeom>
        </p:spPr>
        <p:txBody>
          <a:bodyPr anchor="t" rtlCol="false" tIns="0" lIns="0" bIns="0" rIns="0">
            <a:spAutoFit/>
          </a:bodyPr>
          <a:lstStyle/>
          <a:p>
            <a:pPr algn="l" marL="604206" indent="-302103" lvl="1">
              <a:lnSpc>
                <a:spcPts val="3917"/>
              </a:lnSpc>
              <a:buFont typeface="Arial"/>
              <a:buChar char="•"/>
            </a:pPr>
            <a:r>
              <a:rPr lang="en-US" sz="2798">
                <a:solidFill>
                  <a:srgbClr val="FFFFFF"/>
                </a:solidFill>
                <a:latin typeface="Canva Sans"/>
                <a:ea typeface="Canva Sans"/>
                <a:cs typeface="Canva Sans"/>
                <a:sym typeface="Canva Sans"/>
              </a:rPr>
              <a:t>Global quality + local market understanding</a:t>
            </a:r>
          </a:p>
          <a:p>
            <a:pPr algn="l" marL="604206" indent="-302103" lvl="1">
              <a:lnSpc>
                <a:spcPts val="3917"/>
              </a:lnSpc>
              <a:buFont typeface="Arial"/>
              <a:buChar char="•"/>
            </a:pPr>
            <a:r>
              <a:rPr lang="en-US" sz="2798">
                <a:solidFill>
                  <a:srgbClr val="FFFFFF"/>
                </a:solidFill>
                <a:latin typeface="Canva Sans"/>
                <a:ea typeface="Canva Sans"/>
                <a:cs typeface="Canva Sans"/>
                <a:sym typeface="Canva Sans"/>
              </a:rPr>
              <a:t>Cost reduction through vertical integration</a:t>
            </a:r>
          </a:p>
          <a:p>
            <a:pPr algn="l">
              <a:lnSpc>
                <a:spcPts val="3917"/>
              </a:lnSpc>
            </a:pPr>
          </a:p>
        </p:txBody>
      </p:sp>
      <p:sp>
        <p:nvSpPr>
          <p:cNvPr name="TextBox 25" id="25"/>
          <p:cNvSpPr txBox="true"/>
          <p:nvPr/>
        </p:nvSpPr>
        <p:spPr>
          <a:xfrm rot="0">
            <a:off x="7471488" y="5437697"/>
            <a:ext cx="3710570" cy="1471930"/>
          </a:xfrm>
          <a:prstGeom prst="rect">
            <a:avLst/>
          </a:prstGeom>
        </p:spPr>
        <p:txBody>
          <a:bodyPr anchor="t" rtlCol="false" tIns="0" lIns="0" bIns="0" rIns="0">
            <a:spAutoFit/>
          </a:bodyPr>
          <a:lstStyle/>
          <a:p>
            <a:pPr algn="ctr">
              <a:lnSpc>
                <a:spcPts val="3919"/>
              </a:lnSpc>
            </a:pPr>
            <a:r>
              <a:rPr lang="en-US" sz="2799" b="true">
                <a:solidFill>
                  <a:srgbClr val="FFFFFF"/>
                </a:solidFill>
                <a:latin typeface="Canva Sans Bold"/>
                <a:ea typeface="Canva Sans Bold"/>
                <a:cs typeface="Canva Sans Bold"/>
                <a:sym typeface="Canva Sans Bold"/>
              </a:rPr>
              <a:t>Credibility-Driven Innovation</a:t>
            </a:r>
          </a:p>
          <a:p>
            <a:pPr algn="ctr">
              <a:lnSpc>
                <a:spcPts val="3919"/>
              </a:lnSpc>
            </a:pPr>
          </a:p>
        </p:txBody>
      </p:sp>
      <p:sp>
        <p:nvSpPr>
          <p:cNvPr name="TextBox 26" id="26"/>
          <p:cNvSpPr txBox="true"/>
          <p:nvPr/>
        </p:nvSpPr>
        <p:spPr>
          <a:xfrm rot="0">
            <a:off x="6831760" y="6368607"/>
            <a:ext cx="4854842" cy="2961405"/>
          </a:xfrm>
          <a:prstGeom prst="rect">
            <a:avLst/>
          </a:prstGeom>
        </p:spPr>
        <p:txBody>
          <a:bodyPr anchor="t" rtlCol="false" tIns="0" lIns="0" bIns="0" rIns="0">
            <a:spAutoFit/>
          </a:bodyPr>
          <a:lstStyle/>
          <a:p>
            <a:pPr algn="l">
              <a:lnSpc>
                <a:spcPts val="3922"/>
              </a:lnSpc>
            </a:pPr>
          </a:p>
          <a:p>
            <a:pPr algn="l" marL="604942" indent="-302471" lvl="1">
              <a:lnSpc>
                <a:spcPts val="3922"/>
              </a:lnSpc>
              <a:buFont typeface="Arial"/>
              <a:buChar char="•"/>
            </a:pPr>
            <a:r>
              <a:rPr lang="en-US" sz="2801">
                <a:solidFill>
                  <a:srgbClr val="FFFFFF"/>
                </a:solidFill>
                <a:latin typeface="Canva Sans"/>
                <a:ea typeface="Canva Sans"/>
                <a:cs typeface="Canva Sans"/>
                <a:sym typeface="Canva Sans"/>
              </a:rPr>
              <a:t> Strong R&amp;D investment</a:t>
            </a:r>
          </a:p>
          <a:p>
            <a:pPr algn="l" marL="604942" indent="-302471" lvl="1">
              <a:lnSpc>
                <a:spcPts val="3922"/>
              </a:lnSpc>
              <a:buFont typeface="Arial"/>
              <a:buChar char="•"/>
            </a:pPr>
            <a:r>
              <a:rPr lang="en-US" sz="2801">
                <a:solidFill>
                  <a:srgbClr val="FFFFFF"/>
                </a:solidFill>
                <a:latin typeface="Canva Sans"/>
                <a:ea typeface="Canva Sans"/>
                <a:cs typeface="Canva Sans"/>
                <a:sym typeface="Canva Sans"/>
              </a:rPr>
              <a:t>AI &amp; IoT-based smart products</a:t>
            </a:r>
          </a:p>
          <a:p>
            <a:pPr algn="l">
              <a:lnSpc>
                <a:spcPts val="3922"/>
              </a:lnSpc>
            </a:pPr>
          </a:p>
          <a:p>
            <a:pPr algn="l">
              <a:lnSpc>
                <a:spcPts val="3922"/>
              </a:lnSpc>
            </a:pPr>
          </a:p>
        </p:txBody>
      </p:sp>
      <p:sp>
        <p:nvSpPr>
          <p:cNvPr name="TextBox 27" id="27"/>
          <p:cNvSpPr txBox="true"/>
          <p:nvPr/>
        </p:nvSpPr>
        <p:spPr>
          <a:xfrm rot="0">
            <a:off x="13124877" y="5504372"/>
            <a:ext cx="4134423" cy="976630"/>
          </a:xfrm>
          <a:prstGeom prst="rect">
            <a:avLst/>
          </a:prstGeom>
        </p:spPr>
        <p:txBody>
          <a:bodyPr anchor="t" rtlCol="false" tIns="0" lIns="0" bIns="0" rIns="0">
            <a:spAutoFit/>
          </a:bodyPr>
          <a:lstStyle/>
          <a:p>
            <a:pPr algn="ctr">
              <a:lnSpc>
                <a:spcPts val="3919"/>
              </a:lnSpc>
            </a:pPr>
            <a:r>
              <a:rPr lang="en-US" sz="2799" b="true">
                <a:solidFill>
                  <a:srgbClr val="FFFFFF"/>
                </a:solidFill>
                <a:latin typeface="Canva Sans Bold"/>
                <a:ea typeface="Canva Sans Bold"/>
                <a:cs typeface="Canva Sans Bold"/>
                <a:sym typeface="Canva Sans Bold"/>
              </a:rPr>
              <a:t>“Made in Bangladesh” Strength</a:t>
            </a:r>
          </a:p>
        </p:txBody>
      </p:sp>
      <p:sp>
        <p:nvSpPr>
          <p:cNvPr name="TextBox 28" id="28"/>
          <p:cNvSpPr txBox="true"/>
          <p:nvPr/>
        </p:nvSpPr>
        <p:spPr>
          <a:xfrm rot="0">
            <a:off x="12689149" y="6620609"/>
            <a:ext cx="4737159" cy="2462480"/>
          </a:xfrm>
          <a:prstGeom prst="rect">
            <a:avLst/>
          </a:prstGeom>
        </p:spPr>
        <p:txBody>
          <a:bodyPr anchor="t" rtlCol="false" tIns="0" lIns="0" bIns="0" rIns="0">
            <a:spAutoFit/>
          </a:bodyPr>
          <a:lstStyle/>
          <a:p>
            <a:pPr algn="l" marL="604942" indent="-302471" lvl="1">
              <a:lnSpc>
                <a:spcPts val="3922"/>
              </a:lnSpc>
              <a:buFont typeface="Arial"/>
              <a:buChar char="•"/>
            </a:pPr>
            <a:r>
              <a:rPr lang="en-US" sz="2801">
                <a:solidFill>
                  <a:srgbClr val="FFFFFF"/>
                </a:solidFill>
                <a:latin typeface="Canva Sans"/>
                <a:ea typeface="Canva Sans"/>
                <a:cs typeface="Canva Sans"/>
                <a:sym typeface="Canva Sans"/>
              </a:rPr>
              <a:t>Builds trust &amp; emotional connection</a:t>
            </a:r>
          </a:p>
          <a:p>
            <a:pPr algn="l" marL="604942" indent="-302471" lvl="1">
              <a:lnSpc>
                <a:spcPts val="3922"/>
              </a:lnSpc>
              <a:buFont typeface="Arial"/>
              <a:buChar char="•"/>
            </a:pPr>
            <a:r>
              <a:rPr lang="en-US" sz="2801">
                <a:solidFill>
                  <a:srgbClr val="FFFFFF"/>
                </a:solidFill>
                <a:latin typeface="Canva Sans"/>
                <a:ea typeface="Canva Sans"/>
                <a:cs typeface="Canva Sans"/>
                <a:sym typeface="Canva Sans"/>
              </a:rPr>
              <a:t>Competes with international brands</a:t>
            </a:r>
          </a:p>
          <a:p>
            <a:pPr algn="l">
              <a:lnSpc>
                <a:spcPts val="3922"/>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0" y="0"/>
            <a:ext cx="18297725" cy="1509941"/>
            <a:chOff x="0" y="0"/>
            <a:chExt cx="24396967" cy="2013255"/>
          </a:xfrm>
        </p:grpSpPr>
        <p:sp>
          <p:nvSpPr>
            <p:cNvPr name="Freeform 3" id="3"/>
            <p:cNvSpPr/>
            <p:nvPr/>
          </p:nvSpPr>
          <p:spPr>
            <a:xfrm flipH="false" flipV="false" rot="0">
              <a:off x="0" y="0"/>
              <a:ext cx="24396954" cy="2013204"/>
            </a:xfrm>
            <a:custGeom>
              <a:avLst/>
              <a:gdLst/>
              <a:ahLst/>
              <a:cxnLst/>
              <a:rect r="r" b="b" t="t" l="l"/>
              <a:pathLst>
                <a:path h="2013204" w="24396954">
                  <a:moveTo>
                    <a:pt x="0" y="0"/>
                  </a:moveTo>
                  <a:lnTo>
                    <a:pt x="24396954" y="0"/>
                  </a:lnTo>
                  <a:lnTo>
                    <a:pt x="24396954" y="2013204"/>
                  </a:lnTo>
                  <a:lnTo>
                    <a:pt x="0" y="2013204"/>
                  </a:lnTo>
                  <a:close/>
                </a:path>
              </a:pathLst>
            </a:custGeom>
            <a:solidFill>
              <a:srgbClr val="CC0000"/>
            </a:solidFill>
          </p:spPr>
        </p:sp>
      </p:grpSp>
      <p:grpSp>
        <p:nvGrpSpPr>
          <p:cNvPr name="Group 4" id="4"/>
          <p:cNvGrpSpPr/>
          <p:nvPr/>
        </p:nvGrpSpPr>
        <p:grpSpPr>
          <a:xfrm rot="0">
            <a:off x="13791123" y="2213050"/>
            <a:ext cx="4180513" cy="3502948"/>
            <a:chOff x="0" y="0"/>
            <a:chExt cx="12750042" cy="10683553"/>
          </a:xfrm>
        </p:grpSpPr>
        <p:sp>
          <p:nvSpPr>
            <p:cNvPr name="Freeform 5" id="5"/>
            <p:cNvSpPr/>
            <p:nvPr/>
          </p:nvSpPr>
          <p:spPr>
            <a:xfrm flipH="false" flipV="false" rot="0">
              <a:off x="0" y="0"/>
              <a:ext cx="12750043" cy="10683553"/>
            </a:xfrm>
            <a:custGeom>
              <a:avLst/>
              <a:gdLst/>
              <a:ahLst/>
              <a:cxnLst/>
              <a:rect r="r" b="b" t="t" l="l"/>
              <a:pathLst>
                <a:path h="10683553" w="12750043">
                  <a:moveTo>
                    <a:pt x="0" y="0"/>
                  </a:moveTo>
                  <a:lnTo>
                    <a:pt x="12750043" y="0"/>
                  </a:lnTo>
                  <a:lnTo>
                    <a:pt x="12750043" y="10683553"/>
                  </a:lnTo>
                  <a:lnTo>
                    <a:pt x="0" y="10683553"/>
                  </a:lnTo>
                  <a:close/>
                </a:path>
              </a:pathLst>
            </a:custGeom>
            <a:blipFill>
              <a:blip r:embed="rId2"/>
              <a:stretch>
                <a:fillRect l="-5917" t="-113" r="0" b="-26291"/>
              </a:stretch>
            </a:blipFill>
          </p:spPr>
        </p:sp>
      </p:grpSp>
      <p:grpSp>
        <p:nvGrpSpPr>
          <p:cNvPr name="Group 6" id="6"/>
          <p:cNvGrpSpPr/>
          <p:nvPr/>
        </p:nvGrpSpPr>
        <p:grpSpPr>
          <a:xfrm rot="0">
            <a:off x="549069" y="1672246"/>
            <a:ext cx="17422568" cy="498999"/>
            <a:chOff x="0" y="0"/>
            <a:chExt cx="23230090" cy="665332"/>
          </a:xfrm>
        </p:grpSpPr>
        <p:sp>
          <p:nvSpPr>
            <p:cNvPr name="Freeform 7" id="7"/>
            <p:cNvSpPr/>
            <p:nvPr/>
          </p:nvSpPr>
          <p:spPr>
            <a:xfrm flipH="false" flipV="false" rot="0">
              <a:off x="0" y="0"/>
              <a:ext cx="23229346" cy="665331"/>
            </a:xfrm>
            <a:custGeom>
              <a:avLst/>
              <a:gdLst/>
              <a:ahLst/>
              <a:cxnLst/>
              <a:rect r="r" b="b" t="t" l="l"/>
              <a:pathLst>
                <a:path h="665331" w="23229346">
                  <a:moveTo>
                    <a:pt x="0" y="0"/>
                  </a:moveTo>
                  <a:lnTo>
                    <a:pt x="23229346" y="0"/>
                  </a:lnTo>
                  <a:lnTo>
                    <a:pt x="23229346" y="665331"/>
                  </a:lnTo>
                  <a:lnTo>
                    <a:pt x="0" y="665331"/>
                  </a:lnTo>
                  <a:close/>
                </a:path>
              </a:pathLst>
            </a:custGeom>
            <a:solidFill>
              <a:srgbClr val="CC0000"/>
            </a:solidFill>
          </p:spPr>
        </p:sp>
      </p:grpSp>
      <p:grpSp>
        <p:nvGrpSpPr>
          <p:cNvPr name="Group 8" id="8"/>
          <p:cNvGrpSpPr/>
          <p:nvPr/>
        </p:nvGrpSpPr>
        <p:grpSpPr>
          <a:xfrm rot="0">
            <a:off x="549069" y="2193581"/>
            <a:ext cx="13242054" cy="3294412"/>
            <a:chOff x="0" y="0"/>
            <a:chExt cx="17656073" cy="4392549"/>
          </a:xfrm>
        </p:grpSpPr>
        <p:sp>
          <p:nvSpPr>
            <p:cNvPr name="Freeform 9" id="9"/>
            <p:cNvSpPr/>
            <p:nvPr/>
          </p:nvSpPr>
          <p:spPr>
            <a:xfrm flipH="false" flipV="false" rot="0">
              <a:off x="0" y="0"/>
              <a:ext cx="17656073" cy="4392549"/>
            </a:xfrm>
            <a:custGeom>
              <a:avLst/>
              <a:gdLst/>
              <a:ahLst/>
              <a:cxnLst/>
              <a:rect r="r" b="b" t="t" l="l"/>
              <a:pathLst>
                <a:path h="4392549" w="17656073">
                  <a:moveTo>
                    <a:pt x="0" y="0"/>
                  </a:moveTo>
                  <a:lnTo>
                    <a:pt x="17656073" y="0"/>
                  </a:lnTo>
                  <a:lnTo>
                    <a:pt x="17656073" y="4392549"/>
                  </a:lnTo>
                  <a:lnTo>
                    <a:pt x="0" y="4392549"/>
                  </a:lnTo>
                  <a:close/>
                </a:path>
              </a:pathLst>
            </a:custGeom>
            <a:solidFill>
              <a:srgbClr val="222D42"/>
            </a:solidFill>
          </p:spPr>
        </p:sp>
      </p:grpSp>
      <p:grpSp>
        <p:nvGrpSpPr>
          <p:cNvPr name="Group 10" id="10"/>
          <p:cNvGrpSpPr/>
          <p:nvPr/>
        </p:nvGrpSpPr>
        <p:grpSpPr>
          <a:xfrm rot="0">
            <a:off x="582582" y="5735048"/>
            <a:ext cx="17389054" cy="521335"/>
            <a:chOff x="0" y="0"/>
            <a:chExt cx="23185406" cy="695113"/>
          </a:xfrm>
        </p:grpSpPr>
        <p:sp>
          <p:nvSpPr>
            <p:cNvPr name="Freeform 11" id="11"/>
            <p:cNvSpPr/>
            <p:nvPr/>
          </p:nvSpPr>
          <p:spPr>
            <a:xfrm flipH="false" flipV="false" rot="0">
              <a:off x="0" y="0"/>
              <a:ext cx="23184662" cy="695113"/>
            </a:xfrm>
            <a:custGeom>
              <a:avLst/>
              <a:gdLst/>
              <a:ahLst/>
              <a:cxnLst/>
              <a:rect r="r" b="b" t="t" l="l"/>
              <a:pathLst>
                <a:path h="695113" w="23184662">
                  <a:moveTo>
                    <a:pt x="0" y="0"/>
                  </a:moveTo>
                  <a:lnTo>
                    <a:pt x="23184662" y="0"/>
                  </a:lnTo>
                  <a:lnTo>
                    <a:pt x="23184662" y="695113"/>
                  </a:lnTo>
                  <a:lnTo>
                    <a:pt x="0" y="695113"/>
                  </a:lnTo>
                  <a:close/>
                </a:path>
              </a:pathLst>
            </a:custGeom>
            <a:solidFill>
              <a:srgbClr val="CC0000"/>
            </a:solidFill>
          </p:spPr>
        </p:sp>
      </p:grpSp>
      <p:grpSp>
        <p:nvGrpSpPr>
          <p:cNvPr name="Group 12" id="12"/>
          <p:cNvGrpSpPr/>
          <p:nvPr/>
        </p:nvGrpSpPr>
        <p:grpSpPr>
          <a:xfrm rot="0">
            <a:off x="9260353" y="1672246"/>
            <a:ext cx="8711284" cy="498999"/>
            <a:chOff x="0" y="0"/>
            <a:chExt cx="11615045" cy="665332"/>
          </a:xfrm>
        </p:grpSpPr>
        <p:sp>
          <p:nvSpPr>
            <p:cNvPr name="Freeform 13" id="13"/>
            <p:cNvSpPr/>
            <p:nvPr/>
          </p:nvSpPr>
          <p:spPr>
            <a:xfrm flipH="false" flipV="false" rot="0">
              <a:off x="0" y="0"/>
              <a:ext cx="11614673" cy="665331"/>
            </a:xfrm>
            <a:custGeom>
              <a:avLst/>
              <a:gdLst/>
              <a:ahLst/>
              <a:cxnLst/>
              <a:rect r="r" b="b" t="t" l="l"/>
              <a:pathLst>
                <a:path h="665331" w="11614673">
                  <a:moveTo>
                    <a:pt x="0" y="0"/>
                  </a:moveTo>
                  <a:lnTo>
                    <a:pt x="11614673" y="0"/>
                  </a:lnTo>
                  <a:lnTo>
                    <a:pt x="11614673" y="665331"/>
                  </a:lnTo>
                  <a:lnTo>
                    <a:pt x="0" y="665331"/>
                  </a:lnTo>
                  <a:close/>
                </a:path>
              </a:pathLst>
            </a:custGeom>
            <a:solidFill>
              <a:srgbClr val="163F97"/>
            </a:solidFill>
          </p:spPr>
        </p:sp>
      </p:grpSp>
      <p:sp>
        <p:nvSpPr>
          <p:cNvPr name="TextBox 14" id="14"/>
          <p:cNvSpPr txBox="true"/>
          <p:nvPr/>
        </p:nvSpPr>
        <p:spPr>
          <a:xfrm rot="0">
            <a:off x="7226427" y="1615096"/>
            <a:ext cx="4134878" cy="1099820"/>
          </a:xfrm>
          <a:prstGeom prst="rect">
            <a:avLst/>
          </a:prstGeom>
        </p:spPr>
        <p:txBody>
          <a:bodyPr anchor="t" rtlCol="false" tIns="0" lIns="0" bIns="0" rIns="0">
            <a:spAutoFit/>
          </a:bodyPr>
          <a:lstStyle/>
          <a:p>
            <a:pPr algn="ctr">
              <a:lnSpc>
                <a:spcPts val="4480"/>
              </a:lnSpc>
            </a:pPr>
            <a:r>
              <a:rPr lang="en-US" sz="3200" b="true">
                <a:solidFill>
                  <a:srgbClr val="FFFFFF"/>
                </a:solidFill>
                <a:latin typeface="Canva Sans Bold"/>
                <a:ea typeface="Canva Sans Bold"/>
                <a:cs typeface="Canva Sans Bold"/>
                <a:sym typeface="Canva Sans Bold"/>
              </a:rPr>
              <a:t>Product Strategy</a:t>
            </a:r>
          </a:p>
          <a:p>
            <a:pPr algn="ctr">
              <a:lnSpc>
                <a:spcPts val="4480"/>
              </a:lnSpc>
            </a:pPr>
          </a:p>
        </p:txBody>
      </p:sp>
      <p:sp>
        <p:nvSpPr>
          <p:cNvPr name="TextBox 15" id="15"/>
          <p:cNvSpPr txBox="true"/>
          <p:nvPr/>
        </p:nvSpPr>
        <p:spPr>
          <a:xfrm rot="0">
            <a:off x="582582" y="2141743"/>
            <a:ext cx="12853272" cy="3804285"/>
          </a:xfrm>
          <a:prstGeom prst="rect">
            <a:avLst/>
          </a:prstGeom>
        </p:spPr>
        <p:txBody>
          <a:bodyPr anchor="t" rtlCol="false" tIns="0" lIns="0" bIns="0" rIns="0">
            <a:spAutoFit/>
          </a:bodyPr>
          <a:lstStyle/>
          <a:p>
            <a:pPr algn="l" marL="777240" indent="-388620" lvl="1">
              <a:lnSpc>
                <a:spcPts val="5040"/>
              </a:lnSpc>
              <a:buFont typeface="Arial"/>
              <a:buChar char="•"/>
            </a:pPr>
            <a:r>
              <a:rPr lang="en-US" sz="3600">
                <a:solidFill>
                  <a:srgbClr val="FFFFFF"/>
                </a:solidFill>
                <a:latin typeface="Canva Sans"/>
                <a:ea typeface="Canva Sans"/>
                <a:cs typeface="Canva Sans"/>
                <a:sym typeface="Canva Sans"/>
              </a:rPr>
              <a:t>Wide product range: fridge, TV, AC, smartphone, laptop</a:t>
            </a:r>
          </a:p>
          <a:p>
            <a:pPr algn="l" marL="777240" indent="-388620" lvl="1">
              <a:lnSpc>
                <a:spcPts val="5040"/>
              </a:lnSpc>
              <a:buFont typeface="Arial"/>
              <a:buChar char="•"/>
            </a:pPr>
            <a:r>
              <a:rPr lang="en-US" sz="3600">
                <a:solidFill>
                  <a:srgbClr val="FFFFFF"/>
                </a:solidFill>
                <a:latin typeface="Canva Sans"/>
                <a:ea typeface="Canva Sans"/>
                <a:cs typeface="Canva Sans"/>
                <a:sym typeface="Canva Sans"/>
              </a:rPr>
              <a:t>Focus on innovation &amp; smart technology</a:t>
            </a:r>
          </a:p>
          <a:p>
            <a:pPr algn="l" marL="777240" indent="-388620" lvl="1">
              <a:lnSpc>
                <a:spcPts val="5040"/>
              </a:lnSpc>
              <a:buFont typeface="Arial"/>
              <a:buChar char="•"/>
            </a:pPr>
            <a:r>
              <a:rPr lang="en-US" sz="3600">
                <a:solidFill>
                  <a:srgbClr val="FFFFFF"/>
                </a:solidFill>
                <a:latin typeface="Canva Sans"/>
                <a:ea typeface="Canva Sans"/>
                <a:cs typeface="Canva Sans"/>
                <a:sym typeface="Canva Sans"/>
              </a:rPr>
              <a:t>Example: AI-powered smart refrigerator</a:t>
            </a:r>
          </a:p>
          <a:p>
            <a:pPr algn="l" marL="777240" indent="-388620" lvl="1">
              <a:lnSpc>
                <a:spcPts val="5040"/>
              </a:lnSpc>
              <a:buFont typeface="Arial"/>
              <a:buChar char="•"/>
            </a:pPr>
            <a:r>
              <a:rPr lang="en-US" sz="3600">
                <a:solidFill>
                  <a:srgbClr val="FFFFFF"/>
                </a:solidFill>
                <a:latin typeface="Canva Sans"/>
                <a:ea typeface="Canva Sans"/>
                <a:cs typeface="Canva Sans"/>
                <a:sym typeface="Canva Sans"/>
              </a:rPr>
              <a:t>Designed for local needs (e.g., larger freezer space</a:t>
            </a:r>
          </a:p>
          <a:p>
            <a:pPr algn="ctr">
              <a:lnSpc>
                <a:spcPts val="5040"/>
              </a:lnSpc>
            </a:pPr>
          </a:p>
          <a:p>
            <a:pPr algn="ctr">
              <a:lnSpc>
                <a:spcPts val="5040"/>
              </a:lnSpc>
            </a:pPr>
          </a:p>
        </p:txBody>
      </p:sp>
      <p:grpSp>
        <p:nvGrpSpPr>
          <p:cNvPr name="Group 16" id="16"/>
          <p:cNvGrpSpPr/>
          <p:nvPr/>
        </p:nvGrpSpPr>
        <p:grpSpPr>
          <a:xfrm rot="0">
            <a:off x="582582" y="5735048"/>
            <a:ext cx="8711284" cy="521335"/>
            <a:chOff x="0" y="0"/>
            <a:chExt cx="11615045" cy="695113"/>
          </a:xfrm>
        </p:grpSpPr>
        <p:sp>
          <p:nvSpPr>
            <p:cNvPr name="Freeform 17" id="17"/>
            <p:cNvSpPr/>
            <p:nvPr/>
          </p:nvSpPr>
          <p:spPr>
            <a:xfrm flipH="false" flipV="false" rot="0">
              <a:off x="0" y="0"/>
              <a:ext cx="11614673" cy="695113"/>
            </a:xfrm>
            <a:custGeom>
              <a:avLst/>
              <a:gdLst/>
              <a:ahLst/>
              <a:cxnLst/>
              <a:rect r="r" b="b" t="t" l="l"/>
              <a:pathLst>
                <a:path h="695113" w="11614673">
                  <a:moveTo>
                    <a:pt x="0" y="0"/>
                  </a:moveTo>
                  <a:lnTo>
                    <a:pt x="11614673" y="0"/>
                  </a:lnTo>
                  <a:lnTo>
                    <a:pt x="11614673" y="695113"/>
                  </a:lnTo>
                  <a:lnTo>
                    <a:pt x="0" y="695113"/>
                  </a:lnTo>
                  <a:close/>
                </a:path>
              </a:pathLst>
            </a:custGeom>
            <a:solidFill>
              <a:srgbClr val="163F97"/>
            </a:solidFill>
          </p:spPr>
        </p:sp>
      </p:grpSp>
      <p:sp>
        <p:nvSpPr>
          <p:cNvPr name="TextBox 18" id="18"/>
          <p:cNvSpPr txBox="true"/>
          <p:nvPr/>
        </p:nvSpPr>
        <p:spPr>
          <a:xfrm rot="0">
            <a:off x="6789065" y="5677898"/>
            <a:ext cx="5341758" cy="1099820"/>
          </a:xfrm>
          <a:prstGeom prst="rect">
            <a:avLst/>
          </a:prstGeom>
        </p:spPr>
        <p:txBody>
          <a:bodyPr anchor="t" rtlCol="false" tIns="0" lIns="0" bIns="0" rIns="0">
            <a:spAutoFit/>
          </a:bodyPr>
          <a:lstStyle/>
          <a:p>
            <a:pPr algn="ctr">
              <a:lnSpc>
                <a:spcPts val="4480"/>
              </a:lnSpc>
            </a:pPr>
            <a:r>
              <a:rPr lang="en-US" sz="3200" b="true">
                <a:solidFill>
                  <a:srgbClr val="FFFFFF"/>
                </a:solidFill>
                <a:latin typeface="Canva Sans Bold"/>
                <a:ea typeface="Canva Sans Bold"/>
                <a:cs typeface="Canva Sans Bold"/>
                <a:sym typeface="Canva Sans Bold"/>
              </a:rPr>
              <a:t>Pricing Strategy</a:t>
            </a:r>
          </a:p>
          <a:p>
            <a:pPr algn="ctr">
              <a:lnSpc>
                <a:spcPts val="4480"/>
              </a:lnSpc>
            </a:pPr>
          </a:p>
        </p:txBody>
      </p:sp>
      <p:grpSp>
        <p:nvGrpSpPr>
          <p:cNvPr name="Group 19" id="19"/>
          <p:cNvGrpSpPr/>
          <p:nvPr/>
        </p:nvGrpSpPr>
        <p:grpSpPr>
          <a:xfrm rot="0">
            <a:off x="1028700" y="6294483"/>
            <a:ext cx="3985263" cy="3294412"/>
            <a:chOff x="0" y="0"/>
            <a:chExt cx="5313684" cy="4392549"/>
          </a:xfrm>
        </p:grpSpPr>
        <p:sp>
          <p:nvSpPr>
            <p:cNvPr name="Freeform 20" id="20"/>
            <p:cNvSpPr/>
            <p:nvPr/>
          </p:nvSpPr>
          <p:spPr>
            <a:xfrm flipH="false" flipV="false" rot="0">
              <a:off x="0" y="0"/>
              <a:ext cx="5313685" cy="4392549"/>
            </a:xfrm>
            <a:custGeom>
              <a:avLst/>
              <a:gdLst/>
              <a:ahLst/>
              <a:cxnLst/>
              <a:rect r="r" b="b" t="t" l="l"/>
              <a:pathLst>
                <a:path h="4392549" w="5313685">
                  <a:moveTo>
                    <a:pt x="0" y="0"/>
                  </a:moveTo>
                  <a:lnTo>
                    <a:pt x="5313685" y="0"/>
                  </a:lnTo>
                  <a:lnTo>
                    <a:pt x="5313685" y="4392549"/>
                  </a:lnTo>
                  <a:lnTo>
                    <a:pt x="0" y="4392549"/>
                  </a:lnTo>
                  <a:close/>
                </a:path>
              </a:pathLst>
            </a:custGeom>
            <a:solidFill>
              <a:srgbClr val="0F6E56"/>
            </a:solidFill>
          </p:spPr>
        </p:sp>
      </p:grpSp>
      <p:grpSp>
        <p:nvGrpSpPr>
          <p:cNvPr name="Group 21" id="21"/>
          <p:cNvGrpSpPr/>
          <p:nvPr/>
        </p:nvGrpSpPr>
        <p:grpSpPr>
          <a:xfrm rot="0">
            <a:off x="13137111" y="6294483"/>
            <a:ext cx="3985263" cy="3294412"/>
            <a:chOff x="0" y="0"/>
            <a:chExt cx="5313684" cy="4392549"/>
          </a:xfrm>
        </p:grpSpPr>
        <p:sp>
          <p:nvSpPr>
            <p:cNvPr name="Freeform 22" id="22"/>
            <p:cNvSpPr/>
            <p:nvPr/>
          </p:nvSpPr>
          <p:spPr>
            <a:xfrm flipH="false" flipV="false" rot="0">
              <a:off x="0" y="0"/>
              <a:ext cx="5313685" cy="4392549"/>
            </a:xfrm>
            <a:custGeom>
              <a:avLst/>
              <a:gdLst/>
              <a:ahLst/>
              <a:cxnLst/>
              <a:rect r="r" b="b" t="t" l="l"/>
              <a:pathLst>
                <a:path h="4392549" w="5313685">
                  <a:moveTo>
                    <a:pt x="0" y="0"/>
                  </a:moveTo>
                  <a:lnTo>
                    <a:pt x="5313685" y="0"/>
                  </a:lnTo>
                  <a:lnTo>
                    <a:pt x="5313685" y="4392549"/>
                  </a:lnTo>
                  <a:lnTo>
                    <a:pt x="0" y="4392549"/>
                  </a:lnTo>
                  <a:close/>
                </a:path>
              </a:pathLst>
            </a:custGeom>
            <a:solidFill>
              <a:srgbClr val="0F6E56"/>
            </a:solidFill>
          </p:spPr>
        </p:sp>
      </p:grpSp>
      <p:grpSp>
        <p:nvGrpSpPr>
          <p:cNvPr name="Group 23" id="23"/>
          <p:cNvGrpSpPr/>
          <p:nvPr/>
        </p:nvGrpSpPr>
        <p:grpSpPr>
          <a:xfrm rot="0">
            <a:off x="7082905" y="6294483"/>
            <a:ext cx="3985263" cy="3294412"/>
            <a:chOff x="0" y="0"/>
            <a:chExt cx="5313684" cy="4392549"/>
          </a:xfrm>
        </p:grpSpPr>
        <p:sp>
          <p:nvSpPr>
            <p:cNvPr name="Freeform 24" id="24"/>
            <p:cNvSpPr/>
            <p:nvPr/>
          </p:nvSpPr>
          <p:spPr>
            <a:xfrm flipH="false" flipV="false" rot="0">
              <a:off x="0" y="0"/>
              <a:ext cx="5313685" cy="4392549"/>
            </a:xfrm>
            <a:custGeom>
              <a:avLst/>
              <a:gdLst/>
              <a:ahLst/>
              <a:cxnLst/>
              <a:rect r="r" b="b" t="t" l="l"/>
              <a:pathLst>
                <a:path h="4392549" w="5313685">
                  <a:moveTo>
                    <a:pt x="0" y="0"/>
                  </a:moveTo>
                  <a:lnTo>
                    <a:pt x="5313685" y="0"/>
                  </a:lnTo>
                  <a:lnTo>
                    <a:pt x="5313685" y="4392549"/>
                  </a:lnTo>
                  <a:lnTo>
                    <a:pt x="0" y="4392549"/>
                  </a:lnTo>
                  <a:close/>
                </a:path>
              </a:pathLst>
            </a:custGeom>
            <a:solidFill>
              <a:srgbClr val="0F6E56"/>
            </a:solidFill>
          </p:spPr>
        </p:sp>
      </p:grpSp>
      <p:sp>
        <p:nvSpPr>
          <p:cNvPr name="TextBox 25" id="25"/>
          <p:cNvSpPr txBox="true"/>
          <p:nvPr/>
        </p:nvSpPr>
        <p:spPr>
          <a:xfrm rot="0">
            <a:off x="1028700" y="6446883"/>
            <a:ext cx="3985263" cy="537845"/>
          </a:xfrm>
          <a:prstGeom prst="rect">
            <a:avLst/>
          </a:prstGeom>
        </p:spPr>
        <p:txBody>
          <a:bodyPr anchor="t" rtlCol="false" tIns="0" lIns="0" bIns="0" rIns="0">
            <a:spAutoFit/>
          </a:bodyPr>
          <a:lstStyle/>
          <a:p>
            <a:pPr algn="ctr">
              <a:lnSpc>
                <a:spcPts val="4480"/>
              </a:lnSpc>
              <a:spcBef>
                <a:spcPct val="0"/>
              </a:spcBef>
            </a:pPr>
            <a:r>
              <a:rPr lang="en-US" sz="3200">
                <a:solidFill>
                  <a:srgbClr val="FFFFFF"/>
                </a:solidFill>
                <a:latin typeface="Canva Sans"/>
                <a:ea typeface="Canva Sans"/>
                <a:cs typeface="Canva Sans"/>
                <a:sym typeface="Canva Sans"/>
              </a:rPr>
              <a:t>৳</a:t>
            </a:r>
          </a:p>
        </p:txBody>
      </p:sp>
      <p:sp>
        <p:nvSpPr>
          <p:cNvPr name="TextBox 26" id="26"/>
          <p:cNvSpPr txBox="true"/>
          <p:nvPr/>
        </p:nvSpPr>
        <p:spPr>
          <a:xfrm rot="0">
            <a:off x="7082905" y="6487523"/>
            <a:ext cx="3985263" cy="537845"/>
          </a:xfrm>
          <a:prstGeom prst="rect">
            <a:avLst/>
          </a:prstGeom>
        </p:spPr>
        <p:txBody>
          <a:bodyPr anchor="t" rtlCol="false" tIns="0" lIns="0" bIns="0" rIns="0">
            <a:spAutoFit/>
          </a:bodyPr>
          <a:lstStyle/>
          <a:p>
            <a:pPr algn="ctr">
              <a:lnSpc>
                <a:spcPts val="4480"/>
              </a:lnSpc>
              <a:spcBef>
                <a:spcPct val="0"/>
              </a:spcBef>
            </a:pPr>
            <a:r>
              <a:rPr lang="en-US" sz="3200">
                <a:solidFill>
                  <a:srgbClr val="FFFFFF"/>
                </a:solidFill>
                <a:latin typeface="Canva Sans"/>
                <a:ea typeface="Canva Sans"/>
                <a:cs typeface="Canva Sans"/>
                <a:sym typeface="Canva Sans"/>
              </a:rPr>
              <a:t>🌐</a:t>
            </a:r>
          </a:p>
        </p:txBody>
      </p:sp>
      <p:sp>
        <p:nvSpPr>
          <p:cNvPr name="TextBox 27" id="27"/>
          <p:cNvSpPr txBox="true"/>
          <p:nvPr/>
        </p:nvSpPr>
        <p:spPr>
          <a:xfrm rot="0">
            <a:off x="13137111" y="6237333"/>
            <a:ext cx="3985263" cy="537845"/>
          </a:xfrm>
          <a:prstGeom prst="rect">
            <a:avLst/>
          </a:prstGeom>
        </p:spPr>
        <p:txBody>
          <a:bodyPr anchor="t" rtlCol="false" tIns="0" lIns="0" bIns="0" rIns="0">
            <a:spAutoFit/>
          </a:bodyPr>
          <a:lstStyle/>
          <a:p>
            <a:pPr algn="ctr">
              <a:lnSpc>
                <a:spcPts val="4480"/>
              </a:lnSpc>
              <a:spcBef>
                <a:spcPct val="0"/>
              </a:spcBef>
            </a:pPr>
            <a:r>
              <a:rPr lang="en-US" sz="3200">
                <a:solidFill>
                  <a:srgbClr val="FFFFFF"/>
                </a:solidFill>
                <a:latin typeface="Canva Sans"/>
                <a:ea typeface="Canva Sans"/>
                <a:cs typeface="Canva Sans"/>
                <a:sym typeface="Canva Sans"/>
              </a:rPr>
              <a:t>💳</a:t>
            </a:r>
          </a:p>
        </p:txBody>
      </p:sp>
      <p:sp>
        <p:nvSpPr>
          <p:cNvPr name="TextBox 28" id="28"/>
          <p:cNvSpPr txBox="true"/>
          <p:nvPr/>
        </p:nvSpPr>
        <p:spPr>
          <a:xfrm rot="0">
            <a:off x="1231800" y="6968218"/>
            <a:ext cx="3579064" cy="2223770"/>
          </a:xfrm>
          <a:prstGeom prst="rect">
            <a:avLst/>
          </a:prstGeom>
        </p:spPr>
        <p:txBody>
          <a:bodyPr anchor="t" rtlCol="false" tIns="0" lIns="0" bIns="0" rIns="0">
            <a:spAutoFit/>
          </a:bodyPr>
          <a:lstStyle/>
          <a:p>
            <a:pPr algn="ctr">
              <a:lnSpc>
                <a:spcPts val="4480"/>
              </a:lnSpc>
            </a:pPr>
            <a:r>
              <a:rPr lang="en-US" sz="3200" b="true">
                <a:solidFill>
                  <a:srgbClr val="FFFFFF"/>
                </a:solidFill>
                <a:latin typeface="Canva Sans Bold"/>
                <a:ea typeface="Canva Sans Bold"/>
                <a:cs typeface="Canva Sans Bold"/>
                <a:sym typeface="Canva Sans Bold"/>
              </a:rPr>
              <a:t>Affordable &amp; value-based pricing</a:t>
            </a:r>
          </a:p>
          <a:p>
            <a:pPr algn="ctr">
              <a:lnSpc>
                <a:spcPts val="4480"/>
              </a:lnSpc>
            </a:pPr>
          </a:p>
        </p:txBody>
      </p:sp>
      <p:sp>
        <p:nvSpPr>
          <p:cNvPr name="TextBox 29" id="29"/>
          <p:cNvSpPr txBox="true"/>
          <p:nvPr/>
        </p:nvSpPr>
        <p:spPr>
          <a:xfrm rot="0">
            <a:off x="7406012" y="6968218"/>
            <a:ext cx="3402260" cy="2223770"/>
          </a:xfrm>
          <a:prstGeom prst="rect">
            <a:avLst/>
          </a:prstGeom>
        </p:spPr>
        <p:txBody>
          <a:bodyPr anchor="t" rtlCol="false" tIns="0" lIns="0" bIns="0" rIns="0">
            <a:spAutoFit/>
          </a:bodyPr>
          <a:lstStyle/>
          <a:p>
            <a:pPr algn="ctr">
              <a:lnSpc>
                <a:spcPts val="4480"/>
              </a:lnSpc>
            </a:pPr>
            <a:r>
              <a:rPr lang="en-US" sz="3200" b="true">
                <a:solidFill>
                  <a:srgbClr val="FFFFFF"/>
                </a:solidFill>
                <a:latin typeface="Canva Sans Bold"/>
                <a:ea typeface="Canva Sans Bold"/>
                <a:cs typeface="Canva Sans Bold"/>
                <a:sym typeface="Canva Sans Bold"/>
              </a:rPr>
              <a:t>Lower than global competitors</a:t>
            </a:r>
          </a:p>
          <a:p>
            <a:pPr algn="ctr">
              <a:lnSpc>
                <a:spcPts val="4480"/>
              </a:lnSpc>
            </a:pPr>
          </a:p>
        </p:txBody>
      </p:sp>
      <p:sp>
        <p:nvSpPr>
          <p:cNvPr name="TextBox 30" id="30"/>
          <p:cNvSpPr txBox="true"/>
          <p:nvPr/>
        </p:nvSpPr>
        <p:spPr>
          <a:xfrm rot="0">
            <a:off x="13474467" y="6927578"/>
            <a:ext cx="3310551" cy="2223770"/>
          </a:xfrm>
          <a:prstGeom prst="rect">
            <a:avLst/>
          </a:prstGeom>
        </p:spPr>
        <p:txBody>
          <a:bodyPr anchor="t" rtlCol="false" tIns="0" lIns="0" bIns="0" rIns="0">
            <a:spAutoFit/>
          </a:bodyPr>
          <a:lstStyle/>
          <a:p>
            <a:pPr algn="ctr">
              <a:lnSpc>
                <a:spcPts val="4480"/>
              </a:lnSpc>
            </a:pPr>
            <a:r>
              <a:rPr lang="en-US" sz="3200" b="true">
                <a:solidFill>
                  <a:srgbClr val="FEFEFE"/>
                </a:solidFill>
                <a:latin typeface="Canva Sans Bold"/>
                <a:ea typeface="Canva Sans Bold"/>
                <a:cs typeface="Canva Sans Bold"/>
                <a:sym typeface="Canva Sans Bold"/>
              </a:rPr>
              <a:t>EMI / installment সুবিধা</a:t>
            </a:r>
          </a:p>
          <a:p>
            <a:pPr algn="ctr">
              <a:lnSpc>
                <a:spcPts val="4480"/>
              </a:lnSpc>
            </a:pPr>
          </a:p>
        </p:txBody>
      </p:sp>
      <p:sp>
        <p:nvSpPr>
          <p:cNvPr name="TextBox 31" id="31"/>
          <p:cNvSpPr txBox="true"/>
          <p:nvPr/>
        </p:nvSpPr>
        <p:spPr>
          <a:xfrm rot="0">
            <a:off x="3319881" y="216490"/>
            <a:ext cx="11154947" cy="962660"/>
          </a:xfrm>
          <a:prstGeom prst="rect">
            <a:avLst/>
          </a:prstGeom>
        </p:spPr>
        <p:txBody>
          <a:bodyPr anchor="t" rtlCol="false" tIns="0" lIns="0" bIns="0" rIns="0">
            <a:spAutoFit/>
          </a:bodyPr>
          <a:lstStyle/>
          <a:p>
            <a:pPr algn="ctr">
              <a:lnSpc>
                <a:spcPts val="7839"/>
              </a:lnSpc>
            </a:pPr>
            <a:r>
              <a:rPr lang="en-US" sz="5599" b="true">
                <a:solidFill>
                  <a:srgbClr val="FFFFFF"/>
                </a:solidFill>
                <a:latin typeface="Canva Sans Bold"/>
                <a:ea typeface="Canva Sans Bold"/>
                <a:cs typeface="Canva Sans Bold"/>
                <a:sym typeface="Canva Sans Bold"/>
              </a:rPr>
              <a:t>Marketing Mix</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2E8F0"/>
        </a:solidFill>
      </p:bgPr>
    </p:bg>
    <p:spTree>
      <p:nvGrpSpPr>
        <p:cNvPr id="1" name=""/>
        <p:cNvGrpSpPr/>
        <p:nvPr/>
      </p:nvGrpSpPr>
      <p:grpSpPr>
        <a:xfrm>
          <a:off x="0" y="0"/>
          <a:ext cx="0" cy="0"/>
          <a:chOff x="0" y="0"/>
          <a:chExt cx="0" cy="0"/>
        </a:xfrm>
      </p:grpSpPr>
      <p:grpSp>
        <p:nvGrpSpPr>
          <p:cNvPr name="Group 2" id="2"/>
          <p:cNvGrpSpPr/>
          <p:nvPr/>
        </p:nvGrpSpPr>
        <p:grpSpPr>
          <a:xfrm rot="0">
            <a:off x="-25403" y="45720"/>
            <a:ext cx="18313403" cy="2037083"/>
            <a:chOff x="0" y="0"/>
            <a:chExt cx="24417871" cy="2716111"/>
          </a:xfrm>
        </p:grpSpPr>
        <p:sp>
          <p:nvSpPr>
            <p:cNvPr name="Freeform 3" id="3"/>
            <p:cNvSpPr/>
            <p:nvPr/>
          </p:nvSpPr>
          <p:spPr>
            <a:xfrm flipH="false" flipV="false" rot="0">
              <a:off x="16891" y="16891"/>
              <a:ext cx="24383999" cy="2682240"/>
            </a:xfrm>
            <a:custGeom>
              <a:avLst/>
              <a:gdLst/>
              <a:ahLst/>
              <a:cxnLst/>
              <a:rect r="r" b="b" t="t" l="l"/>
              <a:pathLst>
                <a:path h="2682240" w="24383999">
                  <a:moveTo>
                    <a:pt x="0" y="0"/>
                  </a:moveTo>
                  <a:lnTo>
                    <a:pt x="24383999" y="0"/>
                  </a:lnTo>
                  <a:lnTo>
                    <a:pt x="24383999" y="2682240"/>
                  </a:lnTo>
                  <a:lnTo>
                    <a:pt x="0" y="2682240"/>
                  </a:lnTo>
                  <a:close/>
                </a:path>
              </a:pathLst>
            </a:custGeom>
            <a:solidFill>
              <a:srgbClr val="E00E23"/>
            </a:solidFill>
          </p:spPr>
        </p:sp>
        <p:sp>
          <p:nvSpPr>
            <p:cNvPr name="Freeform 4" id="4"/>
            <p:cNvSpPr/>
            <p:nvPr/>
          </p:nvSpPr>
          <p:spPr>
            <a:xfrm flipH="false" flipV="false" rot="0">
              <a:off x="0" y="0"/>
              <a:ext cx="24417782" cy="2716022"/>
            </a:xfrm>
            <a:custGeom>
              <a:avLst/>
              <a:gdLst/>
              <a:ahLst/>
              <a:cxnLst/>
              <a:rect r="r" b="b" t="t" l="l"/>
              <a:pathLst>
                <a:path h="2716022" w="24417782">
                  <a:moveTo>
                    <a:pt x="16891" y="0"/>
                  </a:moveTo>
                  <a:lnTo>
                    <a:pt x="24400890" y="0"/>
                  </a:lnTo>
                  <a:cubicBezTo>
                    <a:pt x="24410290" y="0"/>
                    <a:pt x="24417782" y="7620"/>
                    <a:pt x="24417782" y="16891"/>
                  </a:cubicBezTo>
                  <a:lnTo>
                    <a:pt x="24417782" y="2699131"/>
                  </a:lnTo>
                  <a:cubicBezTo>
                    <a:pt x="24417782" y="2708529"/>
                    <a:pt x="24410163" y="2716022"/>
                    <a:pt x="24400890"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24400890" y="2682240"/>
                  </a:lnTo>
                  <a:lnTo>
                    <a:pt x="24400890" y="2699131"/>
                  </a:lnTo>
                  <a:lnTo>
                    <a:pt x="24384000" y="2699131"/>
                  </a:lnTo>
                  <a:lnTo>
                    <a:pt x="24384000" y="16891"/>
                  </a:lnTo>
                  <a:lnTo>
                    <a:pt x="24400890" y="16891"/>
                  </a:lnTo>
                  <a:lnTo>
                    <a:pt x="24400890" y="33909"/>
                  </a:lnTo>
                  <a:lnTo>
                    <a:pt x="16891" y="33909"/>
                  </a:lnTo>
                  <a:close/>
                </a:path>
              </a:pathLst>
            </a:custGeom>
            <a:solidFill>
              <a:srgbClr val="0D1B3E"/>
            </a:solidFill>
          </p:spPr>
        </p:sp>
      </p:grpSp>
      <p:grpSp>
        <p:nvGrpSpPr>
          <p:cNvPr name="Group 5" id="5"/>
          <p:cNvGrpSpPr/>
          <p:nvPr/>
        </p:nvGrpSpPr>
        <p:grpSpPr>
          <a:xfrm rot="0">
            <a:off x="-12697" y="1998983"/>
            <a:ext cx="18313403" cy="125987"/>
            <a:chOff x="0" y="0"/>
            <a:chExt cx="24417871" cy="167983"/>
          </a:xfrm>
        </p:grpSpPr>
        <p:sp>
          <p:nvSpPr>
            <p:cNvPr name="Freeform 6" id="6"/>
            <p:cNvSpPr/>
            <p:nvPr/>
          </p:nvSpPr>
          <p:spPr>
            <a:xfrm flipH="false" flipV="false" rot="0">
              <a:off x="16891" y="16891"/>
              <a:ext cx="24383999" cy="134112"/>
            </a:xfrm>
            <a:custGeom>
              <a:avLst/>
              <a:gdLst/>
              <a:ahLst/>
              <a:cxnLst/>
              <a:rect r="r" b="b" t="t" l="l"/>
              <a:pathLst>
                <a:path h="134112" w="24383999">
                  <a:moveTo>
                    <a:pt x="0" y="0"/>
                  </a:moveTo>
                  <a:lnTo>
                    <a:pt x="24383999" y="0"/>
                  </a:lnTo>
                  <a:lnTo>
                    <a:pt x="24383999" y="134112"/>
                  </a:lnTo>
                  <a:lnTo>
                    <a:pt x="0" y="134112"/>
                  </a:lnTo>
                  <a:close/>
                </a:path>
              </a:pathLst>
            </a:custGeom>
            <a:solidFill>
              <a:srgbClr val="FEFEFE"/>
            </a:solidFill>
          </p:spPr>
        </p:sp>
        <p:sp>
          <p:nvSpPr>
            <p:cNvPr name="Freeform 7" id="7"/>
            <p:cNvSpPr/>
            <p:nvPr/>
          </p:nvSpPr>
          <p:spPr>
            <a:xfrm flipH="false" flipV="false" rot="0">
              <a:off x="0" y="0"/>
              <a:ext cx="24417782" cy="167896"/>
            </a:xfrm>
            <a:custGeom>
              <a:avLst/>
              <a:gdLst/>
              <a:ahLst/>
              <a:cxnLst/>
              <a:rect r="r" b="b" t="t" l="l"/>
              <a:pathLst>
                <a:path h="167896" w="24417782">
                  <a:moveTo>
                    <a:pt x="16891" y="0"/>
                  </a:moveTo>
                  <a:lnTo>
                    <a:pt x="24400890" y="0"/>
                  </a:lnTo>
                  <a:cubicBezTo>
                    <a:pt x="24410290" y="0"/>
                    <a:pt x="24417782" y="7620"/>
                    <a:pt x="24417782" y="16891"/>
                  </a:cubicBezTo>
                  <a:lnTo>
                    <a:pt x="24417782" y="151003"/>
                  </a:lnTo>
                  <a:cubicBezTo>
                    <a:pt x="24417782" y="160401"/>
                    <a:pt x="24410163" y="167894"/>
                    <a:pt x="24400890" y="167894"/>
                  </a:cubicBezTo>
                  <a:lnTo>
                    <a:pt x="16891" y="167894"/>
                  </a:lnTo>
                  <a:cubicBezTo>
                    <a:pt x="7620" y="168021"/>
                    <a:pt x="0" y="160401"/>
                    <a:pt x="0" y="151003"/>
                  </a:cubicBezTo>
                  <a:lnTo>
                    <a:pt x="0" y="16891"/>
                  </a:lnTo>
                  <a:cubicBezTo>
                    <a:pt x="0" y="7620"/>
                    <a:pt x="7620" y="0"/>
                    <a:pt x="16891" y="0"/>
                  </a:cubicBezTo>
                  <a:moveTo>
                    <a:pt x="16891" y="33909"/>
                  </a:moveTo>
                  <a:lnTo>
                    <a:pt x="16891" y="16891"/>
                  </a:lnTo>
                  <a:lnTo>
                    <a:pt x="33909" y="16891"/>
                  </a:lnTo>
                  <a:lnTo>
                    <a:pt x="33909" y="151003"/>
                  </a:lnTo>
                  <a:lnTo>
                    <a:pt x="16891" y="151003"/>
                  </a:lnTo>
                  <a:lnTo>
                    <a:pt x="16891" y="134112"/>
                  </a:lnTo>
                  <a:lnTo>
                    <a:pt x="24400890" y="134112"/>
                  </a:lnTo>
                  <a:lnTo>
                    <a:pt x="24400890" y="151003"/>
                  </a:lnTo>
                  <a:lnTo>
                    <a:pt x="24384000" y="151003"/>
                  </a:lnTo>
                  <a:lnTo>
                    <a:pt x="24384000" y="16891"/>
                  </a:lnTo>
                  <a:lnTo>
                    <a:pt x="24400890" y="16891"/>
                  </a:lnTo>
                  <a:lnTo>
                    <a:pt x="24400890" y="33909"/>
                  </a:lnTo>
                  <a:lnTo>
                    <a:pt x="16891" y="33909"/>
                  </a:lnTo>
                  <a:close/>
                </a:path>
              </a:pathLst>
            </a:custGeom>
            <a:solidFill>
              <a:srgbClr val="FEFEFE"/>
            </a:solidFill>
          </p:spPr>
        </p:sp>
      </p:grpSp>
      <p:grpSp>
        <p:nvGrpSpPr>
          <p:cNvPr name="Group 8" id="8"/>
          <p:cNvGrpSpPr/>
          <p:nvPr/>
        </p:nvGrpSpPr>
        <p:grpSpPr>
          <a:xfrm rot="0">
            <a:off x="1938528" y="246383"/>
            <a:ext cx="16824960" cy="1371600"/>
            <a:chOff x="0" y="0"/>
            <a:chExt cx="22433280" cy="1828800"/>
          </a:xfrm>
        </p:grpSpPr>
        <p:sp>
          <p:nvSpPr>
            <p:cNvPr name="Freeform 9" id="9"/>
            <p:cNvSpPr/>
            <p:nvPr/>
          </p:nvSpPr>
          <p:spPr>
            <a:xfrm flipH="false" flipV="false" rot="0">
              <a:off x="0" y="0"/>
              <a:ext cx="22433280" cy="1828800"/>
            </a:xfrm>
            <a:custGeom>
              <a:avLst/>
              <a:gdLst/>
              <a:ahLst/>
              <a:cxnLst/>
              <a:rect r="r" b="b" t="t" l="l"/>
              <a:pathLst>
                <a:path h="1828800" w="22433280">
                  <a:moveTo>
                    <a:pt x="0" y="0"/>
                  </a:moveTo>
                  <a:lnTo>
                    <a:pt x="22433280" y="0"/>
                  </a:lnTo>
                  <a:lnTo>
                    <a:pt x="22433280" y="1828800"/>
                  </a:lnTo>
                  <a:lnTo>
                    <a:pt x="0" y="1828800"/>
                  </a:lnTo>
                  <a:close/>
                </a:path>
              </a:pathLst>
            </a:custGeom>
            <a:blipFill>
              <a:blip r:embed="rId2">
                <a:alphaModFix amt="0"/>
              </a:blip>
              <a:stretch>
                <a:fillRect l="0" t="-189016" r="0" b="-189016"/>
              </a:stretch>
            </a:blipFill>
          </p:spPr>
        </p:sp>
        <p:sp>
          <p:nvSpPr>
            <p:cNvPr name="TextBox 10" id="10"/>
            <p:cNvSpPr txBox="true"/>
            <p:nvPr/>
          </p:nvSpPr>
          <p:spPr>
            <a:xfrm>
              <a:off x="0" y="-38100"/>
              <a:ext cx="22433280" cy="1866900"/>
            </a:xfrm>
            <a:prstGeom prst="rect">
              <a:avLst/>
            </a:prstGeom>
          </p:spPr>
          <p:txBody>
            <a:bodyPr anchor="ctr" rtlCol="false" tIns="0" lIns="0" bIns="0" rIns="0"/>
            <a:lstStyle/>
            <a:p>
              <a:pPr algn="l">
                <a:lnSpc>
                  <a:spcPts val="6719"/>
                </a:lnSpc>
              </a:pPr>
              <a:r>
                <a:rPr lang="en-US" sz="5599" b="true">
                  <a:solidFill>
                    <a:srgbClr val="FFFFFF"/>
                  </a:solidFill>
                  <a:latin typeface="Arial Bold"/>
                  <a:ea typeface="Arial Bold"/>
                  <a:cs typeface="Arial Bold"/>
                  <a:sym typeface="Arial Bold"/>
                </a:rPr>
                <a:t>PROMOTION STRATEGY</a:t>
              </a:r>
            </a:p>
          </p:txBody>
        </p:sp>
      </p:grpSp>
      <p:grpSp>
        <p:nvGrpSpPr>
          <p:cNvPr name="Group 11" id="11"/>
          <p:cNvGrpSpPr/>
          <p:nvPr/>
        </p:nvGrpSpPr>
        <p:grpSpPr>
          <a:xfrm rot="0">
            <a:off x="506482" y="2273303"/>
            <a:ext cx="8425177" cy="3395977"/>
            <a:chOff x="0" y="0"/>
            <a:chExt cx="11233569" cy="4527969"/>
          </a:xfrm>
        </p:grpSpPr>
        <p:sp>
          <p:nvSpPr>
            <p:cNvPr name="Freeform 12" id="12"/>
            <p:cNvSpPr/>
            <p:nvPr/>
          </p:nvSpPr>
          <p:spPr>
            <a:xfrm flipH="false" flipV="false" rot="0">
              <a:off x="8509" y="8509"/>
              <a:ext cx="11216640" cy="4511040"/>
            </a:xfrm>
            <a:custGeom>
              <a:avLst/>
              <a:gdLst/>
              <a:ahLst/>
              <a:cxnLst/>
              <a:rect r="r" b="b" t="t" l="l"/>
              <a:pathLst>
                <a:path h="4511040" w="11216640">
                  <a:moveTo>
                    <a:pt x="0" y="0"/>
                  </a:moveTo>
                  <a:lnTo>
                    <a:pt x="11216640" y="0"/>
                  </a:lnTo>
                  <a:lnTo>
                    <a:pt x="11216640" y="4511040"/>
                  </a:lnTo>
                  <a:lnTo>
                    <a:pt x="0" y="4511040"/>
                  </a:lnTo>
                  <a:close/>
                </a:path>
              </a:pathLst>
            </a:custGeom>
            <a:blipFill>
              <a:blip r:embed="rId3">
                <a:alphaModFix amt="25000"/>
              </a:blip>
              <a:stretch>
                <a:fillRect l="0" t="-83293" r="-27473" b="-2162"/>
              </a:stretch>
            </a:blipFill>
          </p:spPr>
        </p:sp>
        <p:sp>
          <p:nvSpPr>
            <p:cNvPr name="Freeform 13" id="13"/>
            <p:cNvSpPr/>
            <p:nvPr/>
          </p:nvSpPr>
          <p:spPr>
            <a:xfrm flipH="false" flipV="false" rot="0">
              <a:off x="0" y="0"/>
              <a:ext cx="11233658" cy="4528058"/>
            </a:xfrm>
            <a:custGeom>
              <a:avLst/>
              <a:gdLst/>
              <a:ahLst/>
              <a:cxnLst/>
              <a:rect r="r" b="b" t="t" l="l"/>
              <a:pathLst>
                <a:path h="4528058" w="11233658">
                  <a:moveTo>
                    <a:pt x="8509" y="0"/>
                  </a:moveTo>
                  <a:lnTo>
                    <a:pt x="11225149" y="0"/>
                  </a:lnTo>
                  <a:cubicBezTo>
                    <a:pt x="11229848" y="0"/>
                    <a:pt x="11233658" y="3810"/>
                    <a:pt x="11233658" y="8509"/>
                  </a:cubicBezTo>
                  <a:lnTo>
                    <a:pt x="11233658" y="4519549"/>
                  </a:lnTo>
                  <a:cubicBezTo>
                    <a:pt x="11233658" y="4524248"/>
                    <a:pt x="11229848" y="4528058"/>
                    <a:pt x="1122514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1225149" y="4511040"/>
                  </a:lnTo>
                  <a:lnTo>
                    <a:pt x="11225149" y="4519549"/>
                  </a:lnTo>
                  <a:lnTo>
                    <a:pt x="11216640" y="4519549"/>
                  </a:lnTo>
                  <a:lnTo>
                    <a:pt x="11216640" y="8509"/>
                  </a:lnTo>
                  <a:lnTo>
                    <a:pt x="11225149" y="8509"/>
                  </a:lnTo>
                  <a:lnTo>
                    <a:pt x="11225149" y="17018"/>
                  </a:lnTo>
                  <a:lnTo>
                    <a:pt x="8509" y="17018"/>
                  </a:lnTo>
                  <a:close/>
                </a:path>
              </a:pathLst>
            </a:custGeom>
            <a:solidFill>
              <a:srgbClr val="E2E8F0">
                <a:alpha val="24706"/>
              </a:srgbClr>
            </a:solidFill>
          </p:spPr>
        </p:sp>
      </p:grpSp>
      <p:grpSp>
        <p:nvGrpSpPr>
          <p:cNvPr name="Group 14" id="14"/>
          <p:cNvGrpSpPr/>
          <p:nvPr/>
        </p:nvGrpSpPr>
        <p:grpSpPr>
          <a:xfrm rot="0">
            <a:off x="353063" y="2273303"/>
            <a:ext cx="153419" cy="3408683"/>
            <a:chOff x="0" y="0"/>
            <a:chExt cx="204559" cy="4544911"/>
          </a:xfrm>
        </p:grpSpPr>
        <p:sp>
          <p:nvSpPr>
            <p:cNvPr name="Freeform 15" id="15"/>
            <p:cNvSpPr/>
            <p:nvPr/>
          </p:nvSpPr>
          <p:spPr>
            <a:xfrm flipH="false" flipV="false" rot="0">
              <a:off x="16891" y="16891"/>
              <a:ext cx="170688" cy="4511040"/>
            </a:xfrm>
            <a:custGeom>
              <a:avLst/>
              <a:gdLst/>
              <a:ahLst/>
              <a:cxnLst/>
              <a:rect r="r" b="b" t="t" l="l"/>
              <a:pathLst>
                <a:path h="4511040" w="170688">
                  <a:moveTo>
                    <a:pt x="0" y="0"/>
                  </a:moveTo>
                  <a:lnTo>
                    <a:pt x="170688" y="0"/>
                  </a:lnTo>
                  <a:lnTo>
                    <a:pt x="170688" y="4511040"/>
                  </a:lnTo>
                  <a:lnTo>
                    <a:pt x="0" y="4511040"/>
                  </a:lnTo>
                  <a:close/>
                </a:path>
              </a:pathLst>
            </a:custGeom>
            <a:solidFill>
              <a:srgbClr val="F8FAFC"/>
            </a:solidFill>
          </p:spPr>
        </p:sp>
        <p:sp>
          <p:nvSpPr>
            <p:cNvPr name="Freeform 16" id="16"/>
            <p:cNvSpPr/>
            <p:nvPr/>
          </p:nvSpPr>
          <p:spPr>
            <a:xfrm flipH="false" flipV="false" rot="0">
              <a:off x="0" y="0"/>
              <a:ext cx="204470" cy="4544822"/>
            </a:xfrm>
            <a:custGeom>
              <a:avLst/>
              <a:gdLst/>
              <a:ahLst/>
              <a:cxnLst/>
              <a:rect r="r" b="b" t="t" l="l"/>
              <a:pathLst>
                <a:path h="4544822" w="204470">
                  <a:moveTo>
                    <a:pt x="16891" y="0"/>
                  </a:moveTo>
                  <a:lnTo>
                    <a:pt x="187579" y="0"/>
                  </a:lnTo>
                  <a:cubicBezTo>
                    <a:pt x="196977" y="0"/>
                    <a:pt x="204470" y="7620"/>
                    <a:pt x="204470" y="16891"/>
                  </a:cubicBezTo>
                  <a:lnTo>
                    <a:pt x="204470" y="4527931"/>
                  </a:lnTo>
                  <a:cubicBezTo>
                    <a:pt x="204470" y="4537329"/>
                    <a:pt x="196850" y="4544822"/>
                    <a:pt x="187579"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87579" y="4511040"/>
                  </a:lnTo>
                  <a:lnTo>
                    <a:pt x="187579" y="4527931"/>
                  </a:lnTo>
                  <a:lnTo>
                    <a:pt x="170688" y="4527931"/>
                  </a:lnTo>
                  <a:lnTo>
                    <a:pt x="170688" y="16891"/>
                  </a:lnTo>
                  <a:lnTo>
                    <a:pt x="187579" y="16891"/>
                  </a:lnTo>
                  <a:lnTo>
                    <a:pt x="187579" y="33909"/>
                  </a:lnTo>
                  <a:lnTo>
                    <a:pt x="16891" y="33909"/>
                  </a:lnTo>
                  <a:close/>
                </a:path>
              </a:pathLst>
            </a:custGeom>
            <a:solidFill>
              <a:srgbClr val="F8FAFC"/>
            </a:solidFill>
          </p:spPr>
        </p:sp>
      </p:grpSp>
      <p:grpSp>
        <p:nvGrpSpPr>
          <p:cNvPr name="Group 17" id="17"/>
          <p:cNvGrpSpPr/>
          <p:nvPr/>
        </p:nvGrpSpPr>
        <p:grpSpPr>
          <a:xfrm rot="0">
            <a:off x="1244351" y="2499998"/>
            <a:ext cx="6949440" cy="769620"/>
            <a:chOff x="0" y="0"/>
            <a:chExt cx="9265920" cy="1026160"/>
          </a:xfrm>
        </p:grpSpPr>
        <p:sp>
          <p:nvSpPr>
            <p:cNvPr name="Freeform 18" id="18"/>
            <p:cNvSpPr/>
            <p:nvPr/>
          </p:nvSpPr>
          <p:spPr>
            <a:xfrm flipH="false" flipV="false" rot="0">
              <a:off x="0" y="0"/>
              <a:ext cx="9265920" cy="1026160"/>
            </a:xfrm>
            <a:custGeom>
              <a:avLst/>
              <a:gdLst/>
              <a:ahLst/>
              <a:cxnLst/>
              <a:rect r="r" b="b" t="t" l="l"/>
              <a:pathLst>
                <a:path h="1026160" w="9265920">
                  <a:moveTo>
                    <a:pt x="0" y="0"/>
                  </a:moveTo>
                  <a:lnTo>
                    <a:pt x="9265920" y="0"/>
                  </a:lnTo>
                  <a:lnTo>
                    <a:pt x="9265920" y="1026160"/>
                  </a:lnTo>
                  <a:lnTo>
                    <a:pt x="0" y="1026160"/>
                  </a:lnTo>
                  <a:close/>
                </a:path>
              </a:pathLst>
            </a:custGeom>
            <a:blipFill>
              <a:blip r:embed="rId2">
                <a:alphaModFix amt="0"/>
              </a:blip>
              <a:stretch>
                <a:fillRect l="0" t="-126043" r="0" b="-125845"/>
              </a:stretch>
            </a:blipFill>
          </p:spPr>
        </p:sp>
        <p:sp>
          <p:nvSpPr>
            <p:cNvPr name="TextBox 19" id="19"/>
            <p:cNvSpPr txBox="true"/>
            <p:nvPr/>
          </p:nvSpPr>
          <p:spPr>
            <a:xfrm>
              <a:off x="0" y="-66675"/>
              <a:ext cx="9265920" cy="1092835"/>
            </a:xfrm>
            <a:prstGeom prst="rect">
              <a:avLst/>
            </a:prstGeom>
          </p:spPr>
          <p:txBody>
            <a:bodyPr anchor="ctr" rtlCol="false" tIns="0" lIns="0" bIns="0" rIns="0"/>
            <a:lstStyle/>
            <a:p>
              <a:pPr algn="l">
                <a:lnSpc>
                  <a:spcPts val="4320"/>
                </a:lnSpc>
              </a:pPr>
              <a:r>
                <a:rPr lang="en-US" sz="3600" b="true">
                  <a:solidFill>
                    <a:srgbClr val="0D1B3E"/>
                  </a:solidFill>
                  <a:latin typeface="Calibri (MS) Bold"/>
                  <a:ea typeface="Calibri (MS) Bold"/>
                  <a:cs typeface="Calibri (MS) Bold"/>
                  <a:sym typeface="Calibri (MS) Bold"/>
                </a:rPr>
                <a:t>Digital Campaigns</a:t>
              </a:r>
            </a:p>
          </p:txBody>
        </p:sp>
      </p:grpSp>
      <p:grpSp>
        <p:nvGrpSpPr>
          <p:cNvPr name="Group 20" id="20"/>
          <p:cNvGrpSpPr/>
          <p:nvPr/>
        </p:nvGrpSpPr>
        <p:grpSpPr>
          <a:xfrm rot="0">
            <a:off x="9320527" y="2279647"/>
            <a:ext cx="8425177" cy="3395977"/>
            <a:chOff x="0" y="0"/>
            <a:chExt cx="11233569" cy="4527969"/>
          </a:xfrm>
        </p:grpSpPr>
        <p:sp>
          <p:nvSpPr>
            <p:cNvPr name="Freeform 21" id="21"/>
            <p:cNvSpPr/>
            <p:nvPr/>
          </p:nvSpPr>
          <p:spPr>
            <a:xfrm flipH="false" flipV="false" rot="0">
              <a:off x="8509" y="8509"/>
              <a:ext cx="11216640" cy="4511040"/>
            </a:xfrm>
            <a:custGeom>
              <a:avLst/>
              <a:gdLst/>
              <a:ahLst/>
              <a:cxnLst/>
              <a:rect r="r" b="b" t="t" l="l"/>
              <a:pathLst>
                <a:path h="4511040" w="11216640">
                  <a:moveTo>
                    <a:pt x="0" y="0"/>
                  </a:moveTo>
                  <a:lnTo>
                    <a:pt x="11216640" y="0"/>
                  </a:lnTo>
                  <a:lnTo>
                    <a:pt x="11216640" y="4511040"/>
                  </a:lnTo>
                  <a:lnTo>
                    <a:pt x="0" y="4511040"/>
                  </a:lnTo>
                  <a:close/>
                </a:path>
              </a:pathLst>
            </a:custGeom>
            <a:blipFill>
              <a:blip r:embed="rId4">
                <a:alphaModFix amt="15000"/>
              </a:blip>
              <a:stretch>
                <a:fillRect l="-5282" t="-39060" r="0" b="-35352"/>
              </a:stretch>
            </a:blipFill>
          </p:spPr>
        </p:sp>
        <p:sp>
          <p:nvSpPr>
            <p:cNvPr name="Freeform 22" id="22"/>
            <p:cNvSpPr/>
            <p:nvPr/>
          </p:nvSpPr>
          <p:spPr>
            <a:xfrm flipH="false" flipV="false" rot="0">
              <a:off x="0" y="0"/>
              <a:ext cx="11233658" cy="4528058"/>
            </a:xfrm>
            <a:custGeom>
              <a:avLst/>
              <a:gdLst/>
              <a:ahLst/>
              <a:cxnLst/>
              <a:rect r="r" b="b" t="t" l="l"/>
              <a:pathLst>
                <a:path h="4528058" w="11233658">
                  <a:moveTo>
                    <a:pt x="8509" y="0"/>
                  </a:moveTo>
                  <a:lnTo>
                    <a:pt x="11225149" y="0"/>
                  </a:lnTo>
                  <a:cubicBezTo>
                    <a:pt x="11229848" y="0"/>
                    <a:pt x="11233658" y="3810"/>
                    <a:pt x="11233658" y="8509"/>
                  </a:cubicBezTo>
                  <a:lnTo>
                    <a:pt x="11233658" y="4519549"/>
                  </a:lnTo>
                  <a:cubicBezTo>
                    <a:pt x="11233658" y="4524248"/>
                    <a:pt x="11229848" y="4528058"/>
                    <a:pt x="1122514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1225149" y="4511040"/>
                  </a:lnTo>
                  <a:lnTo>
                    <a:pt x="11225149" y="4519549"/>
                  </a:lnTo>
                  <a:lnTo>
                    <a:pt x="11216640" y="4519549"/>
                  </a:lnTo>
                  <a:lnTo>
                    <a:pt x="11216640" y="8509"/>
                  </a:lnTo>
                  <a:lnTo>
                    <a:pt x="11225149" y="8509"/>
                  </a:lnTo>
                  <a:lnTo>
                    <a:pt x="11225149" y="17018"/>
                  </a:lnTo>
                  <a:lnTo>
                    <a:pt x="8509" y="17018"/>
                  </a:lnTo>
                  <a:close/>
                </a:path>
              </a:pathLst>
            </a:custGeom>
            <a:solidFill>
              <a:srgbClr val="E2E8F0">
                <a:alpha val="14902"/>
              </a:srgbClr>
            </a:solidFill>
          </p:spPr>
        </p:sp>
      </p:grpSp>
      <p:grpSp>
        <p:nvGrpSpPr>
          <p:cNvPr name="Group 23" id="23"/>
          <p:cNvGrpSpPr/>
          <p:nvPr/>
        </p:nvGrpSpPr>
        <p:grpSpPr>
          <a:xfrm rot="0">
            <a:off x="9314183" y="2273303"/>
            <a:ext cx="195577" cy="3408683"/>
            <a:chOff x="0" y="0"/>
            <a:chExt cx="260769" cy="4544911"/>
          </a:xfrm>
        </p:grpSpPr>
        <p:sp>
          <p:nvSpPr>
            <p:cNvPr name="Freeform 24" id="24"/>
            <p:cNvSpPr/>
            <p:nvPr/>
          </p:nvSpPr>
          <p:spPr>
            <a:xfrm flipH="false" flipV="false" rot="0">
              <a:off x="21532" y="16891"/>
              <a:ext cx="217591" cy="4511040"/>
            </a:xfrm>
            <a:custGeom>
              <a:avLst/>
              <a:gdLst/>
              <a:ahLst/>
              <a:cxnLst/>
              <a:rect r="r" b="b" t="t" l="l"/>
              <a:pathLst>
                <a:path h="4511040" w="217591">
                  <a:moveTo>
                    <a:pt x="0" y="0"/>
                  </a:moveTo>
                  <a:lnTo>
                    <a:pt x="217591" y="0"/>
                  </a:lnTo>
                  <a:lnTo>
                    <a:pt x="217591" y="4511040"/>
                  </a:lnTo>
                  <a:lnTo>
                    <a:pt x="0" y="4511040"/>
                  </a:lnTo>
                  <a:close/>
                </a:path>
              </a:pathLst>
            </a:custGeom>
            <a:solidFill>
              <a:srgbClr val="FFFFFF">
                <a:alpha val="80000"/>
              </a:srgbClr>
            </a:solidFill>
          </p:spPr>
        </p:sp>
        <p:sp>
          <p:nvSpPr>
            <p:cNvPr name="Freeform 25" id="25"/>
            <p:cNvSpPr/>
            <p:nvPr/>
          </p:nvSpPr>
          <p:spPr>
            <a:xfrm flipH="false" flipV="false" rot="0">
              <a:off x="0" y="0"/>
              <a:ext cx="260656" cy="4544822"/>
            </a:xfrm>
            <a:custGeom>
              <a:avLst/>
              <a:gdLst/>
              <a:ahLst/>
              <a:cxnLst/>
              <a:rect r="r" b="b" t="t" l="l"/>
              <a:pathLst>
                <a:path h="4544822" w="260656">
                  <a:moveTo>
                    <a:pt x="21532" y="0"/>
                  </a:moveTo>
                  <a:lnTo>
                    <a:pt x="239123" y="0"/>
                  </a:lnTo>
                  <a:cubicBezTo>
                    <a:pt x="251104" y="0"/>
                    <a:pt x="260656" y="7620"/>
                    <a:pt x="260656" y="16891"/>
                  </a:cubicBezTo>
                  <a:lnTo>
                    <a:pt x="260656" y="4527931"/>
                  </a:lnTo>
                  <a:cubicBezTo>
                    <a:pt x="260656" y="4537329"/>
                    <a:pt x="250942" y="4544822"/>
                    <a:pt x="239123" y="4544822"/>
                  </a:cubicBezTo>
                  <a:lnTo>
                    <a:pt x="21532" y="4544822"/>
                  </a:lnTo>
                  <a:cubicBezTo>
                    <a:pt x="9552" y="4544822"/>
                    <a:pt x="0" y="4537202"/>
                    <a:pt x="0" y="4527931"/>
                  </a:cubicBezTo>
                  <a:lnTo>
                    <a:pt x="0" y="16891"/>
                  </a:lnTo>
                  <a:cubicBezTo>
                    <a:pt x="0" y="7620"/>
                    <a:pt x="9714" y="0"/>
                    <a:pt x="21532" y="0"/>
                  </a:cubicBezTo>
                  <a:moveTo>
                    <a:pt x="21532" y="33909"/>
                  </a:moveTo>
                  <a:lnTo>
                    <a:pt x="21532" y="16891"/>
                  </a:lnTo>
                  <a:lnTo>
                    <a:pt x="43227" y="16891"/>
                  </a:lnTo>
                  <a:lnTo>
                    <a:pt x="43227" y="4527931"/>
                  </a:lnTo>
                  <a:lnTo>
                    <a:pt x="21532" y="4527931"/>
                  </a:lnTo>
                  <a:lnTo>
                    <a:pt x="21532" y="4511040"/>
                  </a:lnTo>
                  <a:lnTo>
                    <a:pt x="239123" y="4511040"/>
                  </a:lnTo>
                  <a:lnTo>
                    <a:pt x="239123" y="4527931"/>
                  </a:lnTo>
                  <a:lnTo>
                    <a:pt x="217591" y="4527931"/>
                  </a:lnTo>
                  <a:lnTo>
                    <a:pt x="217591" y="16891"/>
                  </a:lnTo>
                  <a:lnTo>
                    <a:pt x="239123" y="16891"/>
                  </a:lnTo>
                  <a:lnTo>
                    <a:pt x="239123" y="33909"/>
                  </a:lnTo>
                  <a:lnTo>
                    <a:pt x="21532" y="33909"/>
                  </a:lnTo>
                  <a:close/>
                </a:path>
              </a:pathLst>
            </a:custGeom>
            <a:solidFill>
              <a:srgbClr val="FEFEFE">
                <a:alpha val="80000"/>
              </a:srgbClr>
            </a:solidFill>
          </p:spPr>
        </p:sp>
      </p:grpSp>
      <p:grpSp>
        <p:nvGrpSpPr>
          <p:cNvPr name="Group 26" id="26"/>
          <p:cNvGrpSpPr/>
          <p:nvPr/>
        </p:nvGrpSpPr>
        <p:grpSpPr>
          <a:xfrm rot="0">
            <a:off x="9820656" y="2501522"/>
            <a:ext cx="6949440" cy="768096"/>
            <a:chOff x="0" y="0"/>
            <a:chExt cx="9265920" cy="1024128"/>
          </a:xfrm>
        </p:grpSpPr>
        <p:sp>
          <p:nvSpPr>
            <p:cNvPr name="Freeform 27" id="27"/>
            <p:cNvSpPr/>
            <p:nvPr/>
          </p:nvSpPr>
          <p:spPr>
            <a:xfrm flipH="false" flipV="false" rot="0">
              <a:off x="0" y="0"/>
              <a:ext cx="9265920" cy="1024128"/>
            </a:xfrm>
            <a:custGeom>
              <a:avLst/>
              <a:gdLst/>
              <a:ahLst/>
              <a:cxnLst/>
              <a:rect r="r" b="b" t="t" l="l"/>
              <a:pathLst>
                <a:path h="1024128" w="9265920">
                  <a:moveTo>
                    <a:pt x="0" y="0"/>
                  </a:moveTo>
                  <a:lnTo>
                    <a:pt x="9265920" y="0"/>
                  </a:lnTo>
                  <a:lnTo>
                    <a:pt x="9265920" y="1024128"/>
                  </a:lnTo>
                  <a:lnTo>
                    <a:pt x="0" y="1024128"/>
                  </a:lnTo>
                  <a:close/>
                </a:path>
              </a:pathLst>
            </a:custGeom>
            <a:blipFill>
              <a:blip r:embed="rId2">
                <a:alphaModFix amt="0"/>
              </a:blip>
              <a:stretch>
                <a:fillRect l="0" t="-126293" r="0" b="-126293"/>
              </a:stretch>
            </a:blipFill>
          </p:spPr>
        </p:sp>
        <p:sp>
          <p:nvSpPr>
            <p:cNvPr name="TextBox 28" id="28"/>
            <p:cNvSpPr txBox="true"/>
            <p:nvPr/>
          </p:nvSpPr>
          <p:spPr>
            <a:xfrm>
              <a:off x="0" y="-66675"/>
              <a:ext cx="9265920" cy="1090803"/>
            </a:xfrm>
            <a:prstGeom prst="rect">
              <a:avLst/>
            </a:prstGeom>
          </p:spPr>
          <p:txBody>
            <a:bodyPr anchor="ctr" rtlCol="false" tIns="0" lIns="0" bIns="0" rIns="0"/>
            <a:lstStyle/>
            <a:p>
              <a:pPr algn="l">
                <a:lnSpc>
                  <a:spcPts val="4320"/>
                </a:lnSpc>
              </a:pPr>
              <a:r>
                <a:rPr lang="en-US" sz="3600" b="true">
                  <a:solidFill>
                    <a:srgbClr val="0D1B3E"/>
                  </a:solidFill>
                  <a:latin typeface="Calibri (MS) Bold"/>
                  <a:ea typeface="Calibri (MS) Bold"/>
                  <a:cs typeface="Calibri (MS) Bold"/>
                  <a:sym typeface="Calibri (MS) Bold"/>
                </a:rPr>
                <a:t>Celebrity Endorsement</a:t>
              </a:r>
            </a:p>
          </p:txBody>
        </p:sp>
      </p:grpSp>
      <p:grpSp>
        <p:nvGrpSpPr>
          <p:cNvPr name="Group 29" id="29"/>
          <p:cNvGrpSpPr/>
          <p:nvPr/>
        </p:nvGrpSpPr>
        <p:grpSpPr>
          <a:xfrm rot="0">
            <a:off x="359407" y="6028687"/>
            <a:ext cx="8425177" cy="3395977"/>
            <a:chOff x="0" y="0"/>
            <a:chExt cx="11233569" cy="4527969"/>
          </a:xfrm>
        </p:grpSpPr>
        <p:sp>
          <p:nvSpPr>
            <p:cNvPr name="Freeform 30" id="30"/>
            <p:cNvSpPr/>
            <p:nvPr/>
          </p:nvSpPr>
          <p:spPr>
            <a:xfrm flipH="false" flipV="false" rot="0">
              <a:off x="8509" y="8509"/>
              <a:ext cx="11216640" cy="4511040"/>
            </a:xfrm>
            <a:custGeom>
              <a:avLst/>
              <a:gdLst/>
              <a:ahLst/>
              <a:cxnLst/>
              <a:rect r="r" b="b" t="t" l="l"/>
              <a:pathLst>
                <a:path h="4511040" w="11216640">
                  <a:moveTo>
                    <a:pt x="0" y="0"/>
                  </a:moveTo>
                  <a:lnTo>
                    <a:pt x="11216640" y="0"/>
                  </a:lnTo>
                  <a:lnTo>
                    <a:pt x="11216640" y="4511040"/>
                  </a:lnTo>
                  <a:lnTo>
                    <a:pt x="0" y="4511040"/>
                  </a:lnTo>
                  <a:close/>
                </a:path>
              </a:pathLst>
            </a:custGeom>
            <a:blipFill>
              <a:blip r:embed="rId5">
                <a:alphaModFix amt="15000"/>
              </a:blip>
              <a:stretch>
                <a:fillRect l="-704" t="-26705" r="0" b="-30889"/>
              </a:stretch>
            </a:blipFill>
          </p:spPr>
        </p:sp>
        <p:sp>
          <p:nvSpPr>
            <p:cNvPr name="Freeform 31" id="31"/>
            <p:cNvSpPr/>
            <p:nvPr/>
          </p:nvSpPr>
          <p:spPr>
            <a:xfrm flipH="false" flipV="false" rot="0">
              <a:off x="0" y="0"/>
              <a:ext cx="11233658" cy="4528058"/>
            </a:xfrm>
            <a:custGeom>
              <a:avLst/>
              <a:gdLst/>
              <a:ahLst/>
              <a:cxnLst/>
              <a:rect r="r" b="b" t="t" l="l"/>
              <a:pathLst>
                <a:path h="4528058" w="11233658">
                  <a:moveTo>
                    <a:pt x="8509" y="0"/>
                  </a:moveTo>
                  <a:lnTo>
                    <a:pt x="11225149" y="0"/>
                  </a:lnTo>
                  <a:cubicBezTo>
                    <a:pt x="11229848" y="0"/>
                    <a:pt x="11233658" y="3810"/>
                    <a:pt x="11233658" y="8509"/>
                  </a:cubicBezTo>
                  <a:lnTo>
                    <a:pt x="11233658" y="4519549"/>
                  </a:lnTo>
                  <a:cubicBezTo>
                    <a:pt x="11233658" y="4524248"/>
                    <a:pt x="11229848" y="4528058"/>
                    <a:pt x="1122514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1225149" y="4511040"/>
                  </a:lnTo>
                  <a:lnTo>
                    <a:pt x="11225149" y="4519549"/>
                  </a:lnTo>
                  <a:lnTo>
                    <a:pt x="11216640" y="4519549"/>
                  </a:lnTo>
                  <a:lnTo>
                    <a:pt x="11216640" y="8509"/>
                  </a:lnTo>
                  <a:lnTo>
                    <a:pt x="11225149" y="8509"/>
                  </a:lnTo>
                  <a:lnTo>
                    <a:pt x="11225149" y="17018"/>
                  </a:lnTo>
                  <a:lnTo>
                    <a:pt x="8509" y="17018"/>
                  </a:lnTo>
                  <a:close/>
                </a:path>
              </a:pathLst>
            </a:custGeom>
            <a:solidFill>
              <a:srgbClr val="E2E8F0">
                <a:alpha val="14902"/>
              </a:srgbClr>
            </a:solidFill>
          </p:spPr>
        </p:sp>
      </p:grpSp>
      <p:grpSp>
        <p:nvGrpSpPr>
          <p:cNvPr name="Group 32" id="32"/>
          <p:cNvGrpSpPr/>
          <p:nvPr/>
        </p:nvGrpSpPr>
        <p:grpSpPr>
          <a:xfrm rot="0">
            <a:off x="353063" y="6022343"/>
            <a:ext cx="179956" cy="3408683"/>
            <a:chOff x="0" y="0"/>
            <a:chExt cx="239941" cy="4544911"/>
          </a:xfrm>
        </p:grpSpPr>
        <p:sp>
          <p:nvSpPr>
            <p:cNvPr name="Freeform 33" id="33"/>
            <p:cNvSpPr/>
            <p:nvPr/>
          </p:nvSpPr>
          <p:spPr>
            <a:xfrm flipH="false" flipV="false" rot="0">
              <a:off x="19813" y="16891"/>
              <a:ext cx="200212" cy="4511040"/>
            </a:xfrm>
            <a:custGeom>
              <a:avLst/>
              <a:gdLst/>
              <a:ahLst/>
              <a:cxnLst/>
              <a:rect r="r" b="b" t="t" l="l"/>
              <a:pathLst>
                <a:path h="4511040" w="200212">
                  <a:moveTo>
                    <a:pt x="0" y="0"/>
                  </a:moveTo>
                  <a:lnTo>
                    <a:pt x="200211" y="0"/>
                  </a:lnTo>
                  <a:lnTo>
                    <a:pt x="200211" y="4511040"/>
                  </a:lnTo>
                  <a:lnTo>
                    <a:pt x="0" y="4511040"/>
                  </a:lnTo>
                  <a:close/>
                </a:path>
              </a:pathLst>
            </a:custGeom>
            <a:solidFill>
              <a:srgbClr val="FEFEFE"/>
            </a:solidFill>
          </p:spPr>
        </p:sp>
        <p:sp>
          <p:nvSpPr>
            <p:cNvPr name="Freeform 34" id="34"/>
            <p:cNvSpPr/>
            <p:nvPr/>
          </p:nvSpPr>
          <p:spPr>
            <a:xfrm flipH="false" flipV="false" rot="0">
              <a:off x="0" y="0"/>
              <a:ext cx="239837" cy="4544822"/>
            </a:xfrm>
            <a:custGeom>
              <a:avLst/>
              <a:gdLst/>
              <a:ahLst/>
              <a:cxnLst/>
              <a:rect r="r" b="b" t="t" l="l"/>
              <a:pathLst>
                <a:path h="4544822" w="239837">
                  <a:moveTo>
                    <a:pt x="19813" y="0"/>
                  </a:moveTo>
                  <a:lnTo>
                    <a:pt x="220024" y="0"/>
                  </a:lnTo>
                  <a:cubicBezTo>
                    <a:pt x="231048" y="0"/>
                    <a:pt x="239837" y="7620"/>
                    <a:pt x="239837" y="16891"/>
                  </a:cubicBezTo>
                  <a:lnTo>
                    <a:pt x="239837" y="4527931"/>
                  </a:lnTo>
                  <a:cubicBezTo>
                    <a:pt x="239837" y="4537329"/>
                    <a:pt x="230899" y="4544822"/>
                    <a:pt x="220024" y="4544822"/>
                  </a:cubicBezTo>
                  <a:lnTo>
                    <a:pt x="19813" y="4544822"/>
                  </a:lnTo>
                  <a:cubicBezTo>
                    <a:pt x="8789" y="4544822"/>
                    <a:pt x="0" y="4537202"/>
                    <a:pt x="0" y="4527931"/>
                  </a:cubicBezTo>
                  <a:lnTo>
                    <a:pt x="0" y="16891"/>
                  </a:lnTo>
                  <a:cubicBezTo>
                    <a:pt x="0" y="7620"/>
                    <a:pt x="8938" y="0"/>
                    <a:pt x="19813" y="0"/>
                  </a:cubicBezTo>
                  <a:moveTo>
                    <a:pt x="19813" y="33909"/>
                  </a:moveTo>
                  <a:lnTo>
                    <a:pt x="19813" y="16891"/>
                  </a:lnTo>
                  <a:lnTo>
                    <a:pt x="39774" y="16891"/>
                  </a:lnTo>
                  <a:lnTo>
                    <a:pt x="39774" y="4527931"/>
                  </a:lnTo>
                  <a:lnTo>
                    <a:pt x="19813" y="4527931"/>
                  </a:lnTo>
                  <a:lnTo>
                    <a:pt x="19813" y="4511040"/>
                  </a:lnTo>
                  <a:lnTo>
                    <a:pt x="220024" y="4511040"/>
                  </a:lnTo>
                  <a:lnTo>
                    <a:pt x="220024" y="4527931"/>
                  </a:lnTo>
                  <a:lnTo>
                    <a:pt x="200212" y="4527931"/>
                  </a:lnTo>
                  <a:lnTo>
                    <a:pt x="200212" y="16891"/>
                  </a:lnTo>
                  <a:lnTo>
                    <a:pt x="220024" y="16891"/>
                  </a:lnTo>
                  <a:lnTo>
                    <a:pt x="220024" y="33909"/>
                  </a:lnTo>
                  <a:lnTo>
                    <a:pt x="19813" y="33909"/>
                  </a:lnTo>
                  <a:close/>
                </a:path>
              </a:pathLst>
            </a:custGeom>
            <a:solidFill>
              <a:srgbClr val="FFFFFF"/>
            </a:solidFill>
          </p:spPr>
        </p:sp>
      </p:grpSp>
      <p:grpSp>
        <p:nvGrpSpPr>
          <p:cNvPr name="Group 35" id="35"/>
          <p:cNvGrpSpPr/>
          <p:nvPr/>
        </p:nvGrpSpPr>
        <p:grpSpPr>
          <a:xfrm rot="0">
            <a:off x="694944" y="6272784"/>
            <a:ext cx="694944" cy="694944"/>
            <a:chOff x="0" y="0"/>
            <a:chExt cx="926592" cy="926592"/>
          </a:xfrm>
        </p:grpSpPr>
        <p:sp>
          <p:nvSpPr>
            <p:cNvPr name="Freeform 36" id="36" descr="preencoded.png"/>
            <p:cNvSpPr/>
            <p:nvPr/>
          </p:nvSpPr>
          <p:spPr>
            <a:xfrm flipH="false" flipV="false" rot="0">
              <a:off x="0" y="0"/>
              <a:ext cx="926592" cy="926592"/>
            </a:xfrm>
            <a:custGeom>
              <a:avLst/>
              <a:gdLst/>
              <a:ahLst/>
              <a:cxnLst/>
              <a:rect r="r" b="b" t="t" l="l"/>
              <a:pathLst>
                <a:path h="926592" w="926592">
                  <a:moveTo>
                    <a:pt x="0" y="0"/>
                  </a:moveTo>
                  <a:lnTo>
                    <a:pt x="926592" y="0"/>
                  </a:lnTo>
                  <a:lnTo>
                    <a:pt x="926592" y="926592"/>
                  </a:lnTo>
                  <a:lnTo>
                    <a:pt x="0" y="926592"/>
                  </a:lnTo>
                  <a:lnTo>
                    <a:pt x="0" y="0"/>
                  </a:lnTo>
                  <a:close/>
                </a:path>
              </a:pathLst>
            </a:custGeom>
            <a:blipFill>
              <a:blip r:embed="rId6"/>
              <a:stretch>
                <a:fillRect l="0" t="0" r="0" b="0"/>
              </a:stretch>
            </a:blipFill>
          </p:spPr>
        </p:sp>
      </p:grpSp>
      <p:grpSp>
        <p:nvGrpSpPr>
          <p:cNvPr name="Group 37" id="37"/>
          <p:cNvGrpSpPr/>
          <p:nvPr/>
        </p:nvGrpSpPr>
        <p:grpSpPr>
          <a:xfrm rot="0">
            <a:off x="1554480" y="6217920"/>
            <a:ext cx="6949440" cy="768096"/>
            <a:chOff x="0" y="0"/>
            <a:chExt cx="9265920" cy="1024128"/>
          </a:xfrm>
        </p:grpSpPr>
        <p:sp>
          <p:nvSpPr>
            <p:cNvPr name="Freeform 38" id="38"/>
            <p:cNvSpPr/>
            <p:nvPr/>
          </p:nvSpPr>
          <p:spPr>
            <a:xfrm flipH="false" flipV="false" rot="0">
              <a:off x="0" y="0"/>
              <a:ext cx="9265920" cy="1024128"/>
            </a:xfrm>
            <a:custGeom>
              <a:avLst/>
              <a:gdLst/>
              <a:ahLst/>
              <a:cxnLst/>
              <a:rect r="r" b="b" t="t" l="l"/>
              <a:pathLst>
                <a:path h="1024128" w="9265920">
                  <a:moveTo>
                    <a:pt x="0" y="0"/>
                  </a:moveTo>
                  <a:lnTo>
                    <a:pt x="9265920" y="0"/>
                  </a:lnTo>
                  <a:lnTo>
                    <a:pt x="9265920" y="1024128"/>
                  </a:lnTo>
                  <a:lnTo>
                    <a:pt x="0" y="1024128"/>
                  </a:lnTo>
                  <a:close/>
                </a:path>
              </a:pathLst>
            </a:custGeom>
            <a:blipFill>
              <a:blip r:embed="rId2">
                <a:alphaModFix amt="0"/>
              </a:blip>
              <a:stretch>
                <a:fillRect l="0" t="-126293" r="0" b="-126293"/>
              </a:stretch>
            </a:blipFill>
          </p:spPr>
        </p:sp>
        <p:sp>
          <p:nvSpPr>
            <p:cNvPr name="TextBox 39" id="39"/>
            <p:cNvSpPr txBox="true"/>
            <p:nvPr/>
          </p:nvSpPr>
          <p:spPr>
            <a:xfrm>
              <a:off x="0" y="-66675"/>
              <a:ext cx="9265920" cy="1090803"/>
            </a:xfrm>
            <a:prstGeom prst="rect">
              <a:avLst/>
            </a:prstGeom>
          </p:spPr>
          <p:txBody>
            <a:bodyPr anchor="ctr" rtlCol="false" tIns="0" lIns="0" bIns="0" rIns="0"/>
            <a:lstStyle/>
            <a:p>
              <a:pPr algn="l">
                <a:lnSpc>
                  <a:spcPts val="4320"/>
                </a:lnSpc>
              </a:pPr>
              <a:r>
                <a:rPr lang="en-US" sz="3600" b="true">
                  <a:solidFill>
                    <a:srgbClr val="0D1B3E"/>
                  </a:solidFill>
                  <a:latin typeface="Calibri (MS) Bold"/>
                  <a:ea typeface="Calibri (MS) Bold"/>
                  <a:cs typeface="Calibri (MS) Bold"/>
                  <a:sym typeface="Calibri (MS) Bold"/>
                </a:rPr>
                <a:t>Integrated Marketing (IMC)</a:t>
              </a:r>
            </a:p>
          </p:txBody>
        </p:sp>
      </p:grpSp>
      <p:grpSp>
        <p:nvGrpSpPr>
          <p:cNvPr name="Group 40" id="40"/>
          <p:cNvGrpSpPr/>
          <p:nvPr/>
        </p:nvGrpSpPr>
        <p:grpSpPr>
          <a:xfrm rot="0">
            <a:off x="9320527" y="6028687"/>
            <a:ext cx="8425177" cy="3395977"/>
            <a:chOff x="0" y="0"/>
            <a:chExt cx="11233569" cy="4527969"/>
          </a:xfrm>
        </p:grpSpPr>
        <p:sp>
          <p:nvSpPr>
            <p:cNvPr name="Freeform 41" id="41"/>
            <p:cNvSpPr/>
            <p:nvPr/>
          </p:nvSpPr>
          <p:spPr>
            <a:xfrm flipH="false" flipV="false" rot="0">
              <a:off x="8509" y="8509"/>
              <a:ext cx="11216640" cy="4511040"/>
            </a:xfrm>
            <a:custGeom>
              <a:avLst/>
              <a:gdLst/>
              <a:ahLst/>
              <a:cxnLst/>
              <a:rect r="r" b="b" t="t" l="l"/>
              <a:pathLst>
                <a:path h="4511040" w="11216640">
                  <a:moveTo>
                    <a:pt x="0" y="0"/>
                  </a:moveTo>
                  <a:lnTo>
                    <a:pt x="11216640" y="0"/>
                  </a:lnTo>
                  <a:lnTo>
                    <a:pt x="11216640" y="4511040"/>
                  </a:lnTo>
                  <a:lnTo>
                    <a:pt x="0" y="4511040"/>
                  </a:lnTo>
                  <a:close/>
                </a:path>
              </a:pathLst>
            </a:custGeom>
            <a:blipFill>
              <a:blip r:embed="rId7">
                <a:alphaModFix amt="19999"/>
              </a:blip>
              <a:stretch>
                <a:fillRect l="0" t="-72398" r="0" b="-93691"/>
              </a:stretch>
            </a:blipFill>
          </p:spPr>
        </p:sp>
        <p:sp>
          <p:nvSpPr>
            <p:cNvPr name="Freeform 42" id="42"/>
            <p:cNvSpPr/>
            <p:nvPr/>
          </p:nvSpPr>
          <p:spPr>
            <a:xfrm flipH="false" flipV="false" rot="0">
              <a:off x="0" y="0"/>
              <a:ext cx="11233658" cy="4528058"/>
            </a:xfrm>
            <a:custGeom>
              <a:avLst/>
              <a:gdLst/>
              <a:ahLst/>
              <a:cxnLst/>
              <a:rect r="r" b="b" t="t" l="l"/>
              <a:pathLst>
                <a:path h="4528058" w="11233658">
                  <a:moveTo>
                    <a:pt x="8509" y="0"/>
                  </a:moveTo>
                  <a:lnTo>
                    <a:pt x="11225149" y="0"/>
                  </a:lnTo>
                  <a:cubicBezTo>
                    <a:pt x="11229848" y="0"/>
                    <a:pt x="11233658" y="3810"/>
                    <a:pt x="11233658" y="8509"/>
                  </a:cubicBezTo>
                  <a:lnTo>
                    <a:pt x="11233658" y="4519549"/>
                  </a:lnTo>
                  <a:cubicBezTo>
                    <a:pt x="11233658" y="4524248"/>
                    <a:pt x="11229848" y="4528058"/>
                    <a:pt x="1122514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1225149" y="4511040"/>
                  </a:lnTo>
                  <a:lnTo>
                    <a:pt x="11225149" y="4519549"/>
                  </a:lnTo>
                  <a:lnTo>
                    <a:pt x="11216640" y="4519549"/>
                  </a:lnTo>
                  <a:lnTo>
                    <a:pt x="11216640" y="8509"/>
                  </a:lnTo>
                  <a:lnTo>
                    <a:pt x="11225149" y="8509"/>
                  </a:lnTo>
                  <a:lnTo>
                    <a:pt x="11225149" y="17018"/>
                  </a:lnTo>
                  <a:lnTo>
                    <a:pt x="8509" y="17018"/>
                  </a:lnTo>
                  <a:close/>
                </a:path>
              </a:pathLst>
            </a:custGeom>
            <a:solidFill>
              <a:srgbClr val="E2E8F0">
                <a:alpha val="19608"/>
              </a:srgbClr>
            </a:solidFill>
          </p:spPr>
        </p:sp>
      </p:grpSp>
      <p:grpSp>
        <p:nvGrpSpPr>
          <p:cNvPr name="Group 43" id="43"/>
          <p:cNvGrpSpPr/>
          <p:nvPr/>
        </p:nvGrpSpPr>
        <p:grpSpPr>
          <a:xfrm rot="0">
            <a:off x="9314183" y="6022343"/>
            <a:ext cx="195577" cy="3408683"/>
            <a:chOff x="0" y="0"/>
            <a:chExt cx="260769" cy="4544911"/>
          </a:xfrm>
        </p:grpSpPr>
        <p:sp>
          <p:nvSpPr>
            <p:cNvPr name="Freeform 44" id="44"/>
            <p:cNvSpPr/>
            <p:nvPr/>
          </p:nvSpPr>
          <p:spPr>
            <a:xfrm flipH="false" flipV="false" rot="0">
              <a:off x="21532" y="16891"/>
              <a:ext cx="217591" cy="4511040"/>
            </a:xfrm>
            <a:custGeom>
              <a:avLst/>
              <a:gdLst/>
              <a:ahLst/>
              <a:cxnLst/>
              <a:rect r="r" b="b" t="t" l="l"/>
              <a:pathLst>
                <a:path h="4511040" w="217591">
                  <a:moveTo>
                    <a:pt x="0" y="0"/>
                  </a:moveTo>
                  <a:lnTo>
                    <a:pt x="217591" y="0"/>
                  </a:lnTo>
                  <a:lnTo>
                    <a:pt x="217591" y="4511040"/>
                  </a:lnTo>
                  <a:lnTo>
                    <a:pt x="0" y="4511040"/>
                  </a:lnTo>
                  <a:close/>
                </a:path>
              </a:pathLst>
            </a:custGeom>
            <a:solidFill>
              <a:srgbClr val="FEFEFE"/>
            </a:solidFill>
          </p:spPr>
        </p:sp>
        <p:sp>
          <p:nvSpPr>
            <p:cNvPr name="Freeform 45" id="45"/>
            <p:cNvSpPr/>
            <p:nvPr/>
          </p:nvSpPr>
          <p:spPr>
            <a:xfrm flipH="false" flipV="false" rot="0">
              <a:off x="0" y="0"/>
              <a:ext cx="260656" cy="4544822"/>
            </a:xfrm>
            <a:custGeom>
              <a:avLst/>
              <a:gdLst/>
              <a:ahLst/>
              <a:cxnLst/>
              <a:rect r="r" b="b" t="t" l="l"/>
              <a:pathLst>
                <a:path h="4544822" w="260656">
                  <a:moveTo>
                    <a:pt x="21532" y="0"/>
                  </a:moveTo>
                  <a:lnTo>
                    <a:pt x="239123" y="0"/>
                  </a:lnTo>
                  <a:cubicBezTo>
                    <a:pt x="251104" y="0"/>
                    <a:pt x="260656" y="7620"/>
                    <a:pt x="260656" y="16891"/>
                  </a:cubicBezTo>
                  <a:lnTo>
                    <a:pt x="260656" y="4527931"/>
                  </a:lnTo>
                  <a:cubicBezTo>
                    <a:pt x="260656" y="4537329"/>
                    <a:pt x="250942" y="4544822"/>
                    <a:pt x="239123" y="4544822"/>
                  </a:cubicBezTo>
                  <a:lnTo>
                    <a:pt x="21532" y="4544822"/>
                  </a:lnTo>
                  <a:cubicBezTo>
                    <a:pt x="9552" y="4544822"/>
                    <a:pt x="0" y="4537202"/>
                    <a:pt x="0" y="4527931"/>
                  </a:cubicBezTo>
                  <a:lnTo>
                    <a:pt x="0" y="16891"/>
                  </a:lnTo>
                  <a:cubicBezTo>
                    <a:pt x="0" y="7620"/>
                    <a:pt x="9714" y="0"/>
                    <a:pt x="21532" y="0"/>
                  </a:cubicBezTo>
                  <a:moveTo>
                    <a:pt x="21532" y="33909"/>
                  </a:moveTo>
                  <a:lnTo>
                    <a:pt x="21532" y="16891"/>
                  </a:lnTo>
                  <a:lnTo>
                    <a:pt x="43227" y="16891"/>
                  </a:lnTo>
                  <a:lnTo>
                    <a:pt x="43227" y="4527931"/>
                  </a:lnTo>
                  <a:lnTo>
                    <a:pt x="21532" y="4527931"/>
                  </a:lnTo>
                  <a:lnTo>
                    <a:pt x="21532" y="4511040"/>
                  </a:lnTo>
                  <a:lnTo>
                    <a:pt x="239123" y="4511040"/>
                  </a:lnTo>
                  <a:lnTo>
                    <a:pt x="239123" y="4527931"/>
                  </a:lnTo>
                  <a:lnTo>
                    <a:pt x="217591" y="4527931"/>
                  </a:lnTo>
                  <a:lnTo>
                    <a:pt x="217591" y="16891"/>
                  </a:lnTo>
                  <a:lnTo>
                    <a:pt x="239123" y="16891"/>
                  </a:lnTo>
                  <a:lnTo>
                    <a:pt x="239123" y="33909"/>
                  </a:lnTo>
                  <a:lnTo>
                    <a:pt x="21532" y="33909"/>
                  </a:lnTo>
                  <a:close/>
                </a:path>
              </a:pathLst>
            </a:custGeom>
            <a:solidFill>
              <a:srgbClr val="FEFEFE"/>
            </a:solidFill>
          </p:spPr>
        </p:sp>
      </p:grpSp>
      <p:grpSp>
        <p:nvGrpSpPr>
          <p:cNvPr name="Group 46" id="46"/>
          <p:cNvGrpSpPr/>
          <p:nvPr/>
        </p:nvGrpSpPr>
        <p:grpSpPr>
          <a:xfrm rot="0">
            <a:off x="9656064" y="6272784"/>
            <a:ext cx="694944" cy="694944"/>
            <a:chOff x="0" y="0"/>
            <a:chExt cx="926592" cy="926592"/>
          </a:xfrm>
        </p:grpSpPr>
        <p:sp>
          <p:nvSpPr>
            <p:cNvPr name="Freeform 47" id="47" descr="preencoded.png"/>
            <p:cNvSpPr/>
            <p:nvPr/>
          </p:nvSpPr>
          <p:spPr>
            <a:xfrm flipH="false" flipV="false" rot="0">
              <a:off x="0" y="0"/>
              <a:ext cx="926592" cy="926592"/>
            </a:xfrm>
            <a:custGeom>
              <a:avLst/>
              <a:gdLst/>
              <a:ahLst/>
              <a:cxnLst/>
              <a:rect r="r" b="b" t="t" l="l"/>
              <a:pathLst>
                <a:path h="926592" w="926592">
                  <a:moveTo>
                    <a:pt x="0" y="0"/>
                  </a:moveTo>
                  <a:lnTo>
                    <a:pt x="926592" y="0"/>
                  </a:lnTo>
                  <a:lnTo>
                    <a:pt x="926592" y="926592"/>
                  </a:lnTo>
                  <a:lnTo>
                    <a:pt x="0" y="926592"/>
                  </a:lnTo>
                  <a:lnTo>
                    <a:pt x="0" y="0"/>
                  </a:lnTo>
                  <a:close/>
                </a:path>
              </a:pathLst>
            </a:custGeom>
            <a:blipFill>
              <a:blip r:embed="rId8"/>
              <a:stretch>
                <a:fillRect l="0" t="0" r="0" b="0"/>
              </a:stretch>
            </a:blipFill>
          </p:spPr>
        </p:sp>
      </p:grpSp>
      <p:grpSp>
        <p:nvGrpSpPr>
          <p:cNvPr name="Group 48" id="48"/>
          <p:cNvGrpSpPr/>
          <p:nvPr/>
        </p:nvGrpSpPr>
        <p:grpSpPr>
          <a:xfrm rot="0">
            <a:off x="10515600" y="6217920"/>
            <a:ext cx="6949440" cy="768096"/>
            <a:chOff x="0" y="0"/>
            <a:chExt cx="9265920" cy="1024128"/>
          </a:xfrm>
        </p:grpSpPr>
        <p:sp>
          <p:nvSpPr>
            <p:cNvPr name="Freeform 49" id="49"/>
            <p:cNvSpPr/>
            <p:nvPr/>
          </p:nvSpPr>
          <p:spPr>
            <a:xfrm flipH="false" flipV="false" rot="0">
              <a:off x="0" y="0"/>
              <a:ext cx="9265920" cy="1024128"/>
            </a:xfrm>
            <a:custGeom>
              <a:avLst/>
              <a:gdLst/>
              <a:ahLst/>
              <a:cxnLst/>
              <a:rect r="r" b="b" t="t" l="l"/>
              <a:pathLst>
                <a:path h="1024128" w="9265920">
                  <a:moveTo>
                    <a:pt x="0" y="0"/>
                  </a:moveTo>
                  <a:lnTo>
                    <a:pt x="9265920" y="0"/>
                  </a:lnTo>
                  <a:lnTo>
                    <a:pt x="9265920" y="1024128"/>
                  </a:lnTo>
                  <a:lnTo>
                    <a:pt x="0" y="1024128"/>
                  </a:lnTo>
                  <a:close/>
                </a:path>
              </a:pathLst>
            </a:custGeom>
            <a:blipFill>
              <a:blip r:embed="rId2">
                <a:alphaModFix amt="0"/>
              </a:blip>
              <a:stretch>
                <a:fillRect l="0" t="-126293" r="0" b="-126293"/>
              </a:stretch>
            </a:blipFill>
          </p:spPr>
        </p:sp>
        <p:sp>
          <p:nvSpPr>
            <p:cNvPr name="TextBox 50" id="50"/>
            <p:cNvSpPr txBox="true"/>
            <p:nvPr/>
          </p:nvSpPr>
          <p:spPr>
            <a:xfrm>
              <a:off x="0" y="-66675"/>
              <a:ext cx="9265920" cy="1090803"/>
            </a:xfrm>
            <a:prstGeom prst="rect">
              <a:avLst/>
            </a:prstGeom>
          </p:spPr>
          <p:txBody>
            <a:bodyPr anchor="ctr" rtlCol="false" tIns="0" lIns="0" bIns="0" rIns="0"/>
            <a:lstStyle/>
            <a:p>
              <a:pPr algn="l">
                <a:lnSpc>
                  <a:spcPts val="4320"/>
                </a:lnSpc>
              </a:pPr>
              <a:r>
                <a:rPr lang="en-US" sz="3600" b="true">
                  <a:solidFill>
                    <a:srgbClr val="0D1B3E"/>
                  </a:solidFill>
                  <a:latin typeface="Calibri (MS) Bold"/>
                  <a:ea typeface="Calibri (MS) Bold"/>
                  <a:cs typeface="Calibri (MS) Bold"/>
                  <a:sym typeface="Calibri (MS) Bold"/>
                </a:rPr>
                <a:t>Digital Customer Database</a:t>
              </a:r>
            </a:p>
          </p:txBody>
        </p:sp>
      </p:grpSp>
      <p:grpSp>
        <p:nvGrpSpPr>
          <p:cNvPr name="Group 51" id="51"/>
          <p:cNvGrpSpPr/>
          <p:nvPr/>
        </p:nvGrpSpPr>
        <p:grpSpPr>
          <a:xfrm rot="0">
            <a:off x="11478130" y="45720"/>
            <a:ext cx="6809870" cy="1953263"/>
            <a:chOff x="0" y="0"/>
            <a:chExt cx="9079827" cy="2604351"/>
          </a:xfrm>
        </p:grpSpPr>
        <p:sp>
          <p:nvSpPr>
            <p:cNvPr name="Freeform 52" id="52"/>
            <p:cNvSpPr/>
            <p:nvPr/>
          </p:nvSpPr>
          <p:spPr>
            <a:xfrm flipH="false" flipV="false" rot="0">
              <a:off x="6281" y="16196"/>
              <a:ext cx="9067232" cy="2571874"/>
            </a:xfrm>
            <a:custGeom>
              <a:avLst/>
              <a:gdLst/>
              <a:ahLst/>
              <a:cxnLst/>
              <a:rect r="r" b="b" t="t" l="l"/>
              <a:pathLst>
                <a:path h="2571874" w="9067232">
                  <a:moveTo>
                    <a:pt x="0" y="0"/>
                  </a:moveTo>
                  <a:lnTo>
                    <a:pt x="9067232" y="0"/>
                  </a:lnTo>
                  <a:lnTo>
                    <a:pt x="9067232" y="2571874"/>
                  </a:lnTo>
                  <a:lnTo>
                    <a:pt x="0" y="2571874"/>
                  </a:lnTo>
                  <a:close/>
                </a:path>
              </a:pathLst>
            </a:custGeom>
            <a:solidFill>
              <a:srgbClr val="64748B"/>
            </a:solidFill>
          </p:spPr>
        </p:sp>
        <p:sp>
          <p:nvSpPr>
            <p:cNvPr name="Freeform 53" id="53"/>
            <p:cNvSpPr/>
            <p:nvPr/>
          </p:nvSpPr>
          <p:spPr>
            <a:xfrm flipH="false" flipV="false" rot="0">
              <a:off x="0" y="0"/>
              <a:ext cx="9079794" cy="2604266"/>
            </a:xfrm>
            <a:custGeom>
              <a:avLst/>
              <a:gdLst/>
              <a:ahLst/>
              <a:cxnLst/>
              <a:rect r="r" b="b" t="t" l="l"/>
              <a:pathLst>
                <a:path h="2604266" w="9079794">
                  <a:moveTo>
                    <a:pt x="6281" y="0"/>
                  </a:moveTo>
                  <a:lnTo>
                    <a:pt x="9073513" y="0"/>
                  </a:lnTo>
                  <a:cubicBezTo>
                    <a:pt x="9077008" y="0"/>
                    <a:pt x="9079794" y="7306"/>
                    <a:pt x="9079794" y="16196"/>
                  </a:cubicBezTo>
                  <a:lnTo>
                    <a:pt x="9079794" y="2588070"/>
                  </a:lnTo>
                  <a:cubicBezTo>
                    <a:pt x="9079794" y="2597081"/>
                    <a:pt x="9076961" y="2604266"/>
                    <a:pt x="9073513" y="2604266"/>
                  </a:cubicBezTo>
                  <a:lnTo>
                    <a:pt x="6281" y="2604266"/>
                  </a:lnTo>
                  <a:cubicBezTo>
                    <a:pt x="2786" y="2604266"/>
                    <a:pt x="0" y="2596959"/>
                    <a:pt x="0" y="2588070"/>
                  </a:cubicBezTo>
                  <a:lnTo>
                    <a:pt x="0" y="16196"/>
                  </a:lnTo>
                  <a:cubicBezTo>
                    <a:pt x="0" y="7306"/>
                    <a:pt x="2834" y="0"/>
                    <a:pt x="6281" y="0"/>
                  </a:cubicBezTo>
                  <a:moveTo>
                    <a:pt x="6281" y="32514"/>
                  </a:moveTo>
                  <a:lnTo>
                    <a:pt x="6281" y="16196"/>
                  </a:lnTo>
                  <a:lnTo>
                    <a:pt x="12609" y="16196"/>
                  </a:lnTo>
                  <a:lnTo>
                    <a:pt x="12609" y="2588070"/>
                  </a:lnTo>
                  <a:lnTo>
                    <a:pt x="6281" y="2588070"/>
                  </a:lnTo>
                  <a:lnTo>
                    <a:pt x="6281" y="2571874"/>
                  </a:lnTo>
                  <a:lnTo>
                    <a:pt x="9073513" y="2571874"/>
                  </a:lnTo>
                  <a:lnTo>
                    <a:pt x="9073513" y="2588070"/>
                  </a:lnTo>
                  <a:lnTo>
                    <a:pt x="9067232" y="2588070"/>
                  </a:lnTo>
                  <a:lnTo>
                    <a:pt x="9067232" y="16196"/>
                  </a:lnTo>
                  <a:lnTo>
                    <a:pt x="9073513" y="16196"/>
                  </a:lnTo>
                  <a:lnTo>
                    <a:pt x="9073513" y="32514"/>
                  </a:lnTo>
                  <a:lnTo>
                    <a:pt x="6281" y="32514"/>
                  </a:lnTo>
                  <a:close/>
                </a:path>
              </a:pathLst>
            </a:custGeom>
            <a:solidFill>
              <a:srgbClr val="0D1B3E"/>
            </a:solidFill>
          </p:spPr>
        </p:sp>
      </p:grpSp>
      <p:sp>
        <p:nvSpPr>
          <p:cNvPr name="TextBox 54" id="54"/>
          <p:cNvSpPr txBox="true"/>
          <p:nvPr/>
        </p:nvSpPr>
        <p:spPr>
          <a:xfrm rot="0">
            <a:off x="859536" y="3352800"/>
            <a:ext cx="7534656" cy="2019300"/>
          </a:xfrm>
          <a:prstGeom prst="rect">
            <a:avLst/>
          </a:prstGeom>
        </p:spPr>
        <p:txBody>
          <a:bodyPr anchor="t" rtlCol="false" tIns="0" lIns="0" bIns="0" rIns="0">
            <a:spAutoFit/>
          </a:bodyPr>
          <a:lstStyle/>
          <a:p>
            <a:pPr algn="l" marL="772153" indent="-386077" lvl="1">
              <a:lnSpc>
                <a:spcPts val="3839"/>
              </a:lnSpc>
              <a:buFont typeface="Arial"/>
              <a:buChar char="•"/>
            </a:pPr>
            <a:r>
              <a:rPr lang="en-US" sz="3199">
                <a:solidFill>
                  <a:srgbClr val="000000"/>
                </a:solidFill>
                <a:latin typeface="Calibri (MS)"/>
                <a:ea typeface="Calibri (MS)"/>
                <a:cs typeface="Calibri (MS)"/>
                <a:sym typeface="Calibri (MS)"/>
              </a:rPr>
              <a:t>Seasonal campaigns (S21–S24)</a:t>
            </a:r>
          </a:p>
          <a:p>
            <a:pPr algn="l" marL="772153" indent="-386077" lvl="1">
              <a:lnSpc>
                <a:spcPts val="3839"/>
              </a:lnSpc>
              <a:buFont typeface="Arial"/>
              <a:buChar char="•"/>
            </a:pPr>
            <a:r>
              <a:rPr lang="en-US" sz="3199">
                <a:solidFill>
                  <a:srgbClr val="000000"/>
                </a:solidFill>
                <a:latin typeface="Calibri (MS)"/>
                <a:ea typeface="Calibri (MS)"/>
                <a:cs typeface="Calibri (MS)"/>
                <a:sym typeface="Calibri (MS)"/>
              </a:rPr>
              <a:t>Large-scale consumer incentives</a:t>
            </a:r>
          </a:p>
          <a:p>
            <a:pPr algn="l" marL="772153" indent="-386077" lvl="1">
              <a:lnSpc>
                <a:spcPts val="3839"/>
              </a:lnSpc>
              <a:buFont typeface="Arial"/>
              <a:buChar char="•"/>
            </a:pPr>
            <a:r>
              <a:rPr lang="en-US" sz="3199">
                <a:solidFill>
                  <a:srgbClr val="000000"/>
                </a:solidFill>
                <a:latin typeface="Calibri (MS)"/>
                <a:ea typeface="Calibri (MS)"/>
                <a:cs typeface="Calibri (MS)"/>
                <a:sym typeface="Calibri (MS)"/>
              </a:rPr>
              <a:t>'Double Million' lottery offer</a:t>
            </a:r>
          </a:p>
          <a:p>
            <a:pPr algn="l" marL="772153" indent="-386077" lvl="1">
              <a:lnSpc>
                <a:spcPts val="3839"/>
              </a:lnSpc>
              <a:buFont typeface="Arial"/>
              <a:buChar char="•"/>
            </a:pPr>
            <a:r>
              <a:rPr lang="en-US" sz="3199">
                <a:solidFill>
                  <a:srgbClr val="000000"/>
                </a:solidFill>
                <a:latin typeface="Calibri (MS)"/>
                <a:ea typeface="Calibri (MS)"/>
                <a:cs typeface="Calibri (MS)"/>
                <a:sym typeface="Calibri (MS)"/>
              </a:rPr>
              <a:t>Win Tk 20 lakh (~$23,700 USD)</a:t>
            </a:r>
          </a:p>
        </p:txBody>
      </p:sp>
      <p:sp>
        <p:nvSpPr>
          <p:cNvPr name="TextBox 55" id="55"/>
          <p:cNvSpPr txBox="true"/>
          <p:nvPr/>
        </p:nvSpPr>
        <p:spPr>
          <a:xfrm rot="0">
            <a:off x="9447241" y="3212468"/>
            <a:ext cx="8281486" cy="2000250"/>
          </a:xfrm>
          <a:prstGeom prst="rect">
            <a:avLst/>
          </a:prstGeom>
        </p:spPr>
        <p:txBody>
          <a:bodyPr anchor="t" rtlCol="false" tIns="0" lIns="0" bIns="0" rIns="0">
            <a:spAutoFit/>
          </a:bodyPr>
          <a:lstStyle/>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Mashrafe Bin Mortaza as brand ambassador</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National cricket icon</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Builds trust &amp; pride</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Wide consumer recognition</a:t>
            </a:r>
          </a:p>
        </p:txBody>
      </p:sp>
      <p:sp>
        <p:nvSpPr>
          <p:cNvPr name="TextBox 56" id="56"/>
          <p:cNvSpPr txBox="true"/>
          <p:nvPr/>
        </p:nvSpPr>
        <p:spPr>
          <a:xfrm rot="0">
            <a:off x="859536" y="7120890"/>
            <a:ext cx="7534656" cy="2000250"/>
          </a:xfrm>
          <a:prstGeom prst="rect">
            <a:avLst/>
          </a:prstGeom>
        </p:spPr>
        <p:txBody>
          <a:bodyPr anchor="t" rtlCol="false" tIns="0" lIns="0" bIns="0" rIns="0">
            <a:spAutoFit/>
          </a:bodyPr>
          <a:lstStyle/>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All 6 IMC tools deployed</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Advertising &amp; sales promotions</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Events, PR &amp; digital media</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Unified brand message</a:t>
            </a:r>
          </a:p>
        </p:txBody>
      </p:sp>
      <p:sp>
        <p:nvSpPr>
          <p:cNvPr name="TextBox 57" id="57"/>
          <p:cNvSpPr txBox="true"/>
          <p:nvPr/>
        </p:nvSpPr>
        <p:spPr>
          <a:xfrm rot="0">
            <a:off x="9820656" y="7120890"/>
            <a:ext cx="7534656" cy="2000250"/>
          </a:xfrm>
          <a:prstGeom prst="rect">
            <a:avLst/>
          </a:prstGeom>
        </p:spPr>
        <p:txBody>
          <a:bodyPr anchor="t" rtlCol="false" tIns="0" lIns="0" bIns="0" rIns="0">
            <a:spAutoFit/>
          </a:bodyPr>
          <a:lstStyle/>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SMS &amp; app product registration</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Faster after-sales service</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Targeted future promotions</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Personalized communication</a:t>
            </a:r>
          </a:p>
        </p:txBody>
      </p:sp>
      <p:grpSp>
        <p:nvGrpSpPr>
          <p:cNvPr name="Group 58" id="58"/>
          <p:cNvGrpSpPr/>
          <p:nvPr/>
        </p:nvGrpSpPr>
        <p:grpSpPr>
          <a:xfrm rot="0">
            <a:off x="0" y="45720"/>
            <a:ext cx="1342008" cy="1953263"/>
            <a:chOff x="0" y="0"/>
            <a:chExt cx="1789344" cy="2604351"/>
          </a:xfrm>
        </p:grpSpPr>
        <p:sp>
          <p:nvSpPr>
            <p:cNvPr name="Freeform 59" id="59"/>
            <p:cNvSpPr/>
            <p:nvPr/>
          </p:nvSpPr>
          <p:spPr>
            <a:xfrm flipH="false" flipV="false" rot="0">
              <a:off x="1238" y="16196"/>
              <a:ext cx="1786862" cy="2571874"/>
            </a:xfrm>
            <a:custGeom>
              <a:avLst/>
              <a:gdLst/>
              <a:ahLst/>
              <a:cxnLst/>
              <a:rect r="r" b="b" t="t" l="l"/>
              <a:pathLst>
                <a:path h="2571874" w="1786862">
                  <a:moveTo>
                    <a:pt x="0" y="0"/>
                  </a:moveTo>
                  <a:lnTo>
                    <a:pt x="1786861" y="0"/>
                  </a:lnTo>
                  <a:lnTo>
                    <a:pt x="1786861" y="2571874"/>
                  </a:lnTo>
                  <a:lnTo>
                    <a:pt x="0" y="2571874"/>
                  </a:lnTo>
                  <a:close/>
                </a:path>
              </a:pathLst>
            </a:custGeom>
            <a:solidFill>
              <a:srgbClr val="64748B"/>
            </a:solidFill>
          </p:spPr>
        </p:sp>
        <p:sp>
          <p:nvSpPr>
            <p:cNvPr name="Freeform 60" id="60"/>
            <p:cNvSpPr/>
            <p:nvPr/>
          </p:nvSpPr>
          <p:spPr>
            <a:xfrm flipH="false" flipV="false" rot="0">
              <a:off x="0" y="0"/>
              <a:ext cx="1789337" cy="2604266"/>
            </a:xfrm>
            <a:custGeom>
              <a:avLst/>
              <a:gdLst/>
              <a:ahLst/>
              <a:cxnLst/>
              <a:rect r="r" b="b" t="t" l="l"/>
              <a:pathLst>
                <a:path h="2604266" w="1789337">
                  <a:moveTo>
                    <a:pt x="1238" y="0"/>
                  </a:moveTo>
                  <a:lnTo>
                    <a:pt x="1788099" y="0"/>
                  </a:lnTo>
                  <a:cubicBezTo>
                    <a:pt x="1788788" y="0"/>
                    <a:pt x="1789337" y="7306"/>
                    <a:pt x="1789337" y="16196"/>
                  </a:cubicBezTo>
                  <a:lnTo>
                    <a:pt x="1789337" y="2588070"/>
                  </a:lnTo>
                  <a:cubicBezTo>
                    <a:pt x="1789337" y="2597081"/>
                    <a:pt x="1788779" y="2604266"/>
                    <a:pt x="1788099" y="2604266"/>
                  </a:cubicBezTo>
                  <a:lnTo>
                    <a:pt x="1238" y="2604266"/>
                  </a:lnTo>
                  <a:cubicBezTo>
                    <a:pt x="549" y="2604266"/>
                    <a:pt x="0" y="2596959"/>
                    <a:pt x="0" y="2588070"/>
                  </a:cubicBezTo>
                  <a:lnTo>
                    <a:pt x="0" y="16196"/>
                  </a:lnTo>
                  <a:cubicBezTo>
                    <a:pt x="0" y="7306"/>
                    <a:pt x="558" y="0"/>
                    <a:pt x="1238" y="0"/>
                  </a:cubicBezTo>
                  <a:moveTo>
                    <a:pt x="1238" y="32514"/>
                  </a:moveTo>
                  <a:lnTo>
                    <a:pt x="1238" y="16196"/>
                  </a:lnTo>
                  <a:lnTo>
                    <a:pt x="2485" y="16196"/>
                  </a:lnTo>
                  <a:lnTo>
                    <a:pt x="2485" y="2588070"/>
                  </a:lnTo>
                  <a:lnTo>
                    <a:pt x="1238" y="2588070"/>
                  </a:lnTo>
                  <a:lnTo>
                    <a:pt x="1238" y="2571874"/>
                  </a:lnTo>
                  <a:lnTo>
                    <a:pt x="1788099" y="2571874"/>
                  </a:lnTo>
                  <a:lnTo>
                    <a:pt x="1788099" y="2588070"/>
                  </a:lnTo>
                  <a:lnTo>
                    <a:pt x="1786862" y="2588070"/>
                  </a:lnTo>
                  <a:lnTo>
                    <a:pt x="1786862" y="16196"/>
                  </a:lnTo>
                  <a:lnTo>
                    <a:pt x="1788099" y="16196"/>
                  </a:lnTo>
                  <a:lnTo>
                    <a:pt x="1788099" y="32514"/>
                  </a:lnTo>
                  <a:lnTo>
                    <a:pt x="1238" y="32514"/>
                  </a:lnTo>
                  <a:close/>
                </a:path>
              </a:pathLst>
            </a:custGeom>
            <a:solidFill>
              <a:srgbClr val="0D1B3E"/>
            </a:solid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2E8F0"/>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2037083"/>
            <a:chOff x="0" y="0"/>
            <a:chExt cx="24417871" cy="2716111"/>
          </a:xfrm>
        </p:grpSpPr>
        <p:sp>
          <p:nvSpPr>
            <p:cNvPr name="Freeform 3" id="3"/>
            <p:cNvSpPr/>
            <p:nvPr/>
          </p:nvSpPr>
          <p:spPr>
            <a:xfrm flipH="false" flipV="false" rot="0">
              <a:off x="16891" y="16891"/>
              <a:ext cx="24383999" cy="2682240"/>
            </a:xfrm>
            <a:custGeom>
              <a:avLst/>
              <a:gdLst/>
              <a:ahLst/>
              <a:cxnLst/>
              <a:rect r="r" b="b" t="t" l="l"/>
              <a:pathLst>
                <a:path h="2682240" w="24383999">
                  <a:moveTo>
                    <a:pt x="0" y="0"/>
                  </a:moveTo>
                  <a:lnTo>
                    <a:pt x="24383999" y="0"/>
                  </a:lnTo>
                  <a:lnTo>
                    <a:pt x="24383999" y="2682240"/>
                  </a:lnTo>
                  <a:lnTo>
                    <a:pt x="0" y="2682240"/>
                  </a:lnTo>
                  <a:close/>
                </a:path>
              </a:pathLst>
            </a:custGeom>
            <a:solidFill>
              <a:srgbClr val="163F97">
                <a:alpha val="89804"/>
              </a:srgbClr>
            </a:solidFill>
          </p:spPr>
        </p:sp>
        <p:sp>
          <p:nvSpPr>
            <p:cNvPr name="Freeform 4" id="4"/>
            <p:cNvSpPr/>
            <p:nvPr/>
          </p:nvSpPr>
          <p:spPr>
            <a:xfrm flipH="false" flipV="false" rot="0">
              <a:off x="0" y="0"/>
              <a:ext cx="24417782" cy="2716022"/>
            </a:xfrm>
            <a:custGeom>
              <a:avLst/>
              <a:gdLst/>
              <a:ahLst/>
              <a:cxnLst/>
              <a:rect r="r" b="b" t="t" l="l"/>
              <a:pathLst>
                <a:path h="2716022" w="24417782">
                  <a:moveTo>
                    <a:pt x="16891" y="0"/>
                  </a:moveTo>
                  <a:lnTo>
                    <a:pt x="24400890" y="0"/>
                  </a:lnTo>
                  <a:cubicBezTo>
                    <a:pt x="24410290" y="0"/>
                    <a:pt x="24417782" y="7620"/>
                    <a:pt x="24417782" y="16891"/>
                  </a:cubicBezTo>
                  <a:lnTo>
                    <a:pt x="24417782" y="2699131"/>
                  </a:lnTo>
                  <a:cubicBezTo>
                    <a:pt x="24417782" y="2708529"/>
                    <a:pt x="24410163" y="2716022"/>
                    <a:pt x="24400890"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24400890" y="2682240"/>
                  </a:lnTo>
                  <a:lnTo>
                    <a:pt x="24400890" y="2699131"/>
                  </a:lnTo>
                  <a:lnTo>
                    <a:pt x="24384000" y="2699131"/>
                  </a:lnTo>
                  <a:lnTo>
                    <a:pt x="24384000" y="16891"/>
                  </a:lnTo>
                  <a:lnTo>
                    <a:pt x="24400890" y="16891"/>
                  </a:lnTo>
                  <a:lnTo>
                    <a:pt x="24400890" y="33909"/>
                  </a:lnTo>
                  <a:lnTo>
                    <a:pt x="16891" y="33909"/>
                  </a:lnTo>
                  <a:close/>
                </a:path>
              </a:pathLst>
            </a:custGeom>
            <a:solidFill>
              <a:srgbClr val="0D1B3E">
                <a:alpha val="89804"/>
              </a:srgbClr>
            </a:solidFill>
          </p:spPr>
        </p:sp>
      </p:grpSp>
      <p:grpSp>
        <p:nvGrpSpPr>
          <p:cNvPr name="Group 5" id="5"/>
          <p:cNvGrpSpPr/>
          <p:nvPr/>
        </p:nvGrpSpPr>
        <p:grpSpPr>
          <a:xfrm rot="0">
            <a:off x="-12697" y="1998983"/>
            <a:ext cx="18313403" cy="125987"/>
            <a:chOff x="0" y="0"/>
            <a:chExt cx="24417871" cy="167983"/>
          </a:xfrm>
        </p:grpSpPr>
        <p:sp>
          <p:nvSpPr>
            <p:cNvPr name="Freeform 6" id="6"/>
            <p:cNvSpPr/>
            <p:nvPr/>
          </p:nvSpPr>
          <p:spPr>
            <a:xfrm flipH="false" flipV="false" rot="0">
              <a:off x="16891" y="16891"/>
              <a:ext cx="24383999" cy="134112"/>
            </a:xfrm>
            <a:custGeom>
              <a:avLst/>
              <a:gdLst/>
              <a:ahLst/>
              <a:cxnLst/>
              <a:rect r="r" b="b" t="t" l="l"/>
              <a:pathLst>
                <a:path h="134112" w="24383999">
                  <a:moveTo>
                    <a:pt x="0" y="0"/>
                  </a:moveTo>
                  <a:lnTo>
                    <a:pt x="24383999" y="0"/>
                  </a:lnTo>
                  <a:lnTo>
                    <a:pt x="24383999" y="134112"/>
                  </a:lnTo>
                  <a:lnTo>
                    <a:pt x="0" y="134112"/>
                  </a:lnTo>
                  <a:close/>
                </a:path>
              </a:pathLst>
            </a:custGeom>
            <a:solidFill>
              <a:srgbClr val="64748B"/>
            </a:solidFill>
          </p:spPr>
        </p:sp>
        <p:sp>
          <p:nvSpPr>
            <p:cNvPr name="Freeform 7" id="7"/>
            <p:cNvSpPr/>
            <p:nvPr/>
          </p:nvSpPr>
          <p:spPr>
            <a:xfrm flipH="false" flipV="false" rot="0">
              <a:off x="0" y="0"/>
              <a:ext cx="24417782" cy="167896"/>
            </a:xfrm>
            <a:custGeom>
              <a:avLst/>
              <a:gdLst/>
              <a:ahLst/>
              <a:cxnLst/>
              <a:rect r="r" b="b" t="t" l="l"/>
              <a:pathLst>
                <a:path h="167896" w="24417782">
                  <a:moveTo>
                    <a:pt x="16891" y="0"/>
                  </a:moveTo>
                  <a:lnTo>
                    <a:pt x="24400890" y="0"/>
                  </a:lnTo>
                  <a:cubicBezTo>
                    <a:pt x="24410290" y="0"/>
                    <a:pt x="24417782" y="7620"/>
                    <a:pt x="24417782" y="16891"/>
                  </a:cubicBezTo>
                  <a:lnTo>
                    <a:pt x="24417782" y="151003"/>
                  </a:lnTo>
                  <a:cubicBezTo>
                    <a:pt x="24417782" y="160401"/>
                    <a:pt x="24410163" y="167894"/>
                    <a:pt x="24400890" y="167894"/>
                  </a:cubicBezTo>
                  <a:lnTo>
                    <a:pt x="16891" y="167894"/>
                  </a:lnTo>
                  <a:cubicBezTo>
                    <a:pt x="7620" y="168021"/>
                    <a:pt x="0" y="160401"/>
                    <a:pt x="0" y="151003"/>
                  </a:cubicBezTo>
                  <a:lnTo>
                    <a:pt x="0" y="16891"/>
                  </a:lnTo>
                  <a:cubicBezTo>
                    <a:pt x="0" y="7620"/>
                    <a:pt x="7620" y="0"/>
                    <a:pt x="16891" y="0"/>
                  </a:cubicBezTo>
                  <a:moveTo>
                    <a:pt x="16891" y="33909"/>
                  </a:moveTo>
                  <a:lnTo>
                    <a:pt x="16891" y="16891"/>
                  </a:lnTo>
                  <a:lnTo>
                    <a:pt x="33909" y="16891"/>
                  </a:lnTo>
                  <a:lnTo>
                    <a:pt x="33909" y="151003"/>
                  </a:lnTo>
                  <a:lnTo>
                    <a:pt x="16891" y="151003"/>
                  </a:lnTo>
                  <a:lnTo>
                    <a:pt x="16891" y="134112"/>
                  </a:lnTo>
                  <a:lnTo>
                    <a:pt x="24400890" y="134112"/>
                  </a:lnTo>
                  <a:lnTo>
                    <a:pt x="24400890" y="151003"/>
                  </a:lnTo>
                  <a:lnTo>
                    <a:pt x="24384000" y="151003"/>
                  </a:lnTo>
                  <a:lnTo>
                    <a:pt x="24384000" y="16891"/>
                  </a:lnTo>
                  <a:lnTo>
                    <a:pt x="24400890" y="16891"/>
                  </a:lnTo>
                  <a:lnTo>
                    <a:pt x="24400890" y="33909"/>
                  </a:lnTo>
                  <a:lnTo>
                    <a:pt x="16891" y="33909"/>
                  </a:lnTo>
                  <a:close/>
                </a:path>
              </a:pathLst>
            </a:custGeom>
            <a:solidFill>
              <a:srgbClr val="A0AABB"/>
            </a:solidFill>
          </p:spPr>
        </p:sp>
      </p:grpSp>
      <p:grpSp>
        <p:nvGrpSpPr>
          <p:cNvPr name="Group 8" id="8"/>
          <p:cNvGrpSpPr/>
          <p:nvPr/>
        </p:nvGrpSpPr>
        <p:grpSpPr>
          <a:xfrm rot="0">
            <a:off x="731520" y="329184"/>
            <a:ext cx="16824960" cy="1371600"/>
            <a:chOff x="0" y="0"/>
            <a:chExt cx="22433280" cy="1828800"/>
          </a:xfrm>
        </p:grpSpPr>
        <p:sp>
          <p:nvSpPr>
            <p:cNvPr name="Freeform 9" id="9"/>
            <p:cNvSpPr/>
            <p:nvPr/>
          </p:nvSpPr>
          <p:spPr>
            <a:xfrm flipH="false" flipV="false" rot="0">
              <a:off x="0" y="0"/>
              <a:ext cx="22433280" cy="1828800"/>
            </a:xfrm>
            <a:custGeom>
              <a:avLst/>
              <a:gdLst/>
              <a:ahLst/>
              <a:cxnLst/>
              <a:rect r="r" b="b" t="t" l="l"/>
              <a:pathLst>
                <a:path h="1828800" w="22433280">
                  <a:moveTo>
                    <a:pt x="0" y="0"/>
                  </a:moveTo>
                  <a:lnTo>
                    <a:pt x="22433280" y="0"/>
                  </a:lnTo>
                  <a:lnTo>
                    <a:pt x="22433280" y="1828800"/>
                  </a:lnTo>
                  <a:lnTo>
                    <a:pt x="0" y="1828800"/>
                  </a:lnTo>
                  <a:close/>
                </a:path>
              </a:pathLst>
            </a:custGeom>
            <a:blipFill>
              <a:blip r:embed="rId2">
                <a:alphaModFix amt="0"/>
              </a:blip>
              <a:stretch>
                <a:fillRect l="0" t="-189016" r="0" b="-189016"/>
              </a:stretch>
            </a:blipFill>
          </p:spPr>
        </p:sp>
        <p:sp>
          <p:nvSpPr>
            <p:cNvPr name="TextBox 10" id="10"/>
            <p:cNvSpPr txBox="true"/>
            <p:nvPr/>
          </p:nvSpPr>
          <p:spPr>
            <a:xfrm>
              <a:off x="0" y="-38100"/>
              <a:ext cx="22433280" cy="1866900"/>
            </a:xfrm>
            <a:prstGeom prst="rect">
              <a:avLst/>
            </a:prstGeom>
          </p:spPr>
          <p:txBody>
            <a:bodyPr anchor="ctr" rtlCol="false" tIns="0" lIns="0" bIns="0" rIns="0"/>
            <a:lstStyle/>
            <a:p>
              <a:pPr algn="l">
                <a:lnSpc>
                  <a:spcPts val="6719"/>
                </a:lnSpc>
              </a:pPr>
              <a:r>
                <a:rPr lang="en-US" sz="5599" b="true">
                  <a:solidFill>
                    <a:srgbClr val="FFFFFF"/>
                  </a:solidFill>
                  <a:latin typeface="Arial Bold"/>
                  <a:ea typeface="Arial Bold"/>
                  <a:cs typeface="Arial Bold"/>
                  <a:sym typeface="Arial Bold"/>
                </a:rPr>
                <a:t>PLACE STRATEGY</a:t>
              </a:r>
            </a:p>
          </p:txBody>
        </p:sp>
      </p:grpSp>
      <p:grpSp>
        <p:nvGrpSpPr>
          <p:cNvPr name="Group 11" id="11"/>
          <p:cNvGrpSpPr/>
          <p:nvPr/>
        </p:nvGrpSpPr>
        <p:grpSpPr>
          <a:xfrm rot="0">
            <a:off x="353063" y="2273303"/>
            <a:ext cx="153419" cy="3408683"/>
            <a:chOff x="0" y="0"/>
            <a:chExt cx="204559" cy="4544911"/>
          </a:xfrm>
        </p:grpSpPr>
        <p:sp>
          <p:nvSpPr>
            <p:cNvPr name="Freeform 12" id="12"/>
            <p:cNvSpPr/>
            <p:nvPr/>
          </p:nvSpPr>
          <p:spPr>
            <a:xfrm flipH="false" flipV="false" rot="0">
              <a:off x="16891" y="16891"/>
              <a:ext cx="170688" cy="4511040"/>
            </a:xfrm>
            <a:custGeom>
              <a:avLst/>
              <a:gdLst/>
              <a:ahLst/>
              <a:cxnLst/>
              <a:rect r="r" b="b" t="t" l="l"/>
              <a:pathLst>
                <a:path h="4511040" w="170688">
                  <a:moveTo>
                    <a:pt x="0" y="0"/>
                  </a:moveTo>
                  <a:lnTo>
                    <a:pt x="170688" y="0"/>
                  </a:lnTo>
                  <a:lnTo>
                    <a:pt x="170688" y="4511040"/>
                  </a:lnTo>
                  <a:lnTo>
                    <a:pt x="0" y="4511040"/>
                  </a:lnTo>
                  <a:close/>
                </a:path>
              </a:pathLst>
            </a:custGeom>
            <a:solidFill>
              <a:srgbClr val="0891B2"/>
            </a:solidFill>
          </p:spPr>
        </p:sp>
        <p:sp>
          <p:nvSpPr>
            <p:cNvPr name="Freeform 13" id="13"/>
            <p:cNvSpPr/>
            <p:nvPr/>
          </p:nvSpPr>
          <p:spPr>
            <a:xfrm flipH="false" flipV="false" rot="0">
              <a:off x="0" y="0"/>
              <a:ext cx="204470" cy="4544822"/>
            </a:xfrm>
            <a:custGeom>
              <a:avLst/>
              <a:gdLst/>
              <a:ahLst/>
              <a:cxnLst/>
              <a:rect r="r" b="b" t="t" l="l"/>
              <a:pathLst>
                <a:path h="4544822" w="204470">
                  <a:moveTo>
                    <a:pt x="16891" y="0"/>
                  </a:moveTo>
                  <a:lnTo>
                    <a:pt x="187579" y="0"/>
                  </a:lnTo>
                  <a:cubicBezTo>
                    <a:pt x="196977" y="0"/>
                    <a:pt x="204470" y="7620"/>
                    <a:pt x="204470" y="16891"/>
                  </a:cubicBezTo>
                  <a:lnTo>
                    <a:pt x="204470" y="4527931"/>
                  </a:lnTo>
                  <a:cubicBezTo>
                    <a:pt x="204470" y="4537329"/>
                    <a:pt x="196850" y="4544822"/>
                    <a:pt x="187579"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87579" y="4511040"/>
                  </a:lnTo>
                  <a:lnTo>
                    <a:pt x="187579" y="4527931"/>
                  </a:lnTo>
                  <a:lnTo>
                    <a:pt x="170688" y="4527931"/>
                  </a:lnTo>
                  <a:lnTo>
                    <a:pt x="170688" y="16891"/>
                  </a:lnTo>
                  <a:lnTo>
                    <a:pt x="187579" y="16891"/>
                  </a:lnTo>
                  <a:lnTo>
                    <a:pt x="187579" y="33909"/>
                  </a:lnTo>
                  <a:lnTo>
                    <a:pt x="16891" y="33909"/>
                  </a:lnTo>
                  <a:close/>
                </a:path>
              </a:pathLst>
            </a:custGeom>
            <a:solidFill>
              <a:srgbClr val="0891B2"/>
            </a:solidFill>
          </p:spPr>
        </p:sp>
      </p:grpSp>
      <p:grpSp>
        <p:nvGrpSpPr>
          <p:cNvPr name="Group 14" id="14"/>
          <p:cNvGrpSpPr/>
          <p:nvPr/>
        </p:nvGrpSpPr>
        <p:grpSpPr>
          <a:xfrm rot="0">
            <a:off x="9320527" y="2279647"/>
            <a:ext cx="8425177" cy="3395977"/>
            <a:chOff x="0" y="0"/>
            <a:chExt cx="11233569" cy="4527969"/>
          </a:xfrm>
        </p:grpSpPr>
        <p:sp>
          <p:nvSpPr>
            <p:cNvPr name="Freeform 15" id="15"/>
            <p:cNvSpPr/>
            <p:nvPr/>
          </p:nvSpPr>
          <p:spPr>
            <a:xfrm flipH="false" flipV="false" rot="0">
              <a:off x="8509" y="8509"/>
              <a:ext cx="11216640" cy="4511040"/>
            </a:xfrm>
            <a:custGeom>
              <a:avLst/>
              <a:gdLst/>
              <a:ahLst/>
              <a:cxnLst/>
              <a:rect r="r" b="b" t="t" l="l"/>
              <a:pathLst>
                <a:path h="4511040" w="11216640">
                  <a:moveTo>
                    <a:pt x="0" y="0"/>
                  </a:moveTo>
                  <a:lnTo>
                    <a:pt x="11216640" y="0"/>
                  </a:lnTo>
                  <a:lnTo>
                    <a:pt x="11216640" y="4511040"/>
                  </a:lnTo>
                  <a:lnTo>
                    <a:pt x="0" y="4511040"/>
                  </a:lnTo>
                  <a:close/>
                </a:path>
              </a:pathLst>
            </a:custGeom>
            <a:blipFill>
              <a:blip r:embed="rId3">
                <a:alphaModFix amt="15000"/>
              </a:blip>
              <a:stretch>
                <a:fillRect l="0" t="-20021" r="0" b="-20021"/>
              </a:stretch>
            </a:blipFill>
          </p:spPr>
        </p:sp>
        <p:sp>
          <p:nvSpPr>
            <p:cNvPr name="Freeform 16" id="16"/>
            <p:cNvSpPr/>
            <p:nvPr/>
          </p:nvSpPr>
          <p:spPr>
            <a:xfrm flipH="false" flipV="false" rot="0">
              <a:off x="0" y="0"/>
              <a:ext cx="11233658" cy="4528058"/>
            </a:xfrm>
            <a:custGeom>
              <a:avLst/>
              <a:gdLst/>
              <a:ahLst/>
              <a:cxnLst/>
              <a:rect r="r" b="b" t="t" l="l"/>
              <a:pathLst>
                <a:path h="4528058" w="11233658">
                  <a:moveTo>
                    <a:pt x="8509" y="0"/>
                  </a:moveTo>
                  <a:lnTo>
                    <a:pt x="11225149" y="0"/>
                  </a:lnTo>
                  <a:cubicBezTo>
                    <a:pt x="11229848" y="0"/>
                    <a:pt x="11233658" y="3810"/>
                    <a:pt x="11233658" y="8509"/>
                  </a:cubicBezTo>
                  <a:lnTo>
                    <a:pt x="11233658" y="4519549"/>
                  </a:lnTo>
                  <a:cubicBezTo>
                    <a:pt x="11233658" y="4524248"/>
                    <a:pt x="11229848" y="4528058"/>
                    <a:pt x="1122514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1225149" y="4511040"/>
                  </a:lnTo>
                  <a:lnTo>
                    <a:pt x="11225149" y="4519549"/>
                  </a:lnTo>
                  <a:lnTo>
                    <a:pt x="11216640" y="4519549"/>
                  </a:lnTo>
                  <a:lnTo>
                    <a:pt x="11216640" y="8509"/>
                  </a:lnTo>
                  <a:lnTo>
                    <a:pt x="11225149" y="8509"/>
                  </a:lnTo>
                  <a:lnTo>
                    <a:pt x="11225149" y="17018"/>
                  </a:lnTo>
                  <a:lnTo>
                    <a:pt x="8509" y="17018"/>
                  </a:lnTo>
                  <a:close/>
                </a:path>
              </a:pathLst>
            </a:custGeom>
            <a:solidFill>
              <a:srgbClr val="E2E8F0">
                <a:alpha val="14902"/>
              </a:srgbClr>
            </a:solidFill>
          </p:spPr>
        </p:sp>
      </p:grpSp>
      <p:grpSp>
        <p:nvGrpSpPr>
          <p:cNvPr name="Group 17" id="17"/>
          <p:cNvGrpSpPr/>
          <p:nvPr/>
        </p:nvGrpSpPr>
        <p:grpSpPr>
          <a:xfrm rot="0">
            <a:off x="9314183" y="2273303"/>
            <a:ext cx="153419" cy="3408683"/>
            <a:chOff x="0" y="0"/>
            <a:chExt cx="204559" cy="4544911"/>
          </a:xfrm>
        </p:grpSpPr>
        <p:sp>
          <p:nvSpPr>
            <p:cNvPr name="Freeform 18" id="18"/>
            <p:cNvSpPr/>
            <p:nvPr/>
          </p:nvSpPr>
          <p:spPr>
            <a:xfrm flipH="false" flipV="false" rot="0">
              <a:off x="16891" y="16891"/>
              <a:ext cx="170688" cy="4511040"/>
            </a:xfrm>
            <a:custGeom>
              <a:avLst/>
              <a:gdLst/>
              <a:ahLst/>
              <a:cxnLst/>
              <a:rect r="r" b="b" t="t" l="l"/>
              <a:pathLst>
                <a:path h="4511040" w="170688">
                  <a:moveTo>
                    <a:pt x="0" y="0"/>
                  </a:moveTo>
                  <a:lnTo>
                    <a:pt x="170688" y="0"/>
                  </a:lnTo>
                  <a:lnTo>
                    <a:pt x="170688" y="4511040"/>
                  </a:lnTo>
                  <a:lnTo>
                    <a:pt x="0" y="4511040"/>
                  </a:lnTo>
                  <a:close/>
                </a:path>
              </a:pathLst>
            </a:custGeom>
            <a:solidFill>
              <a:srgbClr val="7C3AED"/>
            </a:solidFill>
          </p:spPr>
        </p:sp>
        <p:sp>
          <p:nvSpPr>
            <p:cNvPr name="Freeform 19" id="19"/>
            <p:cNvSpPr/>
            <p:nvPr/>
          </p:nvSpPr>
          <p:spPr>
            <a:xfrm flipH="false" flipV="false" rot="0">
              <a:off x="0" y="0"/>
              <a:ext cx="204470" cy="4544822"/>
            </a:xfrm>
            <a:custGeom>
              <a:avLst/>
              <a:gdLst/>
              <a:ahLst/>
              <a:cxnLst/>
              <a:rect r="r" b="b" t="t" l="l"/>
              <a:pathLst>
                <a:path h="4544822" w="204470">
                  <a:moveTo>
                    <a:pt x="16891" y="0"/>
                  </a:moveTo>
                  <a:lnTo>
                    <a:pt x="187579" y="0"/>
                  </a:lnTo>
                  <a:cubicBezTo>
                    <a:pt x="196977" y="0"/>
                    <a:pt x="204470" y="7620"/>
                    <a:pt x="204470" y="16891"/>
                  </a:cubicBezTo>
                  <a:lnTo>
                    <a:pt x="204470" y="4527931"/>
                  </a:lnTo>
                  <a:cubicBezTo>
                    <a:pt x="204470" y="4537329"/>
                    <a:pt x="196850" y="4544822"/>
                    <a:pt x="187579"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87579" y="4511040"/>
                  </a:lnTo>
                  <a:lnTo>
                    <a:pt x="187579" y="4527931"/>
                  </a:lnTo>
                  <a:lnTo>
                    <a:pt x="170688" y="4527931"/>
                  </a:lnTo>
                  <a:lnTo>
                    <a:pt x="170688" y="16891"/>
                  </a:lnTo>
                  <a:lnTo>
                    <a:pt x="187579" y="16891"/>
                  </a:lnTo>
                  <a:lnTo>
                    <a:pt x="187579" y="33909"/>
                  </a:lnTo>
                  <a:lnTo>
                    <a:pt x="16891" y="33909"/>
                  </a:lnTo>
                  <a:close/>
                </a:path>
              </a:pathLst>
            </a:custGeom>
            <a:solidFill>
              <a:srgbClr val="7C3AED"/>
            </a:solidFill>
          </p:spPr>
        </p:sp>
      </p:grpSp>
      <p:grpSp>
        <p:nvGrpSpPr>
          <p:cNvPr name="Group 20" id="20"/>
          <p:cNvGrpSpPr/>
          <p:nvPr/>
        </p:nvGrpSpPr>
        <p:grpSpPr>
          <a:xfrm rot="0">
            <a:off x="10058395" y="2468880"/>
            <a:ext cx="6949440" cy="768096"/>
            <a:chOff x="0" y="0"/>
            <a:chExt cx="9265920" cy="1024128"/>
          </a:xfrm>
        </p:grpSpPr>
        <p:sp>
          <p:nvSpPr>
            <p:cNvPr name="Freeform 21" id="21"/>
            <p:cNvSpPr/>
            <p:nvPr/>
          </p:nvSpPr>
          <p:spPr>
            <a:xfrm flipH="false" flipV="false" rot="0">
              <a:off x="0" y="0"/>
              <a:ext cx="9265920" cy="1024128"/>
            </a:xfrm>
            <a:custGeom>
              <a:avLst/>
              <a:gdLst/>
              <a:ahLst/>
              <a:cxnLst/>
              <a:rect r="r" b="b" t="t" l="l"/>
              <a:pathLst>
                <a:path h="1024128" w="9265920">
                  <a:moveTo>
                    <a:pt x="0" y="0"/>
                  </a:moveTo>
                  <a:lnTo>
                    <a:pt x="9265920" y="0"/>
                  </a:lnTo>
                  <a:lnTo>
                    <a:pt x="9265920" y="1024128"/>
                  </a:lnTo>
                  <a:lnTo>
                    <a:pt x="0" y="1024128"/>
                  </a:lnTo>
                  <a:close/>
                </a:path>
              </a:pathLst>
            </a:custGeom>
            <a:blipFill>
              <a:blip r:embed="rId2">
                <a:alphaModFix amt="0"/>
              </a:blip>
              <a:stretch>
                <a:fillRect l="0" t="-126293" r="0" b="-126293"/>
              </a:stretch>
            </a:blipFill>
          </p:spPr>
        </p:sp>
        <p:sp>
          <p:nvSpPr>
            <p:cNvPr name="TextBox 22" id="22"/>
            <p:cNvSpPr txBox="true"/>
            <p:nvPr/>
          </p:nvSpPr>
          <p:spPr>
            <a:xfrm>
              <a:off x="0" y="-66675"/>
              <a:ext cx="9265920" cy="1090803"/>
            </a:xfrm>
            <a:prstGeom prst="rect">
              <a:avLst/>
            </a:prstGeom>
          </p:spPr>
          <p:txBody>
            <a:bodyPr anchor="ctr" rtlCol="false" tIns="0" lIns="0" bIns="0" rIns="0"/>
            <a:lstStyle/>
            <a:p>
              <a:pPr algn="l">
                <a:lnSpc>
                  <a:spcPts val="4320"/>
                </a:lnSpc>
              </a:pPr>
              <a:r>
                <a:rPr lang="en-US" sz="3600" b="true">
                  <a:solidFill>
                    <a:srgbClr val="0D1B3E"/>
                  </a:solidFill>
                  <a:latin typeface="Calibri (MS) Bold"/>
                  <a:ea typeface="Calibri (MS) Bold"/>
                  <a:cs typeface="Calibri (MS) Bold"/>
                  <a:sym typeface="Calibri (MS) Bold"/>
                </a:rPr>
                <a:t>E-Commerce (E-Plaza)</a:t>
              </a:r>
            </a:p>
          </p:txBody>
        </p:sp>
      </p:grpSp>
      <p:grpSp>
        <p:nvGrpSpPr>
          <p:cNvPr name="Group 23" id="23"/>
          <p:cNvGrpSpPr/>
          <p:nvPr/>
        </p:nvGrpSpPr>
        <p:grpSpPr>
          <a:xfrm rot="0">
            <a:off x="506482" y="2286010"/>
            <a:ext cx="8425177" cy="3395977"/>
            <a:chOff x="0" y="0"/>
            <a:chExt cx="11233569" cy="4527969"/>
          </a:xfrm>
        </p:grpSpPr>
        <p:sp>
          <p:nvSpPr>
            <p:cNvPr name="Freeform 24" id="24"/>
            <p:cNvSpPr/>
            <p:nvPr/>
          </p:nvSpPr>
          <p:spPr>
            <a:xfrm flipH="false" flipV="false" rot="0">
              <a:off x="8509" y="8509"/>
              <a:ext cx="11216640" cy="4511040"/>
            </a:xfrm>
            <a:custGeom>
              <a:avLst/>
              <a:gdLst/>
              <a:ahLst/>
              <a:cxnLst/>
              <a:rect r="r" b="b" t="t" l="l"/>
              <a:pathLst>
                <a:path h="4511040" w="11216640">
                  <a:moveTo>
                    <a:pt x="0" y="0"/>
                  </a:moveTo>
                  <a:lnTo>
                    <a:pt x="11216640" y="0"/>
                  </a:lnTo>
                  <a:lnTo>
                    <a:pt x="11216640" y="4511040"/>
                  </a:lnTo>
                  <a:lnTo>
                    <a:pt x="0" y="4511040"/>
                  </a:lnTo>
                  <a:close/>
                </a:path>
              </a:pathLst>
            </a:custGeom>
            <a:blipFill>
              <a:blip r:embed="rId4">
                <a:alphaModFix amt="19999"/>
              </a:blip>
              <a:stretch>
                <a:fillRect l="0" t="-25837" r="0" b="-25837"/>
              </a:stretch>
            </a:blipFill>
          </p:spPr>
        </p:sp>
        <p:sp>
          <p:nvSpPr>
            <p:cNvPr name="Freeform 25" id="25"/>
            <p:cNvSpPr/>
            <p:nvPr/>
          </p:nvSpPr>
          <p:spPr>
            <a:xfrm flipH="false" flipV="false" rot="0">
              <a:off x="0" y="0"/>
              <a:ext cx="11233658" cy="4528058"/>
            </a:xfrm>
            <a:custGeom>
              <a:avLst/>
              <a:gdLst/>
              <a:ahLst/>
              <a:cxnLst/>
              <a:rect r="r" b="b" t="t" l="l"/>
              <a:pathLst>
                <a:path h="4528058" w="11233658">
                  <a:moveTo>
                    <a:pt x="8509" y="0"/>
                  </a:moveTo>
                  <a:lnTo>
                    <a:pt x="11225149" y="0"/>
                  </a:lnTo>
                  <a:cubicBezTo>
                    <a:pt x="11229848" y="0"/>
                    <a:pt x="11233658" y="3810"/>
                    <a:pt x="11233658" y="8509"/>
                  </a:cubicBezTo>
                  <a:lnTo>
                    <a:pt x="11233658" y="4519549"/>
                  </a:lnTo>
                  <a:cubicBezTo>
                    <a:pt x="11233658" y="4524248"/>
                    <a:pt x="11229848" y="4528058"/>
                    <a:pt x="1122514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1225149" y="4511040"/>
                  </a:lnTo>
                  <a:lnTo>
                    <a:pt x="11225149" y="4519549"/>
                  </a:lnTo>
                  <a:lnTo>
                    <a:pt x="11216640" y="4519549"/>
                  </a:lnTo>
                  <a:lnTo>
                    <a:pt x="11216640" y="8509"/>
                  </a:lnTo>
                  <a:lnTo>
                    <a:pt x="11225149" y="8509"/>
                  </a:lnTo>
                  <a:lnTo>
                    <a:pt x="11225149" y="17018"/>
                  </a:lnTo>
                  <a:lnTo>
                    <a:pt x="8509" y="17018"/>
                  </a:lnTo>
                  <a:close/>
                </a:path>
              </a:pathLst>
            </a:custGeom>
            <a:solidFill>
              <a:srgbClr val="E2E8F0">
                <a:alpha val="19608"/>
              </a:srgbClr>
            </a:solidFill>
          </p:spPr>
        </p:sp>
      </p:grpSp>
      <p:grpSp>
        <p:nvGrpSpPr>
          <p:cNvPr name="Group 26" id="26"/>
          <p:cNvGrpSpPr/>
          <p:nvPr/>
        </p:nvGrpSpPr>
        <p:grpSpPr>
          <a:xfrm rot="0">
            <a:off x="353063" y="6022343"/>
            <a:ext cx="153419" cy="3408683"/>
            <a:chOff x="0" y="0"/>
            <a:chExt cx="204559" cy="4544911"/>
          </a:xfrm>
        </p:grpSpPr>
        <p:sp>
          <p:nvSpPr>
            <p:cNvPr name="Freeform 27" id="27"/>
            <p:cNvSpPr/>
            <p:nvPr/>
          </p:nvSpPr>
          <p:spPr>
            <a:xfrm flipH="false" flipV="false" rot="0">
              <a:off x="16891" y="16891"/>
              <a:ext cx="170688" cy="4511040"/>
            </a:xfrm>
            <a:custGeom>
              <a:avLst/>
              <a:gdLst/>
              <a:ahLst/>
              <a:cxnLst/>
              <a:rect r="r" b="b" t="t" l="l"/>
              <a:pathLst>
                <a:path h="4511040" w="170688">
                  <a:moveTo>
                    <a:pt x="0" y="0"/>
                  </a:moveTo>
                  <a:lnTo>
                    <a:pt x="170688" y="0"/>
                  </a:lnTo>
                  <a:lnTo>
                    <a:pt x="170688" y="4511040"/>
                  </a:lnTo>
                  <a:lnTo>
                    <a:pt x="0" y="4511040"/>
                  </a:lnTo>
                  <a:close/>
                </a:path>
              </a:pathLst>
            </a:custGeom>
            <a:solidFill>
              <a:srgbClr val="059669"/>
            </a:solidFill>
          </p:spPr>
        </p:sp>
        <p:sp>
          <p:nvSpPr>
            <p:cNvPr name="Freeform 28" id="28"/>
            <p:cNvSpPr/>
            <p:nvPr/>
          </p:nvSpPr>
          <p:spPr>
            <a:xfrm flipH="false" flipV="false" rot="0">
              <a:off x="0" y="0"/>
              <a:ext cx="204470" cy="4544822"/>
            </a:xfrm>
            <a:custGeom>
              <a:avLst/>
              <a:gdLst/>
              <a:ahLst/>
              <a:cxnLst/>
              <a:rect r="r" b="b" t="t" l="l"/>
              <a:pathLst>
                <a:path h="4544822" w="204470">
                  <a:moveTo>
                    <a:pt x="16891" y="0"/>
                  </a:moveTo>
                  <a:lnTo>
                    <a:pt x="187579" y="0"/>
                  </a:lnTo>
                  <a:cubicBezTo>
                    <a:pt x="196977" y="0"/>
                    <a:pt x="204470" y="7620"/>
                    <a:pt x="204470" y="16891"/>
                  </a:cubicBezTo>
                  <a:lnTo>
                    <a:pt x="204470" y="4527931"/>
                  </a:lnTo>
                  <a:cubicBezTo>
                    <a:pt x="204470" y="4537329"/>
                    <a:pt x="196850" y="4544822"/>
                    <a:pt x="187579"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87579" y="4511040"/>
                  </a:lnTo>
                  <a:lnTo>
                    <a:pt x="187579" y="4527931"/>
                  </a:lnTo>
                  <a:lnTo>
                    <a:pt x="170688" y="4527931"/>
                  </a:lnTo>
                  <a:lnTo>
                    <a:pt x="170688" y="16891"/>
                  </a:lnTo>
                  <a:lnTo>
                    <a:pt x="187579" y="16891"/>
                  </a:lnTo>
                  <a:lnTo>
                    <a:pt x="187579" y="33909"/>
                  </a:lnTo>
                  <a:lnTo>
                    <a:pt x="16891" y="33909"/>
                  </a:lnTo>
                  <a:close/>
                </a:path>
              </a:pathLst>
            </a:custGeom>
            <a:solidFill>
              <a:srgbClr val="059669"/>
            </a:solidFill>
          </p:spPr>
        </p:sp>
      </p:grpSp>
      <p:grpSp>
        <p:nvGrpSpPr>
          <p:cNvPr name="Group 29" id="29"/>
          <p:cNvGrpSpPr/>
          <p:nvPr/>
        </p:nvGrpSpPr>
        <p:grpSpPr>
          <a:xfrm rot="0">
            <a:off x="9320527" y="6028687"/>
            <a:ext cx="8425177" cy="3395977"/>
            <a:chOff x="0" y="0"/>
            <a:chExt cx="11233569" cy="4527969"/>
          </a:xfrm>
        </p:grpSpPr>
        <p:sp>
          <p:nvSpPr>
            <p:cNvPr name="Freeform 30" id="30"/>
            <p:cNvSpPr/>
            <p:nvPr/>
          </p:nvSpPr>
          <p:spPr>
            <a:xfrm flipH="false" flipV="false" rot="0">
              <a:off x="8509" y="8509"/>
              <a:ext cx="11216640" cy="4511040"/>
            </a:xfrm>
            <a:custGeom>
              <a:avLst/>
              <a:gdLst/>
              <a:ahLst/>
              <a:cxnLst/>
              <a:rect r="r" b="b" t="t" l="l"/>
              <a:pathLst>
                <a:path h="4511040" w="11216640">
                  <a:moveTo>
                    <a:pt x="0" y="0"/>
                  </a:moveTo>
                  <a:lnTo>
                    <a:pt x="11216640" y="0"/>
                  </a:lnTo>
                  <a:lnTo>
                    <a:pt x="11216640" y="4511040"/>
                  </a:lnTo>
                  <a:lnTo>
                    <a:pt x="0" y="4511040"/>
                  </a:lnTo>
                  <a:close/>
                </a:path>
              </a:pathLst>
            </a:custGeom>
            <a:blipFill>
              <a:blip r:embed="rId5">
                <a:alphaModFix amt="19999"/>
              </a:blip>
              <a:stretch>
                <a:fillRect l="0" t="-19853" r="0" b="-19853"/>
              </a:stretch>
            </a:blipFill>
          </p:spPr>
        </p:sp>
        <p:sp>
          <p:nvSpPr>
            <p:cNvPr name="Freeform 31" id="31"/>
            <p:cNvSpPr/>
            <p:nvPr/>
          </p:nvSpPr>
          <p:spPr>
            <a:xfrm flipH="false" flipV="false" rot="0">
              <a:off x="0" y="0"/>
              <a:ext cx="11233658" cy="4528058"/>
            </a:xfrm>
            <a:custGeom>
              <a:avLst/>
              <a:gdLst/>
              <a:ahLst/>
              <a:cxnLst/>
              <a:rect r="r" b="b" t="t" l="l"/>
              <a:pathLst>
                <a:path h="4528058" w="11233658">
                  <a:moveTo>
                    <a:pt x="8509" y="0"/>
                  </a:moveTo>
                  <a:lnTo>
                    <a:pt x="11225149" y="0"/>
                  </a:lnTo>
                  <a:cubicBezTo>
                    <a:pt x="11229848" y="0"/>
                    <a:pt x="11233658" y="3810"/>
                    <a:pt x="11233658" y="8509"/>
                  </a:cubicBezTo>
                  <a:lnTo>
                    <a:pt x="11233658" y="4519549"/>
                  </a:lnTo>
                  <a:cubicBezTo>
                    <a:pt x="11233658" y="4524248"/>
                    <a:pt x="11229848" y="4528058"/>
                    <a:pt x="1122514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1225149" y="4511040"/>
                  </a:lnTo>
                  <a:lnTo>
                    <a:pt x="11225149" y="4519549"/>
                  </a:lnTo>
                  <a:lnTo>
                    <a:pt x="11216640" y="4519549"/>
                  </a:lnTo>
                  <a:lnTo>
                    <a:pt x="11216640" y="8509"/>
                  </a:lnTo>
                  <a:lnTo>
                    <a:pt x="11225149" y="8509"/>
                  </a:lnTo>
                  <a:lnTo>
                    <a:pt x="11225149" y="17018"/>
                  </a:lnTo>
                  <a:lnTo>
                    <a:pt x="8509" y="17018"/>
                  </a:lnTo>
                  <a:close/>
                </a:path>
              </a:pathLst>
            </a:custGeom>
            <a:solidFill>
              <a:srgbClr val="E2E8F0">
                <a:alpha val="19608"/>
              </a:srgbClr>
            </a:solidFill>
          </p:spPr>
        </p:sp>
      </p:grpSp>
      <p:grpSp>
        <p:nvGrpSpPr>
          <p:cNvPr name="Group 32" id="32"/>
          <p:cNvGrpSpPr/>
          <p:nvPr/>
        </p:nvGrpSpPr>
        <p:grpSpPr>
          <a:xfrm rot="0">
            <a:off x="9314183" y="6022343"/>
            <a:ext cx="153419" cy="3408683"/>
            <a:chOff x="0" y="0"/>
            <a:chExt cx="204559" cy="4544911"/>
          </a:xfrm>
        </p:grpSpPr>
        <p:sp>
          <p:nvSpPr>
            <p:cNvPr name="Freeform 33" id="33"/>
            <p:cNvSpPr/>
            <p:nvPr/>
          </p:nvSpPr>
          <p:spPr>
            <a:xfrm flipH="false" flipV="false" rot="0">
              <a:off x="16891" y="16891"/>
              <a:ext cx="170688" cy="4511040"/>
            </a:xfrm>
            <a:custGeom>
              <a:avLst/>
              <a:gdLst/>
              <a:ahLst/>
              <a:cxnLst/>
              <a:rect r="r" b="b" t="t" l="l"/>
              <a:pathLst>
                <a:path h="4511040" w="170688">
                  <a:moveTo>
                    <a:pt x="0" y="0"/>
                  </a:moveTo>
                  <a:lnTo>
                    <a:pt x="170688" y="0"/>
                  </a:lnTo>
                  <a:lnTo>
                    <a:pt x="170688" y="4511040"/>
                  </a:lnTo>
                  <a:lnTo>
                    <a:pt x="0" y="4511040"/>
                  </a:lnTo>
                  <a:close/>
                </a:path>
              </a:pathLst>
            </a:custGeom>
            <a:solidFill>
              <a:srgbClr val="DC2626"/>
            </a:solidFill>
          </p:spPr>
        </p:sp>
        <p:sp>
          <p:nvSpPr>
            <p:cNvPr name="Freeform 34" id="34"/>
            <p:cNvSpPr/>
            <p:nvPr/>
          </p:nvSpPr>
          <p:spPr>
            <a:xfrm flipH="false" flipV="false" rot="0">
              <a:off x="0" y="0"/>
              <a:ext cx="204470" cy="4544822"/>
            </a:xfrm>
            <a:custGeom>
              <a:avLst/>
              <a:gdLst/>
              <a:ahLst/>
              <a:cxnLst/>
              <a:rect r="r" b="b" t="t" l="l"/>
              <a:pathLst>
                <a:path h="4544822" w="204470">
                  <a:moveTo>
                    <a:pt x="16891" y="0"/>
                  </a:moveTo>
                  <a:lnTo>
                    <a:pt x="187579" y="0"/>
                  </a:lnTo>
                  <a:cubicBezTo>
                    <a:pt x="196977" y="0"/>
                    <a:pt x="204470" y="7620"/>
                    <a:pt x="204470" y="16891"/>
                  </a:cubicBezTo>
                  <a:lnTo>
                    <a:pt x="204470" y="4527931"/>
                  </a:lnTo>
                  <a:cubicBezTo>
                    <a:pt x="204470" y="4537329"/>
                    <a:pt x="196850" y="4544822"/>
                    <a:pt x="187579"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87579" y="4511040"/>
                  </a:lnTo>
                  <a:lnTo>
                    <a:pt x="187579" y="4527931"/>
                  </a:lnTo>
                  <a:lnTo>
                    <a:pt x="170688" y="4527931"/>
                  </a:lnTo>
                  <a:lnTo>
                    <a:pt x="170688" y="16891"/>
                  </a:lnTo>
                  <a:lnTo>
                    <a:pt x="187579" y="16891"/>
                  </a:lnTo>
                  <a:lnTo>
                    <a:pt x="187579" y="33909"/>
                  </a:lnTo>
                  <a:lnTo>
                    <a:pt x="16891" y="33909"/>
                  </a:lnTo>
                  <a:close/>
                </a:path>
              </a:pathLst>
            </a:custGeom>
            <a:solidFill>
              <a:srgbClr val="DC2626"/>
            </a:solidFill>
          </p:spPr>
        </p:sp>
      </p:grpSp>
      <p:grpSp>
        <p:nvGrpSpPr>
          <p:cNvPr name="Group 35" id="35"/>
          <p:cNvGrpSpPr/>
          <p:nvPr/>
        </p:nvGrpSpPr>
        <p:grpSpPr>
          <a:xfrm rot="0">
            <a:off x="10058395" y="6131497"/>
            <a:ext cx="6949440" cy="768096"/>
            <a:chOff x="0" y="0"/>
            <a:chExt cx="9265920" cy="1024128"/>
          </a:xfrm>
        </p:grpSpPr>
        <p:sp>
          <p:nvSpPr>
            <p:cNvPr name="Freeform 36" id="36"/>
            <p:cNvSpPr/>
            <p:nvPr/>
          </p:nvSpPr>
          <p:spPr>
            <a:xfrm flipH="false" flipV="false" rot="0">
              <a:off x="0" y="0"/>
              <a:ext cx="9265920" cy="1024128"/>
            </a:xfrm>
            <a:custGeom>
              <a:avLst/>
              <a:gdLst/>
              <a:ahLst/>
              <a:cxnLst/>
              <a:rect r="r" b="b" t="t" l="l"/>
              <a:pathLst>
                <a:path h="1024128" w="9265920">
                  <a:moveTo>
                    <a:pt x="0" y="0"/>
                  </a:moveTo>
                  <a:lnTo>
                    <a:pt x="9265920" y="0"/>
                  </a:lnTo>
                  <a:lnTo>
                    <a:pt x="9265920" y="1024128"/>
                  </a:lnTo>
                  <a:lnTo>
                    <a:pt x="0" y="1024128"/>
                  </a:lnTo>
                  <a:close/>
                </a:path>
              </a:pathLst>
            </a:custGeom>
            <a:blipFill>
              <a:blip r:embed="rId2">
                <a:alphaModFix amt="0"/>
              </a:blip>
              <a:stretch>
                <a:fillRect l="0" t="-126293" r="0" b="-126293"/>
              </a:stretch>
            </a:blipFill>
          </p:spPr>
        </p:sp>
        <p:sp>
          <p:nvSpPr>
            <p:cNvPr name="TextBox 37" id="37"/>
            <p:cNvSpPr txBox="true"/>
            <p:nvPr/>
          </p:nvSpPr>
          <p:spPr>
            <a:xfrm>
              <a:off x="0" y="-66675"/>
              <a:ext cx="9265920" cy="1090803"/>
            </a:xfrm>
            <a:prstGeom prst="rect">
              <a:avLst/>
            </a:prstGeom>
          </p:spPr>
          <p:txBody>
            <a:bodyPr anchor="ctr" rtlCol="false" tIns="0" lIns="0" bIns="0" rIns="0"/>
            <a:lstStyle/>
            <a:p>
              <a:pPr algn="l">
                <a:lnSpc>
                  <a:spcPts val="4320"/>
                </a:lnSpc>
              </a:pPr>
              <a:r>
                <a:rPr lang="en-US" sz="3600" b="true">
                  <a:solidFill>
                    <a:srgbClr val="0D1B3E"/>
                  </a:solidFill>
                  <a:latin typeface="Calibri (MS) Bold"/>
                  <a:ea typeface="Calibri (MS) Bold"/>
                  <a:cs typeface="Calibri (MS) Bold"/>
                  <a:sym typeface="Calibri (MS) Bold"/>
                </a:rPr>
                <a:t>Global Distribution</a:t>
              </a:r>
            </a:p>
          </p:txBody>
        </p:sp>
      </p:grpSp>
      <p:sp>
        <p:nvSpPr>
          <p:cNvPr name="Freeform 38" id="38"/>
          <p:cNvSpPr/>
          <p:nvPr/>
        </p:nvSpPr>
        <p:spPr>
          <a:xfrm flipH="false" flipV="false" rot="0">
            <a:off x="13990320" y="10196189"/>
            <a:ext cx="5029317" cy="5029317"/>
          </a:xfrm>
          <a:custGeom>
            <a:avLst/>
            <a:gdLst/>
            <a:ahLst/>
            <a:cxnLst/>
            <a:rect r="r" b="b" t="t" l="l"/>
            <a:pathLst>
              <a:path h="5029317" w="5029317">
                <a:moveTo>
                  <a:pt x="0" y="0"/>
                </a:moveTo>
                <a:lnTo>
                  <a:pt x="5029317" y="0"/>
                </a:lnTo>
                <a:lnTo>
                  <a:pt x="5029317" y="5029316"/>
                </a:lnTo>
                <a:lnTo>
                  <a:pt x="0" y="5029316"/>
                </a:lnTo>
                <a:lnTo>
                  <a:pt x="0" y="0"/>
                </a:lnTo>
                <a:close/>
              </a:path>
            </a:pathLst>
          </a:custGeom>
          <a:blipFill>
            <a:blip r:embed="rId6"/>
            <a:stretch>
              <a:fillRect l="0" t="0" r="0" b="0"/>
            </a:stretch>
          </a:blipFill>
        </p:spPr>
      </p:sp>
      <p:grpSp>
        <p:nvGrpSpPr>
          <p:cNvPr name="Group 39" id="39"/>
          <p:cNvGrpSpPr/>
          <p:nvPr/>
        </p:nvGrpSpPr>
        <p:grpSpPr>
          <a:xfrm rot="0">
            <a:off x="536581" y="6028687"/>
            <a:ext cx="8425177" cy="3453765"/>
            <a:chOff x="0" y="0"/>
            <a:chExt cx="11233569" cy="4605020"/>
          </a:xfrm>
        </p:grpSpPr>
        <p:sp>
          <p:nvSpPr>
            <p:cNvPr name="Freeform 40" id="40"/>
            <p:cNvSpPr/>
            <p:nvPr/>
          </p:nvSpPr>
          <p:spPr>
            <a:xfrm flipH="false" flipV="false" rot="0">
              <a:off x="8509" y="8654"/>
              <a:ext cx="11216640" cy="4587803"/>
            </a:xfrm>
            <a:custGeom>
              <a:avLst/>
              <a:gdLst/>
              <a:ahLst/>
              <a:cxnLst/>
              <a:rect r="r" b="b" t="t" l="l"/>
              <a:pathLst>
                <a:path h="4587803" w="11216640">
                  <a:moveTo>
                    <a:pt x="0" y="0"/>
                  </a:moveTo>
                  <a:lnTo>
                    <a:pt x="11216640" y="0"/>
                  </a:lnTo>
                  <a:lnTo>
                    <a:pt x="11216640" y="4587803"/>
                  </a:lnTo>
                  <a:lnTo>
                    <a:pt x="0" y="4587803"/>
                  </a:lnTo>
                  <a:close/>
                </a:path>
              </a:pathLst>
            </a:custGeom>
            <a:blipFill>
              <a:blip r:embed="rId6">
                <a:alphaModFix amt="19999"/>
              </a:blip>
              <a:stretch>
                <a:fillRect l="0" t="-72244" r="0" b="-72244"/>
              </a:stretch>
            </a:blipFill>
          </p:spPr>
        </p:sp>
        <p:sp>
          <p:nvSpPr>
            <p:cNvPr name="Freeform 41" id="41"/>
            <p:cNvSpPr/>
            <p:nvPr/>
          </p:nvSpPr>
          <p:spPr>
            <a:xfrm flipH="false" flipV="false" rot="0">
              <a:off x="0" y="0"/>
              <a:ext cx="11233658" cy="4605109"/>
            </a:xfrm>
            <a:custGeom>
              <a:avLst/>
              <a:gdLst/>
              <a:ahLst/>
              <a:cxnLst/>
              <a:rect r="r" b="b" t="t" l="l"/>
              <a:pathLst>
                <a:path h="4605109" w="11233658">
                  <a:moveTo>
                    <a:pt x="8509" y="0"/>
                  </a:moveTo>
                  <a:lnTo>
                    <a:pt x="11225149" y="0"/>
                  </a:lnTo>
                  <a:cubicBezTo>
                    <a:pt x="11229848" y="0"/>
                    <a:pt x="11233658" y="3875"/>
                    <a:pt x="11233658" y="8654"/>
                  </a:cubicBezTo>
                  <a:lnTo>
                    <a:pt x="11233658" y="4596457"/>
                  </a:lnTo>
                  <a:cubicBezTo>
                    <a:pt x="11233658" y="4601236"/>
                    <a:pt x="11229848" y="4605109"/>
                    <a:pt x="11225149" y="4605109"/>
                  </a:cubicBezTo>
                  <a:lnTo>
                    <a:pt x="8509" y="4605109"/>
                  </a:lnTo>
                  <a:cubicBezTo>
                    <a:pt x="3810" y="4605109"/>
                    <a:pt x="0" y="4601236"/>
                    <a:pt x="0" y="4596457"/>
                  </a:cubicBezTo>
                  <a:lnTo>
                    <a:pt x="0" y="8654"/>
                  </a:lnTo>
                  <a:cubicBezTo>
                    <a:pt x="0" y="3875"/>
                    <a:pt x="3810" y="0"/>
                    <a:pt x="8509" y="0"/>
                  </a:cubicBezTo>
                  <a:moveTo>
                    <a:pt x="8509" y="17178"/>
                  </a:moveTo>
                  <a:lnTo>
                    <a:pt x="8509" y="8654"/>
                  </a:lnTo>
                  <a:lnTo>
                    <a:pt x="17018" y="8654"/>
                  </a:lnTo>
                  <a:lnTo>
                    <a:pt x="17018" y="4596457"/>
                  </a:lnTo>
                  <a:lnTo>
                    <a:pt x="8509" y="4596457"/>
                  </a:lnTo>
                  <a:lnTo>
                    <a:pt x="8509" y="4587803"/>
                  </a:lnTo>
                  <a:lnTo>
                    <a:pt x="11225149" y="4587803"/>
                  </a:lnTo>
                  <a:lnTo>
                    <a:pt x="11225149" y="4596457"/>
                  </a:lnTo>
                  <a:lnTo>
                    <a:pt x="11216640" y="4596457"/>
                  </a:lnTo>
                  <a:lnTo>
                    <a:pt x="11216640" y="8654"/>
                  </a:lnTo>
                  <a:lnTo>
                    <a:pt x="11225149" y="8654"/>
                  </a:lnTo>
                  <a:lnTo>
                    <a:pt x="11225149" y="17308"/>
                  </a:lnTo>
                  <a:lnTo>
                    <a:pt x="8509" y="17308"/>
                  </a:lnTo>
                  <a:close/>
                </a:path>
              </a:pathLst>
            </a:custGeom>
            <a:solidFill>
              <a:srgbClr val="E2E8F0">
                <a:alpha val="19608"/>
              </a:srgbClr>
            </a:solidFill>
          </p:spPr>
        </p:sp>
      </p:grpSp>
      <p:sp>
        <p:nvSpPr>
          <p:cNvPr name="TextBox 42" id="42"/>
          <p:cNvSpPr txBox="true"/>
          <p:nvPr/>
        </p:nvSpPr>
        <p:spPr>
          <a:xfrm rot="0">
            <a:off x="859536" y="3371850"/>
            <a:ext cx="7925048" cy="2000250"/>
          </a:xfrm>
          <a:prstGeom prst="rect">
            <a:avLst/>
          </a:prstGeom>
        </p:spPr>
        <p:txBody>
          <a:bodyPr anchor="t" rtlCol="false" tIns="0" lIns="0" bIns="0" rIns="0">
            <a:spAutoFit/>
          </a:bodyPr>
          <a:lstStyle/>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Thousands of Walton Plaza showrooms</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Franchise shops &amp; exclusive distributors</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Covers urban centers to rural upazilas</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Nationwide coverage across Bangladesh</a:t>
            </a:r>
          </a:p>
        </p:txBody>
      </p:sp>
      <p:sp>
        <p:nvSpPr>
          <p:cNvPr name="TextBox 43" id="43"/>
          <p:cNvSpPr txBox="true"/>
          <p:nvPr/>
        </p:nvSpPr>
        <p:spPr>
          <a:xfrm rot="0">
            <a:off x="9820656" y="3371850"/>
            <a:ext cx="7925048" cy="2000250"/>
          </a:xfrm>
          <a:prstGeom prst="rect">
            <a:avLst/>
          </a:prstGeom>
        </p:spPr>
        <p:txBody>
          <a:bodyPr anchor="t" rtlCol="false" tIns="0" lIns="0" bIns="0" rIns="0">
            <a:spAutoFit/>
          </a:bodyPr>
          <a:lstStyle/>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Own portal 'E-Plaza' + upgraded website</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Special online-exclusive offers</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Dedicated B2B &amp; B2C platforms</a:t>
            </a:r>
          </a:p>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Direct-to-consumer reach nationwide</a:t>
            </a:r>
          </a:p>
        </p:txBody>
      </p:sp>
      <p:sp>
        <p:nvSpPr>
          <p:cNvPr name="TextBox 44" id="44"/>
          <p:cNvSpPr txBox="true"/>
          <p:nvPr/>
        </p:nvSpPr>
        <p:spPr>
          <a:xfrm rot="0">
            <a:off x="9744704" y="6783381"/>
            <a:ext cx="7925048" cy="2238375"/>
          </a:xfrm>
          <a:prstGeom prst="rect">
            <a:avLst/>
          </a:prstGeom>
        </p:spPr>
        <p:txBody>
          <a:bodyPr anchor="t" rtlCol="false" tIns="0" lIns="0" bIns="0" rIns="0">
            <a:spAutoFit/>
          </a:bodyPr>
          <a:lstStyle/>
          <a:p>
            <a:pPr algn="l" marL="868680" indent="-434340" lvl="1">
              <a:lnSpc>
                <a:spcPts val="4320"/>
              </a:lnSpc>
              <a:buFont typeface="Arial"/>
              <a:buChar char="•"/>
            </a:pPr>
            <a:r>
              <a:rPr lang="en-US" sz="3600">
                <a:solidFill>
                  <a:srgbClr val="000000"/>
                </a:solidFill>
                <a:latin typeface="Calibri (MS)"/>
                <a:ea typeface="Calibri (MS)"/>
                <a:cs typeface="Calibri (MS)"/>
                <a:sym typeface="Calibri (MS)"/>
              </a:rPr>
              <a:t>Exports to 60+ countries worldwide</a:t>
            </a:r>
          </a:p>
          <a:p>
            <a:pPr algn="l" marL="868680" indent="-434340" lvl="1">
              <a:lnSpc>
                <a:spcPts val="4320"/>
              </a:lnSpc>
              <a:buFont typeface="Arial"/>
              <a:buChar char="•"/>
            </a:pPr>
            <a:r>
              <a:rPr lang="en-US" sz="3600">
                <a:solidFill>
                  <a:srgbClr val="000000"/>
                </a:solidFill>
                <a:latin typeface="Calibri (MS)"/>
                <a:ea typeface="Calibri (MS)"/>
                <a:cs typeface="Calibri (MS)"/>
                <a:sym typeface="Calibri (MS)"/>
              </a:rPr>
              <a:t>USA, UK, Germany &amp; India included</a:t>
            </a:r>
          </a:p>
          <a:p>
            <a:pPr algn="l" marL="868680" indent="-434340" lvl="1">
              <a:lnSpc>
                <a:spcPts val="4320"/>
              </a:lnSpc>
              <a:buFont typeface="Arial"/>
              <a:buChar char="•"/>
            </a:pPr>
            <a:r>
              <a:rPr lang="en-US" sz="3600">
                <a:solidFill>
                  <a:srgbClr val="000000"/>
                </a:solidFill>
                <a:latin typeface="Calibri (MS)"/>
                <a:ea typeface="Calibri (MS)"/>
                <a:cs typeface="Calibri (MS)"/>
                <a:sym typeface="Calibri (MS)"/>
              </a:rPr>
              <a:t>International sales offices</a:t>
            </a:r>
          </a:p>
          <a:p>
            <a:pPr algn="l" marL="868680" indent="-434340" lvl="1">
              <a:lnSpc>
                <a:spcPts val="4320"/>
              </a:lnSpc>
              <a:buFont typeface="Arial"/>
              <a:buChar char="•"/>
            </a:pPr>
            <a:r>
              <a:rPr lang="en-US" sz="3600">
                <a:solidFill>
                  <a:srgbClr val="000000"/>
                </a:solidFill>
                <a:latin typeface="Calibri (MS)"/>
                <a:ea typeface="Calibri (MS)"/>
                <a:cs typeface="Calibri (MS)"/>
                <a:sym typeface="Calibri (MS)"/>
              </a:rPr>
              <a:t>Global distributorships network</a:t>
            </a:r>
          </a:p>
        </p:txBody>
      </p:sp>
      <p:sp>
        <p:nvSpPr>
          <p:cNvPr name="TextBox 45" id="45"/>
          <p:cNvSpPr txBox="true"/>
          <p:nvPr/>
        </p:nvSpPr>
        <p:spPr>
          <a:xfrm rot="0">
            <a:off x="1224768" y="2512885"/>
            <a:ext cx="5379085" cy="613410"/>
          </a:xfrm>
          <a:prstGeom prst="rect">
            <a:avLst/>
          </a:prstGeom>
        </p:spPr>
        <p:txBody>
          <a:bodyPr anchor="t" rtlCol="false" tIns="0" lIns="0" bIns="0" rIns="0">
            <a:spAutoFit/>
          </a:bodyPr>
          <a:lstStyle/>
          <a:p>
            <a:pPr algn="ctr">
              <a:lnSpc>
                <a:spcPts val="5040"/>
              </a:lnSpc>
            </a:pPr>
            <a:r>
              <a:rPr lang="en-US" sz="3600" b="true">
                <a:solidFill>
                  <a:srgbClr val="000000"/>
                </a:solidFill>
                <a:latin typeface="Canva Sans Bold"/>
                <a:ea typeface="Canva Sans Bold"/>
                <a:cs typeface="Canva Sans Bold"/>
                <a:sym typeface="Canva Sans Bold"/>
              </a:rPr>
              <a:t>Physical Retail Network</a:t>
            </a:r>
            <a:r>
              <a:rPr lang="en-US" b="true" sz="3600">
                <a:solidFill>
                  <a:srgbClr val="000000"/>
                </a:solidFill>
                <a:latin typeface="Canva Sans Bold"/>
                <a:ea typeface="Canva Sans Bold"/>
                <a:cs typeface="Canva Sans Bold"/>
                <a:sym typeface="Canva Sans Bold"/>
              </a:rPr>
              <a:t> </a:t>
            </a:r>
          </a:p>
        </p:txBody>
      </p:sp>
      <p:sp>
        <p:nvSpPr>
          <p:cNvPr name="TextBox 46" id="46"/>
          <p:cNvSpPr txBox="true"/>
          <p:nvPr/>
        </p:nvSpPr>
        <p:spPr>
          <a:xfrm rot="0">
            <a:off x="731520" y="6151245"/>
            <a:ext cx="4268153" cy="613410"/>
          </a:xfrm>
          <a:prstGeom prst="rect">
            <a:avLst/>
          </a:prstGeom>
        </p:spPr>
        <p:txBody>
          <a:bodyPr anchor="t" rtlCol="false" tIns="0" lIns="0" bIns="0" rIns="0">
            <a:spAutoFit/>
          </a:bodyPr>
          <a:lstStyle/>
          <a:p>
            <a:pPr algn="ctr">
              <a:lnSpc>
                <a:spcPts val="5040"/>
              </a:lnSpc>
            </a:pPr>
            <a:r>
              <a:rPr lang="en-US" b="true" sz="3600">
                <a:solidFill>
                  <a:srgbClr val="000000"/>
                </a:solidFill>
                <a:latin typeface="Canva Sans Bold"/>
                <a:ea typeface="Canva Sans Bold"/>
                <a:cs typeface="Canva Sans Bold"/>
                <a:sym typeface="Canva Sans Bold"/>
              </a:rPr>
              <a:t>After-Sales Service</a:t>
            </a:r>
          </a:p>
        </p:txBody>
      </p:sp>
      <p:sp>
        <p:nvSpPr>
          <p:cNvPr name="TextBox 47" id="47"/>
          <p:cNvSpPr txBox="true"/>
          <p:nvPr/>
        </p:nvSpPr>
        <p:spPr>
          <a:xfrm rot="0">
            <a:off x="731520" y="6785293"/>
            <a:ext cx="8784584" cy="2842895"/>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000000"/>
                </a:solidFill>
                <a:latin typeface="Calibri (MS)"/>
                <a:ea typeface="Calibri (MS)"/>
                <a:cs typeface="Calibri (MS)"/>
                <a:sym typeface="Calibri (MS)"/>
              </a:rPr>
              <a:t>86+ ISO-certified service centers</a:t>
            </a:r>
          </a:p>
          <a:p>
            <a:pPr algn="l" marL="690881" indent="-345440" lvl="1">
              <a:lnSpc>
                <a:spcPts val="4480"/>
              </a:lnSpc>
              <a:buFont typeface="Arial"/>
              <a:buChar char="•"/>
            </a:pPr>
            <a:r>
              <a:rPr lang="en-US" sz="3200">
                <a:solidFill>
                  <a:srgbClr val="000000"/>
                </a:solidFill>
                <a:latin typeface="Calibri (MS)"/>
                <a:ea typeface="Calibri (MS)"/>
                <a:cs typeface="Calibri (MS)"/>
                <a:sym typeface="Calibri (MS)"/>
              </a:rPr>
              <a:t>Staffed by skilled engineers</a:t>
            </a:r>
          </a:p>
          <a:p>
            <a:pPr algn="l" marL="690881" indent="-345440" lvl="1">
              <a:lnSpc>
                <a:spcPts val="4480"/>
              </a:lnSpc>
              <a:buFont typeface="Arial"/>
              <a:buChar char="•"/>
            </a:pPr>
            <a:r>
              <a:rPr lang="en-US" sz="3200">
                <a:solidFill>
                  <a:srgbClr val="000000"/>
                </a:solidFill>
                <a:latin typeface="Calibri (MS)"/>
                <a:ea typeface="Calibri (MS)"/>
                <a:cs typeface="Calibri (MS)"/>
                <a:sym typeface="Calibri (MS)"/>
              </a:rPr>
              <a:t>12-year compressor warranty</a:t>
            </a:r>
          </a:p>
          <a:p>
            <a:pPr algn="l" marL="690881" indent="-345440" lvl="1">
              <a:lnSpc>
                <a:spcPts val="4480"/>
              </a:lnSpc>
              <a:buFont typeface="Arial"/>
              <a:buChar char="•"/>
            </a:pPr>
            <a:r>
              <a:rPr lang="en-US" sz="3200">
                <a:solidFill>
                  <a:srgbClr val="000000"/>
                </a:solidFill>
                <a:latin typeface="Calibri (MS)"/>
                <a:ea typeface="Calibri (MS)"/>
                <a:cs typeface="Calibri (MS)"/>
                <a:sym typeface="Calibri (MS)"/>
              </a:rPr>
              <a:t>1-year full replacement guarantee</a:t>
            </a:r>
          </a:p>
          <a:p>
            <a:pPr algn="ctr">
              <a:lnSpc>
                <a:spcPts val="448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2E8F0"/>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2037083"/>
            <a:chOff x="0" y="0"/>
            <a:chExt cx="24417871" cy="2716111"/>
          </a:xfrm>
        </p:grpSpPr>
        <p:sp>
          <p:nvSpPr>
            <p:cNvPr name="Freeform 3" id="3"/>
            <p:cNvSpPr/>
            <p:nvPr/>
          </p:nvSpPr>
          <p:spPr>
            <a:xfrm flipH="false" flipV="false" rot="0">
              <a:off x="16891" y="16891"/>
              <a:ext cx="24383999" cy="2682240"/>
            </a:xfrm>
            <a:custGeom>
              <a:avLst/>
              <a:gdLst/>
              <a:ahLst/>
              <a:cxnLst/>
              <a:rect r="r" b="b" t="t" l="l"/>
              <a:pathLst>
                <a:path h="2682240" w="24383999">
                  <a:moveTo>
                    <a:pt x="0" y="0"/>
                  </a:moveTo>
                  <a:lnTo>
                    <a:pt x="24383999" y="0"/>
                  </a:lnTo>
                  <a:lnTo>
                    <a:pt x="24383999" y="2682240"/>
                  </a:lnTo>
                  <a:lnTo>
                    <a:pt x="0" y="2682240"/>
                  </a:lnTo>
                  <a:close/>
                </a:path>
              </a:pathLst>
            </a:custGeom>
            <a:solidFill>
              <a:srgbClr val="0D1B3E"/>
            </a:solidFill>
          </p:spPr>
        </p:sp>
        <p:sp>
          <p:nvSpPr>
            <p:cNvPr name="Freeform 4" id="4"/>
            <p:cNvSpPr/>
            <p:nvPr/>
          </p:nvSpPr>
          <p:spPr>
            <a:xfrm flipH="false" flipV="false" rot="0">
              <a:off x="0" y="0"/>
              <a:ext cx="24417782" cy="2716022"/>
            </a:xfrm>
            <a:custGeom>
              <a:avLst/>
              <a:gdLst/>
              <a:ahLst/>
              <a:cxnLst/>
              <a:rect r="r" b="b" t="t" l="l"/>
              <a:pathLst>
                <a:path h="2716022" w="24417782">
                  <a:moveTo>
                    <a:pt x="16891" y="0"/>
                  </a:moveTo>
                  <a:lnTo>
                    <a:pt x="24400890" y="0"/>
                  </a:lnTo>
                  <a:cubicBezTo>
                    <a:pt x="24410290" y="0"/>
                    <a:pt x="24417782" y="7620"/>
                    <a:pt x="24417782" y="16891"/>
                  </a:cubicBezTo>
                  <a:lnTo>
                    <a:pt x="24417782" y="2699131"/>
                  </a:lnTo>
                  <a:cubicBezTo>
                    <a:pt x="24417782" y="2708529"/>
                    <a:pt x="24410163" y="2716022"/>
                    <a:pt x="24400890"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24400890" y="2682240"/>
                  </a:lnTo>
                  <a:lnTo>
                    <a:pt x="24400890" y="2699131"/>
                  </a:lnTo>
                  <a:lnTo>
                    <a:pt x="24384000" y="2699131"/>
                  </a:lnTo>
                  <a:lnTo>
                    <a:pt x="24384000" y="16891"/>
                  </a:lnTo>
                  <a:lnTo>
                    <a:pt x="24400890" y="16891"/>
                  </a:lnTo>
                  <a:lnTo>
                    <a:pt x="24400890" y="33909"/>
                  </a:lnTo>
                  <a:lnTo>
                    <a:pt x="16891" y="33909"/>
                  </a:lnTo>
                  <a:close/>
                </a:path>
              </a:pathLst>
            </a:custGeom>
            <a:solidFill>
              <a:srgbClr val="0D1B3E"/>
            </a:solidFill>
          </p:spPr>
        </p:sp>
      </p:grpSp>
      <p:grpSp>
        <p:nvGrpSpPr>
          <p:cNvPr name="Group 5" id="5"/>
          <p:cNvGrpSpPr/>
          <p:nvPr/>
        </p:nvGrpSpPr>
        <p:grpSpPr>
          <a:xfrm rot="0">
            <a:off x="0" y="1953635"/>
            <a:ext cx="18313403" cy="125987"/>
            <a:chOff x="0" y="0"/>
            <a:chExt cx="24417871" cy="167983"/>
          </a:xfrm>
        </p:grpSpPr>
        <p:sp>
          <p:nvSpPr>
            <p:cNvPr name="Freeform 6" id="6"/>
            <p:cNvSpPr/>
            <p:nvPr/>
          </p:nvSpPr>
          <p:spPr>
            <a:xfrm flipH="false" flipV="false" rot="0">
              <a:off x="16891" y="16891"/>
              <a:ext cx="24383999" cy="134112"/>
            </a:xfrm>
            <a:custGeom>
              <a:avLst/>
              <a:gdLst/>
              <a:ahLst/>
              <a:cxnLst/>
              <a:rect r="r" b="b" t="t" l="l"/>
              <a:pathLst>
                <a:path h="134112" w="24383999">
                  <a:moveTo>
                    <a:pt x="0" y="0"/>
                  </a:moveTo>
                  <a:lnTo>
                    <a:pt x="24383999" y="0"/>
                  </a:lnTo>
                  <a:lnTo>
                    <a:pt x="24383999" y="134112"/>
                  </a:lnTo>
                  <a:lnTo>
                    <a:pt x="0" y="134112"/>
                  </a:lnTo>
                  <a:close/>
                </a:path>
              </a:pathLst>
            </a:custGeom>
            <a:solidFill>
              <a:srgbClr val="A0AABB"/>
            </a:solidFill>
          </p:spPr>
        </p:sp>
        <p:sp>
          <p:nvSpPr>
            <p:cNvPr name="Freeform 7" id="7"/>
            <p:cNvSpPr/>
            <p:nvPr/>
          </p:nvSpPr>
          <p:spPr>
            <a:xfrm flipH="false" flipV="false" rot="0">
              <a:off x="0" y="0"/>
              <a:ext cx="24417782" cy="167896"/>
            </a:xfrm>
            <a:custGeom>
              <a:avLst/>
              <a:gdLst/>
              <a:ahLst/>
              <a:cxnLst/>
              <a:rect r="r" b="b" t="t" l="l"/>
              <a:pathLst>
                <a:path h="167896" w="24417782">
                  <a:moveTo>
                    <a:pt x="16891" y="0"/>
                  </a:moveTo>
                  <a:lnTo>
                    <a:pt x="24400890" y="0"/>
                  </a:lnTo>
                  <a:cubicBezTo>
                    <a:pt x="24410290" y="0"/>
                    <a:pt x="24417782" y="7620"/>
                    <a:pt x="24417782" y="16891"/>
                  </a:cubicBezTo>
                  <a:lnTo>
                    <a:pt x="24417782" y="151003"/>
                  </a:lnTo>
                  <a:cubicBezTo>
                    <a:pt x="24417782" y="160401"/>
                    <a:pt x="24410163" y="167894"/>
                    <a:pt x="24400890" y="167894"/>
                  </a:cubicBezTo>
                  <a:lnTo>
                    <a:pt x="16891" y="167894"/>
                  </a:lnTo>
                  <a:cubicBezTo>
                    <a:pt x="7620" y="168021"/>
                    <a:pt x="0" y="160401"/>
                    <a:pt x="0" y="151003"/>
                  </a:cubicBezTo>
                  <a:lnTo>
                    <a:pt x="0" y="16891"/>
                  </a:lnTo>
                  <a:cubicBezTo>
                    <a:pt x="0" y="7620"/>
                    <a:pt x="7620" y="0"/>
                    <a:pt x="16891" y="0"/>
                  </a:cubicBezTo>
                  <a:moveTo>
                    <a:pt x="16891" y="33909"/>
                  </a:moveTo>
                  <a:lnTo>
                    <a:pt x="16891" y="16891"/>
                  </a:lnTo>
                  <a:lnTo>
                    <a:pt x="33909" y="16891"/>
                  </a:lnTo>
                  <a:lnTo>
                    <a:pt x="33909" y="151003"/>
                  </a:lnTo>
                  <a:lnTo>
                    <a:pt x="16891" y="151003"/>
                  </a:lnTo>
                  <a:lnTo>
                    <a:pt x="16891" y="134112"/>
                  </a:lnTo>
                  <a:lnTo>
                    <a:pt x="24400890" y="134112"/>
                  </a:lnTo>
                  <a:lnTo>
                    <a:pt x="24400890" y="151003"/>
                  </a:lnTo>
                  <a:lnTo>
                    <a:pt x="24384000" y="151003"/>
                  </a:lnTo>
                  <a:lnTo>
                    <a:pt x="24384000" y="16891"/>
                  </a:lnTo>
                  <a:lnTo>
                    <a:pt x="24400890" y="16891"/>
                  </a:lnTo>
                  <a:lnTo>
                    <a:pt x="24400890" y="33909"/>
                  </a:lnTo>
                  <a:lnTo>
                    <a:pt x="16891" y="33909"/>
                  </a:lnTo>
                  <a:close/>
                </a:path>
              </a:pathLst>
            </a:custGeom>
            <a:solidFill>
              <a:srgbClr val="A0AABB"/>
            </a:solidFill>
          </p:spPr>
        </p:sp>
      </p:grpSp>
      <p:grpSp>
        <p:nvGrpSpPr>
          <p:cNvPr name="Group 8" id="8"/>
          <p:cNvGrpSpPr/>
          <p:nvPr/>
        </p:nvGrpSpPr>
        <p:grpSpPr>
          <a:xfrm rot="0">
            <a:off x="731520" y="329184"/>
            <a:ext cx="16824960" cy="1371600"/>
            <a:chOff x="0" y="0"/>
            <a:chExt cx="22433280" cy="1828800"/>
          </a:xfrm>
        </p:grpSpPr>
        <p:sp>
          <p:nvSpPr>
            <p:cNvPr name="Freeform 9" id="9"/>
            <p:cNvSpPr/>
            <p:nvPr/>
          </p:nvSpPr>
          <p:spPr>
            <a:xfrm flipH="false" flipV="false" rot="0">
              <a:off x="0" y="0"/>
              <a:ext cx="22433280" cy="1828800"/>
            </a:xfrm>
            <a:custGeom>
              <a:avLst/>
              <a:gdLst/>
              <a:ahLst/>
              <a:cxnLst/>
              <a:rect r="r" b="b" t="t" l="l"/>
              <a:pathLst>
                <a:path h="1828800" w="22433280">
                  <a:moveTo>
                    <a:pt x="0" y="0"/>
                  </a:moveTo>
                  <a:lnTo>
                    <a:pt x="22433280" y="0"/>
                  </a:lnTo>
                  <a:lnTo>
                    <a:pt x="22433280" y="1828800"/>
                  </a:lnTo>
                  <a:lnTo>
                    <a:pt x="0" y="1828800"/>
                  </a:lnTo>
                  <a:close/>
                </a:path>
              </a:pathLst>
            </a:custGeom>
            <a:blipFill>
              <a:blip r:embed="rId2">
                <a:alphaModFix amt="0"/>
              </a:blip>
              <a:stretch>
                <a:fillRect l="0" t="-189016" r="0" b="-189016"/>
              </a:stretch>
            </a:blipFill>
          </p:spPr>
        </p:sp>
        <p:sp>
          <p:nvSpPr>
            <p:cNvPr name="TextBox 10" id="10"/>
            <p:cNvSpPr txBox="true"/>
            <p:nvPr/>
          </p:nvSpPr>
          <p:spPr>
            <a:xfrm>
              <a:off x="0" y="-38100"/>
              <a:ext cx="22433280" cy="1866900"/>
            </a:xfrm>
            <a:prstGeom prst="rect">
              <a:avLst/>
            </a:prstGeom>
          </p:spPr>
          <p:txBody>
            <a:bodyPr anchor="ctr" rtlCol="false" tIns="0" lIns="0" bIns="0" rIns="0"/>
            <a:lstStyle/>
            <a:p>
              <a:pPr algn="l">
                <a:lnSpc>
                  <a:spcPts val="6719"/>
                </a:lnSpc>
              </a:pPr>
              <a:r>
                <a:rPr lang="en-US" sz="5599" b="true">
                  <a:solidFill>
                    <a:srgbClr val="FFFFFF"/>
                  </a:solidFill>
                  <a:latin typeface="Arial Bold"/>
                  <a:ea typeface="Arial Bold"/>
                  <a:cs typeface="Arial Bold"/>
                  <a:sym typeface="Arial Bold"/>
                </a:rPr>
                <a:t>MAJOR COMPETITORS</a:t>
              </a:r>
            </a:p>
          </p:txBody>
        </p:sp>
      </p:grpSp>
      <p:grpSp>
        <p:nvGrpSpPr>
          <p:cNvPr name="Group 11" id="11"/>
          <p:cNvGrpSpPr/>
          <p:nvPr/>
        </p:nvGrpSpPr>
        <p:grpSpPr>
          <a:xfrm rot="0">
            <a:off x="359407" y="2279647"/>
            <a:ext cx="8425177" cy="7510777"/>
            <a:chOff x="0" y="0"/>
            <a:chExt cx="11233569" cy="10014369"/>
          </a:xfrm>
        </p:grpSpPr>
        <p:sp>
          <p:nvSpPr>
            <p:cNvPr name="Freeform 12" id="12"/>
            <p:cNvSpPr/>
            <p:nvPr/>
          </p:nvSpPr>
          <p:spPr>
            <a:xfrm flipH="false" flipV="false" rot="0">
              <a:off x="8509" y="8509"/>
              <a:ext cx="11216640" cy="9997440"/>
            </a:xfrm>
            <a:custGeom>
              <a:avLst/>
              <a:gdLst/>
              <a:ahLst/>
              <a:cxnLst/>
              <a:rect r="r" b="b" t="t" l="l"/>
              <a:pathLst>
                <a:path h="9997440" w="11216640">
                  <a:moveTo>
                    <a:pt x="0" y="0"/>
                  </a:moveTo>
                  <a:lnTo>
                    <a:pt x="11216640" y="0"/>
                  </a:lnTo>
                  <a:lnTo>
                    <a:pt x="11216640" y="9997440"/>
                  </a:lnTo>
                  <a:lnTo>
                    <a:pt x="0" y="9997440"/>
                  </a:lnTo>
                  <a:close/>
                </a:path>
              </a:pathLst>
            </a:custGeom>
            <a:solidFill>
              <a:srgbClr val="FFFFFF"/>
            </a:solidFill>
          </p:spPr>
        </p:sp>
        <p:sp>
          <p:nvSpPr>
            <p:cNvPr name="Freeform 13" id="13"/>
            <p:cNvSpPr/>
            <p:nvPr/>
          </p:nvSpPr>
          <p:spPr>
            <a:xfrm flipH="false" flipV="false" rot="0">
              <a:off x="0" y="0"/>
              <a:ext cx="11233658" cy="10014458"/>
            </a:xfrm>
            <a:custGeom>
              <a:avLst/>
              <a:gdLst/>
              <a:ahLst/>
              <a:cxnLst/>
              <a:rect r="r" b="b" t="t" l="l"/>
              <a:pathLst>
                <a:path h="10014458" w="11233658">
                  <a:moveTo>
                    <a:pt x="8509" y="0"/>
                  </a:moveTo>
                  <a:lnTo>
                    <a:pt x="11225149" y="0"/>
                  </a:lnTo>
                  <a:cubicBezTo>
                    <a:pt x="11229848" y="0"/>
                    <a:pt x="11233658" y="3810"/>
                    <a:pt x="11233658" y="8509"/>
                  </a:cubicBezTo>
                  <a:lnTo>
                    <a:pt x="11233658" y="10005949"/>
                  </a:lnTo>
                  <a:cubicBezTo>
                    <a:pt x="11233658" y="10010648"/>
                    <a:pt x="11229848" y="10014458"/>
                    <a:pt x="11225149" y="10014458"/>
                  </a:cubicBezTo>
                  <a:lnTo>
                    <a:pt x="8509" y="10014458"/>
                  </a:lnTo>
                  <a:cubicBezTo>
                    <a:pt x="3810" y="10014458"/>
                    <a:pt x="0" y="10010648"/>
                    <a:pt x="0" y="10005949"/>
                  </a:cubicBezTo>
                  <a:lnTo>
                    <a:pt x="0" y="8509"/>
                  </a:lnTo>
                  <a:cubicBezTo>
                    <a:pt x="0" y="3810"/>
                    <a:pt x="3810" y="0"/>
                    <a:pt x="8509" y="0"/>
                  </a:cubicBezTo>
                  <a:moveTo>
                    <a:pt x="8509" y="16891"/>
                  </a:moveTo>
                  <a:lnTo>
                    <a:pt x="8509" y="8509"/>
                  </a:lnTo>
                  <a:lnTo>
                    <a:pt x="17018" y="8509"/>
                  </a:lnTo>
                  <a:lnTo>
                    <a:pt x="17018" y="10005949"/>
                  </a:lnTo>
                  <a:lnTo>
                    <a:pt x="8509" y="10005949"/>
                  </a:lnTo>
                  <a:lnTo>
                    <a:pt x="8509" y="9997440"/>
                  </a:lnTo>
                  <a:lnTo>
                    <a:pt x="11225149" y="9997440"/>
                  </a:lnTo>
                  <a:lnTo>
                    <a:pt x="11225149" y="10005949"/>
                  </a:lnTo>
                  <a:lnTo>
                    <a:pt x="11216640" y="10005949"/>
                  </a:lnTo>
                  <a:lnTo>
                    <a:pt x="11216640" y="8509"/>
                  </a:lnTo>
                  <a:lnTo>
                    <a:pt x="11225149" y="8509"/>
                  </a:lnTo>
                  <a:lnTo>
                    <a:pt x="11225149" y="17018"/>
                  </a:lnTo>
                  <a:lnTo>
                    <a:pt x="8509" y="17018"/>
                  </a:lnTo>
                  <a:close/>
                </a:path>
              </a:pathLst>
            </a:custGeom>
            <a:solidFill>
              <a:srgbClr val="E2E8F0"/>
            </a:solidFill>
          </p:spPr>
        </p:sp>
      </p:grpSp>
      <p:grpSp>
        <p:nvGrpSpPr>
          <p:cNvPr name="Group 14" id="14"/>
          <p:cNvGrpSpPr/>
          <p:nvPr/>
        </p:nvGrpSpPr>
        <p:grpSpPr>
          <a:xfrm rot="0">
            <a:off x="359407" y="2279647"/>
            <a:ext cx="8425177" cy="829313"/>
            <a:chOff x="0" y="0"/>
            <a:chExt cx="11233569" cy="1105751"/>
          </a:xfrm>
        </p:grpSpPr>
        <p:sp>
          <p:nvSpPr>
            <p:cNvPr name="Freeform 15" id="15"/>
            <p:cNvSpPr/>
            <p:nvPr/>
          </p:nvSpPr>
          <p:spPr>
            <a:xfrm flipH="false" flipV="false" rot="0">
              <a:off x="8509" y="7323"/>
              <a:ext cx="11216640" cy="1091182"/>
            </a:xfrm>
            <a:custGeom>
              <a:avLst/>
              <a:gdLst/>
              <a:ahLst/>
              <a:cxnLst/>
              <a:rect r="r" b="b" t="t" l="l"/>
              <a:pathLst>
                <a:path h="1091182" w="11216640">
                  <a:moveTo>
                    <a:pt x="0" y="0"/>
                  </a:moveTo>
                  <a:lnTo>
                    <a:pt x="11216640" y="0"/>
                  </a:lnTo>
                  <a:lnTo>
                    <a:pt x="11216640" y="1091182"/>
                  </a:lnTo>
                  <a:lnTo>
                    <a:pt x="0" y="1091182"/>
                  </a:lnTo>
                  <a:close/>
                </a:path>
              </a:pathLst>
            </a:custGeom>
            <a:solidFill>
              <a:srgbClr val="A0AABB"/>
            </a:solidFill>
          </p:spPr>
        </p:sp>
        <p:sp>
          <p:nvSpPr>
            <p:cNvPr name="Freeform 16" id="16"/>
            <p:cNvSpPr/>
            <p:nvPr/>
          </p:nvSpPr>
          <p:spPr>
            <a:xfrm flipH="false" flipV="false" rot="0">
              <a:off x="0" y="0"/>
              <a:ext cx="11233658" cy="1105840"/>
            </a:xfrm>
            <a:custGeom>
              <a:avLst/>
              <a:gdLst/>
              <a:ahLst/>
              <a:cxnLst/>
              <a:rect r="r" b="b" t="t" l="l"/>
              <a:pathLst>
                <a:path h="1105840" w="11233658">
                  <a:moveTo>
                    <a:pt x="8509" y="0"/>
                  </a:moveTo>
                  <a:lnTo>
                    <a:pt x="11225149" y="0"/>
                  </a:lnTo>
                  <a:cubicBezTo>
                    <a:pt x="11229848" y="0"/>
                    <a:pt x="11233658" y="3279"/>
                    <a:pt x="11233658" y="7323"/>
                  </a:cubicBezTo>
                  <a:lnTo>
                    <a:pt x="11233658" y="1098505"/>
                  </a:lnTo>
                  <a:cubicBezTo>
                    <a:pt x="11233658" y="1102549"/>
                    <a:pt x="11229848" y="1105840"/>
                    <a:pt x="11225149" y="1105840"/>
                  </a:cubicBezTo>
                  <a:lnTo>
                    <a:pt x="8509" y="1105840"/>
                  </a:lnTo>
                  <a:cubicBezTo>
                    <a:pt x="3810" y="1105840"/>
                    <a:pt x="0" y="1102549"/>
                    <a:pt x="0" y="1098505"/>
                  </a:cubicBezTo>
                  <a:lnTo>
                    <a:pt x="0" y="7323"/>
                  </a:lnTo>
                  <a:cubicBezTo>
                    <a:pt x="0" y="3279"/>
                    <a:pt x="3810" y="0"/>
                    <a:pt x="8509" y="0"/>
                  </a:cubicBezTo>
                  <a:moveTo>
                    <a:pt x="8509" y="14536"/>
                  </a:moveTo>
                  <a:lnTo>
                    <a:pt x="8509" y="7323"/>
                  </a:lnTo>
                  <a:lnTo>
                    <a:pt x="17018" y="7323"/>
                  </a:lnTo>
                  <a:lnTo>
                    <a:pt x="17018" y="1098505"/>
                  </a:lnTo>
                  <a:lnTo>
                    <a:pt x="8509" y="1098505"/>
                  </a:lnTo>
                  <a:lnTo>
                    <a:pt x="8509" y="1091182"/>
                  </a:lnTo>
                  <a:lnTo>
                    <a:pt x="11225149" y="1091182"/>
                  </a:lnTo>
                  <a:lnTo>
                    <a:pt x="11225149" y="1098505"/>
                  </a:lnTo>
                  <a:lnTo>
                    <a:pt x="11216640" y="1098505"/>
                  </a:lnTo>
                  <a:lnTo>
                    <a:pt x="11216640" y="7323"/>
                  </a:lnTo>
                  <a:lnTo>
                    <a:pt x="11225149" y="7323"/>
                  </a:lnTo>
                  <a:lnTo>
                    <a:pt x="11225149" y="14645"/>
                  </a:lnTo>
                  <a:lnTo>
                    <a:pt x="8509" y="14645"/>
                  </a:lnTo>
                  <a:close/>
                </a:path>
              </a:pathLst>
            </a:custGeom>
            <a:solidFill>
              <a:srgbClr val="FDE68A"/>
            </a:solidFill>
          </p:spPr>
        </p:sp>
      </p:grpSp>
      <p:grpSp>
        <p:nvGrpSpPr>
          <p:cNvPr name="Group 17" id="17"/>
          <p:cNvGrpSpPr/>
          <p:nvPr/>
        </p:nvGrpSpPr>
        <p:grpSpPr>
          <a:xfrm rot="0">
            <a:off x="9320527" y="2279647"/>
            <a:ext cx="8608057" cy="7510777"/>
            <a:chOff x="0" y="0"/>
            <a:chExt cx="11477409" cy="10014369"/>
          </a:xfrm>
        </p:grpSpPr>
        <p:sp>
          <p:nvSpPr>
            <p:cNvPr name="Freeform 18" id="18"/>
            <p:cNvSpPr/>
            <p:nvPr/>
          </p:nvSpPr>
          <p:spPr>
            <a:xfrm flipH="false" flipV="false" rot="0">
              <a:off x="8509" y="8509"/>
              <a:ext cx="11460480" cy="9997440"/>
            </a:xfrm>
            <a:custGeom>
              <a:avLst/>
              <a:gdLst/>
              <a:ahLst/>
              <a:cxnLst/>
              <a:rect r="r" b="b" t="t" l="l"/>
              <a:pathLst>
                <a:path h="9997440" w="11460480">
                  <a:moveTo>
                    <a:pt x="0" y="0"/>
                  </a:moveTo>
                  <a:lnTo>
                    <a:pt x="11460480" y="0"/>
                  </a:lnTo>
                  <a:lnTo>
                    <a:pt x="11460480" y="9997440"/>
                  </a:lnTo>
                  <a:lnTo>
                    <a:pt x="0" y="9997440"/>
                  </a:lnTo>
                  <a:close/>
                </a:path>
              </a:pathLst>
            </a:custGeom>
            <a:solidFill>
              <a:srgbClr val="FFFFFF"/>
            </a:solidFill>
          </p:spPr>
        </p:sp>
        <p:sp>
          <p:nvSpPr>
            <p:cNvPr name="Freeform 19" id="19"/>
            <p:cNvSpPr/>
            <p:nvPr/>
          </p:nvSpPr>
          <p:spPr>
            <a:xfrm flipH="false" flipV="false" rot="0">
              <a:off x="0" y="0"/>
              <a:ext cx="11477499" cy="10014458"/>
            </a:xfrm>
            <a:custGeom>
              <a:avLst/>
              <a:gdLst/>
              <a:ahLst/>
              <a:cxnLst/>
              <a:rect r="r" b="b" t="t" l="l"/>
              <a:pathLst>
                <a:path h="10014458" w="11477499">
                  <a:moveTo>
                    <a:pt x="8509" y="0"/>
                  </a:moveTo>
                  <a:lnTo>
                    <a:pt x="11468989" y="0"/>
                  </a:lnTo>
                  <a:cubicBezTo>
                    <a:pt x="11473688" y="0"/>
                    <a:pt x="11477499" y="3810"/>
                    <a:pt x="11477499" y="8509"/>
                  </a:cubicBezTo>
                  <a:lnTo>
                    <a:pt x="11477499" y="10005949"/>
                  </a:lnTo>
                  <a:cubicBezTo>
                    <a:pt x="11477499" y="10010648"/>
                    <a:pt x="11473688" y="10014458"/>
                    <a:pt x="11468989" y="10014458"/>
                  </a:cubicBezTo>
                  <a:lnTo>
                    <a:pt x="8509" y="10014458"/>
                  </a:lnTo>
                  <a:cubicBezTo>
                    <a:pt x="3810" y="10014458"/>
                    <a:pt x="0" y="10010648"/>
                    <a:pt x="0" y="10005949"/>
                  </a:cubicBezTo>
                  <a:lnTo>
                    <a:pt x="0" y="8509"/>
                  </a:lnTo>
                  <a:cubicBezTo>
                    <a:pt x="0" y="3810"/>
                    <a:pt x="3810" y="0"/>
                    <a:pt x="8509" y="0"/>
                  </a:cubicBezTo>
                  <a:moveTo>
                    <a:pt x="8509" y="16891"/>
                  </a:moveTo>
                  <a:lnTo>
                    <a:pt x="8509" y="8509"/>
                  </a:lnTo>
                  <a:lnTo>
                    <a:pt x="17018" y="8509"/>
                  </a:lnTo>
                  <a:lnTo>
                    <a:pt x="17018" y="10005949"/>
                  </a:lnTo>
                  <a:lnTo>
                    <a:pt x="8509" y="10005949"/>
                  </a:lnTo>
                  <a:lnTo>
                    <a:pt x="8509" y="9997440"/>
                  </a:lnTo>
                  <a:lnTo>
                    <a:pt x="11468989" y="9997440"/>
                  </a:lnTo>
                  <a:lnTo>
                    <a:pt x="11468989" y="10005949"/>
                  </a:lnTo>
                  <a:lnTo>
                    <a:pt x="11460480" y="10005949"/>
                  </a:lnTo>
                  <a:lnTo>
                    <a:pt x="11460480" y="8509"/>
                  </a:lnTo>
                  <a:lnTo>
                    <a:pt x="11468989" y="8509"/>
                  </a:lnTo>
                  <a:lnTo>
                    <a:pt x="11468989" y="17018"/>
                  </a:lnTo>
                  <a:lnTo>
                    <a:pt x="8509" y="17018"/>
                  </a:lnTo>
                  <a:close/>
                </a:path>
              </a:pathLst>
            </a:custGeom>
            <a:solidFill>
              <a:srgbClr val="E2E8F0"/>
            </a:solidFill>
          </p:spPr>
        </p:sp>
      </p:grpSp>
      <p:grpSp>
        <p:nvGrpSpPr>
          <p:cNvPr name="Group 20" id="20"/>
          <p:cNvGrpSpPr/>
          <p:nvPr/>
        </p:nvGrpSpPr>
        <p:grpSpPr>
          <a:xfrm rot="0">
            <a:off x="9320527" y="2279647"/>
            <a:ext cx="8608057" cy="963673"/>
            <a:chOff x="0" y="0"/>
            <a:chExt cx="11477409" cy="1284897"/>
          </a:xfrm>
        </p:grpSpPr>
        <p:sp>
          <p:nvSpPr>
            <p:cNvPr name="Freeform 21" id="21"/>
            <p:cNvSpPr/>
            <p:nvPr/>
          </p:nvSpPr>
          <p:spPr>
            <a:xfrm flipH="false" flipV="false" rot="0">
              <a:off x="8509" y="8509"/>
              <a:ext cx="11460480" cy="1267968"/>
            </a:xfrm>
            <a:custGeom>
              <a:avLst/>
              <a:gdLst/>
              <a:ahLst/>
              <a:cxnLst/>
              <a:rect r="r" b="b" t="t" l="l"/>
              <a:pathLst>
                <a:path h="1267968" w="11460480">
                  <a:moveTo>
                    <a:pt x="0" y="0"/>
                  </a:moveTo>
                  <a:lnTo>
                    <a:pt x="11460480" y="0"/>
                  </a:lnTo>
                  <a:lnTo>
                    <a:pt x="11460480" y="1267968"/>
                  </a:lnTo>
                  <a:lnTo>
                    <a:pt x="0" y="1267968"/>
                  </a:lnTo>
                  <a:close/>
                </a:path>
              </a:pathLst>
            </a:custGeom>
            <a:solidFill>
              <a:srgbClr val="A0AABB"/>
            </a:solidFill>
          </p:spPr>
        </p:sp>
        <p:sp>
          <p:nvSpPr>
            <p:cNvPr name="Freeform 22" id="22"/>
            <p:cNvSpPr/>
            <p:nvPr/>
          </p:nvSpPr>
          <p:spPr>
            <a:xfrm flipH="false" flipV="false" rot="0">
              <a:off x="0" y="0"/>
              <a:ext cx="11477499" cy="1284986"/>
            </a:xfrm>
            <a:custGeom>
              <a:avLst/>
              <a:gdLst/>
              <a:ahLst/>
              <a:cxnLst/>
              <a:rect r="r" b="b" t="t" l="l"/>
              <a:pathLst>
                <a:path h="1284986" w="11477499">
                  <a:moveTo>
                    <a:pt x="8509" y="0"/>
                  </a:moveTo>
                  <a:lnTo>
                    <a:pt x="11468989" y="0"/>
                  </a:lnTo>
                  <a:cubicBezTo>
                    <a:pt x="11473688" y="0"/>
                    <a:pt x="11477499" y="3810"/>
                    <a:pt x="11477499" y="8509"/>
                  </a:cubicBezTo>
                  <a:lnTo>
                    <a:pt x="11477499" y="1276477"/>
                  </a:lnTo>
                  <a:cubicBezTo>
                    <a:pt x="11477499" y="1281176"/>
                    <a:pt x="11473688" y="1284986"/>
                    <a:pt x="11468989" y="1284986"/>
                  </a:cubicBezTo>
                  <a:lnTo>
                    <a:pt x="8509" y="1284986"/>
                  </a:lnTo>
                  <a:cubicBezTo>
                    <a:pt x="3810" y="1284986"/>
                    <a:pt x="0" y="1281176"/>
                    <a:pt x="0" y="1276477"/>
                  </a:cubicBezTo>
                  <a:lnTo>
                    <a:pt x="0" y="8509"/>
                  </a:lnTo>
                  <a:cubicBezTo>
                    <a:pt x="0" y="3810"/>
                    <a:pt x="3810" y="0"/>
                    <a:pt x="8509" y="0"/>
                  </a:cubicBezTo>
                  <a:moveTo>
                    <a:pt x="8509" y="16891"/>
                  </a:moveTo>
                  <a:lnTo>
                    <a:pt x="8509" y="8509"/>
                  </a:lnTo>
                  <a:lnTo>
                    <a:pt x="17018" y="8509"/>
                  </a:lnTo>
                  <a:lnTo>
                    <a:pt x="17018" y="1276477"/>
                  </a:lnTo>
                  <a:lnTo>
                    <a:pt x="8509" y="1276477"/>
                  </a:lnTo>
                  <a:lnTo>
                    <a:pt x="8509" y="1267968"/>
                  </a:lnTo>
                  <a:lnTo>
                    <a:pt x="11468989" y="1267968"/>
                  </a:lnTo>
                  <a:lnTo>
                    <a:pt x="11468989" y="1276477"/>
                  </a:lnTo>
                  <a:lnTo>
                    <a:pt x="11460480" y="1276477"/>
                  </a:lnTo>
                  <a:lnTo>
                    <a:pt x="11460480" y="8509"/>
                  </a:lnTo>
                  <a:lnTo>
                    <a:pt x="11468989" y="8509"/>
                  </a:lnTo>
                  <a:lnTo>
                    <a:pt x="11468989" y="17018"/>
                  </a:lnTo>
                  <a:lnTo>
                    <a:pt x="8509" y="17018"/>
                  </a:lnTo>
                  <a:close/>
                </a:path>
              </a:pathLst>
            </a:custGeom>
            <a:solidFill>
              <a:srgbClr val="FECACA"/>
            </a:solidFill>
          </p:spPr>
        </p:sp>
      </p:grpSp>
      <p:grpSp>
        <p:nvGrpSpPr>
          <p:cNvPr name="Group 23" id="23"/>
          <p:cNvGrpSpPr/>
          <p:nvPr/>
        </p:nvGrpSpPr>
        <p:grpSpPr>
          <a:xfrm rot="0">
            <a:off x="359407" y="3243320"/>
            <a:ext cx="8425177" cy="2908901"/>
            <a:chOff x="0" y="0"/>
            <a:chExt cx="11233569" cy="3878535"/>
          </a:xfrm>
        </p:grpSpPr>
        <p:sp>
          <p:nvSpPr>
            <p:cNvPr name="Freeform 24" id="24"/>
            <p:cNvSpPr/>
            <p:nvPr/>
          </p:nvSpPr>
          <p:spPr>
            <a:xfrm flipH="false" flipV="false" rot="0">
              <a:off x="8509" y="3296"/>
              <a:ext cx="11216640" cy="3871978"/>
            </a:xfrm>
            <a:custGeom>
              <a:avLst/>
              <a:gdLst/>
              <a:ahLst/>
              <a:cxnLst/>
              <a:rect r="r" b="b" t="t" l="l"/>
              <a:pathLst>
                <a:path h="3871978" w="11216640">
                  <a:moveTo>
                    <a:pt x="0" y="0"/>
                  </a:moveTo>
                  <a:lnTo>
                    <a:pt x="11216640" y="0"/>
                  </a:lnTo>
                  <a:lnTo>
                    <a:pt x="11216640" y="3871978"/>
                  </a:lnTo>
                  <a:lnTo>
                    <a:pt x="0" y="3871978"/>
                  </a:lnTo>
                  <a:close/>
                </a:path>
              </a:pathLst>
            </a:custGeom>
            <a:blipFill>
              <a:blip r:embed="rId3">
                <a:alphaModFix amt="9999"/>
              </a:blip>
              <a:stretch>
                <a:fillRect l="0" t="-94843" r="0" b="-94843"/>
              </a:stretch>
            </a:blipFill>
          </p:spPr>
        </p:sp>
        <p:sp>
          <p:nvSpPr>
            <p:cNvPr name="Freeform 25" id="25"/>
            <p:cNvSpPr/>
            <p:nvPr/>
          </p:nvSpPr>
          <p:spPr>
            <a:xfrm flipH="false" flipV="false" rot="0">
              <a:off x="0" y="0"/>
              <a:ext cx="11233658" cy="3878624"/>
            </a:xfrm>
            <a:custGeom>
              <a:avLst/>
              <a:gdLst/>
              <a:ahLst/>
              <a:cxnLst/>
              <a:rect r="r" b="b" t="t" l="l"/>
              <a:pathLst>
                <a:path h="3878624" w="11233658">
                  <a:moveTo>
                    <a:pt x="8509" y="0"/>
                  </a:moveTo>
                  <a:lnTo>
                    <a:pt x="11225149" y="0"/>
                  </a:lnTo>
                  <a:cubicBezTo>
                    <a:pt x="11229848" y="0"/>
                    <a:pt x="11233658" y="1476"/>
                    <a:pt x="11233658" y="3296"/>
                  </a:cubicBezTo>
                  <a:lnTo>
                    <a:pt x="11233658" y="3875274"/>
                  </a:lnTo>
                  <a:cubicBezTo>
                    <a:pt x="11233658" y="3877094"/>
                    <a:pt x="11229848" y="3878624"/>
                    <a:pt x="11225149" y="3878624"/>
                  </a:cubicBezTo>
                  <a:lnTo>
                    <a:pt x="8509" y="3878624"/>
                  </a:lnTo>
                  <a:cubicBezTo>
                    <a:pt x="3810" y="3878624"/>
                    <a:pt x="0" y="3877094"/>
                    <a:pt x="0" y="3875274"/>
                  </a:cubicBezTo>
                  <a:lnTo>
                    <a:pt x="0" y="3296"/>
                  </a:lnTo>
                  <a:cubicBezTo>
                    <a:pt x="0" y="1476"/>
                    <a:pt x="3810" y="0"/>
                    <a:pt x="8509" y="0"/>
                  </a:cubicBezTo>
                  <a:moveTo>
                    <a:pt x="8509" y="6542"/>
                  </a:moveTo>
                  <a:lnTo>
                    <a:pt x="8509" y="3296"/>
                  </a:lnTo>
                  <a:lnTo>
                    <a:pt x="17018" y="3296"/>
                  </a:lnTo>
                  <a:lnTo>
                    <a:pt x="17018" y="3875274"/>
                  </a:lnTo>
                  <a:lnTo>
                    <a:pt x="8509" y="3875274"/>
                  </a:lnTo>
                  <a:lnTo>
                    <a:pt x="8509" y="3871978"/>
                  </a:lnTo>
                  <a:lnTo>
                    <a:pt x="11225149" y="3871978"/>
                  </a:lnTo>
                  <a:lnTo>
                    <a:pt x="11225149" y="3875274"/>
                  </a:lnTo>
                  <a:lnTo>
                    <a:pt x="11216640" y="3875274"/>
                  </a:lnTo>
                  <a:lnTo>
                    <a:pt x="11216640" y="3296"/>
                  </a:lnTo>
                  <a:lnTo>
                    <a:pt x="11225149" y="3296"/>
                  </a:lnTo>
                  <a:lnTo>
                    <a:pt x="11225149" y="6591"/>
                  </a:lnTo>
                  <a:lnTo>
                    <a:pt x="8509" y="6591"/>
                  </a:lnTo>
                  <a:close/>
                </a:path>
              </a:pathLst>
            </a:custGeom>
            <a:solidFill>
              <a:srgbClr val="E2E8F0">
                <a:alpha val="9804"/>
              </a:srgbClr>
            </a:solidFill>
          </p:spPr>
        </p:sp>
      </p:grpSp>
      <p:grpSp>
        <p:nvGrpSpPr>
          <p:cNvPr name="Group 26" id="26"/>
          <p:cNvGrpSpPr/>
          <p:nvPr/>
        </p:nvGrpSpPr>
        <p:grpSpPr>
          <a:xfrm rot="0">
            <a:off x="359407" y="6447496"/>
            <a:ext cx="8425177" cy="217600"/>
            <a:chOff x="0" y="0"/>
            <a:chExt cx="11233569" cy="290133"/>
          </a:xfrm>
        </p:grpSpPr>
        <p:sp>
          <p:nvSpPr>
            <p:cNvPr name="Freeform 27" id="27"/>
            <p:cNvSpPr/>
            <p:nvPr/>
          </p:nvSpPr>
          <p:spPr>
            <a:xfrm flipH="false" flipV="false" rot="0">
              <a:off x="8509" y="247"/>
              <a:ext cx="11216640" cy="289642"/>
            </a:xfrm>
            <a:custGeom>
              <a:avLst/>
              <a:gdLst/>
              <a:ahLst/>
              <a:cxnLst/>
              <a:rect r="r" b="b" t="t" l="l"/>
              <a:pathLst>
                <a:path h="289642" w="11216640">
                  <a:moveTo>
                    <a:pt x="0" y="0"/>
                  </a:moveTo>
                  <a:lnTo>
                    <a:pt x="11216640" y="0"/>
                  </a:lnTo>
                  <a:lnTo>
                    <a:pt x="11216640" y="289642"/>
                  </a:lnTo>
                  <a:lnTo>
                    <a:pt x="0" y="289642"/>
                  </a:lnTo>
                  <a:close/>
                </a:path>
              </a:pathLst>
            </a:custGeom>
            <a:solidFill>
              <a:srgbClr val="A0AABB"/>
            </a:solidFill>
          </p:spPr>
        </p:sp>
        <p:sp>
          <p:nvSpPr>
            <p:cNvPr name="Freeform 28" id="28"/>
            <p:cNvSpPr/>
            <p:nvPr/>
          </p:nvSpPr>
          <p:spPr>
            <a:xfrm flipH="false" flipV="false" rot="0">
              <a:off x="0" y="0"/>
              <a:ext cx="11233658" cy="290222"/>
            </a:xfrm>
            <a:custGeom>
              <a:avLst/>
              <a:gdLst/>
              <a:ahLst/>
              <a:cxnLst/>
              <a:rect r="r" b="b" t="t" l="l"/>
              <a:pathLst>
                <a:path h="290222" w="11233658">
                  <a:moveTo>
                    <a:pt x="8509" y="0"/>
                  </a:moveTo>
                  <a:lnTo>
                    <a:pt x="11225149" y="0"/>
                  </a:lnTo>
                  <a:cubicBezTo>
                    <a:pt x="11229848" y="0"/>
                    <a:pt x="11233658" y="110"/>
                    <a:pt x="11233658" y="247"/>
                  </a:cubicBezTo>
                  <a:lnTo>
                    <a:pt x="11233658" y="289889"/>
                  </a:lnTo>
                  <a:cubicBezTo>
                    <a:pt x="11233658" y="290025"/>
                    <a:pt x="11229848" y="290222"/>
                    <a:pt x="11225149" y="290222"/>
                  </a:cubicBezTo>
                  <a:lnTo>
                    <a:pt x="8509" y="290222"/>
                  </a:lnTo>
                  <a:cubicBezTo>
                    <a:pt x="3810" y="290222"/>
                    <a:pt x="0" y="290025"/>
                    <a:pt x="0" y="289889"/>
                  </a:cubicBezTo>
                  <a:lnTo>
                    <a:pt x="0" y="247"/>
                  </a:lnTo>
                  <a:cubicBezTo>
                    <a:pt x="0" y="110"/>
                    <a:pt x="3810" y="0"/>
                    <a:pt x="8509" y="0"/>
                  </a:cubicBezTo>
                  <a:moveTo>
                    <a:pt x="8509" y="489"/>
                  </a:moveTo>
                  <a:lnTo>
                    <a:pt x="8509" y="247"/>
                  </a:lnTo>
                  <a:lnTo>
                    <a:pt x="17018" y="247"/>
                  </a:lnTo>
                  <a:lnTo>
                    <a:pt x="17018" y="289889"/>
                  </a:lnTo>
                  <a:lnTo>
                    <a:pt x="8509" y="289889"/>
                  </a:lnTo>
                  <a:lnTo>
                    <a:pt x="8509" y="289642"/>
                  </a:lnTo>
                  <a:lnTo>
                    <a:pt x="11225149" y="289642"/>
                  </a:lnTo>
                  <a:lnTo>
                    <a:pt x="11225149" y="289889"/>
                  </a:lnTo>
                  <a:lnTo>
                    <a:pt x="11216640" y="289889"/>
                  </a:lnTo>
                  <a:lnTo>
                    <a:pt x="11216640" y="247"/>
                  </a:lnTo>
                  <a:lnTo>
                    <a:pt x="11225149" y="247"/>
                  </a:lnTo>
                  <a:lnTo>
                    <a:pt x="11225149" y="493"/>
                  </a:lnTo>
                  <a:lnTo>
                    <a:pt x="8509" y="493"/>
                  </a:lnTo>
                  <a:close/>
                </a:path>
              </a:pathLst>
            </a:custGeom>
            <a:solidFill>
              <a:srgbClr val="E2E8F0"/>
            </a:solidFill>
          </p:spPr>
        </p:sp>
      </p:grpSp>
      <p:grpSp>
        <p:nvGrpSpPr>
          <p:cNvPr name="Group 29" id="29"/>
          <p:cNvGrpSpPr/>
          <p:nvPr/>
        </p:nvGrpSpPr>
        <p:grpSpPr>
          <a:xfrm rot="0">
            <a:off x="548640" y="2377440"/>
            <a:ext cx="7863840" cy="731520"/>
            <a:chOff x="0" y="0"/>
            <a:chExt cx="10485120" cy="975360"/>
          </a:xfrm>
        </p:grpSpPr>
        <p:sp>
          <p:nvSpPr>
            <p:cNvPr name="Freeform 30" id="30"/>
            <p:cNvSpPr/>
            <p:nvPr/>
          </p:nvSpPr>
          <p:spPr>
            <a:xfrm flipH="false" flipV="false" rot="0">
              <a:off x="0" y="0"/>
              <a:ext cx="10485120" cy="975360"/>
            </a:xfrm>
            <a:custGeom>
              <a:avLst/>
              <a:gdLst/>
              <a:ahLst/>
              <a:cxnLst/>
              <a:rect r="r" b="b" t="t" l="l"/>
              <a:pathLst>
                <a:path h="975360" w="10485120">
                  <a:moveTo>
                    <a:pt x="0" y="0"/>
                  </a:moveTo>
                  <a:lnTo>
                    <a:pt x="10485120" y="0"/>
                  </a:lnTo>
                  <a:lnTo>
                    <a:pt x="10485120" y="975360"/>
                  </a:lnTo>
                  <a:lnTo>
                    <a:pt x="0" y="975360"/>
                  </a:lnTo>
                  <a:close/>
                </a:path>
              </a:pathLst>
            </a:custGeom>
            <a:blipFill>
              <a:blip r:embed="rId2">
                <a:alphaModFix amt="0"/>
              </a:blip>
              <a:stretch>
                <a:fillRect l="0" t="-159464" r="0" b="-159464"/>
              </a:stretch>
            </a:blipFill>
          </p:spPr>
        </p:sp>
        <p:sp>
          <p:nvSpPr>
            <p:cNvPr name="TextBox 31" id="31"/>
            <p:cNvSpPr txBox="true"/>
            <p:nvPr/>
          </p:nvSpPr>
          <p:spPr>
            <a:xfrm>
              <a:off x="0" y="-66675"/>
              <a:ext cx="10485120" cy="1042035"/>
            </a:xfrm>
            <a:prstGeom prst="rect">
              <a:avLst/>
            </a:prstGeom>
          </p:spPr>
          <p:txBody>
            <a:bodyPr anchor="ctr" rtlCol="false" tIns="0" lIns="0" bIns="0" rIns="0"/>
            <a:lstStyle/>
            <a:p>
              <a:pPr algn="l">
                <a:lnSpc>
                  <a:spcPts val="4320"/>
                </a:lnSpc>
              </a:pPr>
              <a:r>
                <a:rPr lang="en-US" sz="3600" b="true">
                  <a:solidFill>
                    <a:srgbClr val="FEFEFE"/>
                  </a:solidFill>
                  <a:latin typeface="Calibri (MS) Bold"/>
                  <a:ea typeface="Calibri (MS) Bold"/>
                  <a:cs typeface="Calibri (MS) Bold"/>
                  <a:sym typeface="Calibri (MS) Bold"/>
                </a:rPr>
                <a:t>🏭  LOCAL COMPETITORS</a:t>
              </a:r>
            </a:p>
          </p:txBody>
        </p:sp>
      </p:grpSp>
      <p:grpSp>
        <p:nvGrpSpPr>
          <p:cNvPr name="Group 32" id="32"/>
          <p:cNvGrpSpPr/>
          <p:nvPr/>
        </p:nvGrpSpPr>
        <p:grpSpPr>
          <a:xfrm rot="0">
            <a:off x="694944" y="3438144"/>
            <a:ext cx="7680960" cy="720403"/>
            <a:chOff x="0" y="0"/>
            <a:chExt cx="10241280" cy="960537"/>
          </a:xfrm>
        </p:grpSpPr>
        <p:sp>
          <p:nvSpPr>
            <p:cNvPr name="Freeform 33" id="33"/>
            <p:cNvSpPr/>
            <p:nvPr/>
          </p:nvSpPr>
          <p:spPr>
            <a:xfrm flipH="false" flipV="false" rot="0">
              <a:off x="0" y="0"/>
              <a:ext cx="10241280" cy="960537"/>
            </a:xfrm>
            <a:custGeom>
              <a:avLst/>
              <a:gdLst/>
              <a:ahLst/>
              <a:cxnLst/>
              <a:rect r="r" b="b" t="t" l="l"/>
              <a:pathLst>
                <a:path h="960537" w="10241280">
                  <a:moveTo>
                    <a:pt x="0" y="0"/>
                  </a:moveTo>
                  <a:lnTo>
                    <a:pt x="10241280" y="0"/>
                  </a:lnTo>
                  <a:lnTo>
                    <a:pt x="10241280" y="960537"/>
                  </a:lnTo>
                  <a:lnTo>
                    <a:pt x="0" y="960537"/>
                  </a:lnTo>
                  <a:close/>
                </a:path>
              </a:pathLst>
            </a:custGeom>
            <a:blipFill>
              <a:blip r:embed="rId2">
                <a:alphaModFix amt="0"/>
              </a:blip>
              <a:stretch>
                <a:fillRect l="0" t="-169671" r="0" b="-145828"/>
              </a:stretch>
            </a:blipFill>
          </p:spPr>
        </p:sp>
        <p:sp>
          <p:nvSpPr>
            <p:cNvPr name="TextBox 34" id="34"/>
            <p:cNvSpPr txBox="true"/>
            <p:nvPr/>
          </p:nvSpPr>
          <p:spPr>
            <a:xfrm>
              <a:off x="0" y="-66675"/>
              <a:ext cx="10241280" cy="1027212"/>
            </a:xfrm>
            <a:prstGeom prst="rect">
              <a:avLst/>
            </a:prstGeom>
          </p:spPr>
          <p:txBody>
            <a:bodyPr anchor="ctr" rtlCol="false" tIns="0" lIns="0" bIns="0" rIns="0"/>
            <a:lstStyle/>
            <a:p>
              <a:pPr algn="l">
                <a:lnSpc>
                  <a:spcPts val="4320"/>
                </a:lnSpc>
              </a:pPr>
              <a:r>
                <a:rPr lang="en-US" sz="3600" b="true">
                  <a:solidFill>
                    <a:srgbClr val="0D1B3E"/>
                  </a:solidFill>
                  <a:latin typeface="Calibri (MS) Bold"/>
                  <a:ea typeface="Calibri (MS) Bold"/>
                  <a:cs typeface="Calibri (MS) Bold"/>
                  <a:sym typeface="Calibri (MS) Bold"/>
                </a:rPr>
                <a:t>Superstar Group</a:t>
              </a:r>
            </a:p>
          </p:txBody>
        </p:sp>
      </p:grpSp>
      <p:grpSp>
        <p:nvGrpSpPr>
          <p:cNvPr name="Group 35" id="35"/>
          <p:cNvGrpSpPr/>
          <p:nvPr/>
        </p:nvGrpSpPr>
        <p:grpSpPr>
          <a:xfrm rot="0">
            <a:off x="731520" y="4158547"/>
            <a:ext cx="7680960" cy="643533"/>
            <a:chOff x="0" y="0"/>
            <a:chExt cx="10241280" cy="858044"/>
          </a:xfrm>
        </p:grpSpPr>
        <p:sp>
          <p:nvSpPr>
            <p:cNvPr name="Freeform 36" id="36"/>
            <p:cNvSpPr/>
            <p:nvPr/>
          </p:nvSpPr>
          <p:spPr>
            <a:xfrm flipH="false" flipV="false" rot="0">
              <a:off x="0" y="0"/>
              <a:ext cx="10241280" cy="858044"/>
            </a:xfrm>
            <a:custGeom>
              <a:avLst/>
              <a:gdLst/>
              <a:ahLst/>
              <a:cxnLst/>
              <a:rect r="r" b="b" t="t" l="l"/>
              <a:pathLst>
                <a:path h="858044" w="10241280">
                  <a:moveTo>
                    <a:pt x="0" y="0"/>
                  </a:moveTo>
                  <a:lnTo>
                    <a:pt x="10241280" y="0"/>
                  </a:lnTo>
                  <a:lnTo>
                    <a:pt x="10241280" y="858044"/>
                  </a:lnTo>
                  <a:lnTo>
                    <a:pt x="0" y="858044"/>
                  </a:lnTo>
                  <a:close/>
                </a:path>
              </a:pathLst>
            </a:custGeom>
            <a:blipFill>
              <a:blip r:embed="rId2">
                <a:alphaModFix amt="0"/>
              </a:blip>
              <a:stretch>
                <a:fillRect l="0" t="-192780" r="0" b="-172351"/>
              </a:stretch>
            </a:blipFill>
          </p:spPr>
        </p:sp>
        <p:sp>
          <p:nvSpPr>
            <p:cNvPr name="TextBox 37" id="37"/>
            <p:cNvSpPr txBox="true"/>
            <p:nvPr/>
          </p:nvSpPr>
          <p:spPr>
            <a:xfrm>
              <a:off x="0" y="-57150"/>
              <a:ext cx="10241280" cy="915194"/>
            </a:xfrm>
            <a:prstGeom prst="rect">
              <a:avLst/>
            </a:prstGeom>
          </p:spPr>
          <p:txBody>
            <a:bodyPr anchor="ctr" rtlCol="false" tIns="0" lIns="0" bIns="0" rIns="0"/>
            <a:lstStyle/>
            <a:p>
              <a:pPr algn="l" marL="772161" indent="-386080" lvl="1">
                <a:lnSpc>
                  <a:spcPts val="3840"/>
                </a:lnSpc>
                <a:buFont typeface="Arial"/>
                <a:buChar char="•"/>
              </a:pPr>
              <a:r>
                <a:rPr lang="en-US" sz="3200">
                  <a:solidFill>
                    <a:srgbClr val="475569"/>
                  </a:solidFill>
                  <a:latin typeface="Calibri (MS)"/>
                  <a:ea typeface="Calibri (MS)"/>
                  <a:cs typeface="Calibri (MS)"/>
                  <a:sym typeface="Calibri (MS)"/>
                </a:rPr>
                <a:t>29% share in electrical accessories</a:t>
              </a:r>
            </a:p>
          </p:txBody>
        </p:sp>
      </p:grpSp>
      <p:grpSp>
        <p:nvGrpSpPr>
          <p:cNvPr name="Group 38" id="38"/>
          <p:cNvGrpSpPr/>
          <p:nvPr/>
        </p:nvGrpSpPr>
        <p:grpSpPr>
          <a:xfrm rot="0">
            <a:off x="694944" y="4830342"/>
            <a:ext cx="7680960" cy="643533"/>
            <a:chOff x="0" y="0"/>
            <a:chExt cx="10241280" cy="858044"/>
          </a:xfrm>
        </p:grpSpPr>
        <p:sp>
          <p:nvSpPr>
            <p:cNvPr name="Freeform 39" id="39"/>
            <p:cNvSpPr/>
            <p:nvPr/>
          </p:nvSpPr>
          <p:spPr>
            <a:xfrm flipH="false" flipV="false" rot="0">
              <a:off x="0" y="0"/>
              <a:ext cx="10241280" cy="858044"/>
            </a:xfrm>
            <a:custGeom>
              <a:avLst/>
              <a:gdLst/>
              <a:ahLst/>
              <a:cxnLst/>
              <a:rect r="r" b="b" t="t" l="l"/>
              <a:pathLst>
                <a:path h="858044" w="10241280">
                  <a:moveTo>
                    <a:pt x="0" y="0"/>
                  </a:moveTo>
                  <a:lnTo>
                    <a:pt x="10241280" y="0"/>
                  </a:lnTo>
                  <a:lnTo>
                    <a:pt x="10241280" y="858044"/>
                  </a:lnTo>
                  <a:lnTo>
                    <a:pt x="0" y="858044"/>
                  </a:lnTo>
                  <a:close/>
                </a:path>
              </a:pathLst>
            </a:custGeom>
            <a:blipFill>
              <a:blip r:embed="rId2">
                <a:alphaModFix amt="0"/>
              </a:blip>
              <a:stretch>
                <a:fillRect l="0" t="-192780" r="0" b="-172351"/>
              </a:stretch>
            </a:blipFill>
          </p:spPr>
        </p:sp>
        <p:sp>
          <p:nvSpPr>
            <p:cNvPr name="TextBox 40" id="40"/>
            <p:cNvSpPr txBox="true"/>
            <p:nvPr/>
          </p:nvSpPr>
          <p:spPr>
            <a:xfrm>
              <a:off x="0" y="-57150"/>
              <a:ext cx="10241280" cy="915194"/>
            </a:xfrm>
            <a:prstGeom prst="rect">
              <a:avLst/>
            </a:prstGeom>
          </p:spPr>
          <p:txBody>
            <a:bodyPr anchor="ctr" rtlCol="false" tIns="0" lIns="0" bIns="0" rIns="0"/>
            <a:lstStyle/>
            <a:p>
              <a:pPr algn="l" marL="772161" indent="-386080" lvl="1">
                <a:lnSpc>
                  <a:spcPts val="3840"/>
                </a:lnSpc>
                <a:buFont typeface="Arial"/>
                <a:buChar char="•"/>
              </a:pPr>
              <a:r>
                <a:rPr lang="en-US" sz="3200">
                  <a:solidFill>
                    <a:srgbClr val="475569"/>
                  </a:solidFill>
                  <a:latin typeface="Calibri (MS)"/>
                  <a:ea typeface="Calibri (MS)"/>
                  <a:cs typeface="Calibri (MS)"/>
                  <a:sym typeface="Calibri (MS)"/>
                </a:rPr>
                <a:t>25.59% in lighting products</a:t>
              </a:r>
            </a:p>
          </p:txBody>
        </p:sp>
      </p:grpSp>
      <p:grpSp>
        <p:nvGrpSpPr>
          <p:cNvPr name="Group 41" id="41"/>
          <p:cNvGrpSpPr/>
          <p:nvPr/>
        </p:nvGrpSpPr>
        <p:grpSpPr>
          <a:xfrm rot="0">
            <a:off x="359412" y="6693670"/>
            <a:ext cx="8425177" cy="2926951"/>
            <a:chOff x="0" y="0"/>
            <a:chExt cx="11233569" cy="3902602"/>
          </a:xfrm>
        </p:grpSpPr>
        <p:sp>
          <p:nvSpPr>
            <p:cNvPr name="Freeform 42" id="42"/>
            <p:cNvSpPr/>
            <p:nvPr/>
          </p:nvSpPr>
          <p:spPr>
            <a:xfrm flipH="false" flipV="false" rot="0">
              <a:off x="8328" y="3316"/>
              <a:ext cx="11217000" cy="3896004"/>
            </a:xfrm>
            <a:custGeom>
              <a:avLst/>
              <a:gdLst/>
              <a:ahLst/>
              <a:cxnLst/>
              <a:rect r="r" b="b" t="t" l="l"/>
              <a:pathLst>
                <a:path h="3896004" w="11217000">
                  <a:moveTo>
                    <a:pt x="0" y="0"/>
                  </a:moveTo>
                  <a:lnTo>
                    <a:pt x="11217000" y="0"/>
                  </a:lnTo>
                  <a:lnTo>
                    <a:pt x="11217000" y="3896004"/>
                  </a:lnTo>
                  <a:lnTo>
                    <a:pt x="0" y="3896004"/>
                  </a:lnTo>
                  <a:close/>
                </a:path>
              </a:pathLst>
            </a:custGeom>
            <a:blipFill>
              <a:blip r:embed="rId4">
                <a:alphaModFix amt="15000"/>
              </a:blip>
              <a:stretch>
                <a:fillRect l="0" t="-32260" r="0" b="-32260"/>
              </a:stretch>
            </a:blipFill>
          </p:spPr>
        </p:sp>
        <p:sp>
          <p:nvSpPr>
            <p:cNvPr name="Freeform 43" id="43"/>
            <p:cNvSpPr/>
            <p:nvPr/>
          </p:nvSpPr>
          <p:spPr>
            <a:xfrm flipH="false" flipV="false" rot="0">
              <a:off x="0" y="0"/>
              <a:ext cx="11233658" cy="3902691"/>
            </a:xfrm>
            <a:custGeom>
              <a:avLst/>
              <a:gdLst/>
              <a:ahLst/>
              <a:cxnLst/>
              <a:rect r="r" b="b" t="t" l="l"/>
              <a:pathLst>
                <a:path h="3902691" w="11233658">
                  <a:moveTo>
                    <a:pt x="8328" y="0"/>
                  </a:moveTo>
                  <a:lnTo>
                    <a:pt x="11225328" y="0"/>
                  </a:lnTo>
                  <a:cubicBezTo>
                    <a:pt x="11229927" y="0"/>
                    <a:pt x="11233658" y="1485"/>
                    <a:pt x="11233658" y="3316"/>
                  </a:cubicBezTo>
                  <a:lnTo>
                    <a:pt x="11233658" y="3899320"/>
                  </a:lnTo>
                  <a:cubicBezTo>
                    <a:pt x="11233658" y="3901151"/>
                    <a:pt x="11229927" y="3902691"/>
                    <a:pt x="11225328" y="3902691"/>
                  </a:cubicBezTo>
                  <a:lnTo>
                    <a:pt x="8328" y="3902691"/>
                  </a:lnTo>
                  <a:cubicBezTo>
                    <a:pt x="3729" y="3902691"/>
                    <a:pt x="0" y="3901151"/>
                    <a:pt x="0" y="3899320"/>
                  </a:cubicBezTo>
                  <a:lnTo>
                    <a:pt x="0" y="3316"/>
                  </a:lnTo>
                  <a:cubicBezTo>
                    <a:pt x="0" y="1485"/>
                    <a:pt x="3729" y="0"/>
                    <a:pt x="8328" y="0"/>
                  </a:cubicBezTo>
                  <a:moveTo>
                    <a:pt x="8328" y="6582"/>
                  </a:moveTo>
                  <a:lnTo>
                    <a:pt x="8328" y="3316"/>
                  </a:lnTo>
                  <a:lnTo>
                    <a:pt x="16656" y="3316"/>
                  </a:lnTo>
                  <a:lnTo>
                    <a:pt x="16656" y="3899320"/>
                  </a:lnTo>
                  <a:lnTo>
                    <a:pt x="8328" y="3899320"/>
                  </a:lnTo>
                  <a:lnTo>
                    <a:pt x="8328" y="3896004"/>
                  </a:lnTo>
                  <a:lnTo>
                    <a:pt x="11225328" y="3896004"/>
                  </a:lnTo>
                  <a:lnTo>
                    <a:pt x="11225328" y="3899320"/>
                  </a:lnTo>
                  <a:lnTo>
                    <a:pt x="11217000" y="3899320"/>
                  </a:lnTo>
                  <a:lnTo>
                    <a:pt x="11217000" y="3316"/>
                  </a:lnTo>
                  <a:lnTo>
                    <a:pt x="11225328" y="3316"/>
                  </a:lnTo>
                  <a:lnTo>
                    <a:pt x="11225328" y="6632"/>
                  </a:lnTo>
                  <a:lnTo>
                    <a:pt x="8328" y="6632"/>
                  </a:lnTo>
                  <a:close/>
                </a:path>
              </a:pathLst>
            </a:custGeom>
            <a:solidFill>
              <a:srgbClr val="E2E8F0">
                <a:alpha val="14902"/>
              </a:srgbClr>
            </a:solidFill>
          </p:spPr>
        </p:sp>
      </p:grpSp>
      <p:grpSp>
        <p:nvGrpSpPr>
          <p:cNvPr name="Group 44" id="44"/>
          <p:cNvGrpSpPr/>
          <p:nvPr/>
        </p:nvGrpSpPr>
        <p:grpSpPr>
          <a:xfrm rot="0">
            <a:off x="9320527" y="3288368"/>
            <a:ext cx="8608057" cy="1541974"/>
            <a:chOff x="0" y="0"/>
            <a:chExt cx="11477409" cy="2055966"/>
          </a:xfrm>
        </p:grpSpPr>
        <p:sp>
          <p:nvSpPr>
            <p:cNvPr name="Freeform 45" id="45"/>
            <p:cNvSpPr/>
            <p:nvPr/>
          </p:nvSpPr>
          <p:spPr>
            <a:xfrm flipH="false" flipV="false" rot="0">
              <a:off x="8509" y="1747"/>
              <a:ext cx="11460480" cy="2052490"/>
            </a:xfrm>
            <a:custGeom>
              <a:avLst/>
              <a:gdLst/>
              <a:ahLst/>
              <a:cxnLst/>
              <a:rect r="r" b="b" t="t" l="l"/>
              <a:pathLst>
                <a:path h="2052490" w="11460480">
                  <a:moveTo>
                    <a:pt x="0" y="0"/>
                  </a:moveTo>
                  <a:lnTo>
                    <a:pt x="11460480" y="0"/>
                  </a:lnTo>
                  <a:lnTo>
                    <a:pt x="11460480" y="2052490"/>
                  </a:lnTo>
                  <a:lnTo>
                    <a:pt x="0" y="2052490"/>
                  </a:lnTo>
                  <a:close/>
                </a:path>
              </a:pathLst>
            </a:custGeom>
            <a:blipFill>
              <a:blip r:embed="rId5">
                <a:alphaModFix amt="15000"/>
              </a:blip>
              <a:stretch>
                <a:fillRect l="0" t="-42583" r="0" b="-42583"/>
              </a:stretch>
            </a:blipFill>
          </p:spPr>
        </p:sp>
        <p:sp>
          <p:nvSpPr>
            <p:cNvPr name="Freeform 46" id="46"/>
            <p:cNvSpPr/>
            <p:nvPr/>
          </p:nvSpPr>
          <p:spPr>
            <a:xfrm flipH="false" flipV="false" rot="0">
              <a:off x="0" y="0"/>
              <a:ext cx="11477499" cy="2056055"/>
            </a:xfrm>
            <a:custGeom>
              <a:avLst/>
              <a:gdLst/>
              <a:ahLst/>
              <a:cxnLst/>
              <a:rect r="r" b="b" t="t" l="l"/>
              <a:pathLst>
                <a:path h="2056055" w="11477499">
                  <a:moveTo>
                    <a:pt x="8509" y="0"/>
                  </a:moveTo>
                  <a:lnTo>
                    <a:pt x="11468989" y="0"/>
                  </a:lnTo>
                  <a:cubicBezTo>
                    <a:pt x="11473688" y="0"/>
                    <a:pt x="11477499" y="782"/>
                    <a:pt x="11477499" y="1747"/>
                  </a:cubicBezTo>
                  <a:lnTo>
                    <a:pt x="11477499" y="2054237"/>
                  </a:lnTo>
                  <a:cubicBezTo>
                    <a:pt x="11477499" y="2055202"/>
                    <a:pt x="11473688" y="2056055"/>
                    <a:pt x="11468989" y="2056055"/>
                  </a:cubicBezTo>
                  <a:lnTo>
                    <a:pt x="8509" y="2056055"/>
                  </a:lnTo>
                  <a:cubicBezTo>
                    <a:pt x="3810" y="2056055"/>
                    <a:pt x="0" y="2055202"/>
                    <a:pt x="0" y="2054237"/>
                  </a:cubicBezTo>
                  <a:lnTo>
                    <a:pt x="0" y="1747"/>
                  </a:lnTo>
                  <a:cubicBezTo>
                    <a:pt x="0" y="782"/>
                    <a:pt x="3810" y="0"/>
                    <a:pt x="8509" y="0"/>
                  </a:cubicBezTo>
                  <a:moveTo>
                    <a:pt x="8509" y="3468"/>
                  </a:moveTo>
                  <a:lnTo>
                    <a:pt x="8509" y="1747"/>
                  </a:lnTo>
                  <a:lnTo>
                    <a:pt x="17018" y="1747"/>
                  </a:lnTo>
                  <a:lnTo>
                    <a:pt x="17018" y="2054237"/>
                  </a:lnTo>
                  <a:lnTo>
                    <a:pt x="8509" y="2054237"/>
                  </a:lnTo>
                  <a:lnTo>
                    <a:pt x="8509" y="2052490"/>
                  </a:lnTo>
                  <a:lnTo>
                    <a:pt x="11468989" y="2052490"/>
                  </a:lnTo>
                  <a:lnTo>
                    <a:pt x="11468989" y="2054237"/>
                  </a:lnTo>
                  <a:lnTo>
                    <a:pt x="11460480" y="2054237"/>
                  </a:lnTo>
                  <a:lnTo>
                    <a:pt x="11460480" y="1747"/>
                  </a:lnTo>
                  <a:lnTo>
                    <a:pt x="11468989" y="1747"/>
                  </a:lnTo>
                  <a:lnTo>
                    <a:pt x="11468989" y="3494"/>
                  </a:lnTo>
                  <a:lnTo>
                    <a:pt x="8509" y="3494"/>
                  </a:lnTo>
                  <a:close/>
                </a:path>
              </a:pathLst>
            </a:custGeom>
            <a:solidFill>
              <a:srgbClr val="E2E8F0">
                <a:alpha val="14902"/>
              </a:srgbClr>
            </a:solidFill>
          </p:spPr>
        </p:sp>
      </p:grpSp>
      <p:grpSp>
        <p:nvGrpSpPr>
          <p:cNvPr name="Group 47" id="47"/>
          <p:cNvGrpSpPr/>
          <p:nvPr/>
        </p:nvGrpSpPr>
        <p:grpSpPr>
          <a:xfrm rot="0">
            <a:off x="548640" y="6798445"/>
            <a:ext cx="7680960" cy="720403"/>
            <a:chOff x="0" y="0"/>
            <a:chExt cx="10241280" cy="960537"/>
          </a:xfrm>
        </p:grpSpPr>
        <p:sp>
          <p:nvSpPr>
            <p:cNvPr name="Freeform 48" id="48"/>
            <p:cNvSpPr/>
            <p:nvPr/>
          </p:nvSpPr>
          <p:spPr>
            <a:xfrm flipH="false" flipV="false" rot="0">
              <a:off x="0" y="0"/>
              <a:ext cx="10241280" cy="960537"/>
            </a:xfrm>
            <a:custGeom>
              <a:avLst/>
              <a:gdLst/>
              <a:ahLst/>
              <a:cxnLst/>
              <a:rect r="r" b="b" t="t" l="l"/>
              <a:pathLst>
                <a:path h="960537" w="10241280">
                  <a:moveTo>
                    <a:pt x="0" y="0"/>
                  </a:moveTo>
                  <a:lnTo>
                    <a:pt x="10241280" y="0"/>
                  </a:lnTo>
                  <a:lnTo>
                    <a:pt x="10241280" y="960537"/>
                  </a:lnTo>
                  <a:lnTo>
                    <a:pt x="0" y="960537"/>
                  </a:lnTo>
                  <a:close/>
                </a:path>
              </a:pathLst>
            </a:custGeom>
            <a:blipFill>
              <a:blip r:embed="rId2">
                <a:alphaModFix amt="0"/>
              </a:blip>
              <a:stretch>
                <a:fillRect l="0" t="-169671" r="0" b="-145828"/>
              </a:stretch>
            </a:blipFill>
          </p:spPr>
        </p:sp>
        <p:sp>
          <p:nvSpPr>
            <p:cNvPr name="TextBox 49" id="49"/>
            <p:cNvSpPr txBox="true"/>
            <p:nvPr/>
          </p:nvSpPr>
          <p:spPr>
            <a:xfrm>
              <a:off x="0" y="-66675"/>
              <a:ext cx="10241280" cy="1027212"/>
            </a:xfrm>
            <a:prstGeom prst="rect">
              <a:avLst/>
            </a:prstGeom>
          </p:spPr>
          <p:txBody>
            <a:bodyPr anchor="ctr" rtlCol="false" tIns="0" lIns="0" bIns="0" rIns="0"/>
            <a:lstStyle/>
            <a:p>
              <a:pPr algn="l">
                <a:lnSpc>
                  <a:spcPts val="4320"/>
                </a:lnSpc>
              </a:pPr>
              <a:r>
                <a:rPr lang="en-US" sz="3600" b="true">
                  <a:solidFill>
                    <a:srgbClr val="0D1B3E"/>
                  </a:solidFill>
                  <a:latin typeface="Calibri (MS) Bold"/>
                  <a:ea typeface="Calibri (MS) Bold"/>
                  <a:cs typeface="Calibri (MS) Bold"/>
                  <a:sym typeface="Calibri (MS) Bold"/>
                </a:rPr>
                <a:t>Vision (Pran-RFL)</a:t>
              </a:r>
            </a:p>
          </p:txBody>
        </p:sp>
      </p:grpSp>
      <p:grpSp>
        <p:nvGrpSpPr>
          <p:cNvPr name="Group 50" id="50"/>
          <p:cNvGrpSpPr/>
          <p:nvPr/>
        </p:nvGrpSpPr>
        <p:grpSpPr>
          <a:xfrm rot="0">
            <a:off x="548640" y="7518848"/>
            <a:ext cx="7680960" cy="643533"/>
            <a:chOff x="0" y="0"/>
            <a:chExt cx="10241280" cy="858044"/>
          </a:xfrm>
        </p:grpSpPr>
        <p:sp>
          <p:nvSpPr>
            <p:cNvPr name="Freeform 51" id="51"/>
            <p:cNvSpPr/>
            <p:nvPr/>
          </p:nvSpPr>
          <p:spPr>
            <a:xfrm flipH="false" flipV="false" rot="0">
              <a:off x="0" y="0"/>
              <a:ext cx="10241280" cy="858044"/>
            </a:xfrm>
            <a:custGeom>
              <a:avLst/>
              <a:gdLst/>
              <a:ahLst/>
              <a:cxnLst/>
              <a:rect r="r" b="b" t="t" l="l"/>
              <a:pathLst>
                <a:path h="858044" w="10241280">
                  <a:moveTo>
                    <a:pt x="0" y="0"/>
                  </a:moveTo>
                  <a:lnTo>
                    <a:pt x="10241280" y="0"/>
                  </a:lnTo>
                  <a:lnTo>
                    <a:pt x="10241280" y="858044"/>
                  </a:lnTo>
                  <a:lnTo>
                    <a:pt x="0" y="858044"/>
                  </a:lnTo>
                  <a:close/>
                </a:path>
              </a:pathLst>
            </a:custGeom>
            <a:blipFill>
              <a:blip r:embed="rId2">
                <a:alphaModFix amt="0"/>
              </a:blip>
              <a:stretch>
                <a:fillRect l="0" t="-192780" r="0" b="-172351"/>
              </a:stretch>
            </a:blipFill>
          </p:spPr>
        </p:sp>
        <p:sp>
          <p:nvSpPr>
            <p:cNvPr name="TextBox 52" id="52"/>
            <p:cNvSpPr txBox="true"/>
            <p:nvPr/>
          </p:nvSpPr>
          <p:spPr>
            <a:xfrm>
              <a:off x="0" y="-57150"/>
              <a:ext cx="10241280" cy="915194"/>
            </a:xfrm>
            <a:prstGeom prst="rect">
              <a:avLst/>
            </a:prstGeom>
          </p:spPr>
          <p:txBody>
            <a:bodyPr anchor="ctr" rtlCol="false" tIns="0" lIns="0" bIns="0" rIns="0"/>
            <a:lstStyle/>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Competes in home appliances</a:t>
              </a:r>
            </a:p>
          </p:txBody>
        </p:sp>
      </p:grpSp>
      <p:grpSp>
        <p:nvGrpSpPr>
          <p:cNvPr name="Group 53" id="53"/>
          <p:cNvGrpSpPr/>
          <p:nvPr/>
        </p:nvGrpSpPr>
        <p:grpSpPr>
          <a:xfrm rot="0">
            <a:off x="548640" y="8099873"/>
            <a:ext cx="7680960" cy="643533"/>
            <a:chOff x="0" y="0"/>
            <a:chExt cx="10241280" cy="858044"/>
          </a:xfrm>
        </p:grpSpPr>
        <p:sp>
          <p:nvSpPr>
            <p:cNvPr name="Freeform 54" id="54"/>
            <p:cNvSpPr/>
            <p:nvPr/>
          </p:nvSpPr>
          <p:spPr>
            <a:xfrm flipH="false" flipV="false" rot="0">
              <a:off x="0" y="0"/>
              <a:ext cx="10241280" cy="858044"/>
            </a:xfrm>
            <a:custGeom>
              <a:avLst/>
              <a:gdLst/>
              <a:ahLst/>
              <a:cxnLst/>
              <a:rect r="r" b="b" t="t" l="l"/>
              <a:pathLst>
                <a:path h="858044" w="10241280">
                  <a:moveTo>
                    <a:pt x="0" y="0"/>
                  </a:moveTo>
                  <a:lnTo>
                    <a:pt x="10241280" y="0"/>
                  </a:lnTo>
                  <a:lnTo>
                    <a:pt x="10241280" y="858044"/>
                  </a:lnTo>
                  <a:lnTo>
                    <a:pt x="0" y="858044"/>
                  </a:lnTo>
                  <a:close/>
                </a:path>
              </a:pathLst>
            </a:custGeom>
            <a:blipFill>
              <a:blip r:embed="rId2">
                <a:alphaModFix amt="0"/>
              </a:blip>
              <a:stretch>
                <a:fillRect l="0" t="-192780" r="0" b="-172351"/>
              </a:stretch>
            </a:blipFill>
          </p:spPr>
        </p:sp>
        <p:sp>
          <p:nvSpPr>
            <p:cNvPr name="TextBox 55" id="55"/>
            <p:cNvSpPr txBox="true"/>
            <p:nvPr/>
          </p:nvSpPr>
          <p:spPr>
            <a:xfrm>
              <a:off x="0" y="-57150"/>
              <a:ext cx="10241280" cy="915194"/>
            </a:xfrm>
            <a:prstGeom prst="rect">
              <a:avLst/>
            </a:prstGeom>
          </p:spPr>
          <p:txBody>
            <a:bodyPr anchor="ctr" rtlCol="false" tIns="0" lIns="0" bIns="0" rIns="0"/>
            <a:lstStyle/>
            <a:p>
              <a:pPr algn="l" marL="772161" indent="-386080" lvl="1">
                <a:lnSpc>
                  <a:spcPts val="3840"/>
                </a:lnSpc>
                <a:buFont typeface="Arial"/>
                <a:buChar char="•"/>
              </a:pPr>
              <a:r>
                <a:rPr lang="en-US" sz="3200">
                  <a:solidFill>
                    <a:srgbClr val="000000"/>
                  </a:solidFill>
                  <a:latin typeface="Calibri (MS)"/>
                  <a:ea typeface="Calibri (MS)"/>
                  <a:cs typeface="Calibri (MS)"/>
                  <a:sym typeface="Calibri (MS)"/>
                </a:rPr>
                <a:t>Strong presence in urban markets</a:t>
              </a:r>
            </a:p>
          </p:txBody>
        </p:sp>
      </p:grpSp>
      <p:grpSp>
        <p:nvGrpSpPr>
          <p:cNvPr name="Group 56" id="56"/>
          <p:cNvGrpSpPr/>
          <p:nvPr/>
        </p:nvGrpSpPr>
        <p:grpSpPr>
          <a:xfrm rot="0">
            <a:off x="9320527" y="4802079"/>
            <a:ext cx="8608057" cy="1541974"/>
            <a:chOff x="0" y="0"/>
            <a:chExt cx="11477409" cy="2055966"/>
          </a:xfrm>
        </p:grpSpPr>
        <p:sp>
          <p:nvSpPr>
            <p:cNvPr name="Freeform 57" id="57"/>
            <p:cNvSpPr/>
            <p:nvPr/>
          </p:nvSpPr>
          <p:spPr>
            <a:xfrm flipH="false" flipV="false" rot="0">
              <a:off x="8509" y="1747"/>
              <a:ext cx="11460480" cy="2052490"/>
            </a:xfrm>
            <a:custGeom>
              <a:avLst/>
              <a:gdLst/>
              <a:ahLst/>
              <a:cxnLst/>
              <a:rect r="r" b="b" t="t" l="l"/>
              <a:pathLst>
                <a:path h="2052490" w="11460480">
                  <a:moveTo>
                    <a:pt x="0" y="0"/>
                  </a:moveTo>
                  <a:lnTo>
                    <a:pt x="11460480" y="0"/>
                  </a:lnTo>
                  <a:lnTo>
                    <a:pt x="11460480" y="2052490"/>
                  </a:lnTo>
                  <a:lnTo>
                    <a:pt x="0" y="2052490"/>
                  </a:lnTo>
                  <a:close/>
                </a:path>
              </a:pathLst>
            </a:custGeom>
            <a:blipFill>
              <a:blip r:embed="rId6">
                <a:alphaModFix amt="15000"/>
              </a:blip>
              <a:stretch>
                <a:fillRect l="0" t="-229184" r="0" b="-229184"/>
              </a:stretch>
            </a:blipFill>
          </p:spPr>
        </p:sp>
        <p:sp>
          <p:nvSpPr>
            <p:cNvPr name="Freeform 58" id="58"/>
            <p:cNvSpPr/>
            <p:nvPr/>
          </p:nvSpPr>
          <p:spPr>
            <a:xfrm flipH="false" flipV="false" rot="0">
              <a:off x="0" y="0"/>
              <a:ext cx="11477499" cy="2056055"/>
            </a:xfrm>
            <a:custGeom>
              <a:avLst/>
              <a:gdLst/>
              <a:ahLst/>
              <a:cxnLst/>
              <a:rect r="r" b="b" t="t" l="l"/>
              <a:pathLst>
                <a:path h="2056055" w="11477499">
                  <a:moveTo>
                    <a:pt x="8509" y="0"/>
                  </a:moveTo>
                  <a:lnTo>
                    <a:pt x="11468989" y="0"/>
                  </a:lnTo>
                  <a:cubicBezTo>
                    <a:pt x="11473688" y="0"/>
                    <a:pt x="11477499" y="782"/>
                    <a:pt x="11477499" y="1747"/>
                  </a:cubicBezTo>
                  <a:lnTo>
                    <a:pt x="11477499" y="2054237"/>
                  </a:lnTo>
                  <a:cubicBezTo>
                    <a:pt x="11477499" y="2055202"/>
                    <a:pt x="11473688" y="2056055"/>
                    <a:pt x="11468989" y="2056055"/>
                  </a:cubicBezTo>
                  <a:lnTo>
                    <a:pt x="8509" y="2056055"/>
                  </a:lnTo>
                  <a:cubicBezTo>
                    <a:pt x="3810" y="2056055"/>
                    <a:pt x="0" y="2055202"/>
                    <a:pt x="0" y="2054237"/>
                  </a:cubicBezTo>
                  <a:lnTo>
                    <a:pt x="0" y="1747"/>
                  </a:lnTo>
                  <a:cubicBezTo>
                    <a:pt x="0" y="782"/>
                    <a:pt x="3810" y="0"/>
                    <a:pt x="8509" y="0"/>
                  </a:cubicBezTo>
                  <a:moveTo>
                    <a:pt x="8509" y="3468"/>
                  </a:moveTo>
                  <a:lnTo>
                    <a:pt x="8509" y="1747"/>
                  </a:lnTo>
                  <a:lnTo>
                    <a:pt x="17018" y="1747"/>
                  </a:lnTo>
                  <a:lnTo>
                    <a:pt x="17018" y="2054237"/>
                  </a:lnTo>
                  <a:lnTo>
                    <a:pt x="8509" y="2054237"/>
                  </a:lnTo>
                  <a:lnTo>
                    <a:pt x="8509" y="2052490"/>
                  </a:lnTo>
                  <a:lnTo>
                    <a:pt x="11468989" y="2052490"/>
                  </a:lnTo>
                  <a:lnTo>
                    <a:pt x="11468989" y="2054237"/>
                  </a:lnTo>
                  <a:lnTo>
                    <a:pt x="11460480" y="2054237"/>
                  </a:lnTo>
                  <a:lnTo>
                    <a:pt x="11460480" y="1747"/>
                  </a:lnTo>
                  <a:lnTo>
                    <a:pt x="11468989" y="1747"/>
                  </a:lnTo>
                  <a:lnTo>
                    <a:pt x="11468989" y="3494"/>
                  </a:lnTo>
                  <a:lnTo>
                    <a:pt x="8509" y="3494"/>
                  </a:lnTo>
                  <a:close/>
                </a:path>
              </a:pathLst>
            </a:custGeom>
            <a:solidFill>
              <a:srgbClr val="E2E8F0">
                <a:alpha val="14902"/>
              </a:srgbClr>
            </a:solidFill>
          </p:spPr>
        </p:sp>
      </p:grpSp>
      <p:grpSp>
        <p:nvGrpSpPr>
          <p:cNvPr name="Group 59" id="59"/>
          <p:cNvGrpSpPr/>
          <p:nvPr/>
        </p:nvGrpSpPr>
        <p:grpSpPr>
          <a:xfrm rot="0">
            <a:off x="9320527" y="6706475"/>
            <a:ext cx="8608057" cy="1541974"/>
            <a:chOff x="0" y="0"/>
            <a:chExt cx="11477409" cy="2055966"/>
          </a:xfrm>
        </p:grpSpPr>
        <p:sp>
          <p:nvSpPr>
            <p:cNvPr name="Freeform 60" id="60"/>
            <p:cNvSpPr/>
            <p:nvPr/>
          </p:nvSpPr>
          <p:spPr>
            <a:xfrm flipH="false" flipV="false" rot="0">
              <a:off x="8509" y="1747"/>
              <a:ext cx="11460480" cy="2052490"/>
            </a:xfrm>
            <a:custGeom>
              <a:avLst/>
              <a:gdLst/>
              <a:ahLst/>
              <a:cxnLst/>
              <a:rect r="r" b="b" t="t" l="l"/>
              <a:pathLst>
                <a:path h="2052490" w="11460480">
                  <a:moveTo>
                    <a:pt x="0" y="0"/>
                  </a:moveTo>
                  <a:lnTo>
                    <a:pt x="11460480" y="0"/>
                  </a:lnTo>
                  <a:lnTo>
                    <a:pt x="11460480" y="2052490"/>
                  </a:lnTo>
                  <a:lnTo>
                    <a:pt x="0" y="2052490"/>
                  </a:lnTo>
                  <a:close/>
                </a:path>
              </a:pathLst>
            </a:custGeom>
            <a:blipFill>
              <a:blip r:embed="rId7">
                <a:alphaModFix amt="9999"/>
              </a:blip>
              <a:stretch>
                <a:fillRect l="0" t="-229184" r="0" b="-229184"/>
              </a:stretch>
            </a:blipFill>
          </p:spPr>
        </p:sp>
        <p:sp>
          <p:nvSpPr>
            <p:cNvPr name="Freeform 61" id="61"/>
            <p:cNvSpPr/>
            <p:nvPr/>
          </p:nvSpPr>
          <p:spPr>
            <a:xfrm flipH="false" flipV="false" rot="0">
              <a:off x="0" y="0"/>
              <a:ext cx="11477499" cy="2056055"/>
            </a:xfrm>
            <a:custGeom>
              <a:avLst/>
              <a:gdLst/>
              <a:ahLst/>
              <a:cxnLst/>
              <a:rect r="r" b="b" t="t" l="l"/>
              <a:pathLst>
                <a:path h="2056055" w="11477499">
                  <a:moveTo>
                    <a:pt x="8509" y="0"/>
                  </a:moveTo>
                  <a:lnTo>
                    <a:pt x="11468989" y="0"/>
                  </a:lnTo>
                  <a:cubicBezTo>
                    <a:pt x="11473688" y="0"/>
                    <a:pt x="11477499" y="782"/>
                    <a:pt x="11477499" y="1747"/>
                  </a:cubicBezTo>
                  <a:lnTo>
                    <a:pt x="11477499" y="2054237"/>
                  </a:lnTo>
                  <a:cubicBezTo>
                    <a:pt x="11477499" y="2055202"/>
                    <a:pt x="11473688" y="2056055"/>
                    <a:pt x="11468989" y="2056055"/>
                  </a:cubicBezTo>
                  <a:lnTo>
                    <a:pt x="8509" y="2056055"/>
                  </a:lnTo>
                  <a:cubicBezTo>
                    <a:pt x="3810" y="2056055"/>
                    <a:pt x="0" y="2055202"/>
                    <a:pt x="0" y="2054237"/>
                  </a:cubicBezTo>
                  <a:lnTo>
                    <a:pt x="0" y="1747"/>
                  </a:lnTo>
                  <a:cubicBezTo>
                    <a:pt x="0" y="782"/>
                    <a:pt x="3810" y="0"/>
                    <a:pt x="8509" y="0"/>
                  </a:cubicBezTo>
                  <a:moveTo>
                    <a:pt x="8509" y="3468"/>
                  </a:moveTo>
                  <a:lnTo>
                    <a:pt x="8509" y="1747"/>
                  </a:lnTo>
                  <a:lnTo>
                    <a:pt x="17018" y="1747"/>
                  </a:lnTo>
                  <a:lnTo>
                    <a:pt x="17018" y="2054237"/>
                  </a:lnTo>
                  <a:lnTo>
                    <a:pt x="8509" y="2054237"/>
                  </a:lnTo>
                  <a:lnTo>
                    <a:pt x="8509" y="2052490"/>
                  </a:lnTo>
                  <a:lnTo>
                    <a:pt x="11468989" y="2052490"/>
                  </a:lnTo>
                  <a:lnTo>
                    <a:pt x="11468989" y="2054237"/>
                  </a:lnTo>
                  <a:lnTo>
                    <a:pt x="11460480" y="2054237"/>
                  </a:lnTo>
                  <a:lnTo>
                    <a:pt x="11460480" y="1747"/>
                  </a:lnTo>
                  <a:lnTo>
                    <a:pt x="11468989" y="1747"/>
                  </a:lnTo>
                  <a:lnTo>
                    <a:pt x="11468989" y="3494"/>
                  </a:lnTo>
                  <a:lnTo>
                    <a:pt x="8509" y="3494"/>
                  </a:lnTo>
                  <a:close/>
                </a:path>
              </a:pathLst>
            </a:custGeom>
            <a:solidFill>
              <a:srgbClr val="E2E8F0">
                <a:alpha val="9804"/>
              </a:srgbClr>
            </a:solidFill>
          </p:spPr>
        </p:sp>
      </p:grpSp>
      <p:grpSp>
        <p:nvGrpSpPr>
          <p:cNvPr name="Group 62" id="62"/>
          <p:cNvGrpSpPr/>
          <p:nvPr/>
        </p:nvGrpSpPr>
        <p:grpSpPr>
          <a:xfrm rot="0">
            <a:off x="9433431" y="8248449"/>
            <a:ext cx="8608057" cy="1541974"/>
            <a:chOff x="0" y="0"/>
            <a:chExt cx="11477409" cy="2055966"/>
          </a:xfrm>
        </p:grpSpPr>
        <p:sp>
          <p:nvSpPr>
            <p:cNvPr name="Freeform 63" id="63"/>
            <p:cNvSpPr/>
            <p:nvPr/>
          </p:nvSpPr>
          <p:spPr>
            <a:xfrm flipH="false" flipV="false" rot="0">
              <a:off x="8509" y="1747"/>
              <a:ext cx="11460480" cy="2052490"/>
            </a:xfrm>
            <a:custGeom>
              <a:avLst/>
              <a:gdLst/>
              <a:ahLst/>
              <a:cxnLst/>
              <a:rect r="r" b="b" t="t" l="l"/>
              <a:pathLst>
                <a:path h="2052490" w="11460480">
                  <a:moveTo>
                    <a:pt x="0" y="0"/>
                  </a:moveTo>
                  <a:lnTo>
                    <a:pt x="11460480" y="0"/>
                  </a:lnTo>
                  <a:lnTo>
                    <a:pt x="11460480" y="2052490"/>
                  </a:lnTo>
                  <a:lnTo>
                    <a:pt x="0" y="2052490"/>
                  </a:lnTo>
                  <a:close/>
                </a:path>
              </a:pathLst>
            </a:custGeom>
            <a:blipFill>
              <a:blip r:embed="rId8">
                <a:alphaModFix amt="9999"/>
              </a:blip>
              <a:stretch>
                <a:fillRect l="0" t="-106866" r="0" b="-106866"/>
              </a:stretch>
            </a:blipFill>
          </p:spPr>
        </p:sp>
        <p:sp>
          <p:nvSpPr>
            <p:cNvPr name="Freeform 64" id="64"/>
            <p:cNvSpPr/>
            <p:nvPr/>
          </p:nvSpPr>
          <p:spPr>
            <a:xfrm flipH="false" flipV="false" rot="0">
              <a:off x="0" y="0"/>
              <a:ext cx="11477499" cy="2056055"/>
            </a:xfrm>
            <a:custGeom>
              <a:avLst/>
              <a:gdLst/>
              <a:ahLst/>
              <a:cxnLst/>
              <a:rect r="r" b="b" t="t" l="l"/>
              <a:pathLst>
                <a:path h="2056055" w="11477499">
                  <a:moveTo>
                    <a:pt x="8509" y="0"/>
                  </a:moveTo>
                  <a:lnTo>
                    <a:pt x="11468989" y="0"/>
                  </a:lnTo>
                  <a:cubicBezTo>
                    <a:pt x="11473688" y="0"/>
                    <a:pt x="11477499" y="782"/>
                    <a:pt x="11477499" y="1747"/>
                  </a:cubicBezTo>
                  <a:lnTo>
                    <a:pt x="11477499" y="2054237"/>
                  </a:lnTo>
                  <a:cubicBezTo>
                    <a:pt x="11477499" y="2055202"/>
                    <a:pt x="11473688" y="2056055"/>
                    <a:pt x="11468989" y="2056055"/>
                  </a:cubicBezTo>
                  <a:lnTo>
                    <a:pt x="8509" y="2056055"/>
                  </a:lnTo>
                  <a:cubicBezTo>
                    <a:pt x="3810" y="2056055"/>
                    <a:pt x="0" y="2055202"/>
                    <a:pt x="0" y="2054237"/>
                  </a:cubicBezTo>
                  <a:lnTo>
                    <a:pt x="0" y="1747"/>
                  </a:lnTo>
                  <a:cubicBezTo>
                    <a:pt x="0" y="782"/>
                    <a:pt x="3810" y="0"/>
                    <a:pt x="8509" y="0"/>
                  </a:cubicBezTo>
                  <a:moveTo>
                    <a:pt x="8509" y="3468"/>
                  </a:moveTo>
                  <a:lnTo>
                    <a:pt x="8509" y="1747"/>
                  </a:lnTo>
                  <a:lnTo>
                    <a:pt x="17018" y="1747"/>
                  </a:lnTo>
                  <a:lnTo>
                    <a:pt x="17018" y="2054237"/>
                  </a:lnTo>
                  <a:lnTo>
                    <a:pt x="8509" y="2054237"/>
                  </a:lnTo>
                  <a:lnTo>
                    <a:pt x="8509" y="2052490"/>
                  </a:lnTo>
                  <a:lnTo>
                    <a:pt x="11468989" y="2052490"/>
                  </a:lnTo>
                  <a:lnTo>
                    <a:pt x="11468989" y="2054237"/>
                  </a:lnTo>
                  <a:lnTo>
                    <a:pt x="11460480" y="2054237"/>
                  </a:lnTo>
                  <a:lnTo>
                    <a:pt x="11460480" y="1747"/>
                  </a:lnTo>
                  <a:lnTo>
                    <a:pt x="11468989" y="1747"/>
                  </a:lnTo>
                  <a:lnTo>
                    <a:pt x="11468989" y="3494"/>
                  </a:lnTo>
                  <a:lnTo>
                    <a:pt x="8509" y="3494"/>
                  </a:lnTo>
                  <a:close/>
                </a:path>
              </a:pathLst>
            </a:custGeom>
            <a:solidFill>
              <a:srgbClr val="E2E8F0">
                <a:alpha val="9804"/>
              </a:srgbClr>
            </a:solidFill>
          </p:spPr>
        </p:sp>
      </p:grpSp>
      <p:grpSp>
        <p:nvGrpSpPr>
          <p:cNvPr name="Group 65" id="65"/>
          <p:cNvGrpSpPr/>
          <p:nvPr/>
        </p:nvGrpSpPr>
        <p:grpSpPr>
          <a:xfrm rot="0">
            <a:off x="9546336" y="2377440"/>
            <a:ext cx="8046720" cy="731520"/>
            <a:chOff x="0" y="0"/>
            <a:chExt cx="10728960" cy="975360"/>
          </a:xfrm>
        </p:grpSpPr>
        <p:sp>
          <p:nvSpPr>
            <p:cNvPr name="Freeform 66" id="66"/>
            <p:cNvSpPr/>
            <p:nvPr/>
          </p:nvSpPr>
          <p:spPr>
            <a:xfrm flipH="false" flipV="false" rot="0">
              <a:off x="0" y="0"/>
              <a:ext cx="10728960" cy="975360"/>
            </a:xfrm>
            <a:custGeom>
              <a:avLst/>
              <a:gdLst/>
              <a:ahLst/>
              <a:cxnLst/>
              <a:rect r="r" b="b" t="t" l="l"/>
              <a:pathLst>
                <a:path h="975360" w="10728960">
                  <a:moveTo>
                    <a:pt x="0" y="0"/>
                  </a:moveTo>
                  <a:lnTo>
                    <a:pt x="10728960" y="0"/>
                  </a:lnTo>
                  <a:lnTo>
                    <a:pt x="10728960" y="975360"/>
                  </a:lnTo>
                  <a:lnTo>
                    <a:pt x="0" y="975360"/>
                  </a:lnTo>
                  <a:close/>
                </a:path>
              </a:pathLst>
            </a:custGeom>
            <a:blipFill>
              <a:blip r:embed="rId2">
                <a:alphaModFix amt="0"/>
              </a:blip>
              <a:stretch>
                <a:fillRect l="0" t="-164335" r="0" b="-164335"/>
              </a:stretch>
            </a:blipFill>
          </p:spPr>
        </p:sp>
        <p:sp>
          <p:nvSpPr>
            <p:cNvPr name="TextBox 67" id="67"/>
            <p:cNvSpPr txBox="true"/>
            <p:nvPr/>
          </p:nvSpPr>
          <p:spPr>
            <a:xfrm>
              <a:off x="0" y="-66675"/>
              <a:ext cx="10728960" cy="1042035"/>
            </a:xfrm>
            <a:prstGeom prst="rect">
              <a:avLst/>
            </a:prstGeom>
          </p:spPr>
          <p:txBody>
            <a:bodyPr anchor="ctr" rtlCol="false" tIns="0" lIns="0" bIns="0" rIns="0"/>
            <a:lstStyle/>
            <a:p>
              <a:pPr algn="l">
                <a:lnSpc>
                  <a:spcPts val="4320"/>
                </a:lnSpc>
              </a:pPr>
              <a:r>
                <a:rPr lang="en-US" b="true" sz="3600">
                  <a:solidFill>
                    <a:srgbClr val="FFFFFF"/>
                  </a:solidFill>
                  <a:latin typeface="Calibri (MS) Bold"/>
                  <a:ea typeface="Calibri (MS) Bold"/>
                  <a:cs typeface="Calibri (MS) Bold"/>
                  <a:sym typeface="Calibri (MS) Bold"/>
                </a:rPr>
                <a:t>🌍  GLOBAL COMPETITORS</a:t>
              </a:r>
            </a:p>
          </p:txBody>
        </p:sp>
      </p:grpSp>
      <p:grpSp>
        <p:nvGrpSpPr>
          <p:cNvPr name="Group 68" id="68"/>
          <p:cNvGrpSpPr/>
          <p:nvPr/>
        </p:nvGrpSpPr>
        <p:grpSpPr>
          <a:xfrm rot="0">
            <a:off x="9433431" y="4054237"/>
            <a:ext cx="8382248" cy="643533"/>
            <a:chOff x="0" y="0"/>
            <a:chExt cx="11176330" cy="858044"/>
          </a:xfrm>
        </p:grpSpPr>
        <p:sp>
          <p:nvSpPr>
            <p:cNvPr name="Freeform 69" id="69"/>
            <p:cNvSpPr/>
            <p:nvPr/>
          </p:nvSpPr>
          <p:spPr>
            <a:xfrm flipH="false" flipV="false" rot="0">
              <a:off x="0" y="0"/>
              <a:ext cx="11176330" cy="858044"/>
            </a:xfrm>
            <a:custGeom>
              <a:avLst/>
              <a:gdLst/>
              <a:ahLst/>
              <a:cxnLst/>
              <a:rect r="r" b="b" t="t" l="l"/>
              <a:pathLst>
                <a:path h="858044" w="11176330">
                  <a:moveTo>
                    <a:pt x="0" y="0"/>
                  </a:moveTo>
                  <a:lnTo>
                    <a:pt x="11176330" y="0"/>
                  </a:lnTo>
                  <a:lnTo>
                    <a:pt x="11176330" y="858044"/>
                  </a:lnTo>
                  <a:lnTo>
                    <a:pt x="0" y="858044"/>
                  </a:lnTo>
                  <a:close/>
                </a:path>
              </a:pathLst>
            </a:custGeom>
            <a:blipFill>
              <a:blip r:embed="rId2">
                <a:alphaModFix amt="0"/>
              </a:blip>
              <a:stretch>
                <a:fillRect l="0" t="-137407" r="30183" b="-116978"/>
              </a:stretch>
            </a:blipFill>
          </p:spPr>
        </p:sp>
        <p:sp>
          <p:nvSpPr>
            <p:cNvPr name="TextBox 70" id="70"/>
            <p:cNvSpPr txBox="true"/>
            <p:nvPr/>
          </p:nvSpPr>
          <p:spPr>
            <a:xfrm>
              <a:off x="0" y="-57150"/>
              <a:ext cx="11176330" cy="915194"/>
            </a:xfrm>
            <a:prstGeom prst="rect">
              <a:avLst/>
            </a:prstGeom>
          </p:spPr>
          <p:txBody>
            <a:bodyPr anchor="ctr" rtlCol="false" tIns="0" lIns="0" bIns="0" rIns="0"/>
            <a:lstStyle/>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Strong global brand equity &amp; advanced R&amp;D</a:t>
              </a:r>
            </a:p>
          </p:txBody>
        </p:sp>
      </p:grpSp>
      <p:grpSp>
        <p:nvGrpSpPr>
          <p:cNvPr name="Group 71" id="71"/>
          <p:cNvGrpSpPr/>
          <p:nvPr/>
        </p:nvGrpSpPr>
        <p:grpSpPr>
          <a:xfrm rot="0">
            <a:off x="9546336" y="3438144"/>
            <a:ext cx="1920240" cy="720403"/>
            <a:chOff x="0" y="0"/>
            <a:chExt cx="2560320" cy="960537"/>
          </a:xfrm>
        </p:grpSpPr>
        <p:sp>
          <p:nvSpPr>
            <p:cNvPr name="Freeform 72" id="72"/>
            <p:cNvSpPr/>
            <p:nvPr/>
          </p:nvSpPr>
          <p:spPr>
            <a:xfrm flipH="false" flipV="false" rot="0">
              <a:off x="0" y="0"/>
              <a:ext cx="2560320" cy="960537"/>
            </a:xfrm>
            <a:custGeom>
              <a:avLst/>
              <a:gdLst/>
              <a:ahLst/>
              <a:cxnLst/>
              <a:rect r="r" b="b" t="t" l="l"/>
              <a:pathLst>
                <a:path h="960537" w="2560320">
                  <a:moveTo>
                    <a:pt x="0" y="0"/>
                  </a:moveTo>
                  <a:lnTo>
                    <a:pt x="2560320" y="0"/>
                  </a:lnTo>
                  <a:lnTo>
                    <a:pt x="2560320" y="960537"/>
                  </a:lnTo>
                  <a:lnTo>
                    <a:pt x="0" y="960537"/>
                  </a:lnTo>
                  <a:close/>
                </a:path>
              </a:pathLst>
            </a:custGeom>
            <a:blipFill>
              <a:blip r:embed="rId2">
                <a:alphaModFix amt="0"/>
              </a:blip>
              <a:stretch>
                <a:fillRect l="0" t="-16397" r="0" b="12522"/>
              </a:stretch>
            </a:blipFill>
          </p:spPr>
        </p:sp>
        <p:sp>
          <p:nvSpPr>
            <p:cNvPr name="TextBox 73" id="73"/>
            <p:cNvSpPr txBox="true"/>
            <p:nvPr/>
          </p:nvSpPr>
          <p:spPr>
            <a:xfrm>
              <a:off x="0" y="-66675"/>
              <a:ext cx="2560320" cy="1027212"/>
            </a:xfrm>
            <a:prstGeom prst="rect">
              <a:avLst/>
            </a:prstGeom>
          </p:spPr>
          <p:txBody>
            <a:bodyPr anchor="ctr" rtlCol="false" tIns="0" lIns="0" bIns="0" rIns="0"/>
            <a:lstStyle/>
            <a:p>
              <a:pPr algn="ctr">
                <a:lnSpc>
                  <a:spcPts val="4320"/>
                </a:lnSpc>
              </a:pPr>
              <a:r>
                <a:rPr lang="en-US" b="true" sz="3600">
                  <a:solidFill>
                    <a:srgbClr val="000000"/>
                  </a:solidFill>
                  <a:latin typeface="Calibri (MS) Bold"/>
                  <a:ea typeface="Calibri (MS) Bold"/>
                  <a:cs typeface="Calibri (MS) Bold"/>
                  <a:sym typeface="Calibri (MS) Bold"/>
                </a:rPr>
                <a:t>Samsung</a:t>
              </a:r>
            </a:p>
          </p:txBody>
        </p:sp>
      </p:grpSp>
      <p:grpSp>
        <p:nvGrpSpPr>
          <p:cNvPr name="Group 74" id="74"/>
          <p:cNvGrpSpPr/>
          <p:nvPr/>
        </p:nvGrpSpPr>
        <p:grpSpPr>
          <a:xfrm rot="0">
            <a:off x="9413299" y="5411367"/>
            <a:ext cx="8648321" cy="1129308"/>
            <a:chOff x="0" y="0"/>
            <a:chExt cx="11531095" cy="1505744"/>
          </a:xfrm>
        </p:grpSpPr>
        <p:sp>
          <p:nvSpPr>
            <p:cNvPr name="Freeform 75" id="75"/>
            <p:cNvSpPr/>
            <p:nvPr/>
          </p:nvSpPr>
          <p:spPr>
            <a:xfrm flipH="false" flipV="false" rot="0">
              <a:off x="0" y="0"/>
              <a:ext cx="11531095" cy="1505744"/>
            </a:xfrm>
            <a:custGeom>
              <a:avLst/>
              <a:gdLst/>
              <a:ahLst/>
              <a:cxnLst/>
              <a:rect r="r" b="b" t="t" l="l"/>
              <a:pathLst>
                <a:path h="1505744" w="11531095">
                  <a:moveTo>
                    <a:pt x="0" y="0"/>
                  </a:moveTo>
                  <a:lnTo>
                    <a:pt x="11531095" y="0"/>
                  </a:lnTo>
                  <a:lnTo>
                    <a:pt x="11531095" y="1505744"/>
                  </a:lnTo>
                  <a:lnTo>
                    <a:pt x="0" y="1505744"/>
                  </a:lnTo>
                  <a:close/>
                </a:path>
              </a:pathLst>
            </a:custGeom>
            <a:blipFill>
              <a:blip r:embed="rId2">
                <a:alphaModFix amt="0"/>
              </a:blip>
              <a:stretch>
                <a:fillRect l="0" t="-78301" r="32331" b="-23644"/>
              </a:stretch>
            </a:blipFill>
          </p:spPr>
        </p:sp>
        <p:sp>
          <p:nvSpPr>
            <p:cNvPr name="TextBox 76" id="76"/>
            <p:cNvSpPr txBox="true"/>
            <p:nvPr/>
          </p:nvSpPr>
          <p:spPr>
            <a:xfrm>
              <a:off x="0" y="-57150"/>
              <a:ext cx="11531095" cy="1562894"/>
            </a:xfrm>
            <a:prstGeom prst="rect">
              <a:avLst/>
            </a:prstGeom>
          </p:spPr>
          <p:txBody>
            <a:bodyPr anchor="ctr" rtlCol="false" tIns="0" lIns="0" bIns="0" rIns="0"/>
            <a:lstStyle/>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Premium home appliances with global distribution</a:t>
              </a:r>
            </a:p>
          </p:txBody>
        </p:sp>
      </p:grpSp>
      <p:grpSp>
        <p:nvGrpSpPr>
          <p:cNvPr name="Group 77" id="77"/>
          <p:cNvGrpSpPr/>
          <p:nvPr/>
        </p:nvGrpSpPr>
        <p:grpSpPr>
          <a:xfrm rot="0">
            <a:off x="8969643" y="4891931"/>
            <a:ext cx="1920240" cy="720403"/>
            <a:chOff x="0" y="0"/>
            <a:chExt cx="2560320" cy="960537"/>
          </a:xfrm>
        </p:grpSpPr>
        <p:sp>
          <p:nvSpPr>
            <p:cNvPr name="Freeform 78" id="78"/>
            <p:cNvSpPr/>
            <p:nvPr/>
          </p:nvSpPr>
          <p:spPr>
            <a:xfrm flipH="false" flipV="false" rot="0">
              <a:off x="0" y="0"/>
              <a:ext cx="2560320" cy="960537"/>
            </a:xfrm>
            <a:custGeom>
              <a:avLst/>
              <a:gdLst/>
              <a:ahLst/>
              <a:cxnLst/>
              <a:rect r="r" b="b" t="t" l="l"/>
              <a:pathLst>
                <a:path h="960537" w="2560320">
                  <a:moveTo>
                    <a:pt x="0" y="0"/>
                  </a:moveTo>
                  <a:lnTo>
                    <a:pt x="2560320" y="0"/>
                  </a:lnTo>
                  <a:lnTo>
                    <a:pt x="2560320" y="960537"/>
                  </a:lnTo>
                  <a:lnTo>
                    <a:pt x="0" y="960537"/>
                  </a:lnTo>
                  <a:close/>
                </a:path>
              </a:pathLst>
            </a:custGeom>
            <a:blipFill>
              <a:blip r:embed="rId2">
                <a:alphaModFix amt="0"/>
              </a:blip>
              <a:stretch>
                <a:fillRect l="0" t="-16397" r="0" b="12522"/>
              </a:stretch>
            </a:blipFill>
          </p:spPr>
        </p:sp>
        <p:sp>
          <p:nvSpPr>
            <p:cNvPr name="TextBox 79" id="79"/>
            <p:cNvSpPr txBox="true"/>
            <p:nvPr/>
          </p:nvSpPr>
          <p:spPr>
            <a:xfrm>
              <a:off x="0" y="-66675"/>
              <a:ext cx="2560320" cy="1027212"/>
            </a:xfrm>
            <a:prstGeom prst="rect">
              <a:avLst/>
            </a:prstGeom>
          </p:spPr>
          <p:txBody>
            <a:bodyPr anchor="ctr" rtlCol="false" tIns="0" lIns="0" bIns="0" rIns="0"/>
            <a:lstStyle/>
            <a:p>
              <a:pPr algn="ctr">
                <a:lnSpc>
                  <a:spcPts val="4320"/>
                </a:lnSpc>
              </a:pPr>
              <a:r>
                <a:rPr lang="en-US" b="true" sz="3600">
                  <a:solidFill>
                    <a:srgbClr val="000000"/>
                  </a:solidFill>
                  <a:latin typeface="Calibri (MS) Bold"/>
                  <a:ea typeface="Calibri (MS) Bold"/>
                  <a:cs typeface="Calibri (MS) Bold"/>
                  <a:sym typeface="Calibri (MS) Bold"/>
                </a:rPr>
                <a:t>LG</a:t>
              </a:r>
            </a:p>
          </p:txBody>
        </p:sp>
      </p:grpSp>
      <p:grpSp>
        <p:nvGrpSpPr>
          <p:cNvPr name="Group 80" id="80"/>
          <p:cNvGrpSpPr/>
          <p:nvPr/>
        </p:nvGrpSpPr>
        <p:grpSpPr>
          <a:xfrm rot="0">
            <a:off x="9320527" y="7337268"/>
            <a:ext cx="8019172" cy="819878"/>
            <a:chOff x="0" y="0"/>
            <a:chExt cx="10692229" cy="1093170"/>
          </a:xfrm>
        </p:grpSpPr>
        <p:sp>
          <p:nvSpPr>
            <p:cNvPr name="Freeform 81" id="81"/>
            <p:cNvSpPr/>
            <p:nvPr/>
          </p:nvSpPr>
          <p:spPr>
            <a:xfrm flipH="false" flipV="false" rot="0">
              <a:off x="0" y="0"/>
              <a:ext cx="10692229" cy="1093170"/>
            </a:xfrm>
            <a:custGeom>
              <a:avLst/>
              <a:gdLst/>
              <a:ahLst/>
              <a:cxnLst/>
              <a:rect r="r" b="b" t="t" l="l"/>
              <a:pathLst>
                <a:path h="1093170" w="10692229">
                  <a:moveTo>
                    <a:pt x="0" y="0"/>
                  </a:moveTo>
                  <a:lnTo>
                    <a:pt x="10692229" y="0"/>
                  </a:lnTo>
                  <a:lnTo>
                    <a:pt x="10692229" y="1093170"/>
                  </a:lnTo>
                  <a:lnTo>
                    <a:pt x="0" y="1093170"/>
                  </a:lnTo>
                  <a:close/>
                </a:path>
              </a:pathLst>
            </a:custGeom>
            <a:blipFill>
              <a:blip r:embed="rId2">
                <a:alphaModFix amt="0"/>
              </a:blip>
              <a:stretch>
                <a:fillRect l="0" t="-107853" r="27022" b="-70309"/>
              </a:stretch>
            </a:blipFill>
          </p:spPr>
        </p:sp>
        <p:sp>
          <p:nvSpPr>
            <p:cNvPr name="TextBox 82" id="82"/>
            <p:cNvSpPr txBox="true"/>
            <p:nvPr/>
          </p:nvSpPr>
          <p:spPr>
            <a:xfrm>
              <a:off x="0" y="-57150"/>
              <a:ext cx="10692229" cy="1150320"/>
            </a:xfrm>
            <a:prstGeom prst="rect">
              <a:avLst/>
            </a:prstGeom>
          </p:spPr>
          <p:txBody>
            <a:bodyPr anchor="ctr" rtlCol="false" tIns="0" lIns="0" bIns="0" rIns="0"/>
            <a:lstStyle/>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Established trust in electronics worldwide</a:t>
              </a:r>
            </a:p>
          </p:txBody>
        </p:sp>
      </p:grpSp>
      <p:grpSp>
        <p:nvGrpSpPr>
          <p:cNvPr name="Group 83" id="83"/>
          <p:cNvGrpSpPr/>
          <p:nvPr/>
        </p:nvGrpSpPr>
        <p:grpSpPr>
          <a:xfrm rot="0">
            <a:off x="9546336" y="6746595"/>
            <a:ext cx="1920240" cy="720403"/>
            <a:chOff x="0" y="0"/>
            <a:chExt cx="2560320" cy="960537"/>
          </a:xfrm>
        </p:grpSpPr>
        <p:sp>
          <p:nvSpPr>
            <p:cNvPr name="Freeform 84" id="84"/>
            <p:cNvSpPr/>
            <p:nvPr/>
          </p:nvSpPr>
          <p:spPr>
            <a:xfrm flipH="false" flipV="false" rot="0">
              <a:off x="0" y="0"/>
              <a:ext cx="2560320" cy="960537"/>
            </a:xfrm>
            <a:custGeom>
              <a:avLst/>
              <a:gdLst/>
              <a:ahLst/>
              <a:cxnLst/>
              <a:rect r="r" b="b" t="t" l="l"/>
              <a:pathLst>
                <a:path h="960537" w="2560320">
                  <a:moveTo>
                    <a:pt x="0" y="0"/>
                  </a:moveTo>
                  <a:lnTo>
                    <a:pt x="2560320" y="0"/>
                  </a:lnTo>
                  <a:lnTo>
                    <a:pt x="2560320" y="960537"/>
                  </a:lnTo>
                  <a:lnTo>
                    <a:pt x="0" y="960537"/>
                  </a:lnTo>
                  <a:close/>
                </a:path>
              </a:pathLst>
            </a:custGeom>
            <a:blipFill>
              <a:blip r:embed="rId2">
                <a:alphaModFix amt="0"/>
              </a:blip>
              <a:stretch>
                <a:fillRect l="0" t="-16397" r="0" b="12522"/>
              </a:stretch>
            </a:blipFill>
          </p:spPr>
        </p:sp>
        <p:sp>
          <p:nvSpPr>
            <p:cNvPr name="TextBox 85" id="85"/>
            <p:cNvSpPr txBox="true"/>
            <p:nvPr/>
          </p:nvSpPr>
          <p:spPr>
            <a:xfrm>
              <a:off x="0" y="-66675"/>
              <a:ext cx="2560320" cy="1027212"/>
            </a:xfrm>
            <a:prstGeom prst="rect">
              <a:avLst/>
            </a:prstGeom>
          </p:spPr>
          <p:txBody>
            <a:bodyPr anchor="ctr" rtlCol="false" tIns="0" lIns="0" bIns="0" rIns="0"/>
            <a:lstStyle/>
            <a:p>
              <a:pPr algn="ctr">
                <a:lnSpc>
                  <a:spcPts val="4320"/>
                </a:lnSpc>
              </a:pPr>
              <a:r>
                <a:rPr lang="en-US" b="true" sz="3600">
                  <a:solidFill>
                    <a:srgbClr val="000000"/>
                  </a:solidFill>
                  <a:latin typeface="Calibri (MS) Bold"/>
                  <a:ea typeface="Calibri (MS) Bold"/>
                  <a:cs typeface="Calibri (MS) Bold"/>
                  <a:sym typeface="Calibri (MS) Bold"/>
                </a:rPr>
                <a:t>Panasonic</a:t>
              </a:r>
            </a:p>
          </p:txBody>
        </p:sp>
      </p:grpSp>
      <p:grpSp>
        <p:nvGrpSpPr>
          <p:cNvPr name="Group 86" id="86"/>
          <p:cNvGrpSpPr/>
          <p:nvPr/>
        </p:nvGrpSpPr>
        <p:grpSpPr>
          <a:xfrm rot="0">
            <a:off x="9320527" y="8936534"/>
            <a:ext cx="9065315" cy="643533"/>
            <a:chOff x="0" y="0"/>
            <a:chExt cx="12087087" cy="858044"/>
          </a:xfrm>
        </p:grpSpPr>
        <p:sp>
          <p:nvSpPr>
            <p:cNvPr name="Freeform 87" id="87"/>
            <p:cNvSpPr/>
            <p:nvPr/>
          </p:nvSpPr>
          <p:spPr>
            <a:xfrm flipH="false" flipV="false" rot="0">
              <a:off x="0" y="0"/>
              <a:ext cx="12087087" cy="858044"/>
            </a:xfrm>
            <a:custGeom>
              <a:avLst/>
              <a:gdLst/>
              <a:ahLst/>
              <a:cxnLst/>
              <a:rect r="r" b="b" t="t" l="l"/>
              <a:pathLst>
                <a:path h="858044" w="12087087">
                  <a:moveTo>
                    <a:pt x="0" y="0"/>
                  </a:moveTo>
                  <a:lnTo>
                    <a:pt x="12087087" y="0"/>
                  </a:lnTo>
                  <a:lnTo>
                    <a:pt x="12087087" y="858044"/>
                  </a:lnTo>
                  <a:lnTo>
                    <a:pt x="0" y="858044"/>
                  </a:lnTo>
                  <a:close/>
                </a:path>
              </a:pathLst>
            </a:custGeom>
            <a:blipFill>
              <a:blip r:embed="rId2">
                <a:alphaModFix amt="0"/>
              </a:blip>
              <a:stretch>
                <a:fillRect l="0" t="-137407" r="35444" b="-116978"/>
              </a:stretch>
            </a:blipFill>
          </p:spPr>
        </p:sp>
        <p:sp>
          <p:nvSpPr>
            <p:cNvPr name="TextBox 88" id="88"/>
            <p:cNvSpPr txBox="true"/>
            <p:nvPr/>
          </p:nvSpPr>
          <p:spPr>
            <a:xfrm>
              <a:off x="0" y="-57150"/>
              <a:ext cx="12087087" cy="915194"/>
            </a:xfrm>
            <a:prstGeom prst="rect">
              <a:avLst/>
            </a:prstGeom>
          </p:spPr>
          <p:txBody>
            <a:bodyPr anchor="ctr" rtlCol="false" tIns="0" lIns="0" bIns="0" rIns="0"/>
            <a:lstStyle/>
            <a:p>
              <a:pPr algn="l" marL="690881" indent="-345440" lvl="1">
                <a:lnSpc>
                  <a:spcPts val="3840"/>
                </a:lnSpc>
                <a:buFont typeface="Arial"/>
                <a:buChar char="•"/>
              </a:pPr>
              <a:r>
                <a:rPr lang="en-US" sz="3200">
                  <a:solidFill>
                    <a:srgbClr val="000000"/>
                  </a:solidFill>
                  <a:latin typeface="Calibri (MS)"/>
                  <a:ea typeface="Calibri (MS)"/>
                  <a:cs typeface="Calibri (MS)"/>
                  <a:sym typeface="Calibri (MS)"/>
                </a:rPr>
                <a:t>International presence in consumer electronics</a:t>
              </a:r>
            </a:p>
          </p:txBody>
        </p:sp>
      </p:grpSp>
      <p:grpSp>
        <p:nvGrpSpPr>
          <p:cNvPr name="Group 89" id="89"/>
          <p:cNvGrpSpPr/>
          <p:nvPr/>
        </p:nvGrpSpPr>
        <p:grpSpPr>
          <a:xfrm rot="0">
            <a:off x="9156702" y="8157146"/>
            <a:ext cx="1920240" cy="720403"/>
            <a:chOff x="0" y="0"/>
            <a:chExt cx="2560320" cy="960537"/>
          </a:xfrm>
        </p:grpSpPr>
        <p:sp>
          <p:nvSpPr>
            <p:cNvPr name="Freeform 90" id="90"/>
            <p:cNvSpPr/>
            <p:nvPr/>
          </p:nvSpPr>
          <p:spPr>
            <a:xfrm flipH="false" flipV="false" rot="0">
              <a:off x="0" y="0"/>
              <a:ext cx="2560320" cy="960537"/>
            </a:xfrm>
            <a:custGeom>
              <a:avLst/>
              <a:gdLst/>
              <a:ahLst/>
              <a:cxnLst/>
              <a:rect r="r" b="b" t="t" l="l"/>
              <a:pathLst>
                <a:path h="960537" w="2560320">
                  <a:moveTo>
                    <a:pt x="0" y="0"/>
                  </a:moveTo>
                  <a:lnTo>
                    <a:pt x="2560320" y="0"/>
                  </a:lnTo>
                  <a:lnTo>
                    <a:pt x="2560320" y="960537"/>
                  </a:lnTo>
                  <a:lnTo>
                    <a:pt x="0" y="960537"/>
                  </a:lnTo>
                  <a:close/>
                </a:path>
              </a:pathLst>
            </a:custGeom>
            <a:blipFill>
              <a:blip r:embed="rId2">
                <a:alphaModFix amt="0"/>
              </a:blip>
              <a:stretch>
                <a:fillRect l="0" t="-16397" r="0" b="12522"/>
              </a:stretch>
            </a:blipFill>
          </p:spPr>
        </p:sp>
        <p:sp>
          <p:nvSpPr>
            <p:cNvPr name="TextBox 91" id="91"/>
            <p:cNvSpPr txBox="true"/>
            <p:nvPr/>
          </p:nvSpPr>
          <p:spPr>
            <a:xfrm>
              <a:off x="0" y="-66675"/>
              <a:ext cx="2560320" cy="1027212"/>
            </a:xfrm>
            <a:prstGeom prst="rect">
              <a:avLst/>
            </a:prstGeom>
          </p:spPr>
          <p:txBody>
            <a:bodyPr anchor="ctr" rtlCol="false" tIns="0" lIns="0" bIns="0" rIns="0"/>
            <a:lstStyle/>
            <a:p>
              <a:pPr algn="ctr">
                <a:lnSpc>
                  <a:spcPts val="4320"/>
                </a:lnSpc>
              </a:pPr>
              <a:r>
                <a:rPr lang="en-US" b="true" sz="3600">
                  <a:solidFill>
                    <a:srgbClr val="000000"/>
                  </a:solidFill>
                  <a:latin typeface="Calibri (MS) Bold"/>
                  <a:ea typeface="Calibri (MS) Bold"/>
                  <a:cs typeface="Calibri (MS) Bold"/>
                  <a:sym typeface="Calibri (MS) Bold"/>
                </a:rPr>
                <a:t>Philips</a:t>
              </a: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0" y="0"/>
            <a:ext cx="18297725" cy="1441304"/>
            <a:chOff x="0" y="0"/>
            <a:chExt cx="24396967" cy="1921739"/>
          </a:xfrm>
        </p:grpSpPr>
        <p:sp>
          <p:nvSpPr>
            <p:cNvPr name="Freeform 3" id="3"/>
            <p:cNvSpPr/>
            <p:nvPr/>
          </p:nvSpPr>
          <p:spPr>
            <a:xfrm flipH="false" flipV="false" rot="0">
              <a:off x="0" y="0"/>
              <a:ext cx="24396954" cy="1921764"/>
            </a:xfrm>
            <a:custGeom>
              <a:avLst/>
              <a:gdLst/>
              <a:ahLst/>
              <a:cxnLst/>
              <a:rect r="r" b="b" t="t" l="l"/>
              <a:pathLst>
                <a:path h="1921764" w="24396954">
                  <a:moveTo>
                    <a:pt x="0" y="0"/>
                  </a:moveTo>
                  <a:lnTo>
                    <a:pt x="24396954" y="0"/>
                  </a:lnTo>
                  <a:lnTo>
                    <a:pt x="24396954" y="1921764"/>
                  </a:lnTo>
                  <a:lnTo>
                    <a:pt x="0" y="1921764"/>
                  </a:lnTo>
                  <a:close/>
                </a:path>
              </a:pathLst>
            </a:custGeom>
            <a:solidFill>
              <a:srgbClr val="CC0000"/>
            </a:solidFill>
          </p:spPr>
        </p:sp>
      </p:grpSp>
      <p:sp>
        <p:nvSpPr>
          <p:cNvPr name="TextBox 4" id="4"/>
          <p:cNvSpPr txBox="true"/>
          <p:nvPr/>
        </p:nvSpPr>
        <p:spPr>
          <a:xfrm rot="0">
            <a:off x="777773" y="165897"/>
            <a:ext cx="16289188" cy="723900"/>
          </a:xfrm>
          <a:prstGeom prst="rect">
            <a:avLst/>
          </a:prstGeom>
        </p:spPr>
        <p:txBody>
          <a:bodyPr anchor="t" rtlCol="false" tIns="0" lIns="0" bIns="0" rIns="0">
            <a:spAutoFit/>
          </a:bodyPr>
          <a:lstStyle/>
          <a:p>
            <a:pPr algn="l">
              <a:lnSpc>
                <a:spcPts val="5043"/>
              </a:lnSpc>
            </a:pPr>
            <a:r>
              <a:rPr lang="en-US" sz="4203" b="true">
                <a:solidFill>
                  <a:srgbClr val="FFFFFF"/>
                </a:solidFill>
                <a:latin typeface="Calibri (MS) Bold"/>
                <a:ea typeface="Calibri (MS) Bold"/>
                <a:cs typeface="Calibri (MS) Bold"/>
                <a:sym typeface="Calibri (MS) Bold"/>
              </a:rPr>
              <a:t>Strategic Analysis</a:t>
            </a:r>
          </a:p>
        </p:txBody>
      </p:sp>
      <p:sp>
        <p:nvSpPr>
          <p:cNvPr name="TextBox 5" id="5"/>
          <p:cNvSpPr txBox="true"/>
          <p:nvPr/>
        </p:nvSpPr>
        <p:spPr>
          <a:xfrm rot="0">
            <a:off x="777773" y="931516"/>
            <a:ext cx="16289188" cy="342900"/>
          </a:xfrm>
          <a:prstGeom prst="rect">
            <a:avLst/>
          </a:prstGeom>
        </p:spPr>
        <p:txBody>
          <a:bodyPr anchor="t" rtlCol="false" tIns="0" lIns="0" bIns="0" rIns="0">
            <a:spAutoFit/>
          </a:bodyPr>
          <a:lstStyle/>
          <a:p>
            <a:pPr algn="l">
              <a:lnSpc>
                <a:spcPts val="2341"/>
              </a:lnSpc>
            </a:pPr>
            <a:r>
              <a:rPr lang="en-US" sz="1951">
                <a:solidFill>
                  <a:srgbClr val="FFCCCC"/>
                </a:solidFill>
                <a:latin typeface="Calibri (MS)"/>
                <a:ea typeface="Calibri (MS)"/>
                <a:cs typeface="Calibri (MS)"/>
                <a:sym typeface="Calibri (MS)"/>
              </a:rPr>
              <a:t>Ansoff Matrix</a:t>
            </a:r>
          </a:p>
        </p:txBody>
      </p:sp>
      <p:grpSp>
        <p:nvGrpSpPr>
          <p:cNvPr name="Group 6" id="6"/>
          <p:cNvGrpSpPr/>
          <p:nvPr/>
        </p:nvGrpSpPr>
        <p:grpSpPr>
          <a:xfrm rot="0">
            <a:off x="334874" y="1938657"/>
            <a:ext cx="17618252" cy="3436297"/>
            <a:chOff x="0" y="0"/>
            <a:chExt cx="23491003" cy="4581729"/>
          </a:xfrm>
        </p:grpSpPr>
        <p:sp>
          <p:nvSpPr>
            <p:cNvPr name="Freeform 7" id="7"/>
            <p:cNvSpPr/>
            <p:nvPr/>
          </p:nvSpPr>
          <p:spPr>
            <a:xfrm flipH="false" flipV="false" rot="0">
              <a:off x="0" y="0"/>
              <a:ext cx="23491028" cy="4581729"/>
            </a:xfrm>
            <a:custGeom>
              <a:avLst/>
              <a:gdLst/>
              <a:ahLst/>
              <a:cxnLst/>
              <a:rect r="r" b="b" t="t" l="l"/>
              <a:pathLst>
                <a:path h="4581729" w="23491028">
                  <a:moveTo>
                    <a:pt x="0" y="0"/>
                  </a:moveTo>
                  <a:lnTo>
                    <a:pt x="23491028" y="0"/>
                  </a:lnTo>
                  <a:lnTo>
                    <a:pt x="23491028" y="4581729"/>
                  </a:lnTo>
                  <a:lnTo>
                    <a:pt x="0" y="4581729"/>
                  </a:lnTo>
                  <a:close/>
                </a:path>
              </a:pathLst>
            </a:custGeom>
            <a:solidFill>
              <a:srgbClr val="440000"/>
            </a:solidFill>
          </p:spPr>
        </p:sp>
      </p:grpSp>
      <p:grpSp>
        <p:nvGrpSpPr>
          <p:cNvPr name="Group 8" id="8"/>
          <p:cNvGrpSpPr/>
          <p:nvPr/>
        </p:nvGrpSpPr>
        <p:grpSpPr>
          <a:xfrm rot="0">
            <a:off x="334874" y="5981585"/>
            <a:ext cx="17618252" cy="3426955"/>
            <a:chOff x="0" y="0"/>
            <a:chExt cx="23491003" cy="4569274"/>
          </a:xfrm>
        </p:grpSpPr>
        <p:sp>
          <p:nvSpPr>
            <p:cNvPr name="Freeform 9" id="9"/>
            <p:cNvSpPr/>
            <p:nvPr/>
          </p:nvSpPr>
          <p:spPr>
            <a:xfrm flipH="false" flipV="false" rot="0">
              <a:off x="0" y="0"/>
              <a:ext cx="23491028" cy="4569274"/>
            </a:xfrm>
            <a:custGeom>
              <a:avLst/>
              <a:gdLst/>
              <a:ahLst/>
              <a:cxnLst/>
              <a:rect r="r" b="b" t="t" l="l"/>
              <a:pathLst>
                <a:path h="4569274" w="23491028">
                  <a:moveTo>
                    <a:pt x="0" y="0"/>
                  </a:moveTo>
                  <a:lnTo>
                    <a:pt x="23491028" y="0"/>
                  </a:lnTo>
                  <a:lnTo>
                    <a:pt x="23491028" y="4569274"/>
                  </a:lnTo>
                  <a:lnTo>
                    <a:pt x="0" y="4569274"/>
                  </a:lnTo>
                  <a:close/>
                </a:path>
              </a:pathLst>
            </a:custGeom>
            <a:solidFill>
              <a:srgbClr val="660000"/>
            </a:solidFill>
          </p:spPr>
        </p:sp>
      </p:grpSp>
      <p:sp>
        <p:nvSpPr>
          <p:cNvPr name="TextBox 10" id="10"/>
          <p:cNvSpPr txBox="true"/>
          <p:nvPr/>
        </p:nvSpPr>
        <p:spPr>
          <a:xfrm rot="0">
            <a:off x="4997767" y="2916123"/>
            <a:ext cx="11835931" cy="3047365"/>
          </a:xfrm>
          <a:prstGeom prst="rect">
            <a:avLst/>
          </a:prstGeom>
        </p:spPr>
        <p:txBody>
          <a:bodyPr anchor="t" rtlCol="false" tIns="0" lIns="0" bIns="0" rIns="0">
            <a:spAutoFit/>
          </a:bodyPr>
          <a:lstStyle/>
          <a:p>
            <a:pPr algn="l">
              <a:lnSpc>
                <a:spcPts val="4759"/>
              </a:lnSpc>
            </a:pPr>
            <a:r>
              <a:rPr lang="en-US" sz="3399">
                <a:solidFill>
                  <a:srgbClr val="FFFFFF"/>
                </a:solidFill>
                <a:latin typeface="Calibri (MS)"/>
                <a:ea typeface="Calibri (MS)"/>
                <a:cs typeface="Calibri (MS)"/>
                <a:sym typeface="Calibri (MS)"/>
              </a:rPr>
              <a:t>• 25,000+ sales points across Bangladesh</a:t>
            </a:r>
          </a:p>
          <a:p>
            <a:pPr algn="l">
              <a:lnSpc>
                <a:spcPts val="4759"/>
              </a:lnSpc>
            </a:pPr>
            <a:r>
              <a:rPr lang="en-US" sz="3399">
                <a:solidFill>
                  <a:srgbClr val="FFFFFF"/>
                </a:solidFill>
                <a:latin typeface="Calibri (MS)"/>
                <a:ea typeface="Calibri (MS)"/>
                <a:cs typeface="Calibri (MS)"/>
                <a:sym typeface="Calibri (MS)"/>
              </a:rPr>
              <a:t>• 700+ Walton Plaza showrooms</a:t>
            </a:r>
          </a:p>
          <a:p>
            <a:pPr algn="l">
              <a:lnSpc>
                <a:spcPts val="4759"/>
              </a:lnSpc>
            </a:pPr>
            <a:r>
              <a:rPr lang="en-US" sz="3399">
                <a:solidFill>
                  <a:srgbClr val="FFFFFF"/>
                </a:solidFill>
                <a:latin typeface="Calibri (MS)"/>
                <a:ea typeface="Calibri (MS)"/>
                <a:cs typeface="Calibri (MS)"/>
                <a:sym typeface="Calibri (MS)"/>
              </a:rPr>
              <a:t>• Goal: retain &amp; grow existing customer base</a:t>
            </a:r>
          </a:p>
          <a:p>
            <a:pPr algn="l">
              <a:lnSpc>
                <a:spcPts val="4759"/>
              </a:lnSpc>
            </a:pPr>
          </a:p>
          <a:p>
            <a:pPr algn="ctr">
              <a:lnSpc>
                <a:spcPts val="4759"/>
              </a:lnSpc>
            </a:pPr>
            <a:r>
              <a:rPr lang="en-US" sz="3399">
                <a:solidFill>
                  <a:srgbClr val="FFFFFF"/>
                </a:solidFill>
                <a:latin typeface="Calibri (MS)"/>
                <a:ea typeface="Calibri (MS)"/>
                <a:cs typeface="Calibri (MS)"/>
                <a:sym typeface="Calibri (MS)"/>
              </a:rPr>
              <a:t> </a:t>
            </a:r>
          </a:p>
        </p:txBody>
      </p:sp>
      <p:sp>
        <p:nvSpPr>
          <p:cNvPr name="TextBox 11" id="11"/>
          <p:cNvSpPr txBox="true"/>
          <p:nvPr/>
        </p:nvSpPr>
        <p:spPr>
          <a:xfrm rot="0">
            <a:off x="554313" y="3744628"/>
            <a:ext cx="5687235" cy="887095"/>
          </a:xfrm>
          <a:prstGeom prst="rect">
            <a:avLst/>
          </a:prstGeom>
        </p:spPr>
        <p:txBody>
          <a:bodyPr anchor="t" rtlCol="false" tIns="0" lIns="0" bIns="0" rIns="0">
            <a:spAutoFit/>
          </a:bodyPr>
          <a:lstStyle/>
          <a:p>
            <a:pPr algn="ctr">
              <a:lnSpc>
                <a:spcPts val="7279"/>
              </a:lnSpc>
            </a:pPr>
          </a:p>
        </p:txBody>
      </p:sp>
      <p:sp>
        <p:nvSpPr>
          <p:cNvPr name="TextBox 12" id="12"/>
          <p:cNvSpPr txBox="true"/>
          <p:nvPr/>
        </p:nvSpPr>
        <p:spPr>
          <a:xfrm rot="0">
            <a:off x="5419578" y="6156798"/>
            <a:ext cx="6346279" cy="685800"/>
          </a:xfrm>
          <a:prstGeom prst="rect">
            <a:avLst/>
          </a:prstGeom>
        </p:spPr>
        <p:txBody>
          <a:bodyPr anchor="t" rtlCol="false" tIns="0" lIns="0" bIns="0" rIns="0">
            <a:spAutoFit/>
          </a:bodyPr>
          <a:lstStyle/>
          <a:p>
            <a:pPr algn="ctr">
              <a:lnSpc>
                <a:spcPts val="4799"/>
              </a:lnSpc>
              <a:spcBef>
                <a:spcPct val="0"/>
              </a:spcBef>
            </a:pPr>
            <a:r>
              <a:rPr lang="en-US" b="true" sz="3999">
                <a:solidFill>
                  <a:srgbClr val="FFFFFF"/>
                </a:solidFill>
                <a:latin typeface="Calibri (MS) Bold"/>
                <a:ea typeface="Calibri (MS) Bold"/>
                <a:cs typeface="Calibri (MS) Bold"/>
                <a:sym typeface="Calibri (MS) Bold"/>
              </a:rPr>
              <a:t>Product Development</a:t>
            </a:r>
          </a:p>
        </p:txBody>
      </p:sp>
      <p:sp>
        <p:nvSpPr>
          <p:cNvPr name="TextBox 13" id="13"/>
          <p:cNvSpPr txBox="true"/>
          <p:nvPr/>
        </p:nvSpPr>
        <p:spPr>
          <a:xfrm rot="0">
            <a:off x="4698869" y="6852123"/>
            <a:ext cx="11369405" cy="184721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Calibri (MS)"/>
                <a:ea typeface="Calibri (MS)"/>
                <a:cs typeface="Calibri (MS)"/>
                <a:sym typeface="Calibri (MS)"/>
              </a:rPr>
              <a:t>AI &amp; IoT integrated home appliances </a:t>
            </a:r>
          </a:p>
          <a:p>
            <a:pPr algn="l" marL="734059" indent="-367030" lvl="1">
              <a:lnSpc>
                <a:spcPts val="4759"/>
              </a:lnSpc>
              <a:buFont typeface="Arial"/>
              <a:buChar char="•"/>
            </a:pPr>
            <a:r>
              <a:rPr lang="en-US" sz="3399">
                <a:solidFill>
                  <a:srgbClr val="FFFFFF"/>
                </a:solidFill>
                <a:latin typeface="Calibri (MS)"/>
                <a:ea typeface="Calibri (MS)"/>
                <a:cs typeface="Calibri (MS)"/>
                <a:sym typeface="Calibri (MS)"/>
              </a:rPr>
              <a:t>Smart fridges with multimedia features </a:t>
            </a:r>
          </a:p>
          <a:p>
            <a:pPr algn="l" marL="734059" indent="-367030" lvl="1">
              <a:lnSpc>
                <a:spcPts val="4759"/>
              </a:lnSpc>
              <a:buFont typeface="Arial"/>
              <a:buChar char="•"/>
            </a:pPr>
            <a:r>
              <a:rPr lang="en-US" sz="3399">
                <a:solidFill>
                  <a:srgbClr val="FFFFFF"/>
                </a:solidFill>
                <a:latin typeface="Calibri (MS)"/>
                <a:ea typeface="Calibri (MS)"/>
                <a:cs typeface="Calibri (MS)"/>
                <a:sym typeface="Calibri (MS)"/>
              </a:rPr>
              <a:t>AI-based diagnostic systems</a:t>
            </a:r>
          </a:p>
        </p:txBody>
      </p:sp>
      <p:sp>
        <p:nvSpPr>
          <p:cNvPr name="TextBox 14" id="14"/>
          <p:cNvSpPr txBox="true"/>
          <p:nvPr/>
        </p:nvSpPr>
        <p:spPr>
          <a:xfrm rot="0">
            <a:off x="2984292" y="2144598"/>
            <a:ext cx="11216850" cy="685800"/>
          </a:xfrm>
          <a:prstGeom prst="rect">
            <a:avLst/>
          </a:prstGeom>
        </p:spPr>
        <p:txBody>
          <a:bodyPr anchor="t" rtlCol="false" tIns="0" lIns="0" bIns="0" rIns="0">
            <a:spAutoFit/>
          </a:bodyPr>
          <a:lstStyle/>
          <a:p>
            <a:pPr algn="ctr">
              <a:lnSpc>
                <a:spcPts val="4799"/>
              </a:lnSpc>
              <a:spcBef>
                <a:spcPct val="0"/>
              </a:spcBef>
            </a:pPr>
            <a:r>
              <a:rPr lang="en-US" b="true" sz="3999">
                <a:solidFill>
                  <a:srgbClr val="FFFFFF"/>
                </a:solidFill>
                <a:latin typeface="Calibri (MS) Bold"/>
                <a:ea typeface="Calibri (MS) Bold"/>
                <a:cs typeface="Calibri (MS) Bold"/>
                <a:sym typeface="Calibri (MS) Bold"/>
              </a:rPr>
              <a:t>Market  Penetration</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1A1A2E"/>
        </a:solidFill>
      </p:bgPr>
    </p:bg>
    <p:spTree>
      <p:nvGrpSpPr>
        <p:cNvPr id="1" name=""/>
        <p:cNvGrpSpPr/>
        <p:nvPr/>
      </p:nvGrpSpPr>
      <p:grpSpPr>
        <a:xfrm>
          <a:off x="0" y="0"/>
          <a:ext cx="0" cy="0"/>
          <a:chOff x="0" y="0"/>
          <a:chExt cx="0" cy="0"/>
        </a:xfrm>
      </p:grpSpPr>
      <p:grpSp>
        <p:nvGrpSpPr>
          <p:cNvPr name="Group 2" id="2"/>
          <p:cNvGrpSpPr/>
          <p:nvPr/>
        </p:nvGrpSpPr>
        <p:grpSpPr>
          <a:xfrm rot="0">
            <a:off x="334874" y="2214212"/>
            <a:ext cx="17618252" cy="3472389"/>
            <a:chOff x="0" y="0"/>
            <a:chExt cx="23491003" cy="4629852"/>
          </a:xfrm>
        </p:grpSpPr>
        <p:sp>
          <p:nvSpPr>
            <p:cNvPr name="Freeform 3" id="3"/>
            <p:cNvSpPr/>
            <p:nvPr/>
          </p:nvSpPr>
          <p:spPr>
            <a:xfrm flipH="false" flipV="false" rot="0">
              <a:off x="0" y="0"/>
              <a:ext cx="23491028" cy="4629852"/>
            </a:xfrm>
            <a:custGeom>
              <a:avLst/>
              <a:gdLst/>
              <a:ahLst/>
              <a:cxnLst/>
              <a:rect r="r" b="b" t="t" l="l"/>
              <a:pathLst>
                <a:path h="4629852" w="23491028">
                  <a:moveTo>
                    <a:pt x="0" y="0"/>
                  </a:moveTo>
                  <a:lnTo>
                    <a:pt x="23491028" y="0"/>
                  </a:lnTo>
                  <a:lnTo>
                    <a:pt x="23491028" y="4629852"/>
                  </a:lnTo>
                  <a:lnTo>
                    <a:pt x="0" y="4629852"/>
                  </a:lnTo>
                  <a:close/>
                </a:path>
              </a:pathLst>
            </a:custGeom>
            <a:solidFill>
              <a:srgbClr val="881111"/>
            </a:solidFill>
          </p:spPr>
        </p:sp>
      </p:grpSp>
      <p:grpSp>
        <p:nvGrpSpPr>
          <p:cNvPr name="Group 4" id="4"/>
          <p:cNvGrpSpPr/>
          <p:nvPr/>
        </p:nvGrpSpPr>
        <p:grpSpPr>
          <a:xfrm rot="0">
            <a:off x="339736" y="6245217"/>
            <a:ext cx="17618252" cy="3427131"/>
            <a:chOff x="0" y="0"/>
            <a:chExt cx="23491003" cy="4569508"/>
          </a:xfrm>
        </p:grpSpPr>
        <p:sp>
          <p:nvSpPr>
            <p:cNvPr name="Freeform 5" id="5"/>
            <p:cNvSpPr/>
            <p:nvPr/>
          </p:nvSpPr>
          <p:spPr>
            <a:xfrm flipH="false" flipV="false" rot="0">
              <a:off x="0" y="0"/>
              <a:ext cx="23491028" cy="4569508"/>
            </a:xfrm>
            <a:custGeom>
              <a:avLst/>
              <a:gdLst/>
              <a:ahLst/>
              <a:cxnLst/>
              <a:rect r="r" b="b" t="t" l="l"/>
              <a:pathLst>
                <a:path h="4569508" w="23491028">
                  <a:moveTo>
                    <a:pt x="0" y="0"/>
                  </a:moveTo>
                  <a:lnTo>
                    <a:pt x="23491028" y="0"/>
                  </a:lnTo>
                  <a:lnTo>
                    <a:pt x="23491028" y="4569508"/>
                  </a:lnTo>
                  <a:lnTo>
                    <a:pt x="0" y="4569508"/>
                  </a:lnTo>
                  <a:close/>
                </a:path>
              </a:pathLst>
            </a:custGeom>
            <a:solidFill>
              <a:srgbClr val="CC0000"/>
            </a:solidFill>
          </p:spPr>
        </p:sp>
      </p:grpSp>
      <p:grpSp>
        <p:nvGrpSpPr>
          <p:cNvPr name="Group 6" id="6"/>
          <p:cNvGrpSpPr/>
          <p:nvPr/>
        </p:nvGrpSpPr>
        <p:grpSpPr>
          <a:xfrm rot="0">
            <a:off x="0" y="0"/>
            <a:ext cx="18297725" cy="1441304"/>
            <a:chOff x="0" y="0"/>
            <a:chExt cx="24396967" cy="1921739"/>
          </a:xfrm>
        </p:grpSpPr>
        <p:sp>
          <p:nvSpPr>
            <p:cNvPr name="Freeform 7" id="7"/>
            <p:cNvSpPr/>
            <p:nvPr/>
          </p:nvSpPr>
          <p:spPr>
            <a:xfrm flipH="false" flipV="false" rot="0">
              <a:off x="0" y="0"/>
              <a:ext cx="24396954" cy="1921764"/>
            </a:xfrm>
            <a:custGeom>
              <a:avLst/>
              <a:gdLst/>
              <a:ahLst/>
              <a:cxnLst/>
              <a:rect r="r" b="b" t="t" l="l"/>
              <a:pathLst>
                <a:path h="1921764" w="24396954">
                  <a:moveTo>
                    <a:pt x="0" y="0"/>
                  </a:moveTo>
                  <a:lnTo>
                    <a:pt x="24396954" y="0"/>
                  </a:lnTo>
                  <a:lnTo>
                    <a:pt x="24396954" y="1921764"/>
                  </a:lnTo>
                  <a:lnTo>
                    <a:pt x="0" y="1921764"/>
                  </a:lnTo>
                  <a:close/>
                </a:path>
              </a:pathLst>
            </a:custGeom>
            <a:solidFill>
              <a:srgbClr val="CC0000"/>
            </a:solidFill>
          </p:spPr>
        </p:sp>
      </p:grpSp>
      <p:sp>
        <p:nvSpPr>
          <p:cNvPr name="TextBox 8" id="8"/>
          <p:cNvSpPr txBox="true"/>
          <p:nvPr/>
        </p:nvSpPr>
        <p:spPr>
          <a:xfrm rot="0">
            <a:off x="5366326" y="2128487"/>
            <a:ext cx="7131909" cy="685800"/>
          </a:xfrm>
          <a:prstGeom prst="rect">
            <a:avLst/>
          </a:prstGeom>
        </p:spPr>
        <p:txBody>
          <a:bodyPr anchor="t" rtlCol="false" tIns="0" lIns="0" bIns="0" rIns="0">
            <a:spAutoFit/>
          </a:bodyPr>
          <a:lstStyle/>
          <a:p>
            <a:pPr algn="ctr">
              <a:lnSpc>
                <a:spcPts val="4799"/>
              </a:lnSpc>
              <a:spcBef>
                <a:spcPct val="0"/>
              </a:spcBef>
            </a:pPr>
            <a:r>
              <a:rPr lang="en-US" b="true" sz="3999">
                <a:solidFill>
                  <a:srgbClr val="FFFFFF"/>
                </a:solidFill>
                <a:latin typeface="Calibri (MS) Bold"/>
                <a:ea typeface="Calibri (MS) Bold"/>
                <a:cs typeface="Calibri (MS) Bold"/>
                <a:sym typeface="Calibri (MS) Bold"/>
              </a:rPr>
              <a:t>Market Development</a:t>
            </a:r>
          </a:p>
        </p:txBody>
      </p:sp>
      <p:sp>
        <p:nvSpPr>
          <p:cNvPr name="TextBox 9" id="9"/>
          <p:cNvSpPr txBox="true"/>
          <p:nvPr/>
        </p:nvSpPr>
        <p:spPr>
          <a:xfrm rot="0">
            <a:off x="1028700" y="2747885"/>
            <a:ext cx="17618252" cy="2124075"/>
          </a:xfrm>
          <a:prstGeom prst="rect">
            <a:avLst/>
          </a:prstGeom>
        </p:spPr>
        <p:txBody>
          <a:bodyPr anchor="t" rtlCol="false" tIns="0" lIns="0" bIns="0" rIns="0">
            <a:spAutoFit/>
          </a:bodyPr>
          <a:lstStyle/>
          <a:p>
            <a:pPr algn="l">
              <a:lnSpc>
                <a:spcPts val="4080"/>
              </a:lnSpc>
              <a:spcBef>
                <a:spcPct val="0"/>
              </a:spcBef>
            </a:pPr>
            <a:r>
              <a:rPr lang="en-US" sz="3400">
                <a:solidFill>
                  <a:srgbClr val="FFFFFF"/>
                </a:solidFill>
                <a:latin typeface="Calibri (MS)"/>
                <a:ea typeface="Calibri (MS)"/>
                <a:cs typeface="Calibri (MS)"/>
                <a:sym typeface="Calibri (MS)"/>
              </a:rPr>
              <a:t>• 25,000+ sales points across Bangladesh </a:t>
            </a:r>
          </a:p>
          <a:p>
            <a:pPr algn="l">
              <a:lnSpc>
                <a:spcPts val="4080"/>
              </a:lnSpc>
              <a:spcBef>
                <a:spcPct val="0"/>
              </a:spcBef>
            </a:pPr>
            <a:r>
              <a:rPr lang="en-US" sz="3400">
                <a:solidFill>
                  <a:srgbClr val="FFFFFF"/>
                </a:solidFill>
                <a:latin typeface="Calibri (MS)"/>
                <a:ea typeface="Calibri (MS)"/>
                <a:cs typeface="Calibri (MS)"/>
                <a:sym typeface="Calibri (MS)"/>
              </a:rPr>
              <a:t>•Exporting to 50+ countries including India, Nepal, Turkey, Iraq, Nigeria, and Austria </a:t>
            </a:r>
          </a:p>
          <a:p>
            <a:pPr algn="l">
              <a:lnSpc>
                <a:spcPts val="4080"/>
              </a:lnSpc>
              <a:spcBef>
                <a:spcPct val="0"/>
              </a:spcBef>
            </a:pPr>
            <a:r>
              <a:rPr lang="en-US" sz="3400">
                <a:solidFill>
                  <a:srgbClr val="FFFFFF"/>
                </a:solidFill>
                <a:latin typeface="Calibri (MS)"/>
                <a:ea typeface="Calibri (MS)"/>
                <a:cs typeface="Calibri (MS)"/>
                <a:sym typeface="Calibri (MS)"/>
              </a:rPr>
              <a:t>• Target: 500,000 units exported annually by 2026 </a:t>
            </a:r>
          </a:p>
          <a:p>
            <a:pPr algn="l">
              <a:lnSpc>
                <a:spcPts val="4080"/>
              </a:lnSpc>
              <a:spcBef>
                <a:spcPct val="0"/>
              </a:spcBef>
            </a:pPr>
            <a:r>
              <a:rPr lang="en-US" sz="3400">
                <a:solidFill>
                  <a:srgbClr val="FFFFFF"/>
                </a:solidFill>
                <a:latin typeface="Calibri (MS)"/>
                <a:ea typeface="Calibri (MS)"/>
                <a:cs typeface="Calibri (MS)"/>
                <a:sym typeface="Calibri (MS)"/>
              </a:rPr>
              <a:t>• Goal: Top 5 global electronics brand by 2030</a:t>
            </a:r>
          </a:p>
        </p:txBody>
      </p:sp>
      <p:sp>
        <p:nvSpPr>
          <p:cNvPr name="TextBox 10" id="10"/>
          <p:cNvSpPr txBox="true"/>
          <p:nvPr/>
        </p:nvSpPr>
        <p:spPr>
          <a:xfrm rot="0">
            <a:off x="6636643" y="6159492"/>
            <a:ext cx="5562694" cy="685800"/>
          </a:xfrm>
          <a:prstGeom prst="rect">
            <a:avLst/>
          </a:prstGeom>
        </p:spPr>
        <p:txBody>
          <a:bodyPr anchor="t" rtlCol="false" tIns="0" lIns="0" bIns="0" rIns="0">
            <a:spAutoFit/>
          </a:bodyPr>
          <a:lstStyle/>
          <a:p>
            <a:pPr algn="ctr">
              <a:lnSpc>
                <a:spcPts val="4799"/>
              </a:lnSpc>
              <a:spcBef>
                <a:spcPct val="0"/>
              </a:spcBef>
            </a:pPr>
            <a:r>
              <a:rPr lang="en-US" b="true" sz="3999">
                <a:solidFill>
                  <a:srgbClr val="FFFFFF"/>
                </a:solidFill>
                <a:latin typeface="Calibri (MS) Bold"/>
                <a:ea typeface="Calibri (MS) Bold"/>
                <a:cs typeface="Calibri (MS) Bold"/>
                <a:sym typeface="Calibri (MS) Bold"/>
              </a:rPr>
              <a:t>Diversification</a:t>
            </a:r>
          </a:p>
        </p:txBody>
      </p:sp>
      <p:sp>
        <p:nvSpPr>
          <p:cNvPr name="TextBox 11" id="11"/>
          <p:cNvSpPr txBox="true"/>
          <p:nvPr/>
        </p:nvSpPr>
        <p:spPr>
          <a:xfrm rot="0">
            <a:off x="3153926" y="7077719"/>
            <a:ext cx="12587668" cy="1152525"/>
          </a:xfrm>
          <a:prstGeom prst="rect">
            <a:avLst/>
          </a:prstGeom>
        </p:spPr>
        <p:txBody>
          <a:bodyPr anchor="t" rtlCol="false" tIns="0" lIns="0" bIns="0" rIns="0">
            <a:spAutoFit/>
          </a:bodyPr>
          <a:lstStyle/>
          <a:p>
            <a:pPr algn="l">
              <a:lnSpc>
                <a:spcPts val="4320"/>
              </a:lnSpc>
              <a:spcBef>
                <a:spcPct val="0"/>
              </a:spcBef>
            </a:pPr>
            <a:r>
              <a:rPr lang="en-US" sz="3600">
                <a:solidFill>
                  <a:srgbClr val="FFFFFF"/>
                </a:solidFill>
                <a:latin typeface="Calibri (MS)"/>
                <a:ea typeface="Calibri (MS)"/>
                <a:cs typeface="Calibri (MS)"/>
                <a:sym typeface="Calibri (MS)"/>
              </a:rPr>
              <a:t>• New product lines: laptops, mobiles, PCBs, electric bikes </a:t>
            </a:r>
          </a:p>
          <a:p>
            <a:pPr algn="l">
              <a:lnSpc>
                <a:spcPts val="4320"/>
              </a:lnSpc>
              <a:spcBef>
                <a:spcPct val="0"/>
              </a:spcBef>
            </a:pPr>
            <a:r>
              <a:rPr lang="en-US" sz="3600">
                <a:solidFill>
                  <a:srgbClr val="FFFFFF"/>
                </a:solidFill>
                <a:latin typeface="Calibri (MS)"/>
                <a:ea typeface="Calibri (MS)"/>
                <a:cs typeface="Calibri (MS)"/>
                <a:sym typeface="Calibri (MS)"/>
              </a:rPr>
              <a:t>• Future plan: Electric vehicles (EVs</a:t>
            </a:r>
          </a:p>
        </p:txBody>
      </p:sp>
      <p:sp>
        <p:nvSpPr>
          <p:cNvPr name="TextBox 12" id="12"/>
          <p:cNvSpPr txBox="true"/>
          <p:nvPr/>
        </p:nvSpPr>
        <p:spPr>
          <a:xfrm rot="0">
            <a:off x="752951" y="128237"/>
            <a:ext cx="3857466" cy="723900"/>
          </a:xfrm>
          <a:prstGeom prst="rect">
            <a:avLst/>
          </a:prstGeom>
        </p:spPr>
        <p:txBody>
          <a:bodyPr anchor="t" rtlCol="false" tIns="0" lIns="0" bIns="0" rIns="0">
            <a:spAutoFit/>
          </a:bodyPr>
          <a:lstStyle/>
          <a:p>
            <a:pPr algn="ctr">
              <a:lnSpc>
                <a:spcPts val="5039"/>
              </a:lnSpc>
              <a:spcBef>
                <a:spcPct val="0"/>
              </a:spcBef>
            </a:pPr>
            <a:r>
              <a:rPr lang="en-US" b="true" sz="4199">
                <a:solidFill>
                  <a:srgbClr val="FFFFFF"/>
                </a:solidFill>
                <a:latin typeface="Calibri (MS) Bold"/>
                <a:ea typeface="Calibri (MS) Bold"/>
                <a:cs typeface="Calibri (MS) Bold"/>
                <a:sym typeface="Calibri (MS) Bold"/>
              </a:rPr>
              <a:t>Strategic Analysis</a:t>
            </a:r>
          </a:p>
        </p:txBody>
      </p:sp>
      <p:sp>
        <p:nvSpPr>
          <p:cNvPr name="TextBox 13" id="13"/>
          <p:cNvSpPr txBox="true"/>
          <p:nvPr/>
        </p:nvSpPr>
        <p:spPr>
          <a:xfrm rot="0">
            <a:off x="777773" y="931516"/>
            <a:ext cx="16289188" cy="342900"/>
          </a:xfrm>
          <a:prstGeom prst="rect">
            <a:avLst/>
          </a:prstGeom>
        </p:spPr>
        <p:txBody>
          <a:bodyPr anchor="t" rtlCol="false" tIns="0" lIns="0" bIns="0" rIns="0">
            <a:spAutoFit/>
          </a:bodyPr>
          <a:lstStyle/>
          <a:p>
            <a:pPr algn="l">
              <a:lnSpc>
                <a:spcPts val="2341"/>
              </a:lnSpc>
            </a:pPr>
            <a:r>
              <a:rPr lang="en-US" sz="1951">
                <a:solidFill>
                  <a:srgbClr val="FFCCCC"/>
                </a:solidFill>
                <a:latin typeface="Calibri (MS)"/>
                <a:ea typeface="Calibri (MS)"/>
                <a:cs typeface="Calibri (MS)"/>
                <a:sym typeface="Calibri (MS)"/>
              </a:rPr>
              <a:t> Ansoff Matrix</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2E8F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97725" cy="1441304"/>
            <a:chOff x="0" y="0"/>
            <a:chExt cx="24396967" cy="1921739"/>
          </a:xfrm>
        </p:grpSpPr>
        <p:sp>
          <p:nvSpPr>
            <p:cNvPr name="Freeform 3" id="3"/>
            <p:cNvSpPr/>
            <p:nvPr/>
          </p:nvSpPr>
          <p:spPr>
            <a:xfrm flipH="false" flipV="false" rot="0">
              <a:off x="0" y="0"/>
              <a:ext cx="24396954" cy="1921764"/>
            </a:xfrm>
            <a:custGeom>
              <a:avLst/>
              <a:gdLst/>
              <a:ahLst/>
              <a:cxnLst/>
              <a:rect r="r" b="b" t="t" l="l"/>
              <a:pathLst>
                <a:path h="1921764" w="24396954">
                  <a:moveTo>
                    <a:pt x="0" y="0"/>
                  </a:moveTo>
                  <a:lnTo>
                    <a:pt x="24396954" y="0"/>
                  </a:lnTo>
                  <a:lnTo>
                    <a:pt x="24396954" y="1921764"/>
                  </a:lnTo>
                  <a:lnTo>
                    <a:pt x="0" y="1921764"/>
                  </a:lnTo>
                  <a:close/>
                </a:path>
              </a:pathLst>
            </a:custGeom>
            <a:solidFill>
              <a:srgbClr val="CC0000"/>
            </a:solidFill>
          </p:spPr>
        </p:sp>
      </p:grpSp>
      <p:grpSp>
        <p:nvGrpSpPr>
          <p:cNvPr name="Group 4" id="4"/>
          <p:cNvGrpSpPr/>
          <p:nvPr/>
        </p:nvGrpSpPr>
        <p:grpSpPr>
          <a:xfrm rot="0">
            <a:off x="411804" y="1647206"/>
            <a:ext cx="8732196" cy="4255284"/>
            <a:chOff x="0" y="0"/>
            <a:chExt cx="11642928" cy="5673712"/>
          </a:xfrm>
        </p:grpSpPr>
        <p:sp>
          <p:nvSpPr>
            <p:cNvPr name="Freeform 5" id="5"/>
            <p:cNvSpPr/>
            <p:nvPr/>
          </p:nvSpPr>
          <p:spPr>
            <a:xfrm flipH="false" flipV="false" rot="0">
              <a:off x="0" y="0"/>
              <a:ext cx="11642954" cy="5673725"/>
            </a:xfrm>
            <a:custGeom>
              <a:avLst/>
              <a:gdLst/>
              <a:ahLst/>
              <a:cxnLst/>
              <a:rect r="r" b="b" t="t" l="l"/>
              <a:pathLst>
                <a:path h="5673725" w="11642954">
                  <a:moveTo>
                    <a:pt x="0" y="0"/>
                  </a:moveTo>
                  <a:lnTo>
                    <a:pt x="11642954" y="0"/>
                  </a:lnTo>
                  <a:lnTo>
                    <a:pt x="11642954" y="5673725"/>
                  </a:lnTo>
                  <a:lnTo>
                    <a:pt x="0" y="5673725"/>
                  </a:lnTo>
                  <a:close/>
                </a:path>
              </a:pathLst>
            </a:custGeom>
            <a:blipFill>
              <a:blip r:embed="rId2">
                <a:alphaModFix amt="19999"/>
              </a:blip>
              <a:stretch>
                <a:fillRect l="0" t="-50295" r="0" b="-50295"/>
              </a:stretch>
            </a:blipFill>
          </p:spPr>
        </p:sp>
      </p:grpSp>
      <p:grpSp>
        <p:nvGrpSpPr>
          <p:cNvPr name="Group 6" id="6"/>
          <p:cNvGrpSpPr/>
          <p:nvPr/>
        </p:nvGrpSpPr>
        <p:grpSpPr>
          <a:xfrm rot="0">
            <a:off x="411804" y="1647206"/>
            <a:ext cx="8510568" cy="686333"/>
            <a:chOff x="0" y="0"/>
            <a:chExt cx="11347425" cy="915111"/>
          </a:xfrm>
        </p:grpSpPr>
        <p:sp>
          <p:nvSpPr>
            <p:cNvPr name="Freeform 7" id="7"/>
            <p:cNvSpPr/>
            <p:nvPr/>
          </p:nvSpPr>
          <p:spPr>
            <a:xfrm flipH="false" flipV="false" rot="0">
              <a:off x="0" y="0"/>
              <a:ext cx="11347450" cy="915162"/>
            </a:xfrm>
            <a:custGeom>
              <a:avLst/>
              <a:gdLst/>
              <a:ahLst/>
              <a:cxnLst/>
              <a:rect r="r" b="b" t="t" l="l"/>
              <a:pathLst>
                <a:path h="915162" w="11347450">
                  <a:moveTo>
                    <a:pt x="0" y="0"/>
                  </a:moveTo>
                  <a:lnTo>
                    <a:pt x="11347450" y="0"/>
                  </a:lnTo>
                  <a:lnTo>
                    <a:pt x="11347450" y="915162"/>
                  </a:lnTo>
                  <a:lnTo>
                    <a:pt x="0" y="915162"/>
                  </a:lnTo>
                  <a:close/>
                </a:path>
              </a:pathLst>
            </a:custGeom>
            <a:solidFill>
              <a:srgbClr val="1B5E20"/>
            </a:solidFill>
          </p:spPr>
        </p:sp>
      </p:grpSp>
      <p:grpSp>
        <p:nvGrpSpPr>
          <p:cNvPr name="Group 8" id="8"/>
          <p:cNvGrpSpPr/>
          <p:nvPr/>
        </p:nvGrpSpPr>
        <p:grpSpPr>
          <a:xfrm rot="0">
            <a:off x="9402804" y="1647206"/>
            <a:ext cx="8510568" cy="4255284"/>
            <a:chOff x="0" y="0"/>
            <a:chExt cx="11347425" cy="5673712"/>
          </a:xfrm>
        </p:grpSpPr>
        <p:sp>
          <p:nvSpPr>
            <p:cNvPr name="Freeform 9" id="9"/>
            <p:cNvSpPr/>
            <p:nvPr/>
          </p:nvSpPr>
          <p:spPr>
            <a:xfrm flipH="false" flipV="false" rot="0">
              <a:off x="0" y="0"/>
              <a:ext cx="11347450" cy="5673725"/>
            </a:xfrm>
            <a:custGeom>
              <a:avLst/>
              <a:gdLst/>
              <a:ahLst/>
              <a:cxnLst/>
              <a:rect r="r" b="b" t="t" l="l"/>
              <a:pathLst>
                <a:path h="5673725" w="11347450">
                  <a:moveTo>
                    <a:pt x="0" y="0"/>
                  </a:moveTo>
                  <a:lnTo>
                    <a:pt x="11347450" y="0"/>
                  </a:lnTo>
                  <a:lnTo>
                    <a:pt x="11347450" y="5673725"/>
                  </a:lnTo>
                  <a:lnTo>
                    <a:pt x="0" y="5673725"/>
                  </a:lnTo>
                  <a:close/>
                </a:path>
              </a:pathLst>
            </a:custGeom>
            <a:blipFill>
              <a:blip r:embed="rId3">
                <a:alphaModFix amt="9999"/>
              </a:blip>
              <a:stretch>
                <a:fillRect l="0" t="-50000" r="0" b="-50000"/>
              </a:stretch>
            </a:blipFill>
          </p:spPr>
        </p:sp>
      </p:grpSp>
      <p:grpSp>
        <p:nvGrpSpPr>
          <p:cNvPr name="Group 10" id="10"/>
          <p:cNvGrpSpPr/>
          <p:nvPr/>
        </p:nvGrpSpPr>
        <p:grpSpPr>
          <a:xfrm rot="0">
            <a:off x="9402804" y="1647206"/>
            <a:ext cx="8510568" cy="686333"/>
            <a:chOff x="0" y="0"/>
            <a:chExt cx="11347425" cy="915111"/>
          </a:xfrm>
        </p:grpSpPr>
        <p:sp>
          <p:nvSpPr>
            <p:cNvPr name="Freeform 11" id="11"/>
            <p:cNvSpPr/>
            <p:nvPr/>
          </p:nvSpPr>
          <p:spPr>
            <a:xfrm flipH="false" flipV="false" rot="0">
              <a:off x="0" y="0"/>
              <a:ext cx="11347450" cy="915162"/>
            </a:xfrm>
            <a:custGeom>
              <a:avLst/>
              <a:gdLst/>
              <a:ahLst/>
              <a:cxnLst/>
              <a:rect r="r" b="b" t="t" l="l"/>
              <a:pathLst>
                <a:path h="915162" w="11347450">
                  <a:moveTo>
                    <a:pt x="0" y="0"/>
                  </a:moveTo>
                  <a:lnTo>
                    <a:pt x="11347450" y="0"/>
                  </a:lnTo>
                  <a:lnTo>
                    <a:pt x="11347450" y="915162"/>
                  </a:lnTo>
                  <a:lnTo>
                    <a:pt x="0" y="915162"/>
                  </a:lnTo>
                  <a:close/>
                </a:path>
              </a:pathLst>
            </a:custGeom>
            <a:solidFill>
              <a:srgbClr val="7F0000"/>
            </a:solidFill>
          </p:spPr>
        </p:sp>
      </p:grpSp>
      <p:grpSp>
        <p:nvGrpSpPr>
          <p:cNvPr name="Group 12" id="12"/>
          <p:cNvGrpSpPr/>
          <p:nvPr/>
        </p:nvGrpSpPr>
        <p:grpSpPr>
          <a:xfrm rot="0">
            <a:off x="411804" y="5627951"/>
            <a:ext cx="8510568" cy="4255284"/>
            <a:chOff x="0" y="0"/>
            <a:chExt cx="11347425" cy="5673712"/>
          </a:xfrm>
        </p:grpSpPr>
        <p:sp>
          <p:nvSpPr>
            <p:cNvPr name="Freeform 13" id="13"/>
            <p:cNvSpPr/>
            <p:nvPr/>
          </p:nvSpPr>
          <p:spPr>
            <a:xfrm flipH="false" flipV="false" rot="0">
              <a:off x="0" y="0"/>
              <a:ext cx="11347450" cy="5673725"/>
            </a:xfrm>
            <a:custGeom>
              <a:avLst/>
              <a:gdLst/>
              <a:ahLst/>
              <a:cxnLst/>
              <a:rect r="r" b="b" t="t" l="l"/>
              <a:pathLst>
                <a:path h="5673725" w="11347450">
                  <a:moveTo>
                    <a:pt x="0" y="0"/>
                  </a:moveTo>
                  <a:lnTo>
                    <a:pt x="11347450" y="0"/>
                  </a:lnTo>
                  <a:lnTo>
                    <a:pt x="11347450" y="5673725"/>
                  </a:lnTo>
                  <a:lnTo>
                    <a:pt x="0" y="5673725"/>
                  </a:lnTo>
                  <a:close/>
                </a:path>
              </a:pathLst>
            </a:custGeom>
            <a:blipFill>
              <a:blip r:embed="rId4">
                <a:alphaModFix amt="9999"/>
              </a:blip>
              <a:stretch>
                <a:fillRect l="0" t="-6535" r="0" b="-6535"/>
              </a:stretch>
            </a:blipFill>
          </p:spPr>
        </p:sp>
      </p:grpSp>
      <p:grpSp>
        <p:nvGrpSpPr>
          <p:cNvPr name="Group 14" id="14"/>
          <p:cNvGrpSpPr/>
          <p:nvPr/>
        </p:nvGrpSpPr>
        <p:grpSpPr>
          <a:xfrm rot="0">
            <a:off x="411804" y="5627951"/>
            <a:ext cx="8510568" cy="686333"/>
            <a:chOff x="0" y="0"/>
            <a:chExt cx="11347425" cy="915111"/>
          </a:xfrm>
        </p:grpSpPr>
        <p:sp>
          <p:nvSpPr>
            <p:cNvPr name="Freeform 15" id="15"/>
            <p:cNvSpPr/>
            <p:nvPr/>
          </p:nvSpPr>
          <p:spPr>
            <a:xfrm flipH="false" flipV="false" rot="0">
              <a:off x="0" y="0"/>
              <a:ext cx="11347450" cy="915162"/>
            </a:xfrm>
            <a:custGeom>
              <a:avLst/>
              <a:gdLst/>
              <a:ahLst/>
              <a:cxnLst/>
              <a:rect r="r" b="b" t="t" l="l"/>
              <a:pathLst>
                <a:path h="915162" w="11347450">
                  <a:moveTo>
                    <a:pt x="0" y="0"/>
                  </a:moveTo>
                  <a:lnTo>
                    <a:pt x="11347450" y="0"/>
                  </a:lnTo>
                  <a:lnTo>
                    <a:pt x="11347450" y="915162"/>
                  </a:lnTo>
                  <a:lnTo>
                    <a:pt x="0" y="915162"/>
                  </a:lnTo>
                  <a:close/>
                </a:path>
              </a:pathLst>
            </a:custGeom>
            <a:solidFill>
              <a:srgbClr val="0D47A1"/>
            </a:solidFill>
          </p:spPr>
        </p:sp>
      </p:grpSp>
      <p:grpSp>
        <p:nvGrpSpPr>
          <p:cNvPr name="Group 16" id="16"/>
          <p:cNvGrpSpPr/>
          <p:nvPr/>
        </p:nvGrpSpPr>
        <p:grpSpPr>
          <a:xfrm rot="0">
            <a:off x="9402804" y="5627951"/>
            <a:ext cx="8510568" cy="4255284"/>
            <a:chOff x="0" y="0"/>
            <a:chExt cx="11347425" cy="5673712"/>
          </a:xfrm>
        </p:grpSpPr>
        <p:sp>
          <p:nvSpPr>
            <p:cNvPr name="Freeform 17" id="17"/>
            <p:cNvSpPr/>
            <p:nvPr/>
          </p:nvSpPr>
          <p:spPr>
            <a:xfrm flipH="false" flipV="false" rot="0">
              <a:off x="0" y="0"/>
              <a:ext cx="11347450" cy="5673725"/>
            </a:xfrm>
            <a:custGeom>
              <a:avLst/>
              <a:gdLst/>
              <a:ahLst/>
              <a:cxnLst/>
              <a:rect r="r" b="b" t="t" l="l"/>
              <a:pathLst>
                <a:path h="5673725" w="11347450">
                  <a:moveTo>
                    <a:pt x="0" y="0"/>
                  </a:moveTo>
                  <a:lnTo>
                    <a:pt x="11347450" y="0"/>
                  </a:lnTo>
                  <a:lnTo>
                    <a:pt x="11347450" y="5673725"/>
                  </a:lnTo>
                  <a:lnTo>
                    <a:pt x="0" y="5673725"/>
                  </a:lnTo>
                  <a:close/>
                </a:path>
              </a:pathLst>
            </a:custGeom>
            <a:blipFill>
              <a:blip r:embed="rId5">
                <a:alphaModFix amt="9999"/>
              </a:blip>
              <a:stretch>
                <a:fillRect l="-24906" t="0" r="-24906" b="0"/>
              </a:stretch>
            </a:blipFill>
          </p:spPr>
        </p:sp>
      </p:grpSp>
      <p:grpSp>
        <p:nvGrpSpPr>
          <p:cNvPr name="Group 18" id="18"/>
          <p:cNvGrpSpPr/>
          <p:nvPr/>
        </p:nvGrpSpPr>
        <p:grpSpPr>
          <a:xfrm rot="0">
            <a:off x="9402804" y="5627951"/>
            <a:ext cx="8510568" cy="686333"/>
            <a:chOff x="0" y="0"/>
            <a:chExt cx="11347425" cy="915111"/>
          </a:xfrm>
        </p:grpSpPr>
        <p:sp>
          <p:nvSpPr>
            <p:cNvPr name="Freeform 19" id="19"/>
            <p:cNvSpPr/>
            <p:nvPr/>
          </p:nvSpPr>
          <p:spPr>
            <a:xfrm flipH="false" flipV="false" rot="0">
              <a:off x="0" y="0"/>
              <a:ext cx="11347450" cy="915162"/>
            </a:xfrm>
            <a:custGeom>
              <a:avLst/>
              <a:gdLst/>
              <a:ahLst/>
              <a:cxnLst/>
              <a:rect r="r" b="b" t="t" l="l"/>
              <a:pathLst>
                <a:path h="915162" w="11347450">
                  <a:moveTo>
                    <a:pt x="0" y="0"/>
                  </a:moveTo>
                  <a:lnTo>
                    <a:pt x="11347450" y="0"/>
                  </a:lnTo>
                  <a:lnTo>
                    <a:pt x="11347450" y="915162"/>
                  </a:lnTo>
                  <a:lnTo>
                    <a:pt x="0" y="915162"/>
                  </a:lnTo>
                  <a:close/>
                </a:path>
              </a:pathLst>
            </a:custGeom>
            <a:solidFill>
              <a:srgbClr val="E65C00"/>
            </a:solidFill>
          </p:spPr>
        </p:sp>
      </p:grpSp>
      <p:sp>
        <p:nvSpPr>
          <p:cNvPr name="TextBox 20" id="20"/>
          <p:cNvSpPr txBox="true"/>
          <p:nvPr/>
        </p:nvSpPr>
        <p:spPr>
          <a:xfrm rot="0">
            <a:off x="777773" y="165897"/>
            <a:ext cx="16289188" cy="1023785"/>
          </a:xfrm>
          <a:prstGeom prst="rect">
            <a:avLst/>
          </a:prstGeom>
        </p:spPr>
        <p:txBody>
          <a:bodyPr anchor="t" rtlCol="false" tIns="0" lIns="0" bIns="0" rIns="0">
            <a:spAutoFit/>
          </a:bodyPr>
          <a:lstStyle/>
          <a:p>
            <a:pPr algn="l">
              <a:lnSpc>
                <a:spcPts val="5043"/>
              </a:lnSpc>
            </a:pPr>
            <a:r>
              <a:rPr lang="en-US" sz="4203" b="true">
                <a:solidFill>
                  <a:srgbClr val="FFFFFF"/>
                </a:solidFill>
                <a:latin typeface="Calibri (MS) Bold"/>
                <a:ea typeface="Calibri (MS) Bold"/>
                <a:cs typeface="Calibri (MS) Bold"/>
                <a:sym typeface="Calibri (MS) Bold"/>
              </a:rPr>
              <a:t>SWOT Analysis</a:t>
            </a:r>
          </a:p>
        </p:txBody>
      </p:sp>
      <p:sp>
        <p:nvSpPr>
          <p:cNvPr name="TextBox 21" id="21"/>
          <p:cNvSpPr txBox="true"/>
          <p:nvPr/>
        </p:nvSpPr>
        <p:spPr>
          <a:xfrm rot="0">
            <a:off x="777773" y="931516"/>
            <a:ext cx="16289188" cy="436616"/>
          </a:xfrm>
          <a:prstGeom prst="rect">
            <a:avLst/>
          </a:prstGeom>
        </p:spPr>
        <p:txBody>
          <a:bodyPr anchor="t" rtlCol="false" tIns="0" lIns="0" bIns="0" rIns="0">
            <a:spAutoFit/>
          </a:bodyPr>
          <a:lstStyle/>
          <a:p>
            <a:pPr algn="l">
              <a:lnSpc>
                <a:spcPts val="2341"/>
              </a:lnSpc>
            </a:pPr>
            <a:r>
              <a:rPr lang="en-US" sz="1951">
                <a:solidFill>
                  <a:srgbClr val="FFCCCC"/>
                </a:solidFill>
                <a:latin typeface="Calibri (MS)"/>
                <a:ea typeface="Calibri (MS)"/>
                <a:cs typeface="Calibri (MS)"/>
                <a:sym typeface="Calibri (MS)"/>
              </a:rPr>
              <a:t>Strengths · Weaknesses · Opportunities · Threats</a:t>
            </a:r>
          </a:p>
        </p:txBody>
      </p:sp>
      <p:sp>
        <p:nvSpPr>
          <p:cNvPr name="TextBox 22" id="22"/>
          <p:cNvSpPr txBox="true"/>
          <p:nvPr/>
        </p:nvSpPr>
        <p:spPr>
          <a:xfrm rot="0">
            <a:off x="709146" y="1782566"/>
            <a:ext cx="7915885" cy="361950"/>
          </a:xfrm>
          <a:prstGeom prst="rect">
            <a:avLst/>
          </a:prstGeom>
        </p:spPr>
        <p:txBody>
          <a:bodyPr anchor="t" rtlCol="false" tIns="0" lIns="0" bIns="0" rIns="0">
            <a:spAutoFit/>
          </a:bodyPr>
          <a:lstStyle/>
          <a:p>
            <a:pPr algn="l">
              <a:lnSpc>
                <a:spcPts val="2521"/>
              </a:lnSpc>
            </a:pPr>
            <a:r>
              <a:rPr lang="en-US" sz="2101" b="true">
                <a:solidFill>
                  <a:srgbClr val="FFFFFF"/>
                </a:solidFill>
                <a:latin typeface="Calibri (MS) Bold"/>
                <a:ea typeface="Calibri (MS) Bold"/>
                <a:cs typeface="Calibri (MS) Bold"/>
                <a:sym typeface="Calibri (MS) Bold"/>
              </a:rPr>
              <a:t>STRENGTHS</a:t>
            </a:r>
          </a:p>
        </p:txBody>
      </p:sp>
      <p:sp>
        <p:nvSpPr>
          <p:cNvPr name="TextBox 23" id="23"/>
          <p:cNvSpPr txBox="true"/>
          <p:nvPr/>
        </p:nvSpPr>
        <p:spPr>
          <a:xfrm rot="0">
            <a:off x="9700146" y="1782566"/>
            <a:ext cx="7915885" cy="477803"/>
          </a:xfrm>
          <a:prstGeom prst="rect">
            <a:avLst/>
          </a:prstGeom>
        </p:spPr>
        <p:txBody>
          <a:bodyPr anchor="t" rtlCol="false" tIns="0" lIns="0" bIns="0" rIns="0">
            <a:spAutoFit/>
          </a:bodyPr>
          <a:lstStyle/>
          <a:p>
            <a:pPr algn="l">
              <a:lnSpc>
                <a:spcPts val="2521"/>
              </a:lnSpc>
            </a:pPr>
            <a:r>
              <a:rPr lang="en-US" sz="2101" b="true">
                <a:solidFill>
                  <a:srgbClr val="FFFFFF"/>
                </a:solidFill>
                <a:latin typeface="Calibri (MS) Bold"/>
                <a:ea typeface="Calibri (MS) Bold"/>
                <a:cs typeface="Calibri (MS) Bold"/>
                <a:sym typeface="Calibri (MS) Bold"/>
              </a:rPr>
              <a:t>WEAKNESSES</a:t>
            </a:r>
          </a:p>
        </p:txBody>
      </p:sp>
      <p:sp>
        <p:nvSpPr>
          <p:cNvPr name="TextBox 24" id="24"/>
          <p:cNvSpPr txBox="true"/>
          <p:nvPr/>
        </p:nvSpPr>
        <p:spPr>
          <a:xfrm rot="0">
            <a:off x="709146" y="5763320"/>
            <a:ext cx="7915885" cy="477803"/>
          </a:xfrm>
          <a:prstGeom prst="rect">
            <a:avLst/>
          </a:prstGeom>
        </p:spPr>
        <p:txBody>
          <a:bodyPr anchor="t" rtlCol="false" tIns="0" lIns="0" bIns="0" rIns="0">
            <a:spAutoFit/>
          </a:bodyPr>
          <a:lstStyle/>
          <a:p>
            <a:pPr algn="l">
              <a:lnSpc>
                <a:spcPts val="2521"/>
              </a:lnSpc>
            </a:pPr>
            <a:r>
              <a:rPr lang="en-US" sz="2101" b="true">
                <a:solidFill>
                  <a:srgbClr val="FFFFFF"/>
                </a:solidFill>
                <a:latin typeface="Calibri (MS) Bold"/>
                <a:ea typeface="Calibri (MS) Bold"/>
                <a:cs typeface="Calibri (MS) Bold"/>
                <a:sym typeface="Calibri (MS) Bold"/>
              </a:rPr>
              <a:t>OPPORTUNITIES</a:t>
            </a:r>
          </a:p>
        </p:txBody>
      </p:sp>
      <p:sp>
        <p:nvSpPr>
          <p:cNvPr name="TextBox 25" id="25"/>
          <p:cNvSpPr txBox="true"/>
          <p:nvPr/>
        </p:nvSpPr>
        <p:spPr>
          <a:xfrm rot="0">
            <a:off x="9700146" y="5763320"/>
            <a:ext cx="7915885" cy="477803"/>
          </a:xfrm>
          <a:prstGeom prst="rect">
            <a:avLst/>
          </a:prstGeom>
        </p:spPr>
        <p:txBody>
          <a:bodyPr anchor="t" rtlCol="false" tIns="0" lIns="0" bIns="0" rIns="0">
            <a:spAutoFit/>
          </a:bodyPr>
          <a:lstStyle/>
          <a:p>
            <a:pPr algn="l">
              <a:lnSpc>
                <a:spcPts val="2521"/>
              </a:lnSpc>
            </a:pPr>
            <a:r>
              <a:rPr lang="en-US" sz="2101" b="true">
                <a:solidFill>
                  <a:srgbClr val="FFFFFF"/>
                </a:solidFill>
                <a:latin typeface="Calibri (MS) Bold"/>
                <a:ea typeface="Calibri (MS) Bold"/>
                <a:cs typeface="Calibri (MS) Bold"/>
                <a:sym typeface="Calibri (MS) Bold"/>
              </a:rPr>
              <a:t>THREATS</a:t>
            </a:r>
          </a:p>
        </p:txBody>
      </p:sp>
      <p:sp>
        <p:nvSpPr>
          <p:cNvPr name="TextBox 26" id="26"/>
          <p:cNvSpPr txBox="true"/>
          <p:nvPr/>
        </p:nvSpPr>
        <p:spPr>
          <a:xfrm rot="0">
            <a:off x="352725" y="2543089"/>
            <a:ext cx="8855234" cy="2400300"/>
          </a:xfrm>
          <a:prstGeom prst="rect">
            <a:avLst/>
          </a:prstGeom>
        </p:spPr>
        <p:txBody>
          <a:bodyPr anchor="t" rtlCol="false" tIns="0" lIns="0" bIns="0" rIns="0">
            <a:spAutoFit/>
          </a:bodyPr>
          <a:lstStyle/>
          <a:p>
            <a:pPr algn="l">
              <a:lnSpc>
                <a:spcPts val="3720"/>
              </a:lnSpc>
              <a:spcBef>
                <a:spcPct val="0"/>
              </a:spcBef>
            </a:pPr>
            <a:r>
              <a:rPr lang="en-US" sz="3100">
                <a:solidFill>
                  <a:srgbClr val="000000"/>
                </a:solidFill>
                <a:latin typeface="Calibri (MS)"/>
                <a:ea typeface="Calibri (MS)"/>
                <a:cs typeface="Calibri (MS)"/>
                <a:sym typeface="Calibri (MS)"/>
              </a:rPr>
              <a:t>• Vertical integration &gt; lower production costs </a:t>
            </a:r>
          </a:p>
          <a:p>
            <a:pPr algn="l">
              <a:lnSpc>
                <a:spcPts val="3720"/>
              </a:lnSpc>
              <a:spcBef>
                <a:spcPct val="0"/>
              </a:spcBef>
            </a:pPr>
            <a:r>
              <a:rPr lang="en-US" sz="3100">
                <a:solidFill>
                  <a:srgbClr val="000000"/>
                </a:solidFill>
                <a:latin typeface="Calibri (MS)"/>
                <a:ea typeface="Calibri (MS)"/>
                <a:cs typeface="Calibri (MS)"/>
                <a:sym typeface="Calibri (MS)"/>
              </a:rPr>
              <a:t>• Makes own compressors, molds &amp; circuit boards </a:t>
            </a:r>
          </a:p>
          <a:p>
            <a:pPr algn="l">
              <a:lnSpc>
                <a:spcPts val="3720"/>
              </a:lnSpc>
              <a:spcBef>
                <a:spcPct val="0"/>
              </a:spcBef>
            </a:pPr>
            <a:r>
              <a:rPr lang="en-US" sz="3100">
                <a:solidFill>
                  <a:srgbClr val="000000"/>
                </a:solidFill>
                <a:latin typeface="Calibri (MS)"/>
                <a:ea typeface="Calibri (MS)"/>
                <a:cs typeface="Calibri (MS)"/>
                <a:sym typeface="Calibri (MS)"/>
              </a:rPr>
              <a:t>• 25,000 + sales points, 86 ISO-certified service centers </a:t>
            </a:r>
          </a:p>
          <a:p>
            <a:pPr algn="l">
              <a:lnSpc>
                <a:spcPts val="3720"/>
              </a:lnSpc>
              <a:spcBef>
                <a:spcPct val="0"/>
              </a:spcBef>
            </a:pPr>
            <a:r>
              <a:rPr lang="en-US" sz="3100">
                <a:solidFill>
                  <a:srgbClr val="000000"/>
                </a:solidFill>
                <a:latin typeface="Calibri (MS)"/>
                <a:ea typeface="Calibri (MS)"/>
                <a:cs typeface="Calibri (MS)"/>
                <a:sym typeface="Calibri (MS)"/>
              </a:rPr>
              <a:t>• High h brand equity (Best Enterprise</a:t>
            </a:r>
          </a:p>
          <a:p>
            <a:pPr algn="l">
              <a:lnSpc>
                <a:spcPts val="3720"/>
              </a:lnSpc>
              <a:spcBef>
                <a:spcPct val="0"/>
              </a:spcBef>
            </a:pPr>
          </a:p>
        </p:txBody>
      </p:sp>
      <p:sp>
        <p:nvSpPr>
          <p:cNvPr name="TextBox 27" id="27"/>
          <p:cNvSpPr txBox="true"/>
          <p:nvPr/>
        </p:nvSpPr>
        <p:spPr>
          <a:xfrm rot="0">
            <a:off x="9402804" y="2543089"/>
            <a:ext cx="8894921" cy="2047875"/>
          </a:xfrm>
          <a:prstGeom prst="rect">
            <a:avLst/>
          </a:prstGeom>
        </p:spPr>
        <p:txBody>
          <a:bodyPr anchor="t" rtlCol="false" tIns="0" lIns="0" bIns="0" rIns="0">
            <a:spAutoFit/>
          </a:bodyPr>
          <a:lstStyle/>
          <a:p>
            <a:pPr algn="l">
              <a:lnSpc>
                <a:spcPts val="3960"/>
              </a:lnSpc>
              <a:spcBef>
                <a:spcPct val="0"/>
              </a:spcBef>
            </a:pPr>
            <a:r>
              <a:rPr lang="en-US" sz="3300">
                <a:solidFill>
                  <a:srgbClr val="000000"/>
                </a:solidFill>
                <a:latin typeface="Calibri (MS)"/>
                <a:ea typeface="Calibri (MS)"/>
                <a:cs typeface="Calibri (MS)"/>
                <a:sym typeface="Calibri (MS)"/>
              </a:rPr>
              <a:t>• Heavy dependence on Bangladeshi market Revenue tied to local economic conditions </a:t>
            </a:r>
          </a:p>
          <a:p>
            <a:pPr algn="l">
              <a:lnSpc>
                <a:spcPts val="3960"/>
              </a:lnSpc>
              <a:spcBef>
                <a:spcPct val="0"/>
              </a:spcBef>
            </a:pPr>
            <a:r>
              <a:rPr lang="en-US" sz="3300">
                <a:solidFill>
                  <a:srgbClr val="000000"/>
                </a:solidFill>
                <a:latin typeface="Calibri (MS)"/>
                <a:ea typeface="Calibri (MS)"/>
                <a:cs typeface="Calibri (MS)"/>
                <a:sym typeface="Calibri (MS)"/>
              </a:rPr>
              <a:t>• Perceived as "budget brand" by some premium urban customers</a:t>
            </a:r>
          </a:p>
        </p:txBody>
      </p:sp>
      <p:sp>
        <p:nvSpPr>
          <p:cNvPr name="TextBox 28" id="28"/>
          <p:cNvSpPr txBox="true"/>
          <p:nvPr/>
        </p:nvSpPr>
        <p:spPr>
          <a:xfrm rot="0">
            <a:off x="382267" y="6533359"/>
            <a:ext cx="8569643" cy="2486025"/>
          </a:xfrm>
          <a:prstGeom prst="rect">
            <a:avLst/>
          </a:prstGeom>
        </p:spPr>
        <p:txBody>
          <a:bodyPr anchor="t" rtlCol="false" tIns="0" lIns="0" bIns="0" rIns="0">
            <a:spAutoFit/>
          </a:bodyPr>
          <a:lstStyle/>
          <a:p>
            <a:pPr algn="l">
              <a:lnSpc>
                <a:spcPts val="3840"/>
              </a:lnSpc>
              <a:spcBef>
                <a:spcPct val="0"/>
              </a:spcBef>
            </a:pPr>
            <a:r>
              <a:rPr lang="en-US" sz="3200">
                <a:solidFill>
                  <a:srgbClr val="000000"/>
                </a:solidFill>
                <a:latin typeface="Calibri (MS)"/>
                <a:ea typeface="Calibri (MS)"/>
                <a:cs typeface="Calibri (MS)"/>
                <a:sym typeface="Calibri (MS)"/>
              </a:rPr>
              <a:t>• Global demand for energy-efficient &amp; eco-friendly products </a:t>
            </a:r>
          </a:p>
          <a:p>
            <a:pPr algn="l">
              <a:lnSpc>
                <a:spcPts val="3840"/>
              </a:lnSpc>
              <a:spcBef>
                <a:spcPct val="0"/>
              </a:spcBef>
            </a:pPr>
            <a:r>
              <a:rPr lang="en-US" sz="3200">
                <a:solidFill>
                  <a:srgbClr val="000000"/>
                </a:solidFill>
                <a:latin typeface="Calibri (MS)"/>
                <a:ea typeface="Calibri (MS)"/>
                <a:cs typeface="Calibri (MS)"/>
                <a:sym typeface="Calibri (MS)"/>
              </a:rPr>
              <a:t>•Growing demand in Africa, Middle East &amp; EuropeGrowing demand in Africa</a:t>
            </a:r>
          </a:p>
          <a:p>
            <a:pPr algn="l">
              <a:lnSpc>
                <a:spcPts val="3840"/>
              </a:lnSpc>
              <a:spcBef>
                <a:spcPct val="0"/>
              </a:spcBef>
            </a:pPr>
          </a:p>
        </p:txBody>
      </p:sp>
      <p:sp>
        <p:nvSpPr>
          <p:cNvPr name="TextBox 29" id="29"/>
          <p:cNvSpPr txBox="true"/>
          <p:nvPr/>
        </p:nvSpPr>
        <p:spPr>
          <a:xfrm rot="0">
            <a:off x="9402804" y="6257134"/>
            <a:ext cx="8885196" cy="2971800"/>
          </a:xfrm>
          <a:prstGeom prst="rect">
            <a:avLst/>
          </a:prstGeom>
        </p:spPr>
        <p:txBody>
          <a:bodyPr anchor="t" rtlCol="false" tIns="0" lIns="0" bIns="0" rIns="0">
            <a:spAutoFit/>
          </a:bodyPr>
          <a:lstStyle/>
          <a:p>
            <a:pPr algn="l">
              <a:lnSpc>
                <a:spcPts val="3840"/>
              </a:lnSpc>
              <a:spcBef>
                <a:spcPct val="0"/>
              </a:spcBef>
            </a:pPr>
            <a:r>
              <a:rPr lang="en-US" sz="3200">
                <a:solidFill>
                  <a:srgbClr val="000000"/>
                </a:solidFill>
                <a:latin typeface="Calibri (MS)"/>
                <a:ea typeface="Calibri (MS)"/>
                <a:cs typeface="Calibri (MS)"/>
                <a:sym typeface="Calibri (MS)"/>
              </a:rPr>
              <a:t>• Inflation &amp; local currency devaluation squeezing margins </a:t>
            </a:r>
          </a:p>
          <a:p>
            <a:pPr algn="l">
              <a:lnSpc>
                <a:spcPts val="3840"/>
              </a:lnSpc>
              <a:spcBef>
                <a:spcPct val="0"/>
              </a:spcBef>
            </a:pPr>
            <a:r>
              <a:rPr lang="en-US" sz="3200">
                <a:solidFill>
                  <a:srgbClr val="000000"/>
                </a:solidFill>
                <a:latin typeface="Calibri (MS)"/>
                <a:ea typeface="Calibri (MS)"/>
                <a:cs typeface="Calibri (MS)"/>
                <a:sym typeface="Calibri (MS)"/>
              </a:rPr>
              <a:t>• Heavy spending by international competitors in Bangladesh </a:t>
            </a:r>
          </a:p>
          <a:p>
            <a:pPr algn="l">
              <a:lnSpc>
                <a:spcPts val="3840"/>
              </a:lnSpc>
              <a:spcBef>
                <a:spcPct val="0"/>
              </a:spcBef>
            </a:pPr>
            <a:r>
              <a:rPr lang="en-US" sz="3200">
                <a:solidFill>
                  <a:srgbClr val="000000"/>
                </a:solidFill>
                <a:latin typeface="Calibri (MS)"/>
                <a:ea typeface="Calibri (MS)"/>
                <a:cs typeface="Calibri (MS)"/>
                <a:sym typeface="Calibri (MS)"/>
              </a:rPr>
              <a:t>• Rapid tech obsolescence requires constant R&amp;D investment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64748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97725" cy="1441304"/>
            <a:chOff x="0" y="0"/>
            <a:chExt cx="24396967" cy="1921739"/>
          </a:xfrm>
        </p:grpSpPr>
        <p:sp>
          <p:nvSpPr>
            <p:cNvPr name="Freeform 3" id="3"/>
            <p:cNvSpPr/>
            <p:nvPr/>
          </p:nvSpPr>
          <p:spPr>
            <a:xfrm flipH="false" flipV="false" rot="0">
              <a:off x="0" y="0"/>
              <a:ext cx="24396954" cy="1921764"/>
            </a:xfrm>
            <a:custGeom>
              <a:avLst/>
              <a:gdLst/>
              <a:ahLst/>
              <a:cxnLst/>
              <a:rect r="r" b="b" t="t" l="l"/>
              <a:pathLst>
                <a:path h="1921764" w="24396954">
                  <a:moveTo>
                    <a:pt x="0" y="0"/>
                  </a:moveTo>
                  <a:lnTo>
                    <a:pt x="24396954" y="0"/>
                  </a:lnTo>
                  <a:lnTo>
                    <a:pt x="24396954" y="1921764"/>
                  </a:lnTo>
                  <a:lnTo>
                    <a:pt x="0" y="1921764"/>
                  </a:lnTo>
                  <a:close/>
                </a:path>
              </a:pathLst>
            </a:custGeom>
            <a:solidFill>
              <a:srgbClr val="CC0000"/>
            </a:solidFill>
          </p:spPr>
        </p:sp>
      </p:grpSp>
      <p:grpSp>
        <p:nvGrpSpPr>
          <p:cNvPr name="Group 4" id="4"/>
          <p:cNvGrpSpPr/>
          <p:nvPr/>
        </p:nvGrpSpPr>
        <p:grpSpPr>
          <a:xfrm rot="0">
            <a:off x="549069" y="9814608"/>
            <a:ext cx="17158402" cy="68637"/>
            <a:chOff x="0" y="0"/>
            <a:chExt cx="22877869" cy="91516"/>
          </a:xfrm>
        </p:grpSpPr>
        <p:sp>
          <p:nvSpPr>
            <p:cNvPr name="Freeform 5" id="5"/>
            <p:cNvSpPr/>
            <p:nvPr/>
          </p:nvSpPr>
          <p:spPr>
            <a:xfrm flipH="false" flipV="false" rot="0">
              <a:off x="0" y="0"/>
              <a:ext cx="22877907" cy="91567"/>
            </a:xfrm>
            <a:custGeom>
              <a:avLst/>
              <a:gdLst/>
              <a:ahLst/>
              <a:cxnLst/>
              <a:rect r="r" b="b" t="t" l="l"/>
              <a:pathLst>
                <a:path h="91567" w="22877907">
                  <a:moveTo>
                    <a:pt x="0" y="0"/>
                  </a:moveTo>
                  <a:lnTo>
                    <a:pt x="22877907" y="0"/>
                  </a:lnTo>
                  <a:lnTo>
                    <a:pt x="22877907" y="91567"/>
                  </a:lnTo>
                  <a:lnTo>
                    <a:pt x="0" y="91567"/>
                  </a:lnTo>
                  <a:close/>
                </a:path>
              </a:pathLst>
            </a:custGeom>
            <a:solidFill>
              <a:srgbClr val="CC0000"/>
            </a:solidFill>
          </p:spPr>
        </p:sp>
      </p:grpSp>
      <p:grpSp>
        <p:nvGrpSpPr>
          <p:cNvPr name="Group 6" id="6"/>
          <p:cNvGrpSpPr/>
          <p:nvPr/>
        </p:nvGrpSpPr>
        <p:grpSpPr>
          <a:xfrm rot="0">
            <a:off x="549069" y="10041732"/>
            <a:ext cx="17158402" cy="47625"/>
            <a:chOff x="0" y="0"/>
            <a:chExt cx="22877869" cy="63500"/>
          </a:xfrm>
        </p:grpSpPr>
        <p:sp>
          <p:nvSpPr>
            <p:cNvPr name="Freeform 7" id="7"/>
            <p:cNvSpPr/>
            <p:nvPr/>
          </p:nvSpPr>
          <p:spPr>
            <a:xfrm flipH="false" flipV="false" rot="0">
              <a:off x="0" y="0"/>
              <a:ext cx="22877907" cy="63551"/>
            </a:xfrm>
            <a:custGeom>
              <a:avLst/>
              <a:gdLst/>
              <a:ahLst/>
              <a:cxnLst/>
              <a:rect r="r" b="b" t="t" l="l"/>
              <a:pathLst>
                <a:path h="63551" w="22877907">
                  <a:moveTo>
                    <a:pt x="0" y="0"/>
                  </a:moveTo>
                  <a:lnTo>
                    <a:pt x="22877907" y="0"/>
                  </a:lnTo>
                  <a:lnTo>
                    <a:pt x="22877907" y="63551"/>
                  </a:lnTo>
                  <a:lnTo>
                    <a:pt x="0" y="63551"/>
                  </a:lnTo>
                  <a:close/>
                </a:path>
              </a:pathLst>
            </a:custGeom>
            <a:solidFill>
              <a:srgbClr val="163F97"/>
            </a:solidFill>
          </p:spPr>
        </p:sp>
      </p:grpSp>
      <p:sp>
        <p:nvSpPr>
          <p:cNvPr name="Freeform 8" id="8"/>
          <p:cNvSpPr/>
          <p:nvPr/>
        </p:nvSpPr>
        <p:spPr>
          <a:xfrm flipH="false" flipV="false" rot="0">
            <a:off x="16669756" y="8695011"/>
            <a:ext cx="1591989" cy="1591989"/>
          </a:xfrm>
          <a:custGeom>
            <a:avLst/>
            <a:gdLst/>
            <a:ahLst/>
            <a:cxnLst/>
            <a:rect r="r" b="b" t="t" l="l"/>
            <a:pathLst>
              <a:path h="1591989" w="1591989">
                <a:moveTo>
                  <a:pt x="0" y="0"/>
                </a:moveTo>
                <a:lnTo>
                  <a:pt x="1591989" y="0"/>
                </a:lnTo>
                <a:lnTo>
                  <a:pt x="1591989" y="1591989"/>
                </a:lnTo>
                <a:lnTo>
                  <a:pt x="0" y="1591989"/>
                </a:lnTo>
                <a:lnTo>
                  <a:pt x="0" y="0"/>
                </a:lnTo>
                <a:close/>
              </a:path>
            </a:pathLst>
          </a:custGeom>
          <a:blipFill>
            <a:blip r:embed="rId2"/>
            <a:stretch>
              <a:fillRect l="0" t="0" r="0" b="0"/>
            </a:stretch>
          </a:blipFill>
        </p:spPr>
      </p:sp>
      <p:sp>
        <p:nvSpPr>
          <p:cNvPr name="TextBox 9" id="9"/>
          <p:cNvSpPr txBox="true"/>
          <p:nvPr/>
        </p:nvSpPr>
        <p:spPr>
          <a:xfrm rot="0">
            <a:off x="1028700" y="276225"/>
            <a:ext cx="3685650" cy="876300"/>
          </a:xfrm>
          <a:prstGeom prst="rect">
            <a:avLst/>
          </a:prstGeom>
        </p:spPr>
        <p:txBody>
          <a:bodyPr anchor="t" rtlCol="false" tIns="0" lIns="0" bIns="0" rIns="0">
            <a:spAutoFit/>
          </a:bodyPr>
          <a:lstStyle/>
          <a:p>
            <a:pPr algn="l">
              <a:lnSpc>
                <a:spcPts val="6003"/>
              </a:lnSpc>
            </a:pPr>
            <a:r>
              <a:rPr lang="en-US" sz="5003" b="true">
                <a:solidFill>
                  <a:srgbClr val="FFFFFF"/>
                </a:solidFill>
                <a:latin typeface="Calibri (MS) Bold"/>
                <a:ea typeface="Calibri (MS) Bold"/>
                <a:cs typeface="Calibri (MS) Bold"/>
                <a:sym typeface="Calibri (MS) Bold"/>
              </a:rPr>
              <a:t>Conclusion</a:t>
            </a:r>
          </a:p>
        </p:txBody>
      </p:sp>
      <p:sp>
        <p:nvSpPr>
          <p:cNvPr name="TextBox 10" id="10"/>
          <p:cNvSpPr txBox="true"/>
          <p:nvPr/>
        </p:nvSpPr>
        <p:spPr>
          <a:xfrm rot="0">
            <a:off x="-5206" y="2364372"/>
            <a:ext cx="17843440" cy="2000250"/>
          </a:xfrm>
          <a:prstGeom prst="rect">
            <a:avLst/>
          </a:prstGeom>
        </p:spPr>
        <p:txBody>
          <a:bodyPr anchor="t" rtlCol="false" tIns="0" lIns="0" bIns="0" rIns="0">
            <a:spAutoFit/>
          </a:bodyPr>
          <a:lstStyle/>
          <a:p>
            <a:pPr algn="l" marL="906780" indent="-453390" lvl="1">
              <a:lnSpc>
                <a:spcPts val="5040"/>
              </a:lnSpc>
              <a:buFont typeface="Arial"/>
              <a:buChar char="•"/>
            </a:pPr>
            <a:r>
              <a:rPr lang="en-US" b="true" sz="4200">
                <a:solidFill>
                  <a:srgbClr val="FFFFFF"/>
                </a:solidFill>
                <a:latin typeface="Calibri (MS) Bold"/>
                <a:ea typeface="Calibri (MS) Bold"/>
                <a:cs typeface="Calibri (MS) Bold"/>
                <a:sym typeface="Calibri (MS) Bold"/>
              </a:rPr>
              <a:t>Walton Hi Tech Industries PLC has established itself as Bangladesh's leading electronics brand through smart pricing, vertical integration, and continuous innovation.</a:t>
            </a:r>
          </a:p>
        </p:txBody>
      </p:sp>
      <p:sp>
        <p:nvSpPr>
          <p:cNvPr name="TextBox 11" id="11"/>
          <p:cNvSpPr txBox="true"/>
          <p:nvPr/>
        </p:nvSpPr>
        <p:spPr>
          <a:xfrm rot="0">
            <a:off x="-5206" y="5287689"/>
            <a:ext cx="18266951" cy="2000250"/>
          </a:xfrm>
          <a:prstGeom prst="rect">
            <a:avLst/>
          </a:prstGeom>
        </p:spPr>
        <p:txBody>
          <a:bodyPr anchor="t" rtlCol="false" tIns="0" lIns="0" bIns="0" rIns="0">
            <a:spAutoFit/>
          </a:bodyPr>
          <a:lstStyle/>
          <a:p>
            <a:pPr algn="l" marL="906777" indent="-453388" lvl="1">
              <a:lnSpc>
                <a:spcPts val="5039"/>
              </a:lnSpc>
              <a:buFont typeface="Arial"/>
              <a:buChar char="•"/>
            </a:pPr>
            <a:r>
              <a:rPr lang="en-US" b="true" sz="4199">
                <a:solidFill>
                  <a:srgbClr val="FFFFFF"/>
                </a:solidFill>
                <a:latin typeface="Calibri (MS) Bold"/>
                <a:ea typeface="Calibri (MS) Bold"/>
                <a:cs typeface="Calibri (MS) Bold"/>
                <a:sym typeface="Calibri (MS) Bold"/>
              </a:rPr>
              <a:t>Walton's strength lies in its wide distribution network and strong brand loyalty. By continuing to invest in digitalization, product diversification, and global expansion, Walton is well-positioned for long-term success.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76849" y="-900663"/>
            <a:ext cx="12791303" cy="9442307"/>
          </a:xfrm>
          <a:custGeom>
            <a:avLst/>
            <a:gdLst/>
            <a:ahLst/>
            <a:cxnLst/>
            <a:rect r="r" b="b" t="t" l="l"/>
            <a:pathLst>
              <a:path h="9442307" w="12791303">
                <a:moveTo>
                  <a:pt x="0" y="0"/>
                </a:moveTo>
                <a:lnTo>
                  <a:pt x="12791303" y="0"/>
                </a:lnTo>
                <a:lnTo>
                  <a:pt x="12791303" y="9442307"/>
                </a:lnTo>
                <a:lnTo>
                  <a:pt x="0" y="9442307"/>
                </a:lnTo>
                <a:lnTo>
                  <a:pt x="0" y="0"/>
                </a:lnTo>
                <a:close/>
              </a:path>
            </a:pathLst>
          </a:custGeom>
          <a:blipFill>
            <a:blip r:embed="rId2">
              <a:alphaModFix amt="42000"/>
            </a:blip>
            <a:stretch>
              <a:fillRect l="0" t="0" r="0" b="0"/>
            </a:stretch>
          </a:blipFill>
        </p:spPr>
      </p:sp>
      <p:sp>
        <p:nvSpPr>
          <p:cNvPr name="Freeform 3" id="3"/>
          <p:cNvSpPr/>
          <p:nvPr/>
        </p:nvSpPr>
        <p:spPr>
          <a:xfrm flipH="false" flipV="false" rot="-10659522">
            <a:off x="-1466084" y="-1104127"/>
            <a:ext cx="6017764" cy="3599717"/>
          </a:xfrm>
          <a:custGeom>
            <a:avLst/>
            <a:gdLst/>
            <a:ahLst/>
            <a:cxnLst/>
            <a:rect r="r" b="b" t="t" l="l"/>
            <a:pathLst>
              <a:path h="3599717" w="6017764">
                <a:moveTo>
                  <a:pt x="0" y="0"/>
                </a:moveTo>
                <a:lnTo>
                  <a:pt x="6017764" y="0"/>
                </a:lnTo>
                <a:lnTo>
                  <a:pt x="6017764" y="3599717"/>
                </a:lnTo>
                <a:lnTo>
                  <a:pt x="0" y="3599717"/>
                </a:lnTo>
                <a:lnTo>
                  <a:pt x="0" y="0"/>
                </a:lnTo>
                <a:close/>
              </a:path>
            </a:pathLst>
          </a:custGeom>
          <a:blipFill>
            <a:blip r:embed="rId3">
              <a:alphaModFix amt="12000"/>
            </a:blip>
            <a:stretch>
              <a:fillRect l="0" t="0" r="0" b="0"/>
            </a:stretch>
          </a:blipFill>
        </p:spPr>
      </p:sp>
      <p:sp>
        <p:nvSpPr>
          <p:cNvPr name="Freeform 4" id="4"/>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4">
              <a:alphaModFix amt="2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854102" y="3518212"/>
            <a:ext cx="14579797" cy="6055133"/>
          </a:xfrm>
          <a:prstGeom prst="rect">
            <a:avLst/>
          </a:prstGeom>
        </p:spPr>
        <p:txBody>
          <a:bodyPr anchor="t" rtlCol="false" tIns="0" lIns="0" bIns="0" rIns="0">
            <a:spAutoFit/>
          </a:bodyPr>
          <a:lstStyle/>
          <a:p>
            <a:pPr algn="l">
              <a:lnSpc>
                <a:spcPts val="23095"/>
              </a:lnSpc>
            </a:pPr>
            <a:r>
              <a:rPr lang="en-US" sz="24569" spc="-1154" b="true">
                <a:solidFill>
                  <a:srgbClr val="424242"/>
                </a:solidFill>
                <a:latin typeface="Open Sauce Heavy"/>
                <a:ea typeface="Open Sauce Heavy"/>
                <a:cs typeface="Open Sauce Heavy"/>
                <a:sym typeface="Open Sauce Heavy"/>
              </a:rPr>
              <a:t>Thank You</a:t>
            </a:r>
          </a:p>
        </p:txBody>
      </p:sp>
      <p:sp>
        <p:nvSpPr>
          <p:cNvPr name="AutoShape 6" id="6"/>
          <p:cNvSpPr/>
          <p:nvPr/>
        </p:nvSpPr>
        <p:spPr>
          <a:xfrm>
            <a:off x="1045163" y="1480091"/>
            <a:ext cx="16214137" cy="0"/>
          </a:xfrm>
          <a:prstGeom prst="line">
            <a:avLst/>
          </a:prstGeom>
          <a:ln cap="flat" w="19050">
            <a:solidFill>
              <a:srgbClr val="424242"/>
            </a:solidFill>
            <a:prstDash val="solid"/>
            <a:headEnd type="none" len="sm" w="sm"/>
            <a:tailEnd type="none" len="sm" w="sm"/>
          </a:ln>
        </p:spPr>
      </p:sp>
      <p:sp>
        <p:nvSpPr>
          <p:cNvPr name="Freeform 7" id="7"/>
          <p:cNvSpPr/>
          <p:nvPr/>
        </p:nvSpPr>
        <p:spPr>
          <a:xfrm flipH="false" flipV="false" rot="0">
            <a:off x="16906368" y="8984006"/>
            <a:ext cx="1381632" cy="1381632"/>
          </a:xfrm>
          <a:custGeom>
            <a:avLst/>
            <a:gdLst/>
            <a:ahLst/>
            <a:cxnLst/>
            <a:rect r="r" b="b" t="t" l="l"/>
            <a:pathLst>
              <a:path h="1381632" w="1381632">
                <a:moveTo>
                  <a:pt x="0" y="0"/>
                </a:moveTo>
                <a:lnTo>
                  <a:pt x="1381632" y="0"/>
                </a:lnTo>
                <a:lnTo>
                  <a:pt x="1381632" y="1381632"/>
                </a:lnTo>
                <a:lnTo>
                  <a:pt x="0" y="1381632"/>
                </a:lnTo>
                <a:lnTo>
                  <a:pt x="0" y="0"/>
                </a:lnTo>
                <a:close/>
              </a:path>
            </a:pathLst>
          </a:custGeom>
          <a:blipFill>
            <a:blip r:embed="rId6"/>
            <a:stretch>
              <a:fillRect l="0" t="0" r="0" b="0"/>
            </a:stretch>
          </a:blipFill>
        </p:spPr>
      </p:sp>
      <p:sp>
        <p:nvSpPr>
          <p:cNvPr name="TextBox 8" id="8"/>
          <p:cNvSpPr txBox="true"/>
          <p:nvPr/>
        </p:nvSpPr>
        <p:spPr>
          <a:xfrm rot="0">
            <a:off x="7966726" y="7626287"/>
            <a:ext cx="3500324" cy="1357719"/>
          </a:xfrm>
          <a:prstGeom prst="rect">
            <a:avLst/>
          </a:prstGeom>
        </p:spPr>
        <p:txBody>
          <a:bodyPr anchor="t" rtlCol="false" tIns="0" lIns="0" bIns="0" rIns="0">
            <a:spAutoFit/>
          </a:bodyPr>
          <a:lstStyle/>
          <a:p>
            <a:pPr algn="l">
              <a:lnSpc>
                <a:spcPts val="5445"/>
              </a:lnSpc>
            </a:pPr>
            <a:r>
              <a:rPr lang="en-US" sz="4321" spc="-242">
                <a:solidFill>
                  <a:srgbClr val="424242"/>
                </a:solidFill>
                <a:latin typeface="Open Sauce Light"/>
                <a:ea typeface="Open Sauce Light"/>
                <a:cs typeface="Open Sauce Light"/>
                <a:sym typeface="Open Sauce Light"/>
              </a:rPr>
              <a:t>for your time and attention</a:t>
            </a:r>
          </a:p>
        </p:txBody>
      </p:sp>
      <p:sp>
        <p:nvSpPr>
          <p:cNvPr name="Freeform 9" id="9"/>
          <p:cNvSpPr/>
          <p:nvPr/>
        </p:nvSpPr>
        <p:spPr>
          <a:xfrm flipH="false" flipV="false" rot="0">
            <a:off x="0" y="0"/>
            <a:ext cx="1381632" cy="1381632"/>
          </a:xfrm>
          <a:custGeom>
            <a:avLst/>
            <a:gdLst/>
            <a:ahLst/>
            <a:cxnLst/>
            <a:rect r="r" b="b" t="t" l="l"/>
            <a:pathLst>
              <a:path h="1381632" w="1381632">
                <a:moveTo>
                  <a:pt x="0" y="0"/>
                </a:moveTo>
                <a:lnTo>
                  <a:pt x="1381632" y="0"/>
                </a:lnTo>
                <a:lnTo>
                  <a:pt x="1381632" y="1381632"/>
                </a:lnTo>
                <a:lnTo>
                  <a:pt x="0" y="1381632"/>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DAHIKNigBhU</dc:identifier>
  <dcterms:modified xsi:type="dcterms:W3CDTF">2011-08-01T06:04:30Z</dcterms:modified>
  <cp:revision>1</cp:revision>
  <dc:title>Marketing Mix</dc:title>
</cp:coreProperties>
</file>