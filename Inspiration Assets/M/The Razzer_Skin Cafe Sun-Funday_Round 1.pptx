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65" r:id="rId3"/>
    <p:sldId id="279" r:id="rId4"/>
    <p:sldId id="278" r:id="rId5"/>
    <p:sldId id="269" r:id="rId6"/>
    <p:sldId id="259" r:id="rId7"/>
    <p:sldId id="261" r:id="rId8"/>
    <p:sldId id="262" r:id="rId9"/>
    <p:sldId id="267" r:id="rId10"/>
    <p:sldId id="266" r:id="rId11"/>
    <p:sldId id="263" r:id="rId12"/>
    <p:sldId id="264" r:id="rId13"/>
    <p:sldId id="273" r:id="rId14"/>
    <p:sldId id="270" r:id="rId15"/>
    <p:sldId id="272" r:id="rId16"/>
    <p:sldId id="280" r:id="rId17"/>
    <p:sldId id="28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85C12"/>
    <a:srgbClr val="FFFFFF"/>
    <a:srgbClr val="DB6413"/>
    <a:srgbClr val="F2F2F2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7" autoAdjust="0"/>
    <p:restoredTop sz="94660"/>
  </p:normalViewPr>
  <p:slideViewPr>
    <p:cSldViewPr snapToGrid="0" showGuides="1">
      <p:cViewPr varScale="1">
        <p:scale>
          <a:sx n="74" d="100"/>
          <a:sy n="74" d="100"/>
        </p:scale>
        <p:origin x="456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3" Type="http://schemas.openxmlformats.org/officeDocument/2006/relationships/slide" Target="slides/slide2.xml" /><Relationship Id="rId21" Type="http://schemas.openxmlformats.org/officeDocument/2006/relationships/theme" Target="theme/theme1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tableStyles" Target="tableStyle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60ACE-8AE7-4902-B577-BBD778152561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DE516-B0B4-4BBD-8D3A-F36156CA8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912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60ACE-8AE7-4902-B577-BBD778152561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DE516-B0B4-4BBD-8D3A-F36156CA8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47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60ACE-8AE7-4902-B577-BBD778152561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DE516-B0B4-4BBD-8D3A-F36156CA8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38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60ACE-8AE7-4902-B577-BBD778152561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DE516-B0B4-4BBD-8D3A-F36156CA8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405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60ACE-8AE7-4902-B577-BBD778152561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DE516-B0B4-4BBD-8D3A-F36156CA8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792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60ACE-8AE7-4902-B577-BBD778152561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DE516-B0B4-4BBD-8D3A-F36156CA8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109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60ACE-8AE7-4902-B577-BBD778152561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DE516-B0B4-4BBD-8D3A-F36156CA8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334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60ACE-8AE7-4902-B577-BBD778152561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DE516-B0B4-4BBD-8D3A-F36156CA8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779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60ACE-8AE7-4902-B577-BBD778152561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DE516-B0B4-4BBD-8D3A-F36156CA8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264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60ACE-8AE7-4902-B577-BBD778152561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DE516-B0B4-4BBD-8D3A-F36156CA8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588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60ACE-8AE7-4902-B577-BBD778152561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DE516-B0B4-4BBD-8D3A-F36156CA8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819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860ACE-8AE7-4902-B577-BBD778152561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5DE516-B0B4-4BBD-8D3A-F36156CA8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531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 /><Relationship Id="rId3" Type="http://schemas.openxmlformats.org/officeDocument/2006/relationships/image" Target="../media/image3.png" /><Relationship Id="rId7" Type="http://schemas.openxmlformats.org/officeDocument/2006/relationships/image" Target="../media/image7.png" /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6.png" /><Relationship Id="rId5" Type="http://schemas.openxmlformats.org/officeDocument/2006/relationships/image" Target="../media/image5.png" /><Relationship Id="rId4" Type="http://schemas.openxmlformats.org/officeDocument/2006/relationships/image" Target="../media/image4.pn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 /><Relationship Id="rId2" Type="http://schemas.openxmlformats.org/officeDocument/2006/relationships/image" Target="../media/image9.jpe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11.jpe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image" Target="../media/image12.jpe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13.jpeg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 /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 /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16.jpe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 /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 /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21.jpeg" /><Relationship Id="rId5" Type="http://schemas.openxmlformats.org/officeDocument/2006/relationships/image" Target="../media/image20.jpeg" /><Relationship Id="rId4" Type="http://schemas.openxmlformats.org/officeDocument/2006/relationships/image" Target="../media/image19.jpeg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 /><Relationship Id="rId7" Type="http://schemas.openxmlformats.org/officeDocument/2006/relationships/image" Target="../media/image25.jpeg" /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24.jpeg" /><Relationship Id="rId5" Type="http://schemas.openxmlformats.org/officeDocument/2006/relationships/image" Target="../media/image23.jpeg" /><Relationship Id="rId4" Type="http://schemas.openxmlformats.org/officeDocument/2006/relationships/image" Target="../media/image22.jpeg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 /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7.xml" /><Relationship Id="rId5" Type="http://schemas.openxmlformats.org/officeDocument/2006/relationships/image" Target="../media/image28.jpeg" /><Relationship Id="rId4" Type="http://schemas.openxmlformats.org/officeDocument/2006/relationships/image" Target="../media/image27.jpeg" 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jpeg" /><Relationship Id="rId3" Type="http://schemas.openxmlformats.org/officeDocument/2006/relationships/image" Target="../media/image29.jpeg" /><Relationship Id="rId7" Type="http://schemas.openxmlformats.org/officeDocument/2006/relationships/image" Target="../media/image33.jpeg" /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32.jpeg" /><Relationship Id="rId5" Type="http://schemas.openxmlformats.org/officeDocument/2006/relationships/image" Target="../media/image31.jpeg" /><Relationship Id="rId4" Type="http://schemas.openxmlformats.org/officeDocument/2006/relationships/image" Target="../media/image30.jpeg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 /><Relationship Id="rId7" Type="http://schemas.openxmlformats.org/officeDocument/2006/relationships/image" Target="../media/image13.jpeg" /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38.jpeg" /><Relationship Id="rId5" Type="http://schemas.openxmlformats.org/officeDocument/2006/relationships/image" Target="../media/image37.jpeg" /><Relationship Id="rId4" Type="http://schemas.openxmlformats.org/officeDocument/2006/relationships/image" Target="../media/image36.jpeg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 /><Relationship Id="rId7" Type="http://schemas.openxmlformats.org/officeDocument/2006/relationships/image" Target="../media/image42.jpeg" /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41.jpeg" /><Relationship Id="rId5" Type="http://schemas.openxmlformats.org/officeDocument/2006/relationships/image" Target="../media/image40.jpeg" /><Relationship Id="rId4" Type="http://schemas.openxmlformats.org/officeDocument/2006/relationships/image" Target="../media/image39.jpeg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 /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7.xml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 /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7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 /><Relationship Id="rId1" Type="http://schemas.openxmlformats.org/officeDocument/2006/relationships/slideLayout" Target="../slideLayouts/slideLayout7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 /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6580"/>
            <a:ext cx="12239627" cy="6831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662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67454" y="-2665381"/>
            <a:ext cx="6859164" cy="1218992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019324" y="216760"/>
            <a:ext cx="4155422" cy="615553"/>
          </a:xfrm>
          <a:prstGeom prst="roundRect">
            <a:avLst/>
          </a:prstGeom>
          <a:solidFill>
            <a:schemeClr val="bg1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105023" y="262926"/>
            <a:ext cx="40697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85C12"/>
                </a:solidFill>
                <a:latin typeface="Arial Rounded MT Bold" panose="020F0704030504030204" pitchFamily="34" charset="0"/>
              </a:rPr>
              <a:t>Problem Identification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9243" y="1748705"/>
            <a:ext cx="3387144" cy="3931691"/>
          </a:xfrm>
          <a:prstGeom prst="roundRect">
            <a:avLst/>
          </a:prstGeom>
          <a:solidFill>
            <a:schemeClr val="bg1"/>
          </a:solidFill>
          <a:ln w="762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67982" y="3023172"/>
            <a:ext cx="3049669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solidFill>
                  <a:srgbClr val="C85C12"/>
                </a:solidFill>
                <a:latin typeface="Arial Rounded MT Bold" panose="020F0704030504030204" pitchFamily="34" charset="0"/>
              </a:rPr>
              <a:t>Consumers distrust local premium sunscreens, favor foreign brands, and see sunscreen as optional rather than essential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4246" y="1774088"/>
            <a:ext cx="25371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Core Problem: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7360" y="2315642"/>
            <a:ext cx="704850" cy="70485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305833" y="1339315"/>
            <a:ext cx="7314769" cy="2228132"/>
          </a:xfrm>
          <a:prstGeom prst="rect">
            <a:avLst/>
          </a:prstGeom>
          <a:solidFill>
            <a:schemeClr val="bg1"/>
          </a:solidFill>
          <a:ln w="762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305834" y="4074449"/>
            <a:ext cx="7314769" cy="2228132"/>
          </a:xfrm>
          <a:prstGeom prst="rect">
            <a:avLst/>
          </a:prstGeom>
          <a:solidFill>
            <a:schemeClr val="bg1"/>
          </a:solidFill>
          <a:ln w="762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4280024" y="2023553"/>
            <a:ext cx="20756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Poor skincare literacy- </a:t>
            </a:r>
            <a:r>
              <a:rPr lang="en-US" dirty="0">
                <a:solidFill>
                  <a:srgbClr val="C85C12"/>
                </a:solidFill>
                <a:latin typeface="Arial Rounded MT Bold" panose="020F0704030504030204" pitchFamily="34" charset="0"/>
              </a:rPr>
              <a:t>long term care undervalued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23215" y="2051776"/>
            <a:ext cx="28408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Saturated Market -</a:t>
            </a:r>
            <a:r>
              <a:rPr lang="en-US" dirty="0">
                <a:solidFill>
                  <a:srgbClr val="C85C12"/>
                </a:solidFill>
                <a:latin typeface="Arial Rounded MT Bold" panose="020F0704030504030204" pitchFamily="34" charset="0"/>
              </a:rPr>
              <a:t>Crowded field, foreign control, little room to stand 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75392" y="2037960"/>
            <a:ext cx="255409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Consumer Looks for cheaper alternatives- </a:t>
            </a:r>
            <a:r>
              <a:rPr lang="en-US" dirty="0">
                <a:solidFill>
                  <a:srgbClr val="C85C12"/>
                </a:solidFill>
                <a:latin typeface="Arial Rounded MT Bold" panose="020F0704030504030204" pitchFamily="34" charset="0"/>
              </a:rPr>
              <a:t>turning premium positioning into adoption hurdles 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8156" y="1466778"/>
            <a:ext cx="704850" cy="70485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8010" y="1466778"/>
            <a:ext cx="704850" cy="70485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1778" y="1445559"/>
            <a:ext cx="704850" cy="7048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447637" y="4906762"/>
            <a:ext cx="24985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85C12"/>
                </a:solidFill>
                <a:latin typeface="Arial Rounded MT Bold" panose="020F0704030504030204" pitchFamily="34" charset="0"/>
              </a:rPr>
              <a:t>Consumer perceive local skincare as risky, not reliable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19518" y="4906762"/>
            <a:ext cx="37144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85C12"/>
                </a:solidFill>
                <a:latin typeface="Arial Rounded MT Bold" panose="020F0704030504030204" pitchFamily="34" charset="0"/>
              </a:rPr>
              <a:t>Widespread fake cosmetics have made consumers skeptical for all brands especially local ones.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0988" y="4196180"/>
            <a:ext cx="704850" cy="70485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5412" y="4213933"/>
            <a:ext cx="742950" cy="74295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6804062" y="1004069"/>
            <a:ext cx="2638877" cy="475105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ounded Rectangle 23"/>
          <p:cNvSpPr/>
          <p:nvPr/>
        </p:nvSpPr>
        <p:spPr>
          <a:xfrm>
            <a:off x="6839697" y="3804803"/>
            <a:ext cx="2638877" cy="475105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6883860" y="1027823"/>
            <a:ext cx="25505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85C12"/>
                </a:solidFill>
                <a:latin typeface="Arial Rounded MT Bold" panose="020F0704030504030204" pitchFamily="34" charset="0"/>
              </a:rPr>
              <a:t>Market Challenges: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08992" y="3822235"/>
            <a:ext cx="21713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85C12"/>
                </a:solidFill>
                <a:latin typeface="Arial Rounded MT Bold" panose="020F0704030504030204" pitchFamily="34" charset="0"/>
              </a:rPr>
              <a:t>Trust Barriers</a:t>
            </a:r>
          </a:p>
        </p:txBody>
      </p:sp>
    </p:spTree>
    <p:extLst>
      <p:ext uri="{BB962C8B-B14F-4D97-AF65-F5344CB8AC3E}">
        <p14:creationId xmlns:p14="http://schemas.microsoft.com/office/powerpoint/2010/main" val="2034635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90753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155864" y="230677"/>
            <a:ext cx="559185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C85C12"/>
                </a:solidFill>
                <a:latin typeface="Arial Rounded MT Bold" panose="020F0704030504030204" pitchFamily="34" charset="0"/>
              </a:rPr>
              <a:t>Target Group or Buyer Persona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3737" y="984574"/>
            <a:ext cx="5408053" cy="2717683"/>
          </a:xfrm>
          <a:prstGeom prst="roundRect">
            <a:avLst/>
          </a:prstGeom>
          <a:solidFill>
            <a:srgbClr val="C85C12"/>
          </a:solidFill>
          <a:ln w="571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667" y="1278229"/>
            <a:ext cx="2150771" cy="215077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3737" y="3907537"/>
            <a:ext cx="5408053" cy="2493264"/>
          </a:xfrm>
          <a:prstGeom prst="roundRect">
            <a:avLst/>
          </a:prstGeom>
          <a:solidFill>
            <a:srgbClr val="C85C12"/>
          </a:solidFill>
          <a:ln w="571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3006144" y="1633581"/>
            <a:ext cx="308985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Name: Anika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University Student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Hate White Cast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Trust gap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645" y="4127076"/>
            <a:ext cx="2691177" cy="202254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453822" y="4322741"/>
            <a:ext cx="249796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Name: Rafi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Junior Officer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Avoids skincare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Thinks Its for Women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74135" y="1278229"/>
            <a:ext cx="23181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85C12"/>
                </a:solidFill>
                <a:latin typeface="Arial Rounded MT Bold" panose="020F0704030504030204" pitchFamily="34" charset="0"/>
              </a:rPr>
              <a:t>Target Group 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1368274"/>
              </p:ext>
            </p:extLst>
          </p:nvPr>
        </p:nvGraphicFramePr>
        <p:xfrm>
          <a:off x="7477138" y="2099044"/>
          <a:ext cx="3919791" cy="31555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5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65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65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42195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Arial Rounded MT Bold" panose="020F0704030504030204" pitchFamily="34" charset="0"/>
                        </a:rPr>
                        <a:t>Women</a:t>
                      </a:r>
                    </a:p>
                  </a:txBody>
                  <a:tcP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Arial Rounded MT Bold" panose="020F0704030504030204" pitchFamily="34" charset="0"/>
                        </a:rPr>
                        <a:t>18-34</a:t>
                      </a:r>
                    </a:p>
                  </a:txBody>
                  <a:tcP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Arial Rounded MT Bold" panose="020F0704030504030204" pitchFamily="34" charset="0"/>
                        </a:rPr>
                        <a:t>Urban</a:t>
                      </a:r>
                    </a:p>
                  </a:txBody>
                  <a:tcPr>
                    <a:solidFill>
                      <a:schemeClr val="accent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6670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Arial Rounded MT Bold" panose="020F0704030504030204" pitchFamily="34" charset="0"/>
                        </a:rPr>
                        <a:t>Men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Arial Rounded MT Bold" panose="020F0704030504030204" pitchFamily="34" charset="0"/>
                        </a:rPr>
                        <a:t>22-30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bg1"/>
                        </a:solidFill>
                        <a:latin typeface="Arial Rounded MT Bold" panose="020F0704030504030204" pitchFamily="34" charset="0"/>
                      </a:endParaRPr>
                    </a:p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Arial Rounded MT Bold" panose="020F0704030504030204" pitchFamily="34" charset="0"/>
                        </a:rPr>
                        <a:t>Urban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6670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Arial Rounded MT Bold" panose="020F0704030504030204" pitchFamily="34" charset="0"/>
                      </a:endParaRPr>
                    </a:p>
                    <a:p>
                      <a:pPr algn="ctr"/>
                      <a:r>
                        <a:rPr lang="en-US" sz="2000" b="1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Arial Rounded MT Bold" panose="020F0704030504030204" pitchFamily="34" charset="0"/>
                        </a:rPr>
                        <a:t>Students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Arial Rounded MT Bold" panose="020F0704030504030204" pitchFamily="34" charset="0"/>
                      </a:endParaRPr>
                    </a:p>
                    <a:p>
                      <a:pPr algn="ctr"/>
                      <a:r>
                        <a:rPr lang="en-US" sz="2000" b="1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Arial Rounded MT Bold" panose="020F0704030504030204" pitchFamily="34" charset="0"/>
                        </a:rPr>
                        <a:t>18-22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Arial Rounded MT Bold" panose="020F0704030504030204" pitchFamily="34" charset="0"/>
                      </a:endParaRPr>
                    </a:p>
                    <a:p>
                      <a:pPr algn="ctr"/>
                      <a:r>
                        <a:rPr lang="en-US" sz="2000" b="1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Arial Rounded MT Bold" panose="020F0704030504030204" pitchFamily="34" charset="0"/>
                        </a:rPr>
                        <a:t>Both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9681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7020065" y="1686054"/>
            <a:ext cx="6857998" cy="34858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9701" y="334851"/>
            <a:ext cx="27560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85C12"/>
                </a:solidFill>
                <a:latin typeface="Arial Rounded MT Bold" panose="020F0704030504030204" pitchFamily="34" charset="0"/>
              </a:rPr>
              <a:t>The Big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402" y="1254477"/>
            <a:ext cx="40310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C85C12"/>
                </a:solidFill>
                <a:latin typeface="Arial Black" panose="020B0A04020102020204" pitchFamily="34" charset="0"/>
              </a:rPr>
              <a:t>Own Your </a:t>
            </a:r>
            <a:r>
              <a:rPr lang="en-US" sz="3600" b="1" i="1" dirty="0">
                <a:solidFill>
                  <a:srgbClr val="C85C12"/>
                </a:solidFill>
                <a:latin typeface="Arial Black" panose="020B0A04020102020204" pitchFamily="34" charset="0"/>
              </a:rPr>
              <a:t>SUN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39414" y="2714022"/>
            <a:ext cx="25757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85C12"/>
                </a:solidFill>
                <a:latin typeface="Arial Rounded MT Bold" panose="020F0704030504030204" pitchFamily="34" charset="0"/>
              </a:rPr>
              <a:t>The Tagline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61" y="3750514"/>
            <a:ext cx="714777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i="1" dirty="0">
                <a:solidFill>
                  <a:srgbClr val="C85C12"/>
                </a:solidFill>
                <a:latin typeface="Arial Black" panose="020B0A04020102020204" pitchFamily="34" charset="0"/>
              </a:rPr>
              <a:t>“ No more sunburn because you Own your SUN 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98535" y="3142444"/>
            <a:ext cx="4327302" cy="2962141"/>
          </a:xfrm>
          <a:prstGeom prst="roundRect">
            <a:avLst/>
          </a:prstGeom>
          <a:solidFill>
            <a:srgbClr val="FFFFFF">
              <a:alpha val="69804"/>
            </a:srgbClr>
          </a:solidFill>
          <a:ln w="762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7978462" y="3750514"/>
            <a:ext cx="356744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Arial Rounded MT Bold" panose="020F0704030504030204" pitchFamily="34" charset="0"/>
              </a:rPr>
              <a:t>It tells the consumer - You don't have to hide from the sun to avoid getting burned; you just have to take control of it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8535" y="785212"/>
            <a:ext cx="4100847" cy="15309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34658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412901" y="257577"/>
            <a:ext cx="5280337" cy="1004552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C85C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747751" y="529020"/>
            <a:ext cx="4610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Plan Of Action For 12 Month</a:t>
            </a:r>
          </a:p>
        </p:txBody>
      </p:sp>
    </p:spTree>
    <p:extLst>
      <p:ext uri="{BB962C8B-B14F-4D97-AF65-F5344CB8AC3E}">
        <p14:creationId xmlns:p14="http://schemas.microsoft.com/office/powerpoint/2010/main" val="1072404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19739" y="-2617669"/>
            <a:ext cx="6954591" cy="1218993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71" y="2078685"/>
            <a:ext cx="3227362" cy="393574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Rounded Rectangle 11"/>
          <p:cNvSpPr/>
          <p:nvPr/>
        </p:nvSpPr>
        <p:spPr>
          <a:xfrm>
            <a:off x="4331755" y="264017"/>
            <a:ext cx="3423553" cy="615553"/>
          </a:xfrm>
          <a:prstGeom prst="roundRect">
            <a:avLst/>
          </a:prstGeom>
          <a:solidFill>
            <a:schemeClr val="bg1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4436690" y="264017"/>
            <a:ext cx="342355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b="1" dirty="0">
                <a:solidFill>
                  <a:srgbClr val="DB6413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Certification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82010" y="1143587"/>
            <a:ext cx="7347601" cy="584775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“ Everybody believes the label 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3017" y="2282442"/>
            <a:ext cx="368558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Highlight</a:t>
            </a:r>
            <a:r>
              <a:rPr lang="en-US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Halal Certification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Build Reliability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Attract Mass Target Group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Added Value Proposition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6285" y="2078685"/>
            <a:ext cx="3206652" cy="40902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97047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66999" y="-2667003"/>
            <a:ext cx="6858002" cy="12192001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178935" y="270456"/>
            <a:ext cx="5834129" cy="66970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309869" y="270456"/>
            <a:ext cx="55379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C85C12"/>
                </a:solidFill>
                <a:latin typeface="Arial Rounded MT Bold" panose="020F0704030504030204" pitchFamily="34" charset="0"/>
              </a:rPr>
              <a:t>See The Unseen Campaign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9730" y="1400578"/>
            <a:ext cx="6503831" cy="460419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2" name="Rounded Rectangle 11"/>
          <p:cNvSpPr/>
          <p:nvPr/>
        </p:nvSpPr>
        <p:spPr>
          <a:xfrm>
            <a:off x="838161" y="1400578"/>
            <a:ext cx="3245476" cy="4604198"/>
          </a:xfrm>
          <a:prstGeom prst="roundRect">
            <a:avLst/>
          </a:prstGeom>
          <a:solidFill>
            <a:srgbClr val="FFFFFF">
              <a:alpha val="58039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02366" y="1625185"/>
            <a:ext cx="291706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C85C12"/>
                </a:solidFill>
                <a:latin typeface="Arial Rounded MT Bold" panose="020F0704030504030204" pitchFamily="34" charset="0"/>
              </a:rPr>
              <a:t>See The Unseen Campaign Addresses the low consumer awareness and “Sunscreen is only for summer” misconceptions by physically proving UV damage</a:t>
            </a:r>
          </a:p>
        </p:txBody>
      </p:sp>
    </p:spTree>
    <p:extLst>
      <p:ext uri="{BB962C8B-B14F-4D97-AF65-F5344CB8AC3E}">
        <p14:creationId xmlns:p14="http://schemas.microsoft.com/office/powerpoint/2010/main" val="22031652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65835" y="-2645799"/>
            <a:ext cx="6860329" cy="1219199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65786" y="3193959"/>
            <a:ext cx="2562895" cy="316820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479873" y="4058061"/>
            <a:ext cx="2611341" cy="254989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6096001" y="1459822"/>
            <a:ext cx="2380586" cy="204176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/>
          <p:cNvSpPr/>
          <p:nvPr/>
        </p:nvSpPr>
        <p:spPr>
          <a:xfrm>
            <a:off x="479873" y="1374374"/>
            <a:ext cx="2562895" cy="243879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3178935" y="270456"/>
            <a:ext cx="5834129" cy="66970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8935" y="175501"/>
            <a:ext cx="5822185" cy="85961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65786" y="1511209"/>
            <a:ext cx="257698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 Step 1 (Reveal): Bare face under UV mirror → hidden pigmentation &amp; sun damage exposed.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9873" y="4061963"/>
            <a:ext cx="256289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 Step 2 (Protection): Apply Skin Cafe Sunscreen → screen shows it go completely black, proving 98% UV block.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88584" y="1665096"/>
            <a:ext cx="217921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Arial Rounded MT Bold" panose="020F0704030504030204" pitchFamily="34" charset="0"/>
              </a:rPr>
              <a:t> </a:t>
            </a:r>
            <a:r>
              <a:rPr lang="en-US" sz="2000" b="1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Step 3 (Selfie &amp; Capture): Take split-screen “before vs after” selfie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90975" y="1957589"/>
            <a:ext cx="155834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8" name="Rounded Rectangle 17"/>
          <p:cNvSpPr/>
          <p:nvPr/>
        </p:nvSpPr>
        <p:spPr>
          <a:xfrm>
            <a:off x="6096000" y="3963889"/>
            <a:ext cx="5610895" cy="261904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6381824" y="4231216"/>
            <a:ext cx="506749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Step 4 (Viral Loop): </a:t>
            </a:r>
          </a:p>
          <a:p>
            <a:pPr algn="ctr"/>
            <a:r>
              <a:rPr lang="en-US" sz="2000" b="1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Scan QR code → post to FB/IG with #</a:t>
            </a:r>
            <a:r>
              <a:rPr lang="en-US" sz="2000" b="1" dirty="0" err="1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skincafeUVchallenge</a:t>
            </a:r>
            <a:r>
              <a:rPr lang="en-US" sz="2000" b="1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 #funfriday #beforevsafter #skincafe #seentheunseen + tag Skin Cafe to get digital photo.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1170" y="1496632"/>
            <a:ext cx="2421520" cy="21438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8935" y="4101970"/>
            <a:ext cx="2421520" cy="22885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4" name="Picture 23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" t="18988" r="335" b="18987"/>
          <a:stretch/>
        </p:blipFill>
        <p:spPr>
          <a:xfrm>
            <a:off x="8476586" y="1446648"/>
            <a:ext cx="3230309" cy="200355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484470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60740" y="-2694726"/>
            <a:ext cx="6891985" cy="1221346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026535" y="175501"/>
            <a:ext cx="6181859" cy="55859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4907" y="48348"/>
            <a:ext cx="5822185" cy="85961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07833" y="3550279"/>
            <a:ext cx="2953322" cy="313408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8557319" y="1060944"/>
            <a:ext cx="3395731" cy="5533039"/>
          </a:xfrm>
          <a:prstGeom prst="rect">
            <a:avLst/>
          </a:prstGeom>
          <a:solidFill>
            <a:srgbClr val="FFFFFF">
              <a:alpha val="5215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4859" y="1234806"/>
            <a:ext cx="3000649" cy="40053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536612" y="5413998"/>
            <a:ext cx="34371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C85C12"/>
                </a:solidFill>
                <a:latin typeface="Arial Rounded MT Bold" panose="020F0704030504030204" pitchFamily="34" charset="0"/>
              </a:rPr>
              <a:t>“Peel And Protect” </a:t>
            </a:r>
          </a:p>
          <a:p>
            <a:pPr algn="ctr"/>
            <a:r>
              <a:rPr lang="en-US" sz="2400" b="1" dirty="0">
                <a:solidFill>
                  <a:srgbClr val="C85C12"/>
                </a:solidFill>
                <a:latin typeface="Arial Rounded MT Bold" panose="020F0704030504030204" pitchFamily="34" charset="0"/>
              </a:rPr>
              <a:t>Wall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498" y="3892748"/>
            <a:ext cx="2781249" cy="210575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0210" y="6010430"/>
            <a:ext cx="26058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85C12"/>
                </a:solidFill>
                <a:latin typeface="Arial Rounded MT Bold" panose="020F0704030504030204" pitchFamily="34" charset="0"/>
              </a:rPr>
              <a:t>Flyer Marketing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9584" y="1033830"/>
            <a:ext cx="8028784" cy="2395170"/>
          </a:xfrm>
          <a:prstGeom prst="rect">
            <a:avLst/>
          </a:prstGeom>
          <a:solidFill>
            <a:srgbClr val="FFFFFF">
              <a:alpha val="5411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658" y="1110348"/>
            <a:ext cx="3982122" cy="224213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385780" y="1282509"/>
            <a:ext cx="393258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C85C12"/>
                </a:solidFill>
                <a:latin typeface="Arial Rounded MT Bold" panose="020F0704030504030204" pitchFamily="34" charset="0"/>
              </a:rPr>
              <a:t>Raise awareness about sun damage in different areas with a dermatologist-led UV skin test booth. Educate participants and give them goodies, leaflets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543523" y="2819133"/>
            <a:ext cx="2953319" cy="459637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900127" y="3827463"/>
            <a:ext cx="407981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UV Selfie Gift: </a:t>
            </a:r>
          </a:p>
          <a:p>
            <a:pPr algn="ctr"/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The most creative selfie wins a 6 month 30% discount card for anything at Skin Cafe. Winners are announced Second and Fourth #FunFriday of the month. Cards are delivered online with the discount timeline</a:t>
            </a:r>
            <a:r>
              <a:rPr lang="en-US" dirty="0">
                <a:latin typeface="Arial Rounded MT Bold" panose="020F07040305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59760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65382" y="-2665382"/>
            <a:ext cx="6859164" cy="1218992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866881" y="459153"/>
            <a:ext cx="4458237" cy="66970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490175" y="373487"/>
            <a:ext cx="1777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138411" y="506512"/>
            <a:ext cx="39151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85C12"/>
                </a:solidFill>
                <a:latin typeface="Arial Rounded MT Bold" panose="020F0704030504030204" pitchFamily="34" charset="0"/>
              </a:rPr>
              <a:t>Goodies Distribution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302" y="1601719"/>
            <a:ext cx="3339782" cy="305229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1727" y="1588008"/>
            <a:ext cx="3339782" cy="305229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6109" y="1601719"/>
            <a:ext cx="3339782" cy="305229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87853" y="5006256"/>
            <a:ext cx="30136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Mini UV Detection Stickers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80493" y="5006256"/>
            <a:ext cx="42446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Silicon Bands that changes color when exposed to harsh UV Light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738" y="4993957"/>
            <a:ext cx="35073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5ml Single use sample sachet</a:t>
            </a:r>
          </a:p>
        </p:txBody>
      </p:sp>
    </p:spTree>
    <p:extLst>
      <p:ext uri="{BB962C8B-B14F-4D97-AF65-F5344CB8AC3E}">
        <p14:creationId xmlns:p14="http://schemas.microsoft.com/office/powerpoint/2010/main" val="3394487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12267" y="-2721736"/>
            <a:ext cx="6967469" cy="12192002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257244" y="274488"/>
            <a:ext cx="5679584" cy="63106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353836" y="32841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85C12"/>
                </a:solidFill>
                <a:latin typeface="Arial Rounded MT Bold" panose="020F0704030504030204" pitchFamily="34" charset="0"/>
              </a:rPr>
              <a:t>Facebook Community Building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355" y="2993655"/>
            <a:ext cx="5644204" cy="353362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6914" y="1218006"/>
            <a:ext cx="2602310" cy="250561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1848" y="1218006"/>
            <a:ext cx="2577530" cy="25056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3805" y="1093276"/>
            <a:ext cx="490907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Content Engine: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Sharing memes and realism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Interactive Polls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Skincare tips 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6914" y="3957002"/>
            <a:ext cx="2594046" cy="248013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1848" y="3957001"/>
            <a:ext cx="2577530" cy="2480139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2740" y="4647701"/>
            <a:ext cx="1291590" cy="1551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3592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07877" y="-2593573"/>
            <a:ext cx="6978315" cy="121899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44008" y="897046"/>
            <a:ext cx="36892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Target Group based</a:t>
            </a:r>
          </a:p>
          <a:p>
            <a:pPr algn="ctr"/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 Influencer marketing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418" y="4429603"/>
            <a:ext cx="2624149" cy="227252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727" y="1913160"/>
            <a:ext cx="2624149" cy="228460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711638" y="2621970"/>
            <a:ext cx="19731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Beauty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11638" y="5097129"/>
            <a:ext cx="17351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Health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4409" y="389529"/>
            <a:ext cx="2534597" cy="42711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930420" y="325613"/>
            <a:ext cx="3943064" cy="41316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sz="2400" b="1" dirty="0">
                <a:solidFill>
                  <a:srgbClr val="C85C12"/>
                </a:solidFill>
                <a:latin typeface="Arial Rounded MT Bold" panose="020F0704030504030204" pitchFamily="34" charset="0"/>
              </a:rPr>
              <a:t>    Influencer Marketing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30757" y="349015"/>
            <a:ext cx="24083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85C12"/>
                </a:solidFill>
                <a:latin typeface="Arial Rounded MT Bold" panose="020F0704030504030204" pitchFamily="34" charset="0"/>
              </a:rPr>
              <a:t>E-Commerce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8618" y="1138531"/>
            <a:ext cx="22126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>
                    <a:lumMod val="95000"/>
                  </a:schemeClr>
                </a:solidFill>
                <a:latin typeface="Arial Rounded MT Bold" panose="020F0704030504030204" pitchFamily="34" charset="0"/>
              </a:rPr>
              <a:t>GDN Banner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3902" y="1896015"/>
            <a:ext cx="3058473" cy="4208571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4932" y="1884700"/>
            <a:ext cx="3039414" cy="4191426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6785" y="2309189"/>
            <a:ext cx="3065590" cy="992778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7814" y="2168410"/>
            <a:ext cx="3039415" cy="907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6929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67454" y="-2639624"/>
            <a:ext cx="6859164" cy="12189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7402" y="382332"/>
            <a:ext cx="34901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Affiliate Marketing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402" y="1105607"/>
            <a:ext cx="3455832" cy="114206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3058" y="2408350"/>
            <a:ext cx="32068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Google Web Pop-Up</a:t>
            </a:r>
          </a:p>
          <a:p>
            <a:pPr algn="ctr"/>
            <a:r>
              <a:rPr lang="en-US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YouTube Overlay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971" y="3531734"/>
            <a:ext cx="2408350" cy="240835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TextBox 6"/>
          <p:cNvSpPr txBox="1"/>
          <p:nvPr/>
        </p:nvSpPr>
        <p:spPr>
          <a:xfrm>
            <a:off x="355243" y="6055922"/>
            <a:ext cx="41523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Facebook Sponsored Post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2654" y="3671834"/>
            <a:ext cx="2416447" cy="24990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231"/>
          <a:stretch/>
        </p:blipFill>
        <p:spPr>
          <a:xfrm>
            <a:off x="4290885" y="2319780"/>
            <a:ext cx="3853205" cy="32310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9091" y="839793"/>
            <a:ext cx="3597908" cy="239955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TextBox 10"/>
          <p:cNvSpPr txBox="1"/>
          <p:nvPr/>
        </p:nvSpPr>
        <p:spPr>
          <a:xfrm>
            <a:off x="4608565" y="1268597"/>
            <a:ext cx="33903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Ensuring Visibility</a:t>
            </a:r>
          </a:p>
        </p:txBody>
      </p:sp>
    </p:spTree>
    <p:extLst>
      <p:ext uri="{BB962C8B-B14F-4D97-AF65-F5344CB8AC3E}">
        <p14:creationId xmlns:p14="http://schemas.microsoft.com/office/powerpoint/2010/main" val="42399896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67454" y="-2665381"/>
            <a:ext cx="6859164" cy="1218992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936" y="1027557"/>
            <a:ext cx="11462198" cy="480288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965581" y="252169"/>
            <a:ext cx="42629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Roadmap and Timeline</a:t>
            </a:r>
          </a:p>
        </p:txBody>
      </p:sp>
    </p:spTree>
    <p:extLst>
      <p:ext uri="{BB962C8B-B14F-4D97-AF65-F5344CB8AC3E}">
        <p14:creationId xmlns:p14="http://schemas.microsoft.com/office/powerpoint/2010/main" val="7734972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67454" y="-2665382"/>
            <a:ext cx="6859164" cy="12189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74394" y="77867"/>
            <a:ext cx="44432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Financial Breakdown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614" y="740510"/>
            <a:ext cx="11294772" cy="592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7712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31842" y="218941"/>
            <a:ext cx="48295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85C12"/>
                </a:solidFill>
                <a:latin typeface="Arial Rounded MT Bold" panose="020F0704030504030204" pitchFamily="34" charset="0"/>
              </a:rPr>
              <a:t>Feasibility and Practicality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3712178"/>
              </p:ext>
            </p:extLst>
          </p:nvPr>
        </p:nvGraphicFramePr>
        <p:xfrm>
          <a:off x="1115453" y="1062744"/>
          <a:ext cx="3969555" cy="1615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sz="20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Arial Rounded MT Bold" panose="020F0704030504030204" pitchFamily="34" charset="0"/>
                        </a:rPr>
                        <a:t>Low Consumer Trust in Local Brands</a:t>
                      </a:r>
                    </a:p>
                  </a:txBody>
                  <a:tcPr>
                    <a:solidFill>
                      <a:schemeClr val="accent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Arial Rounded MT Bold" panose="020F0704030504030204" pitchFamily="34" charset="0"/>
                        </a:rPr>
                        <a:t>UV test booth activations + Dermatologist</a:t>
                      </a:r>
                      <a:r>
                        <a:rPr lang="en-US" altLang="ja-JP" sz="1800" b="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Arial Rounded MT Bold" panose="020F0704030504030204" pitchFamily="34" charset="0"/>
                        </a:rPr>
                        <a:t>+ </a:t>
                      </a:r>
                      <a:r>
                        <a:rPr lang="en-US" sz="1800" b="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Arial Rounded MT Bold" panose="020F0704030504030204" pitchFamily="34" charset="0"/>
                        </a:rPr>
                        <a:t>Halal certification display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8973000"/>
              </p:ext>
            </p:extLst>
          </p:nvPr>
        </p:nvGraphicFramePr>
        <p:xfrm>
          <a:off x="1155521" y="2855200"/>
          <a:ext cx="3930918" cy="1615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09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8257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Arial Rounded MT Bold" panose="020F0704030504030204" pitchFamily="34" charset="0"/>
                        </a:rPr>
                        <a:t>High Market Competition (Local + International</a:t>
                      </a:r>
                      <a:r>
                        <a:rPr lang="en-US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)</a:t>
                      </a:r>
                    </a:p>
                  </a:txBody>
                  <a:tcPr>
                    <a:solidFill>
                      <a:schemeClr val="accent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Arial Rounded MT Bold" panose="020F0704030504030204" pitchFamily="34" charset="0"/>
                        </a:rPr>
                        <a:t>Climate-appropriate formula + No white cast + SPF 50 PA+++ at competitive price (BDT 650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4567929"/>
              </p:ext>
            </p:extLst>
          </p:nvPr>
        </p:nvGraphicFramePr>
        <p:xfrm>
          <a:off x="7101983" y="993536"/>
          <a:ext cx="3930918" cy="1615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09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 </a:t>
                      </a:r>
                      <a:r>
                        <a:rPr lang="en-US" sz="20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Arial Rounded MT Bold" panose="020F0704030504030204" pitchFamily="34" charset="0"/>
                        </a:rPr>
                        <a:t>Low Daily Sunscreen Usage Habit</a:t>
                      </a:r>
                    </a:p>
                  </a:txBody>
                  <a:tcPr>
                    <a:solidFill>
                      <a:schemeClr val="accent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Arial Rounded MT Bold" panose="020F0704030504030204" pitchFamily="34" charset="0"/>
                        </a:rPr>
                        <a:t>Year-round UV awareness campaigns + Seasonal messaging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4458438"/>
              </p:ext>
            </p:extLst>
          </p:nvPr>
        </p:nvGraphicFramePr>
        <p:xfrm>
          <a:off x="7101983" y="2855200"/>
          <a:ext cx="3930918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09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Arial Rounded MT Bold" panose="020F0704030504030204" pitchFamily="34" charset="0"/>
                        </a:rPr>
                        <a:t>Counterfeit Products Damaging Brand Confidence</a:t>
                      </a:r>
                    </a:p>
                  </a:txBody>
                  <a:tcPr>
                    <a:solidFill>
                      <a:schemeClr val="accent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 </a:t>
                      </a:r>
                      <a:r>
                        <a:rPr lang="en-US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Arial Rounded MT Bold" panose="020F0704030504030204" pitchFamily="34" charset="0"/>
                        </a:rPr>
                        <a:t>Tamper-proof packaging + QR code verification on every tube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4932534"/>
              </p:ext>
            </p:extLst>
          </p:nvPr>
        </p:nvGraphicFramePr>
        <p:xfrm>
          <a:off x="1155521" y="4647656"/>
          <a:ext cx="3930918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09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Arial Rounded MT Bold" panose="020F0704030504030204" pitchFamily="34" charset="0"/>
                        </a:rPr>
                        <a:t>Limited Awareness of UV Damage</a:t>
                      </a:r>
                    </a:p>
                  </a:txBody>
                  <a:tcPr>
                    <a:solidFill>
                      <a:schemeClr val="accent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 </a:t>
                      </a:r>
                      <a:r>
                        <a:rPr lang="en-US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Arial Rounded MT Bold" panose="020F0704030504030204" pitchFamily="34" charset="0"/>
                        </a:rPr>
                        <a:t>UV camera selfie booths + Social media contest #seentheunseen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Rounded Rectangular Callout 8"/>
          <p:cNvSpPr/>
          <p:nvPr/>
        </p:nvSpPr>
        <p:spPr>
          <a:xfrm>
            <a:off x="6928834" y="4470640"/>
            <a:ext cx="4327301" cy="1456930"/>
          </a:xfrm>
          <a:prstGeom prst="wedgeRoundRectCallout">
            <a:avLst/>
          </a:prstGeom>
          <a:solidFill>
            <a:schemeClr val="accent2">
              <a:lumMod val="50000"/>
            </a:schemeClr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7143481" y="4647656"/>
            <a:ext cx="38894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All challenges addressable with proposed strategies – No major execution barriers.</a:t>
            </a:r>
          </a:p>
        </p:txBody>
      </p:sp>
    </p:spTree>
    <p:extLst>
      <p:ext uri="{BB962C8B-B14F-4D97-AF65-F5344CB8AC3E}">
        <p14:creationId xmlns:p14="http://schemas.microsoft.com/office/powerpoint/2010/main" val="3918148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975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76661" y="2446986"/>
            <a:ext cx="727870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b="1" i="1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Thank  You</a:t>
            </a:r>
          </a:p>
        </p:txBody>
      </p:sp>
    </p:spTree>
    <p:extLst>
      <p:ext uri="{BB962C8B-B14F-4D97-AF65-F5344CB8AC3E}">
        <p14:creationId xmlns:p14="http://schemas.microsoft.com/office/powerpoint/2010/main" val="20632568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1052</TotalTime>
  <Words>553</Words>
  <Application>Microsoft Office PowerPoint</Application>
  <PresentationFormat>Widescreen</PresentationFormat>
  <Paragraphs>99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minto</dc:creator>
  <cp:lastModifiedBy>Maisha Afroz</cp:lastModifiedBy>
  <cp:revision>82</cp:revision>
  <dcterms:created xsi:type="dcterms:W3CDTF">2026-05-18T15:29:56Z</dcterms:created>
  <dcterms:modified xsi:type="dcterms:W3CDTF">2026-05-20T17:37:12Z</dcterms:modified>
</cp:coreProperties>
</file>