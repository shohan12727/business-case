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5" r:id="rId3"/>
    <p:sldId id="277" r:id="rId4"/>
    <p:sldId id="271" r:id="rId5"/>
    <p:sldId id="269" r:id="rId6"/>
    <p:sldId id="259" r:id="rId7"/>
    <p:sldId id="261" r:id="rId8"/>
    <p:sldId id="262" r:id="rId9"/>
    <p:sldId id="267" r:id="rId10"/>
    <p:sldId id="266" r:id="rId11"/>
    <p:sldId id="263" r:id="rId12"/>
    <p:sldId id="264" r:id="rId13"/>
    <p:sldId id="273" r:id="rId14"/>
    <p:sldId id="270" r:id="rId15"/>
    <p:sldId id="272" r:id="rId16"/>
    <p:sldId id="27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85C12"/>
    <a:srgbClr val="F2F2F2"/>
    <a:srgbClr val="5B9BD5"/>
    <a:srgbClr val="DB6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1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0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92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09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3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7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6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8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19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60ACE-8AE7-4902-B577-BBD77815256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3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1.jpeg" /><Relationship Id="rId4" Type="http://schemas.openxmlformats.org/officeDocument/2006/relationships/image" Target="../media/image10.jpe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8.jpeg" /><Relationship Id="rId5" Type="http://schemas.openxmlformats.org/officeDocument/2006/relationships/image" Target="../media/image17.jpeg" /><Relationship Id="rId4" Type="http://schemas.openxmlformats.org/officeDocument/2006/relationships/image" Target="../media/image16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7" Type="http://schemas.openxmlformats.org/officeDocument/2006/relationships/image" Target="../media/image21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0.jpeg" /><Relationship Id="rId5" Type="http://schemas.openxmlformats.org/officeDocument/2006/relationships/image" Target="../media/image19.jpeg" /><Relationship Id="rId4" Type="http://schemas.openxmlformats.org/officeDocument/2006/relationships/image" Target="../media/image11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4.jpeg" /><Relationship Id="rId4" Type="http://schemas.openxmlformats.org/officeDocument/2006/relationships/image" Target="../media/image23.jpe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 /><Relationship Id="rId3" Type="http://schemas.openxmlformats.org/officeDocument/2006/relationships/image" Target="../media/image25.jpeg" /><Relationship Id="rId7" Type="http://schemas.openxmlformats.org/officeDocument/2006/relationships/image" Target="../media/image29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8.jpeg" /><Relationship Id="rId5" Type="http://schemas.openxmlformats.org/officeDocument/2006/relationships/image" Target="../media/image27.jpeg" /><Relationship Id="rId4" Type="http://schemas.openxmlformats.org/officeDocument/2006/relationships/image" Target="../media/image26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4.jpeg" /><Relationship Id="rId5" Type="http://schemas.openxmlformats.org/officeDocument/2006/relationships/image" Target="../media/image33.jpeg" /><Relationship Id="rId4" Type="http://schemas.openxmlformats.org/officeDocument/2006/relationships/image" Target="../media/image32.jpe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 /><Relationship Id="rId7" Type="http://schemas.openxmlformats.org/officeDocument/2006/relationships/image" Target="../media/image39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8.jpeg" /><Relationship Id="rId5" Type="http://schemas.openxmlformats.org/officeDocument/2006/relationships/image" Target="../media/image37.jpeg" /><Relationship Id="rId4" Type="http://schemas.openxmlformats.org/officeDocument/2006/relationships/image" Target="../media/image36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2"/>
            <a:ext cx="6857999" cy="12192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89" y="850005"/>
            <a:ext cx="9903853" cy="508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62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454" y="-2665381"/>
            <a:ext cx="6859164" cy="121899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19324" y="216760"/>
            <a:ext cx="4155422" cy="61555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105023" y="262926"/>
            <a:ext cx="4069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Problem 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243" y="1748705"/>
            <a:ext cx="3387144" cy="3931691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67982" y="3023172"/>
            <a:ext cx="304966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C85C12"/>
                </a:solidFill>
                <a:latin typeface="Arial Rounded MT Bold" panose="020F0704030504030204" pitchFamily="34" charset="0"/>
              </a:rPr>
              <a:t>Consumers distrust local premium sunscreens, favor foreign brands, and see sunscreen as optional rather than essential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246" y="1774088"/>
            <a:ext cx="253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Core Problem: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360" y="2315642"/>
            <a:ext cx="704850" cy="704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05833" y="1339315"/>
            <a:ext cx="7314769" cy="22281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05834" y="4074449"/>
            <a:ext cx="7314769" cy="22281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280024" y="2023553"/>
            <a:ext cx="2075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Poor skincare literacy- </a:t>
            </a:r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long term care undervalued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215" y="2051776"/>
            <a:ext cx="2840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Saturated Market -</a:t>
            </a:r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Crowded field, foreign control, little room to stand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5392" y="2037960"/>
            <a:ext cx="25540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Consumer Looks for cheaper alternatives- </a:t>
            </a:r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turning premium positioning into adoption hurdles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156" y="1466778"/>
            <a:ext cx="704850" cy="7048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010" y="1466778"/>
            <a:ext cx="704850" cy="7048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778" y="1445559"/>
            <a:ext cx="704850" cy="704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47637" y="4906762"/>
            <a:ext cx="24985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Consumer perceive local skincare as risky, not reliable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9518" y="4906762"/>
            <a:ext cx="3714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Widespread fake cosmetics have made consumers skeptical for all brands especially local ones.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988" y="4196180"/>
            <a:ext cx="704850" cy="7048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412" y="4213933"/>
            <a:ext cx="742950" cy="74295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804062" y="1004069"/>
            <a:ext cx="2638877" cy="4751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839697" y="3804803"/>
            <a:ext cx="2638877" cy="4751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883860" y="1027823"/>
            <a:ext cx="2550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Market Challenges: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8992" y="3822235"/>
            <a:ext cx="2171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Trust Barriers</a:t>
            </a:r>
          </a:p>
        </p:txBody>
      </p:sp>
    </p:spTree>
    <p:extLst>
      <p:ext uri="{BB962C8B-B14F-4D97-AF65-F5344CB8AC3E}">
        <p14:creationId xmlns:p14="http://schemas.microsoft.com/office/powerpoint/2010/main" val="2034635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2" y="-2664929"/>
            <a:ext cx="6858000" cy="121878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64417" y="244699"/>
            <a:ext cx="5640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Target Group or Buyer Persona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31" y="1289774"/>
            <a:ext cx="2523186" cy="25231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7752" y="1416676"/>
            <a:ext cx="23482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Anika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University Student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Hate White Cast 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Trust gap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60" y="4040074"/>
            <a:ext cx="2731127" cy="20525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47752" y="4250751"/>
            <a:ext cx="22142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Rafi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Junior Officer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Avoids skincare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Thinks Its for Women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467" y="1303466"/>
            <a:ext cx="4971730" cy="4789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58981" y="1596841"/>
            <a:ext cx="2318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Target Group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63280"/>
              </p:ext>
            </p:extLst>
          </p:nvPr>
        </p:nvGraphicFramePr>
        <p:xfrm>
          <a:off x="6890197" y="2413888"/>
          <a:ext cx="4314423" cy="2866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54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Women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18-34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Urban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Men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22-30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Urban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4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Students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18-22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85C12"/>
                          </a:solidFill>
                          <a:latin typeface="Arial Rounded MT Bold" panose="020F0704030504030204" pitchFamily="34" charset="0"/>
                        </a:rPr>
                        <a:t>Both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91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4930" y="-2664930"/>
            <a:ext cx="6858000" cy="121878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79701" y="231819"/>
            <a:ext cx="3232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Big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5534"/>
            <a:ext cx="12192000" cy="1198118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35757" y="1197353"/>
            <a:ext cx="4031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rgbClr val="C85C12"/>
                </a:solidFill>
                <a:latin typeface="Arial Black" panose="020B0A04020102020204" pitchFamily="34" charset="0"/>
              </a:rPr>
              <a:t>Own Your SUN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228" y="3541330"/>
            <a:ext cx="71477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>
                <a:solidFill>
                  <a:schemeClr val="bg1"/>
                </a:solidFill>
                <a:latin typeface="Arial Black" panose="020B0A04020102020204" pitchFamily="34" charset="0"/>
              </a:rPr>
              <a:t>“ No more sunburn because you Own your SUN 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6394" y="2544411"/>
            <a:ext cx="2575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Tagline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5913" y="3518792"/>
            <a:ext cx="3606085" cy="2421644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111773" y="3849106"/>
            <a:ext cx="3567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It tells the consumer - You don't have to hide from the sun to avoid getting burned; you just have to take control of 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66268" y="4487448"/>
            <a:ext cx="579549" cy="354531"/>
          </a:xfrm>
          <a:prstGeom prst="rightArrow">
            <a:avLst/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7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12901" y="257577"/>
            <a:ext cx="5280337" cy="100455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85C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747751" y="529020"/>
            <a:ext cx="461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Plan Of Action For 12 Month</a:t>
            </a:r>
          </a:p>
        </p:txBody>
      </p:sp>
    </p:spTree>
    <p:extLst>
      <p:ext uri="{BB962C8B-B14F-4D97-AF65-F5344CB8AC3E}">
        <p14:creationId xmlns:p14="http://schemas.microsoft.com/office/powerpoint/2010/main" val="107240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19739" y="-2617669"/>
            <a:ext cx="6954591" cy="121899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819" y="2110716"/>
            <a:ext cx="3528489" cy="4262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4331755" y="264017"/>
            <a:ext cx="3423553" cy="61555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436690" y="264017"/>
            <a:ext cx="342355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rgbClr val="DB641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Certification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2010" y="1143587"/>
            <a:ext cx="7347601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“ Everybody believes the label 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50" y="2795620"/>
            <a:ext cx="43015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      </a:t>
            </a: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Highlight </a:t>
            </a:r>
          </a:p>
          <a:p>
            <a:endParaRPr lang="en-US" sz="2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Halal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0963" y="2228045"/>
            <a:ext cx="36855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Build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Attract Mass Target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Added Value Proposition</a:t>
            </a:r>
          </a:p>
        </p:txBody>
      </p:sp>
    </p:spTree>
    <p:extLst>
      <p:ext uri="{BB962C8B-B14F-4D97-AF65-F5344CB8AC3E}">
        <p14:creationId xmlns:p14="http://schemas.microsoft.com/office/powerpoint/2010/main" val="129704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19741" y="-2617669"/>
            <a:ext cx="6954591" cy="1218993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78935" y="270456"/>
            <a:ext cx="5834129" cy="6697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09869" y="270456"/>
            <a:ext cx="5537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See The Unseen Campaign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730" y="1400578"/>
            <a:ext cx="6503831" cy="4604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ounded Rectangle 11"/>
          <p:cNvSpPr/>
          <p:nvPr/>
        </p:nvSpPr>
        <p:spPr>
          <a:xfrm>
            <a:off x="838161" y="1400578"/>
            <a:ext cx="3245476" cy="4604198"/>
          </a:xfrm>
          <a:prstGeom prst="roundRect">
            <a:avLst/>
          </a:prstGeom>
          <a:solidFill>
            <a:srgbClr val="FFFFFF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2366" y="1625185"/>
            <a:ext cx="29170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See The Unseen Campaign Addresses the low consumer awareness and “Sunscreen is only for summer” misconceptions by physically proving UV damage</a:t>
            </a:r>
          </a:p>
        </p:txBody>
      </p:sp>
    </p:spTree>
    <p:extLst>
      <p:ext uri="{BB962C8B-B14F-4D97-AF65-F5344CB8AC3E}">
        <p14:creationId xmlns:p14="http://schemas.microsoft.com/office/powerpoint/2010/main" val="220316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12265" y="-2645799"/>
            <a:ext cx="6967470" cy="1219199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5786" y="3193959"/>
            <a:ext cx="2562895" cy="316820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79873" y="4058061"/>
            <a:ext cx="2611341" cy="25498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096001" y="1459822"/>
            <a:ext cx="2380586" cy="204176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79873" y="1374374"/>
            <a:ext cx="2562895" cy="24387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178935" y="270456"/>
            <a:ext cx="5834129" cy="6697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935" y="175501"/>
            <a:ext cx="5822185" cy="8596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5786" y="1511209"/>
            <a:ext cx="25769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Step 1 (Reveal): Bare face under UV mirror → hidden pigmentation &amp; sun damage exposed.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873" y="4061963"/>
            <a:ext cx="25628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Step 2 (Protection): Apply Skin Cafe Sunscreen → screen shows it go completely black, proving 98% UV block.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8584" y="1665096"/>
            <a:ext cx="21792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Step 3 (Selfie &amp; Capture): Take split-screen “before vs after” selfie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0975" y="1957589"/>
            <a:ext cx="1558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6096000" y="3963889"/>
            <a:ext cx="5610895" cy="26190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381824" y="4231216"/>
            <a:ext cx="50674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Step 4 (Viral Loop): </a:t>
            </a:r>
          </a:p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Scan QR code → post to FB/IG with #</a:t>
            </a:r>
            <a:r>
              <a:rPr lang="en-US" sz="2000" b="1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SkincafeUVchallenge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#funfriday #beforevsafter #skincafe #seentheunseen + tag Skin Cafe to get digital photo.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170" y="1496632"/>
            <a:ext cx="2421520" cy="2143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935" y="4101970"/>
            <a:ext cx="2421520" cy="2288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18988" r="335" b="18987"/>
          <a:stretch/>
        </p:blipFill>
        <p:spPr>
          <a:xfrm>
            <a:off x="8476586" y="1446648"/>
            <a:ext cx="3230309" cy="20035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844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0740" y="-2694726"/>
            <a:ext cx="6891985" cy="122134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026535" y="175501"/>
            <a:ext cx="6181859" cy="55859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907" y="48348"/>
            <a:ext cx="5822185" cy="8596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7833" y="3550279"/>
            <a:ext cx="2953322" cy="313408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557319" y="1060944"/>
            <a:ext cx="3395731" cy="5533039"/>
          </a:xfrm>
          <a:prstGeom prst="rect">
            <a:avLst/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859" y="1234806"/>
            <a:ext cx="3000649" cy="40053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36612" y="5413998"/>
            <a:ext cx="3437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“Peel And Protect” </a:t>
            </a:r>
          </a:p>
          <a:p>
            <a:pPr algn="ctr"/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Wall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98" y="3892748"/>
            <a:ext cx="2781249" cy="21057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0210" y="6010430"/>
            <a:ext cx="2605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Flyer Marketing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584" y="1033830"/>
            <a:ext cx="8028784" cy="2395170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58" y="1110348"/>
            <a:ext cx="3982122" cy="22421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85780" y="1282509"/>
            <a:ext cx="39325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85C12"/>
                </a:solidFill>
                <a:latin typeface="Arial Rounded MT Bold" panose="020F0704030504030204" pitchFamily="34" charset="0"/>
              </a:rPr>
              <a:t>Raise awareness about sun damage in different areas with a dermatologist-led UV skin test booth. Educate participants and give them goodies, leaflets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43523" y="2819133"/>
            <a:ext cx="2953319" cy="4596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00127" y="3827463"/>
            <a:ext cx="40798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UV Selfie Gift: </a:t>
            </a:r>
          </a:p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The most creative selfie wins a 6 month 30% discount card for anything at Skin Cafe. Winners are announced Second and Fourth #FunFriday of the month. Cards are delivered online with the discount timeline</a:t>
            </a:r>
            <a:r>
              <a:rPr lang="en-US" dirty="0">
                <a:latin typeface="Arial Rounded MT Bold" panose="020F07040305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97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5382" y="-2665382"/>
            <a:ext cx="6859164" cy="121899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66881" y="459153"/>
            <a:ext cx="4458237" cy="6697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490175" y="373487"/>
            <a:ext cx="177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38411" y="506512"/>
            <a:ext cx="3915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85C12"/>
                </a:solidFill>
                <a:latin typeface="Arial Rounded MT Bold" panose="020F0704030504030204" pitchFamily="34" charset="0"/>
              </a:rPr>
              <a:t>Goodies Distribution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2" y="1601719"/>
            <a:ext cx="3339782" cy="30522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727" y="1588008"/>
            <a:ext cx="3339782" cy="30522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109" y="1601719"/>
            <a:ext cx="3339782" cy="30522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87853" y="5006256"/>
            <a:ext cx="3013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Mini UV Detection Stickers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0493" y="5006256"/>
            <a:ext cx="4244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Silicon Bands that changes color when exposed to harsh UV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738" y="4993957"/>
            <a:ext cx="3507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5ml Single use sample sachet</a:t>
            </a:r>
          </a:p>
        </p:txBody>
      </p:sp>
    </p:spTree>
    <p:extLst>
      <p:ext uri="{BB962C8B-B14F-4D97-AF65-F5344CB8AC3E}">
        <p14:creationId xmlns:p14="http://schemas.microsoft.com/office/powerpoint/2010/main" val="3394487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12267" y="-2721736"/>
            <a:ext cx="6967469" cy="1219200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57244" y="274488"/>
            <a:ext cx="5679584" cy="6310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353836" y="32841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Facebook Community Building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55" y="2993655"/>
            <a:ext cx="5644204" cy="35336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14" y="1218006"/>
            <a:ext cx="2602310" cy="2505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848" y="1218006"/>
            <a:ext cx="2577530" cy="25056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3805" y="1093276"/>
            <a:ext cx="4909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Content Engine: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Sharing memes and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Interactive Polls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Skincare tips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14" y="3957002"/>
            <a:ext cx="2594046" cy="24801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848" y="3957001"/>
            <a:ext cx="2577530" cy="24801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740" y="4647701"/>
            <a:ext cx="1291590" cy="155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59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07877" y="-2593573"/>
            <a:ext cx="6978315" cy="12189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4008" y="897046"/>
            <a:ext cx="3689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Target Group based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Influencer marketing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18" y="4429603"/>
            <a:ext cx="2624149" cy="2272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27" y="1913160"/>
            <a:ext cx="2624149" cy="22846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11638" y="2621970"/>
            <a:ext cx="1973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Beauty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1638" y="5097129"/>
            <a:ext cx="1735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4409" y="389529"/>
            <a:ext cx="2534597" cy="4271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930420" y="325613"/>
            <a:ext cx="3943064" cy="41316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    Influencer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0757" y="349015"/>
            <a:ext cx="2408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E-Commerce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8618" y="1138531"/>
            <a:ext cx="2212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GDN Banner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902" y="1896015"/>
            <a:ext cx="3058473" cy="420857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932" y="1884700"/>
            <a:ext cx="3039414" cy="41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92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454" y="-2639624"/>
            <a:ext cx="6859164" cy="12189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7402" y="382332"/>
            <a:ext cx="3490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Affiliate Marketing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02" y="1105607"/>
            <a:ext cx="3455832" cy="11420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3058" y="2408350"/>
            <a:ext cx="3206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Google Web Pop-Up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YouTube Overlay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71" y="3531734"/>
            <a:ext cx="2408350" cy="24083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419637" y="5940084"/>
            <a:ext cx="415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Facebook Sponsored Post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654" y="3671834"/>
            <a:ext cx="2416447" cy="2499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31"/>
          <a:stretch/>
        </p:blipFill>
        <p:spPr>
          <a:xfrm>
            <a:off x="4290885" y="2319780"/>
            <a:ext cx="3853205" cy="3231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091" y="839793"/>
            <a:ext cx="3597908" cy="2399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4608565" y="1268597"/>
            <a:ext cx="3390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Ensuring Visibility</a:t>
            </a:r>
          </a:p>
        </p:txBody>
      </p:sp>
    </p:spTree>
    <p:extLst>
      <p:ext uri="{BB962C8B-B14F-4D97-AF65-F5344CB8AC3E}">
        <p14:creationId xmlns:p14="http://schemas.microsoft.com/office/powerpoint/2010/main" val="423998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454" y="-2665381"/>
            <a:ext cx="6859164" cy="121899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36" y="1027557"/>
            <a:ext cx="11462198" cy="48028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65581" y="252169"/>
            <a:ext cx="4262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Roadmap and Timeline</a:t>
            </a:r>
          </a:p>
        </p:txBody>
      </p:sp>
    </p:spTree>
    <p:extLst>
      <p:ext uri="{BB962C8B-B14F-4D97-AF65-F5344CB8AC3E}">
        <p14:creationId xmlns:p14="http://schemas.microsoft.com/office/powerpoint/2010/main" val="77349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454" y="-2665382"/>
            <a:ext cx="6859164" cy="12189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74394" y="77867"/>
            <a:ext cx="4443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Financial Breakdown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14" y="740510"/>
            <a:ext cx="11294772" cy="592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71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236788" y="-96047"/>
            <a:ext cx="1720495" cy="12189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31842" y="218941"/>
            <a:ext cx="4829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Feasibility and Practicality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" y="961102"/>
            <a:ext cx="12192000" cy="34813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050" y="5422006"/>
            <a:ext cx="10509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Feasibility Verdict: All challenges addressable with proposed strategies -No major execution barriers</a:t>
            </a:r>
          </a:p>
        </p:txBody>
      </p:sp>
    </p:spTree>
    <p:extLst>
      <p:ext uri="{BB962C8B-B14F-4D97-AF65-F5344CB8AC3E}">
        <p14:creationId xmlns:p14="http://schemas.microsoft.com/office/powerpoint/2010/main" val="961178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2" y="-2664929"/>
            <a:ext cx="6858000" cy="12187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76661" y="2446986"/>
            <a:ext cx="72787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i="1" dirty="0">
                <a:solidFill>
                  <a:srgbClr val="FFFFFF"/>
                </a:solidFill>
                <a:latin typeface="Arial Rounded MT Bold" panose="020F0704030504030204" pitchFamily="34" charset="0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33557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466</Words>
  <Application>Microsoft Office PowerPoint</Application>
  <PresentationFormat>Widescreen</PresentationFormat>
  <Paragraphs>82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minto</dc:creator>
  <cp:lastModifiedBy>Maisha Afroz</cp:lastModifiedBy>
  <cp:revision>70</cp:revision>
  <dcterms:created xsi:type="dcterms:W3CDTF">2026-05-18T15:29:56Z</dcterms:created>
  <dcterms:modified xsi:type="dcterms:W3CDTF">2026-05-19T17:51:32Z</dcterms:modified>
</cp:coreProperties>
</file>