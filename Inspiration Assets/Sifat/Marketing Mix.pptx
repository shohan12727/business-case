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72"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Lst>
  <p:sldSz cx="18288000" cy="10287000"/>
  <p:notesSz cx="6858000" cy="9144000"/>
  <p:embeddedFontLst>
    <p:embeddedFont>
      <p:font typeface="Arial Bold" panose="020B0704020202020204" pitchFamily="34" charset="0"/>
      <p:regular r:id="rId19"/>
      <p:bold r:id="rId20"/>
    </p:embeddedFont>
    <p:embeddedFont>
      <p:font typeface="Arial Rounded MT Bold" panose="020F0704030504030204" pitchFamily="34" charset="0"/>
      <p:regular r:id="rId21"/>
    </p:embeddedFont>
    <p:embeddedFont>
      <p:font typeface="Calibri" panose="020F0502020204030204" pitchFamily="34" charset="0"/>
      <p:regular r:id="rId22"/>
      <p:bold r:id="rId23"/>
      <p:italic r:id="rId24"/>
      <p:boldItalic r:id="rId25"/>
    </p:embeddedFont>
    <p:embeddedFont>
      <p:font typeface="Calibri (MS)" panose="020B0604020202020204" charset="0"/>
      <p:regular r:id="rId26"/>
    </p:embeddedFont>
    <p:embeddedFont>
      <p:font typeface="Calibri (MS) Bold" panose="020B0604020202020204" charset="0"/>
      <p:regular r:id="rId27"/>
    </p:embeddedFont>
    <p:embeddedFont>
      <p:font typeface="Canva Sans" panose="020B0604020202020204" charset="0"/>
      <p:regular r:id="rId28"/>
    </p:embeddedFont>
    <p:embeddedFont>
      <p:font typeface="Canva Sans Bold" panose="020B0604020202020204" charset="0"/>
      <p:regular r:id="rId29"/>
    </p:embeddedFont>
    <p:embeddedFont>
      <p:font typeface="Francois One" panose="020B0604020202020204" charset="0"/>
      <p:regular r:id="rId30"/>
    </p:embeddedFont>
    <p:embeddedFont>
      <p:font typeface="Lexend Deca" panose="020B0604020202020204" charset="0"/>
      <p:regular r:id="rId31"/>
    </p:embeddedFont>
    <p:embeddedFont>
      <p:font typeface="Open Sauce Heavy" panose="020B0604020202020204" charset="0"/>
      <p:regular r:id="rId32"/>
    </p:embeddedFont>
    <p:embeddedFont>
      <p:font typeface="Open Sauce Light" panose="020B0604020202020204" charset="0"/>
      <p:regular r:id="rId3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41" d="100"/>
          <a:sy n="41" d="100"/>
        </p:scale>
        <p:origin x="820" y="3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8.fntdata"/><Relationship Id="rId21" Type="http://schemas.openxmlformats.org/officeDocument/2006/relationships/font" Target="fonts/font3.fntdata"/><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7.fntdata"/><Relationship Id="rId33" Type="http://schemas.openxmlformats.org/officeDocument/2006/relationships/font" Target="fonts/font15.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2.fntdata"/><Relationship Id="rId29" Type="http://schemas.openxmlformats.org/officeDocument/2006/relationships/font" Target="fonts/font11.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6.fntdata"/><Relationship Id="rId32" Type="http://schemas.openxmlformats.org/officeDocument/2006/relationships/font" Target="fonts/font14.fntdata"/><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5.fntdata"/><Relationship Id="rId28" Type="http://schemas.openxmlformats.org/officeDocument/2006/relationships/font" Target="fonts/font10.fntdata"/><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font" Target="fonts/font1.fntdata"/><Relationship Id="rId31" Type="http://schemas.openxmlformats.org/officeDocument/2006/relationships/font" Target="fonts/font13.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4.fntdata"/><Relationship Id="rId27" Type="http://schemas.openxmlformats.org/officeDocument/2006/relationships/font" Target="fonts/font9.fntdata"/><Relationship Id="rId30" Type="http://schemas.openxmlformats.org/officeDocument/2006/relationships/font" Target="fonts/font12.fntdata"/><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19-May-26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19-May-26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19-May-26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19-May-26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19-May-26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19-May-26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19-May-26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19-May-26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19-May-26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19-May-26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19-May-26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19-May-26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Layout" Target="../slideLayouts/slideLayout7.xml"/><Relationship Id="rId6" Type="http://schemas.openxmlformats.org/officeDocument/2006/relationships/image" Target="../media/image6.png"/><Relationship Id="rId5" Type="http://schemas.openxmlformats.org/officeDocument/2006/relationships/image" Target="../media/image5.jpeg"/><Relationship Id="rId4" Type="http://schemas.openxmlformats.org/officeDocument/2006/relationships/image" Target="../media/image4.jpeg"/></Relationships>
</file>

<file path=ppt/slides/_rels/slide3.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12.png"/><Relationship Id="rId7" Type="http://schemas.openxmlformats.org/officeDocument/2006/relationships/image" Target="../media/image16.png"/><Relationship Id="rId2" Type="http://schemas.openxmlformats.org/officeDocument/2006/relationships/image" Target="../media/image11.jpeg"/><Relationship Id="rId1" Type="http://schemas.openxmlformats.org/officeDocument/2006/relationships/slideLayout" Target="../slideLayouts/slideLayout7.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1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1.jpeg"/><Relationship Id="rId1" Type="http://schemas.openxmlformats.org/officeDocument/2006/relationships/slideLayout" Target="../slideLayouts/slideLayout7.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12.xml.rels><?xml version="1.0" encoding="UTF-8" standalone="yes"?>
<Relationships xmlns="http://schemas.openxmlformats.org/package/2006/relationships"><Relationship Id="rId8" Type="http://schemas.openxmlformats.org/officeDocument/2006/relationships/image" Target="../media/image27.png"/><Relationship Id="rId3" Type="http://schemas.openxmlformats.org/officeDocument/2006/relationships/image" Target="../media/image22.png"/><Relationship Id="rId7" Type="http://schemas.openxmlformats.org/officeDocument/2006/relationships/image" Target="../media/image26.png"/><Relationship Id="rId2" Type="http://schemas.openxmlformats.org/officeDocument/2006/relationships/image" Target="../media/image11.jpeg"/><Relationship Id="rId1" Type="http://schemas.openxmlformats.org/officeDocument/2006/relationships/slideLayout" Target="../slideLayouts/slideLayout7.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7.xml"/><Relationship Id="rId5" Type="http://schemas.openxmlformats.org/officeDocument/2006/relationships/image" Target="../media/image31.png"/><Relationship Id="rId4" Type="http://schemas.openxmlformats.org/officeDocument/2006/relationships/image" Target="../media/image30.png"/></Relationships>
</file>

<file path=ppt/slides/_rels/slide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7.xml"/><Relationship Id="rId6" Type="http://schemas.openxmlformats.org/officeDocument/2006/relationships/image" Target="../media/image1.png"/><Relationship Id="rId5" Type="http://schemas.openxmlformats.org/officeDocument/2006/relationships/image" Target="../media/image35.svg"/><Relationship Id="rId4" Type="http://schemas.openxmlformats.org/officeDocument/2006/relationships/image" Target="../media/image34.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800AD"/>
        </a:solidFill>
        <a:effectLst/>
      </p:bgPr>
    </p:bg>
    <p:spTree>
      <p:nvGrpSpPr>
        <p:cNvPr id="1" name=""/>
        <p:cNvGrpSpPr/>
        <p:nvPr/>
      </p:nvGrpSpPr>
      <p:grpSpPr>
        <a:xfrm>
          <a:off x="0" y="0"/>
          <a:ext cx="0" cy="0"/>
          <a:chOff x="0" y="0"/>
          <a:chExt cx="0" cy="0"/>
        </a:xfrm>
      </p:grpSpPr>
      <p:sp>
        <p:nvSpPr>
          <p:cNvPr id="2" name="Freeform 2"/>
          <p:cNvSpPr/>
          <p:nvPr/>
        </p:nvSpPr>
        <p:spPr>
          <a:xfrm>
            <a:off x="15718853" y="0"/>
            <a:ext cx="2569147" cy="2493059"/>
          </a:xfrm>
          <a:custGeom>
            <a:avLst/>
            <a:gdLst/>
            <a:ahLst/>
            <a:cxnLst/>
            <a:rect l="l" t="t" r="r" b="b"/>
            <a:pathLst>
              <a:path w="2569147" h="2493059">
                <a:moveTo>
                  <a:pt x="0" y="0"/>
                </a:moveTo>
                <a:lnTo>
                  <a:pt x="2569147" y="0"/>
                </a:lnTo>
                <a:lnTo>
                  <a:pt x="2569147" y="2493059"/>
                </a:lnTo>
                <a:lnTo>
                  <a:pt x="0" y="2493059"/>
                </a:lnTo>
                <a:lnTo>
                  <a:pt x="0" y="0"/>
                </a:lnTo>
                <a:close/>
              </a:path>
            </a:pathLst>
          </a:custGeom>
          <a:blipFill>
            <a:blip r:embed="rId2"/>
            <a:stretch>
              <a:fillRect t="-3630" r="-4083" b="-3630"/>
            </a:stretch>
          </a:blipFill>
        </p:spPr>
      </p:sp>
      <p:grpSp>
        <p:nvGrpSpPr>
          <p:cNvPr id="3" name="Group 3"/>
          <p:cNvGrpSpPr/>
          <p:nvPr/>
        </p:nvGrpSpPr>
        <p:grpSpPr>
          <a:xfrm>
            <a:off x="-38584" y="-8039"/>
            <a:ext cx="6266656" cy="10295039"/>
            <a:chOff x="0" y="0"/>
            <a:chExt cx="8355541" cy="13726719"/>
          </a:xfrm>
        </p:grpSpPr>
        <p:sp>
          <p:nvSpPr>
            <p:cNvPr id="4" name="Freeform 4"/>
            <p:cNvSpPr/>
            <p:nvPr/>
          </p:nvSpPr>
          <p:spPr>
            <a:xfrm>
              <a:off x="0" y="0"/>
              <a:ext cx="8355579" cy="13726668"/>
            </a:xfrm>
            <a:custGeom>
              <a:avLst/>
              <a:gdLst/>
              <a:ahLst/>
              <a:cxnLst/>
              <a:rect l="l" t="t" r="r" b="b"/>
              <a:pathLst>
                <a:path w="8355579" h="13726668">
                  <a:moveTo>
                    <a:pt x="0" y="0"/>
                  </a:moveTo>
                  <a:lnTo>
                    <a:pt x="8355579" y="0"/>
                  </a:lnTo>
                  <a:lnTo>
                    <a:pt x="8355579" y="13726668"/>
                  </a:lnTo>
                  <a:lnTo>
                    <a:pt x="0" y="13726668"/>
                  </a:lnTo>
                  <a:close/>
                </a:path>
              </a:pathLst>
            </a:custGeom>
            <a:solidFill>
              <a:srgbClr val="CC0000"/>
            </a:solidFill>
          </p:spPr>
        </p:sp>
      </p:grpSp>
      <p:sp>
        <p:nvSpPr>
          <p:cNvPr id="5" name="TextBox 5"/>
          <p:cNvSpPr txBox="1"/>
          <p:nvPr/>
        </p:nvSpPr>
        <p:spPr>
          <a:xfrm>
            <a:off x="152617" y="1081035"/>
            <a:ext cx="6371318" cy="1938426"/>
          </a:xfrm>
          <a:prstGeom prst="rect">
            <a:avLst/>
          </a:prstGeom>
        </p:spPr>
        <p:txBody>
          <a:bodyPr lIns="0" tIns="0" rIns="0" bIns="0" rtlCol="0" anchor="t">
            <a:spAutoFit/>
          </a:bodyPr>
          <a:lstStyle/>
          <a:p>
            <a:pPr algn="ctr">
              <a:lnSpc>
                <a:spcPts val="11542"/>
              </a:lnSpc>
            </a:pPr>
            <a:r>
              <a:rPr lang="en-US" sz="9618" b="1">
                <a:solidFill>
                  <a:srgbClr val="FFFFFF"/>
                </a:solidFill>
                <a:latin typeface="Calibri (MS) Bold"/>
                <a:ea typeface="Calibri (MS) Bold"/>
                <a:cs typeface="Calibri (MS) Bold"/>
                <a:sym typeface="Calibri (MS) Bold"/>
              </a:rPr>
              <a:t>WALTON</a:t>
            </a:r>
          </a:p>
        </p:txBody>
      </p:sp>
      <p:sp>
        <p:nvSpPr>
          <p:cNvPr id="6" name="TextBox 6"/>
          <p:cNvSpPr txBox="1"/>
          <p:nvPr/>
        </p:nvSpPr>
        <p:spPr>
          <a:xfrm>
            <a:off x="218695" y="2621631"/>
            <a:ext cx="6009377" cy="712890"/>
          </a:xfrm>
          <a:prstGeom prst="rect">
            <a:avLst/>
          </a:prstGeom>
        </p:spPr>
        <p:txBody>
          <a:bodyPr lIns="0" tIns="0" rIns="0" bIns="0" rtlCol="0" anchor="t">
            <a:spAutoFit/>
          </a:bodyPr>
          <a:lstStyle/>
          <a:p>
            <a:pPr algn="ctr">
              <a:lnSpc>
                <a:spcPts val="5853"/>
              </a:lnSpc>
            </a:pPr>
            <a:r>
              <a:rPr lang="en-US" sz="4181" b="1">
                <a:solidFill>
                  <a:srgbClr val="FFFFFF"/>
                </a:solidFill>
                <a:latin typeface="Canva Sans Bold"/>
                <a:ea typeface="Canva Sans Bold"/>
                <a:cs typeface="Canva Sans Bold"/>
                <a:sym typeface="Canva Sans Bold"/>
              </a:rPr>
              <a:t>Hi-Tech Industries PLC</a:t>
            </a:r>
          </a:p>
        </p:txBody>
      </p:sp>
      <p:sp>
        <p:nvSpPr>
          <p:cNvPr id="7" name="TextBox 7"/>
          <p:cNvSpPr txBox="1"/>
          <p:nvPr/>
        </p:nvSpPr>
        <p:spPr>
          <a:xfrm>
            <a:off x="7084321" y="1077962"/>
            <a:ext cx="6141085" cy="2734945"/>
          </a:xfrm>
          <a:prstGeom prst="rect">
            <a:avLst/>
          </a:prstGeom>
        </p:spPr>
        <p:txBody>
          <a:bodyPr lIns="0" tIns="0" rIns="0" bIns="0" rtlCol="0" anchor="t">
            <a:spAutoFit/>
          </a:bodyPr>
          <a:lstStyle/>
          <a:p>
            <a:pPr algn="ctr">
              <a:lnSpc>
                <a:spcPts val="7279"/>
              </a:lnSpc>
            </a:pPr>
            <a:r>
              <a:rPr lang="en-US" sz="5199" b="1">
                <a:solidFill>
                  <a:srgbClr val="A0AABB"/>
                </a:solidFill>
                <a:latin typeface="Canva Sans Bold"/>
                <a:ea typeface="Canva Sans Bold"/>
                <a:cs typeface="Canva Sans Bold"/>
                <a:sym typeface="Canva Sans Bold"/>
              </a:rPr>
              <a:t>Customer Driven</a:t>
            </a:r>
          </a:p>
          <a:p>
            <a:pPr algn="ctr">
              <a:lnSpc>
                <a:spcPts val="7279"/>
              </a:lnSpc>
            </a:pPr>
            <a:r>
              <a:rPr lang="en-US" sz="5199" b="1">
                <a:solidFill>
                  <a:srgbClr val="CC0000"/>
                </a:solidFill>
                <a:latin typeface="Canva Sans Bold"/>
                <a:ea typeface="Canva Sans Bold"/>
                <a:cs typeface="Canva Sans Bold"/>
                <a:sym typeface="Canva Sans Bold"/>
              </a:rPr>
              <a:t>Marketing Strategy</a:t>
            </a:r>
          </a:p>
          <a:p>
            <a:pPr algn="ctr">
              <a:lnSpc>
                <a:spcPts val="7279"/>
              </a:lnSpc>
            </a:pPr>
            <a:endParaRPr lang="en-US" sz="5199" b="1">
              <a:solidFill>
                <a:srgbClr val="CC0000"/>
              </a:solidFill>
              <a:latin typeface="Canva Sans Bold"/>
              <a:ea typeface="Canva Sans Bold"/>
              <a:cs typeface="Canva Sans Bold"/>
              <a:sym typeface="Canva Sans Bold"/>
            </a:endParaRPr>
          </a:p>
        </p:txBody>
      </p:sp>
      <p:sp>
        <p:nvSpPr>
          <p:cNvPr id="8" name="TextBox 8"/>
          <p:cNvSpPr txBox="1"/>
          <p:nvPr/>
        </p:nvSpPr>
        <p:spPr>
          <a:xfrm>
            <a:off x="6523934" y="4131421"/>
            <a:ext cx="11764066" cy="3934693"/>
          </a:xfrm>
          <a:prstGeom prst="rect">
            <a:avLst/>
          </a:prstGeom>
        </p:spPr>
        <p:txBody>
          <a:bodyPr lIns="0" tIns="0" rIns="0" bIns="0" rtlCol="0" anchor="t">
            <a:spAutoFit/>
          </a:bodyPr>
          <a:lstStyle/>
          <a:p>
            <a:pPr algn="ctr">
              <a:lnSpc>
                <a:spcPts val="5202"/>
              </a:lnSpc>
            </a:pPr>
            <a:r>
              <a:rPr lang="en-US" sz="3715" b="1">
                <a:gradFill>
                  <a:gsLst>
                    <a:gs pos="0">
                      <a:srgbClr val="A6A6A6">
                        <a:alpha val="100000"/>
                      </a:srgbClr>
                    </a:gs>
                    <a:gs pos="100000">
                      <a:srgbClr val="FFFFFF">
                        <a:alpha val="100000"/>
                      </a:srgbClr>
                    </a:gs>
                  </a:gsLst>
                  <a:lin ang="0"/>
                </a:gradFill>
                <a:latin typeface="Canva Sans Bold"/>
                <a:ea typeface="Canva Sans Bold"/>
                <a:cs typeface="Canva Sans Bold"/>
                <a:sym typeface="Canva Sans Bold"/>
              </a:rPr>
              <a:t>A comprehensive analysis of segmentation, targeting, positioning,</a:t>
            </a:r>
          </a:p>
          <a:p>
            <a:pPr algn="ctr">
              <a:lnSpc>
                <a:spcPts val="5202"/>
              </a:lnSpc>
            </a:pPr>
            <a:r>
              <a:rPr lang="en-US" sz="3715" b="1">
                <a:gradFill>
                  <a:gsLst>
                    <a:gs pos="0">
                      <a:srgbClr val="A6A6A6">
                        <a:alpha val="100000"/>
                      </a:srgbClr>
                    </a:gs>
                    <a:gs pos="100000">
                      <a:srgbClr val="FFFFFF">
                        <a:alpha val="100000"/>
                      </a:srgbClr>
                    </a:gs>
                  </a:gsLst>
                  <a:lin ang="0"/>
                </a:gradFill>
                <a:latin typeface="Canva Sans Bold"/>
                <a:ea typeface="Canva Sans Bold"/>
                <a:cs typeface="Canva Sans Bold"/>
                <a:sym typeface="Canva Sans Bold"/>
              </a:rPr>
              <a:t>marketing mix and strategic growth of Bangladesh's leading</a:t>
            </a:r>
          </a:p>
          <a:p>
            <a:pPr algn="ctr">
              <a:lnSpc>
                <a:spcPts val="5202"/>
              </a:lnSpc>
            </a:pPr>
            <a:r>
              <a:rPr lang="en-US" sz="3715" b="1">
                <a:gradFill>
                  <a:gsLst>
                    <a:gs pos="0">
                      <a:srgbClr val="A6A6A6">
                        <a:alpha val="100000"/>
                      </a:srgbClr>
                    </a:gs>
                    <a:gs pos="100000">
                      <a:srgbClr val="FFFFFF">
                        <a:alpha val="100000"/>
                      </a:srgbClr>
                    </a:gs>
                  </a:gsLst>
                  <a:lin ang="0"/>
                </a:gradFill>
                <a:latin typeface="Canva Sans Bold"/>
                <a:ea typeface="Canva Sans Bold"/>
                <a:cs typeface="Canva Sans Bold"/>
                <a:sym typeface="Canva Sans Bold"/>
              </a:rPr>
              <a:t>electronics brand.</a:t>
            </a:r>
          </a:p>
          <a:p>
            <a:pPr algn="ctr">
              <a:lnSpc>
                <a:spcPts val="5202"/>
              </a:lnSpc>
            </a:pPr>
            <a:endParaRPr lang="en-US" sz="3715" b="1">
              <a:gradFill>
                <a:gsLst>
                  <a:gs pos="0">
                    <a:srgbClr val="A6A6A6">
                      <a:alpha val="100000"/>
                    </a:srgbClr>
                  </a:gs>
                  <a:gs pos="100000">
                    <a:srgbClr val="FFFFFF">
                      <a:alpha val="100000"/>
                    </a:srgbClr>
                  </a:gs>
                </a:gsLst>
                <a:lin ang="0"/>
              </a:gradFill>
              <a:latin typeface="Canva Sans Bold"/>
              <a:ea typeface="Canva Sans Bold"/>
              <a:cs typeface="Canva Sans Bold"/>
              <a:sym typeface="Canva Sans Bold"/>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p:cNvPicPr>
            <a:picLocks noChangeAspect="1"/>
          </p:cNvPicPr>
          <p:nvPr/>
        </p:nvPicPr>
        <p:blipFill>
          <a:blip r:embed="rId2">
            <a:duotone>
              <a:prstClr val="black"/>
              <a:schemeClr val="accent4">
                <a:tint val="45000"/>
                <a:satMod val="400000"/>
              </a:schemeClr>
            </a:duotone>
            <a:extLst>
              <a:ext uri="{28A0092B-C50C-407E-A947-70E740481C1C}">
                <a14:useLocalDpi xmlns:a14="http://schemas.microsoft.com/office/drawing/2010/main" val="0"/>
              </a:ext>
            </a:extLst>
          </a:blip>
          <a:stretch>
            <a:fillRect/>
          </a:stretch>
        </p:blipFill>
        <p:spPr>
          <a:xfrm rot="16200000">
            <a:off x="3918399" y="-3968697"/>
            <a:ext cx="10451206" cy="18287998"/>
          </a:xfrm>
          <a:prstGeom prst="rect">
            <a:avLst/>
          </a:prstGeom>
        </p:spPr>
      </p:pic>
      <p:sp>
        <p:nvSpPr>
          <p:cNvPr id="9" name="Rounded Rectangle 8"/>
          <p:cNvSpPr/>
          <p:nvPr/>
        </p:nvSpPr>
        <p:spPr>
          <a:xfrm>
            <a:off x="698681" y="4790940"/>
            <a:ext cx="3844342" cy="4752304"/>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a:p>
        </p:txBody>
      </p:sp>
      <p:sp>
        <p:nvSpPr>
          <p:cNvPr id="10" name="Rounded Rectangle 9"/>
          <p:cNvSpPr/>
          <p:nvPr/>
        </p:nvSpPr>
        <p:spPr>
          <a:xfrm>
            <a:off x="719810" y="6087092"/>
            <a:ext cx="3917012" cy="3824848"/>
          </a:xfrm>
          <a:prstGeom prst="roundRect">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a:p>
        </p:txBody>
      </p:sp>
      <p:sp>
        <p:nvSpPr>
          <p:cNvPr id="11" name="Rounded Rectangle 10"/>
          <p:cNvSpPr/>
          <p:nvPr/>
        </p:nvSpPr>
        <p:spPr>
          <a:xfrm>
            <a:off x="9144002" y="2189734"/>
            <a:ext cx="3570880" cy="3062648"/>
          </a:xfrm>
          <a:prstGeom prst="roundRect">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a:p>
        </p:txBody>
      </p:sp>
      <p:sp>
        <p:nvSpPr>
          <p:cNvPr id="13" name="Rounded Rectangle 12"/>
          <p:cNvSpPr/>
          <p:nvPr/>
        </p:nvSpPr>
        <p:spPr>
          <a:xfrm>
            <a:off x="719811" y="2061563"/>
            <a:ext cx="3844342" cy="3658198"/>
          </a:xfrm>
          <a:prstGeom prst="roundRect">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a:p>
        </p:txBody>
      </p:sp>
      <p:sp>
        <p:nvSpPr>
          <p:cNvPr id="3" name="TextBox 2"/>
          <p:cNvSpPr txBox="1"/>
          <p:nvPr/>
        </p:nvSpPr>
        <p:spPr>
          <a:xfrm>
            <a:off x="698679" y="2266815"/>
            <a:ext cx="3865474" cy="2400657"/>
          </a:xfrm>
          <a:prstGeom prst="rect">
            <a:avLst/>
          </a:prstGeom>
          <a:noFill/>
        </p:spPr>
        <p:txBody>
          <a:bodyPr wrap="square" rtlCol="0">
            <a:spAutoFit/>
          </a:bodyPr>
          <a:lstStyle/>
          <a:p>
            <a:pPr algn="ctr"/>
            <a:r>
              <a:rPr lang="en-US" sz="3000" b="1" dirty="0">
                <a:solidFill>
                  <a:schemeClr val="accent2">
                    <a:lumMod val="50000"/>
                  </a:schemeClr>
                </a:solidFill>
                <a:latin typeface="Arial Rounded MT Bold" panose="020F0704030504030204" pitchFamily="34" charset="0"/>
              </a:rPr>
              <a:t> Step 1 (Reveal): Bare face under UV mirror → hidden pigmentation &amp; sun damage exposed.</a:t>
            </a:r>
          </a:p>
        </p:txBody>
      </p:sp>
      <p:sp>
        <p:nvSpPr>
          <p:cNvPr id="4" name="TextBox 3"/>
          <p:cNvSpPr txBox="1"/>
          <p:nvPr/>
        </p:nvSpPr>
        <p:spPr>
          <a:xfrm>
            <a:off x="719811" y="6092944"/>
            <a:ext cx="3844342" cy="3785652"/>
          </a:xfrm>
          <a:prstGeom prst="rect">
            <a:avLst/>
          </a:prstGeom>
          <a:noFill/>
        </p:spPr>
        <p:txBody>
          <a:bodyPr wrap="square" rtlCol="0">
            <a:spAutoFit/>
          </a:bodyPr>
          <a:lstStyle/>
          <a:p>
            <a:pPr algn="ctr"/>
            <a:r>
              <a:rPr lang="en-US" sz="3000" b="1" dirty="0">
                <a:solidFill>
                  <a:schemeClr val="accent2">
                    <a:lumMod val="50000"/>
                  </a:schemeClr>
                </a:solidFill>
                <a:latin typeface="Arial Rounded MT Bold" panose="020F0704030504030204" pitchFamily="34" charset="0"/>
              </a:rPr>
              <a:t> Step 2 (Protection): Apply Skin Cafe Sunscreen → screen shows it go completely black, proving 98% UV block.</a:t>
            </a:r>
          </a:p>
        </p:txBody>
      </p:sp>
      <p:sp>
        <p:nvSpPr>
          <p:cNvPr id="5" name="TextBox 4"/>
          <p:cNvSpPr txBox="1"/>
          <p:nvPr/>
        </p:nvSpPr>
        <p:spPr>
          <a:xfrm>
            <a:off x="9282877" y="2497647"/>
            <a:ext cx="3268822" cy="2400657"/>
          </a:xfrm>
          <a:prstGeom prst="rect">
            <a:avLst/>
          </a:prstGeom>
          <a:noFill/>
        </p:spPr>
        <p:txBody>
          <a:bodyPr wrap="square" rtlCol="0">
            <a:spAutoFit/>
          </a:bodyPr>
          <a:lstStyle/>
          <a:p>
            <a:pPr algn="ctr"/>
            <a:r>
              <a:rPr lang="en-US" sz="3000" dirty="0">
                <a:latin typeface="Arial Rounded MT Bold" panose="020F0704030504030204" pitchFamily="34" charset="0"/>
              </a:rPr>
              <a:t> </a:t>
            </a:r>
            <a:r>
              <a:rPr lang="en-US" sz="3000" b="1" dirty="0">
                <a:solidFill>
                  <a:schemeClr val="accent2">
                    <a:lumMod val="50000"/>
                  </a:schemeClr>
                </a:solidFill>
                <a:latin typeface="Arial Rounded MT Bold" panose="020F0704030504030204" pitchFamily="34" charset="0"/>
              </a:rPr>
              <a:t>Step 3 (Selfie &amp; Capture): Take split-screen “before vs after” selfie </a:t>
            </a:r>
          </a:p>
        </p:txBody>
      </p:sp>
      <p:sp>
        <p:nvSpPr>
          <p:cNvPr id="17" name="TextBox 16"/>
          <p:cNvSpPr txBox="1"/>
          <p:nvPr/>
        </p:nvSpPr>
        <p:spPr>
          <a:xfrm>
            <a:off x="14836465" y="2936385"/>
            <a:ext cx="2337514" cy="507831"/>
          </a:xfrm>
          <a:prstGeom prst="rect">
            <a:avLst/>
          </a:prstGeom>
          <a:noFill/>
        </p:spPr>
        <p:txBody>
          <a:bodyPr wrap="square" rtlCol="0">
            <a:spAutoFit/>
          </a:bodyPr>
          <a:lstStyle/>
          <a:p>
            <a:endParaRPr lang="en-US" sz="2700" dirty="0"/>
          </a:p>
        </p:txBody>
      </p:sp>
      <p:sp>
        <p:nvSpPr>
          <p:cNvPr id="18" name="Rounded Rectangle 17"/>
          <p:cNvSpPr/>
          <p:nvPr/>
        </p:nvSpPr>
        <p:spPr>
          <a:xfrm>
            <a:off x="9144003" y="5945834"/>
            <a:ext cx="8416342" cy="3928568"/>
          </a:xfrm>
          <a:prstGeom prst="roundRect">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a:p>
        </p:txBody>
      </p:sp>
      <p:sp>
        <p:nvSpPr>
          <p:cNvPr id="19" name="TextBox 18"/>
          <p:cNvSpPr txBox="1"/>
          <p:nvPr/>
        </p:nvSpPr>
        <p:spPr>
          <a:xfrm>
            <a:off x="9572737" y="6346827"/>
            <a:ext cx="7601242" cy="2862322"/>
          </a:xfrm>
          <a:prstGeom prst="rect">
            <a:avLst/>
          </a:prstGeom>
          <a:noFill/>
        </p:spPr>
        <p:txBody>
          <a:bodyPr wrap="square" rtlCol="0">
            <a:spAutoFit/>
          </a:bodyPr>
          <a:lstStyle/>
          <a:p>
            <a:pPr algn="ctr"/>
            <a:r>
              <a:rPr lang="en-US" sz="3000" b="1" dirty="0">
                <a:solidFill>
                  <a:schemeClr val="accent2">
                    <a:lumMod val="50000"/>
                  </a:schemeClr>
                </a:solidFill>
                <a:latin typeface="Arial Rounded MT Bold" panose="020F0704030504030204" pitchFamily="34" charset="0"/>
              </a:rPr>
              <a:t>Step 4 (Viral Loop): </a:t>
            </a:r>
          </a:p>
          <a:p>
            <a:pPr algn="ctr"/>
            <a:r>
              <a:rPr lang="en-US" sz="3000" b="1" dirty="0">
                <a:solidFill>
                  <a:schemeClr val="accent2">
                    <a:lumMod val="50000"/>
                  </a:schemeClr>
                </a:solidFill>
                <a:latin typeface="Arial Rounded MT Bold" panose="020F0704030504030204" pitchFamily="34" charset="0"/>
              </a:rPr>
              <a:t>Scan QR code → post to FB/IG with #SkinCafesuncheck #funfriday #beforevsafter #skincafe #seentheunseen + tag Skin Cafe to get digital photo.</a:t>
            </a:r>
          </a:p>
        </p:txBody>
      </p:sp>
      <p:pic>
        <p:nvPicPr>
          <p:cNvPr id="21" name="Picture 2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726756" y="2244948"/>
            <a:ext cx="3632280" cy="3215728"/>
          </a:xfrm>
          <a:prstGeom prst="rect">
            <a:avLst/>
          </a:prstGeom>
          <a:ln>
            <a:noFill/>
          </a:ln>
          <a:effectLst>
            <a:outerShdw blurRad="292100" dist="139700" dir="2700000" algn="tl" rotWithShape="0">
              <a:srgbClr val="333333">
                <a:alpha val="65000"/>
              </a:srgbClr>
            </a:outerShdw>
          </a:effectLst>
        </p:spPr>
      </p:pic>
      <p:pic>
        <p:nvPicPr>
          <p:cNvPr id="22" name="Picture 2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768402" y="6152956"/>
            <a:ext cx="3632280" cy="3432844"/>
          </a:xfrm>
          <a:prstGeom prst="rect">
            <a:avLst/>
          </a:prstGeom>
          <a:ln>
            <a:noFill/>
          </a:ln>
          <a:effectLst>
            <a:outerShdw blurRad="292100" dist="139700" dir="2700000" algn="tl" rotWithShape="0">
              <a:srgbClr val="333333">
                <a:alpha val="65000"/>
              </a:srgbClr>
            </a:outerShdw>
          </a:effectLst>
        </p:spPr>
      </p:pic>
      <p:pic>
        <p:nvPicPr>
          <p:cNvPr id="24" name="Picture 23"/>
          <p:cNvPicPr>
            <a:picLocks noChangeAspect="1"/>
          </p:cNvPicPr>
          <p:nvPr/>
        </p:nvPicPr>
        <p:blipFill rotWithShape="1">
          <a:blip r:embed="rId5">
            <a:extLst>
              <a:ext uri="{28A0092B-C50C-407E-A947-70E740481C1C}">
                <a14:useLocalDpi xmlns:a14="http://schemas.microsoft.com/office/drawing/2010/main" val="0"/>
              </a:ext>
            </a:extLst>
          </a:blip>
          <a:srcRect l="392" t="18988" r="335" b="18987"/>
          <a:stretch/>
        </p:blipFill>
        <p:spPr>
          <a:xfrm>
            <a:off x="12714880" y="2169973"/>
            <a:ext cx="4845464" cy="3005330"/>
          </a:xfrm>
          <a:prstGeom prst="rect">
            <a:avLst/>
          </a:prstGeom>
          <a:ln>
            <a:noFill/>
          </a:ln>
          <a:effectLst>
            <a:outerShdw blurRad="292100" dist="139700" dir="2700000" algn="tl" rotWithShape="0">
              <a:srgbClr val="333333">
                <a:alpha val="65000"/>
              </a:srgbClr>
            </a:outerShdw>
          </a:effectLst>
        </p:spPr>
      </p:pic>
      <p:pic>
        <p:nvPicPr>
          <p:cNvPr id="20" name="Picture 2" descr="Skin Cafe">
            <a:extLst>
              <a:ext uri="{FF2B5EF4-FFF2-40B4-BE49-F238E27FC236}">
                <a16:creationId xmlns:a16="http://schemas.microsoft.com/office/drawing/2014/main" id="{9273B945-9D20-4576-B649-85D5B2829F6B}"/>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6590875" y="276121"/>
            <a:ext cx="1360622" cy="1362482"/>
          </a:xfrm>
          <a:prstGeom prst="rect">
            <a:avLst/>
          </a:prstGeom>
          <a:noFill/>
          <a:extLst>
            <a:ext uri="{909E8E84-426E-40DD-AFC4-6F175D3DCCD1}">
              <a14:hiddenFill xmlns:a14="http://schemas.microsoft.com/office/drawing/2010/main">
                <a:solidFill>
                  <a:srgbClr val="FFFFFF"/>
                </a:solidFill>
              </a14:hiddenFill>
            </a:ext>
          </a:extLst>
        </p:spPr>
      </p:pic>
      <p:sp>
        <p:nvSpPr>
          <p:cNvPr id="23" name="Rounded Rectangle 4">
            <a:extLst>
              <a:ext uri="{FF2B5EF4-FFF2-40B4-BE49-F238E27FC236}">
                <a16:creationId xmlns:a16="http://schemas.microsoft.com/office/drawing/2014/main" id="{E51EDDE7-F2AC-407A-A602-C18C8BEF02FF}"/>
              </a:ext>
            </a:extLst>
          </p:cNvPr>
          <p:cNvSpPr/>
          <p:nvPr/>
        </p:nvSpPr>
        <p:spPr>
          <a:xfrm>
            <a:off x="4507606" y="412598"/>
            <a:ext cx="9272788" cy="837892"/>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5600" b="1" dirty="0">
                <a:solidFill>
                  <a:schemeClr val="accent4">
                    <a:lumMod val="75000"/>
                  </a:schemeClr>
                </a:solidFill>
              </a:rPr>
              <a:t>Campaign</a:t>
            </a:r>
          </a:p>
        </p:txBody>
      </p:sp>
    </p:spTree>
    <p:extLst>
      <p:ext uri="{BB962C8B-B14F-4D97-AF65-F5344CB8AC3E}">
        <p14:creationId xmlns:p14="http://schemas.microsoft.com/office/powerpoint/2010/main" val="54844708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CC0000"/>
        </a:solidFill>
        <a:effectLst/>
      </p:bgPr>
    </p:bg>
    <p:spTree>
      <p:nvGrpSpPr>
        <p:cNvPr id="1" name=""/>
        <p:cNvGrpSpPr/>
        <p:nvPr/>
      </p:nvGrpSpPr>
      <p:grpSpPr>
        <a:xfrm>
          <a:off x="0" y="0"/>
          <a:ext cx="0" cy="0"/>
          <a:chOff x="0" y="0"/>
          <a:chExt cx="0" cy="0"/>
        </a:xfrm>
      </p:grpSpPr>
      <p:sp>
        <p:nvSpPr>
          <p:cNvPr id="2" name="Freeform 2"/>
          <p:cNvSpPr/>
          <p:nvPr/>
        </p:nvSpPr>
        <p:spPr>
          <a:xfrm>
            <a:off x="1270179" y="1218811"/>
            <a:ext cx="7260615" cy="3867928"/>
          </a:xfrm>
          <a:custGeom>
            <a:avLst/>
            <a:gdLst/>
            <a:ahLst/>
            <a:cxnLst/>
            <a:rect l="l" t="t" r="r" b="b"/>
            <a:pathLst>
              <a:path w="7260615" h="3867928">
                <a:moveTo>
                  <a:pt x="0" y="0"/>
                </a:moveTo>
                <a:lnTo>
                  <a:pt x="7260615" y="0"/>
                </a:lnTo>
                <a:lnTo>
                  <a:pt x="7260615" y="3867928"/>
                </a:lnTo>
                <a:lnTo>
                  <a:pt x="0" y="386792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1270179" y="5515364"/>
            <a:ext cx="7260615" cy="3867928"/>
          </a:xfrm>
          <a:custGeom>
            <a:avLst/>
            <a:gdLst/>
            <a:ahLst/>
            <a:cxnLst/>
            <a:rect l="l" t="t" r="r" b="b"/>
            <a:pathLst>
              <a:path w="7260615" h="3867928">
                <a:moveTo>
                  <a:pt x="0" y="0"/>
                </a:moveTo>
                <a:lnTo>
                  <a:pt x="7260615" y="0"/>
                </a:lnTo>
                <a:lnTo>
                  <a:pt x="7260615" y="3867928"/>
                </a:lnTo>
                <a:lnTo>
                  <a:pt x="0" y="386792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Freeform 4"/>
          <p:cNvSpPr/>
          <p:nvPr/>
        </p:nvSpPr>
        <p:spPr>
          <a:xfrm>
            <a:off x="9920849" y="5515364"/>
            <a:ext cx="7260615" cy="3867928"/>
          </a:xfrm>
          <a:custGeom>
            <a:avLst/>
            <a:gdLst/>
            <a:ahLst/>
            <a:cxnLst/>
            <a:rect l="l" t="t" r="r" b="b"/>
            <a:pathLst>
              <a:path w="7260615" h="3867928">
                <a:moveTo>
                  <a:pt x="0" y="0"/>
                </a:moveTo>
                <a:lnTo>
                  <a:pt x="7260615" y="0"/>
                </a:lnTo>
                <a:lnTo>
                  <a:pt x="7260615" y="3867928"/>
                </a:lnTo>
                <a:lnTo>
                  <a:pt x="0" y="386792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5" name="Freeform 5"/>
          <p:cNvSpPr/>
          <p:nvPr/>
        </p:nvSpPr>
        <p:spPr>
          <a:xfrm>
            <a:off x="9920849" y="1275572"/>
            <a:ext cx="7260615" cy="3867928"/>
          </a:xfrm>
          <a:custGeom>
            <a:avLst/>
            <a:gdLst/>
            <a:ahLst/>
            <a:cxnLst/>
            <a:rect l="l" t="t" r="r" b="b"/>
            <a:pathLst>
              <a:path w="7260615" h="3867928">
                <a:moveTo>
                  <a:pt x="0" y="0"/>
                </a:moveTo>
                <a:lnTo>
                  <a:pt x="7260615" y="0"/>
                </a:lnTo>
                <a:lnTo>
                  <a:pt x="7260615" y="3867928"/>
                </a:lnTo>
                <a:lnTo>
                  <a:pt x="0" y="386792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6" name="TextBox 6"/>
          <p:cNvSpPr txBox="1"/>
          <p:nvPr/>
        </p:nvSpPr>
        <p:spPr>
          <a:xfrm>
            <a:off x="2792122" y="2053316"/>
            <a:ext cx="4969099" cy="1099459"/>
          </a:xfrm>
          <a:prstGeom prst="rect">
            <a:avLst/>
          </a:prstGeom>
        </p:spPr>
        <p:txBody>
          <a:bodyPr lIns="0" tIns="0" rIns="0" bIns="0" rtlCol="0" anchor="t">
            <a:spAutoFit/>
          </a:bodyPr>
          <a:lstStyle/>
          <a:p>
            <a:pPr algn="ctr">
              <a:lnSpc>
                <a:spcPts val="4499"/>
              </a:lnSpc>
            </a:pPr>
            <a:r>
              <a:rPr lang="en-US" sz="3214" b="1">
                <a:solidFill>
                  <a:srgbClr val="000000"/>
                </a:solidFill>
                <a:latin typeface="Canva Sans Bold"/>
                <a:ea typeface="Canva Sans Bold"/>
                <a:cs typeface="Canva Sans Bold"/>
                <a:sym typeface="Canva Sans Bold"/>
              </a:rPr>
              <a:t>Nasimul Hoque Nabil</a:t>
            </a:r>
          </a:p>
          <a:p>
            <a:pPr algn="ctr">
              <a:lnSpc>
                <a:spcPts val="4499"/>
              </a:lnSpc>
            </a:pPr>
            <a:endParaRPr lang="en-US" sz="3214" b="1">
              <a:solidFill>
                <a:srgbClr val="000000"/>
              </a:solidFill>
              <a:latin typeface="Canva Sans Bold"/>
              <a:ea typeface="Canva Sans Bold"/>
              <a:cs typeface="Canva Sans Bold"/>
              <a:sym typeface="Canva Sans Bold"/>
            </a:endParaRPr>
          </a:p>
        </p:txBody>
      </p:sp>
      <p:sp>
        <p:nvSpPr>
          <p:cNvPr id="7" name="TextBox 7"/>
          <p:cNvSpPr txBox="1"/>
          <p:nvPr/>
        </p:nvSpPr>
        <p:spPr>
          <a:xfrm>
            <a:off x="2949381" y="3301709"/>
            <a:ext cx="880677" cy="712222"/>
          </a:xfrm>
          <a:prstGeom prst="rect">
            <a:avLst/>
          </a:prstGeom>
        </p:spPr>
        <p:txBody>
          <a:bodyPr lIns="0" tIns="0" rIns="0" bIns="0" rtlCol="0" anchor="t">
            <a:spAutoFit/>
          </a:bodyPr>
          <a:lstStyle/>
          <a:p>
            <a:pPr algn="ctr">
              <a:lnSpc>
                <a:spcPts val="5893"/>
              </a:lnSpc>
            </a:pPr>
            <a:r>
              <a:rPr lang="en-US" sz="4209" b="1">
                <a:solidFill>
                  <a:srgbClr val="000000"/>
                </a:solidFill>
                <a:latin typeface="Canva Sans Bold"/>
                <a:ea typeface="Canva Sans Bold"/>
                <a:cs typeface="Canva Sans Bold"/>
                <a:sym typeface="Canva Sans Bold"/>
              </a:rPr>
              <a:t>ID:</a:t>
            </a:r>
          </a:p>
        </p:txBody>
      </p:sp>
      <p:sp>
        <p:nvSpPr>
          <p:cNvPr id="8" name="TextBox 8"/>
          <p:cNvSpPr txBox="1"/>
          <p:nvPr/>
        </p:nvSpPr>
        <p:spPr>
          <a:xfrm>
            <a:off x="3631199" y="3506559"/>
            <a:ext cx="4899596" cy="1064772"/>
          </a:xfrm>
          <a:prstGeom prst="rect">
            <a:avLst/>
          </a:prstGeom>
        </p:spPr>
        <p:txBody>
          <a:bodyPr lIns="0" tIns="0" rIns="0" bIns="0" rtlCol="0" anchor="t">
            <a:spAutoFit/>
          </a:bodyPr>
          <a:lstStyle/>
          <a:p>
            <a:pPr algn="ctr">
              <a:lnSpc>
                <a:spcPts val="4311"/>
              </a:lnSpc>
            </a:pPr>
            <a:r>
              <a:rPr lang="en-US" sz="3079" b="1">
                <a:solidFill>
                  <a:srgbClr val="E94F37"/>
                </a:solidFill>
                <a:latin typeface="Canva Sans Bold"/>
                <a:ea typeface="Canva Sans Bold"/>
                <a:cs typeface="Canva Sans Bold"/>
                <a:sym typeface="Canva Sans Bold"/>
              </a:rPr>
              <a:t>2522219630</a:t>
            </a:r>
          </a:p>
          <a:p>
            <a:pPr algn="ctr">
              <a:lnSpc>
                <a:spcPts val="4311"/>
              </a:lnSpc>
            </a:pPr>
            <a:endParaRPr lang="en-US" sz="3079" b="1">
              <a:solidFill>
                <a:srgbClr val="E94F37"/>
              </a:solidFill>
              <a:latin typeface="Canva Sans Bold"/>
              <a:ea typeface="Canva Sans Bold"/>
              <a:cs typeface="Canva Sans Bold"/>
              <a:sym typeface="Canva Sans Bold"/>
            </a:endParaRPr>
          </a:p>
        </p:txBody>
      </p:sp>
      <p:sp>
        <p:nvSpPr>
          <p:cNvPr id="9" name="TextBox 9"/>
          <p:cNvSpPr txBox="1"/>
          <p:nvPr/>
        </p:nvSpPr>
        <p:spPr>
          <a:xfrm>
            <a:off x="12359704" y="3506559"/>
            <a:ext cx="4899596" cy="1064772"/>
          </a:xfrm>
          <a:prstGeom prst="rect">
            <a:avLst/>
          </a:prstGeom>
        </p:spPr>
        <p:txBody>
          <a:bodyPr lIns="0" tIns="0" rIns="0" bIns="0" rtlCol="0" anchor="t">
            <a:spAutoFit/>
          </a:bodyPr>
          <a:lstStyle/>
          <a:p>
            <a:pPr algn="ctr">
              <a:lnSpc>
                <a:spcPts val="4311"/>
              </a:lnSpc>
            </a:pPr>
            <a:r>
              <a:rPr lang="en-US" sz="3079" b="1">
                <a:solidFill>
                  <a:srgbClr val="E94F37"/>
                </a:solidFill>
                <a:latin typeface="Canva Sans Bold"/>
                <a:ea typeface="Canva Sans Bold"/>
                <a:cs typeface="Canva Sans Bold"/>
                <a:sym typeface="Canva Sans Bold"/>
              </a:rPr>
              <a:t>2524217630</a:t>
            </a:r>
          </a:p>
          <a:p>
            <a:pPr algn="ctr">
              <a:lnSpc>
                <a:spcPts val="4311"/>
              </a:lnSpc>
            </a:pPr>
            <a:endParaRPr lang="en-US" sz="3079" b="1">
              <a:solidFill>
                <a:srgbClr val="E94F37"/>
              </a:solidFill>
              <a:latin typeface="Canva Sans Bold"/>
              <a:ea typeface="Canva Sans Bold"/>
              <a:cs typeface="Canva Sans Bold"/>
              <a:sym typeface="Canva Sans Bold"/>
            </a:endParaRPr>
          </a:p>
        </p:txBody>
      </p:sp>
      <p:sp>
        <p:nvSpPr>
          <p:cNvPr id="10" name="TextBox 10"/>
          <p:cNvSpPr txBox="1"/>
          <p:nvPr/>
        </p:nvSpPr>
        <p:spPr>
          <a:xfrm>
            <a:off x="12359704" y="7752989"/>
            <a:ext cx="4899596" cy="1064772"/>
          </a:xfrm>
          <a:prstGeom prst="rect">
            <a:avLst/>
          </a:prstGeom>
        </p:spPr>
        <p:txBody>
          <a:bodyPr lIns="0" tIns="0" rIns="0" bIns="0" rtlCol="0" anchor="t">
            <a:spAutoFit/>
          </a:bodyPr>
          <a:lstStyle/>
          <a:p>
            <a:pPr algn="ctr">
              <a:lnSpc>
                <a:spcPts val="4311"/>
              </a:lnSpc>
            </a:pPr>
            <a:r>
              <a:rPr lang="en-US" sz="3079" b="1">
                <a:solidFill>
                  <a:srgbClr val="E94F37"/>
                </a:solidFill>
                <a:latin typeface="Canva Sans Bold"/>
                <a:ea typeface="Canva Sans Bold"/>
                <a:cs typeface="Canva Sans Bold"/>
                <a:sym typeface="Canva Sans Bold"/>
              </a:rPr>
              <a:t>2534227030</a:t>
            </a:r>
          </a:p>
          <a:p>
            <a:pPr algn="ctr">
              <a:lnSpc>
                <a:spcPts val="4311"/>
              </a:lnSpc>
            </a:pPr>
            <a:endParaRPr lang="en-US" sz="3079" b="1">
              <a:solidFill>
                <a:srgbClr val="E94F37"/>
              </a:solidFill>
              <a:latin typeface="Canva Sans Bold"/>
              <a:ea typeface="Canva Sans Bold"/>
              <a:cs typeface="Canva Sans Bold"/>
              <a:sym typeface="Canva Sans Bold"/>
            </a:endParaRPr>
          </a:p>
        </p:txBody>
      </p:sp>
      <p:sp>
        <p:nvSpPr>
          <p:cNvPr id="11" name="TextBox 11"/>
          <p:cNvSpPr txBox="1"/>
          <p:nvPr/>
        </p:nvSpPr>
        <p:spPr>
          <a:xfrm>
            <a:off x="11660593" y="7601728"/>
            <a:ext cx="880677" cy="712222"/>
          </a:xfrm>
          <a:prstGeom prst="rect">
            <a:avLst/>
          </a:prstGeom>
        </p:spPr>
        <p:txBody>
          <a:bodyPr lIns="0" tIns="0" rIns="0" bIns="0" rtlCol="0" anchor="t">
            <a:spAutoFit/>
          </a:bodyPr>
          <a:lstStyle/>
          <a:p>
            <a:pPr algn="ctr">
              <a:lnSpc>
                <a:spcPts val="5893"/>
              </a:lnSpc>
            </a:pPr>
            <a:r>
              <a:rPr lang="en-US" sz="4209" b="1">
                <a:solidFill>
                  <a:srgbClr val="000000"/>
                </a:solidFill>
                <a:latin typeface="Canva Sans Bold"/>
                <a:ea typeface="Canva Sans Bold"/>
                <a:cs typeface="Canva Sans Bold"/>
                <a:sym typeface="Canva Sans Bold"/>
              </a:rPr>
              <a:t>ID:</a:t>
            </a:r>
          </a:p>
        </p:txBody>
      </p:sp>
      <p:sp>
        <p:nvSpPr>
          <p:cNvPr id="12" name="TextBox 12"/>
          <p:cNvSpPr txBox="1"/>
          <p:nvPr/>
        </p:nvSpPr>
        <p:spPr>
          <a:xfrm>
            <a:off x="2949381" y="7601728"/>
            <a:ext cx="880677" cy="712222"/>
          </a:xfrm>
          <a:prstGeom prst="rect">
            <a:avLst/>
          </a:prstGeom>
        </p:spPr>
        <p:txBody>
          <a:bodyPr lIns="0" tIns="0" rIns="0" bIns="0" rtlCol="0" anchor="t">
            <a:spAutoFit/>
          </a:bodyPr>
          <a:lstStyle/>
          <a:p>
            <a:pPr algn="ctr">
              <a:lnSpc>
                <a:spcPts val="5893"/>
              </a:lnSpc>
            </a:pPr>
            <a:r>
              <a:rPr lang="en-US" sz="4209" b="1">
                <a:solidFill>
                  <a:srgbClr val="000000"/>
                </a:solidFill>
                <a:latin typeface="Canva Sans Bold"/>
                <a:ea typeface="Canva Sans Bold"/>
                <a:cs typeface="Canva Sans Bold"/>
                <a:sym typeface="Canva Sans Bold"/>
              </a:rPr>
              <a:t>ID:</a:t>
            </a:r>
          </a:p>
        </p:txBody>
      </p:sp>
      <p:sp>
        <p:nvSpPr>
          <p:cNvPr id="13" name="TextBox 13"/>
          <p:cNvSpPr txBox="1"/>
          <p:nvPr/>
        </p:nvSpPr>
        <p:spPr>
          <a:xfrm>
            <a:off x="11660593" y="3355298"/>
            <a:ext cx="880677" cy="712222"/>
          </a:xfrm>
          <a:prstGeom prst="rect">
            <a:avLst/>
          </a:prstGeom>
        </p:spPr>
        <p:txBody>
          <a:bodyPr lIns="0" tIns="0" rIns="0" bIns="0" rtlCol="0" anchor="t">
            <a:spAutoFit/>
          </a:bodyPr>
          <a:lstStyle/>
          <a:p>
            <a:pPr algn="ctr">
              <a:lnSpc>
                <a:spcPts val="5893"/>
              </a:lnSpc>
            </a:pPr>
            <a:r>
              <a:rPr lang="en-US" sz="4209" b="1">
                <a:solidFill>
                  <a:srgbClr val="000000"/>
                </a:solidFill>
                <a:latin typeface="Canva Sans Bold"/>
                <a:ea typeface="Canva Sans Bold"/>
                <a:cs typeface="Canva Sans Bold"/>
                <a:sym typeface="Canva Sans Bold"/>
              </a:rPr>
              <a:t>ID:</a:t>
            </a:r>
          </a:p>
        </p:txBody>
      </p:sp>
      <p:sp>
        <p:nvSpPr>
          <p:cNvPr id="14" name="TextBox 14"/>
          <p:cNvSpPr txBox="1"/>
          <p:nvPr/>
        </p:nvSpPr>
        <p:spPr>
          <a:xfrm>
            <a:off x="2792122" y="6349869"/>
            <a:ext cx="4969099" cy="1099459"/>
          </a:xfrm>
          <a:prstGeom prst="rect">
            <a:avLst/>
          </a:prstGeom>
        </p:spPr>
        <p:txBody>
          <a:bodyPr lIns="0" tIns="0" rIns="0" bIns="0" rtlCol="0" anchor="t">
            <a:spAutoFit/>
          </a:bodyPr>
          <a:lstStyle/>
          <a:p>
            <a:pPr algn="ctr">
              <a:lnSpc>
                <a:spcPts val="4499"/>
              </a:lnSpc>
            </a:pPr>
            <a:r>
              <a:rPr lang="en-US" sz="3214" b="1">
                <a:solidFill>
                  <a:srgbClr val="000000"/>
                </a:solidFill>
                <a:latin typeface="Canva Sans Bold"/>
                <a:ea typeface="Canva Sans Bold"/>
                <a:cs typeface="Canva Sans Bold"/>
                <a:sym typeface="Canva Sans Bold"/>
              </a:rPr>
              <a:t>Rafia Sanjana</a:t>
            </a:r>
          </a:p>
          <a:p>
            <a:pPr algn="ctr">
              <a:lnSpc>
                <a:spcPts val="4499"/>
              </a:lnSpc>
            </a:pPr>
            <a:endParaRPr lang="en-US" sz="3214" b="1">
              <a:solidFill>
                <a:srgbClr val="000000"/>
              </a:solidFill>
              <a:latin typeface="Canva Sans Bold"/>
              <a:ea typeface="Canva Sans Bold"/>
              <a:cs typeface="Canva Sans Bold"/>
              <a:sym typeface="Canva Sans Bold"/>
            </a:endParaRPr>
          </a:p>
        </p:txBody>
      </p:sp>
      <p:sp>
        <p:nvSpPr>
          <p:cNvPr id="15" name="TextBox 15"/>
          <p:cNvSpPr txBox="1"/>
          <p:nvPr/>
        </p:nvSpPr>
        <p:spPr>
          <a:xfrm>
            <a:off x="11660593" y="2053316"/>
            <a:ext cx="4969099" cy="1099459"/>
          </a:xfrm>
          <a:prstGeom prst="rect">
            <a:avLst/>
          </a:prstGeom>
        </p:spPr>
        <p:txBody>
          <a:bodyPr lIns="0" tIns="0" rIns="0" bIns="0" rtlCol="0" anchor="t">
            <a:spAutoFit/>
          </a:bodyPr>
          <a:lstStyle/>
          <a:p>
            <a:pPr algn="ctr">
              <a:lnSpc>
                <a:spcPts val="4499"/>
              </a:lnSpc>
            </a:pPr>
            <a:r>
              <a:rPr lang="en-US" sz="3214" b="1">
                <a:solidFill>
                  <a:srgbClr val="000000"/>
                </a:solidFill>
                <a:latin typeface="Canva Sans Bold"/>
                <a:ea typeface="Canva Sans Bold"/>
                <a:cs typeface="Canva Sans Bold"/>
                <a:sym typeface="Canva Sans Bold"/>
              </a:rPr>
              <a:t>Protik Sikder</a:t>
            </a:r>
          </a:p>
          <a:p>
            <a:pPr algn="ctr">
              <a:lnSpc>
                <a:spcPts val="4499"/>
              </a:lnSpc>
            </a:pPr>
            <a:endParaRPr lang="en-US" sz="3214" b="1">
              <a:solidFill>
                <a:srgbClr val="000000"/>
              </a:solidFill>
              <a:latin typeface="Canva Sans Bold"/>
              <a:ea typeface="Canva Sans Bold"/>
              <a:cs typeface="Canva Sans Bold"/>
              <a:sym typeface="Canva Sans Bold"/>
            </a:endParaRPr>
          </a:p>
        </p:txBody>
      </p:sp>
      <p:sp>
        <p:nvSpPr>
          <p:cNvPr id="16" name="TextBox 16"/>
          <p:cNvSpPr txBox="1"/>
          <p:nvPr/>
        </p:nvSpPr>
        <p:spPr>
          <a:xfrm>
            <a:off x="3631199" y="7752989"/>
            <a:ext cx="4899596" cy="1064772"/>
          </a:xfrm>
          <a:prstGeom prst="rect">
            <a:avLst/>
          </a:prstGeom>
        </p:spPr>
        <p:txBody>
          <a:bodyPr lIns="0" tIns="0" rIns="0" bIns="0" rtlCol="0" anchor="t">
            <a:spAutoFit/>
          </a:bodyPr>
          <a:lstStyle/>
          <a:p>
            <a:pPr algn="ctr">
              <a:lnSpc>
                <a:spcPts val="4311"/>
              </a:lnSpc>
            </a:pPr>
            <a:r>
              <a:rPr lang="en-US" sz="3079" b="1">
                <a:solidFill>
                  <a:srgbClr val="E94F37"/>
                </a:solidFill>
                <a:latin typeface="Canva Sans Bold"/>
                <a:ea typeface="Canva Sans Bold"/>
                <a:cs typeface="Canva Sans Bold"/>
                <a:sym typeface="Canva Sans Bold"/>
              </a:rPr>
              <a:t>2531172630</a:t>
            </a:r>
          </a:p>
          <a:p>
            <a:pPr algn="ctr">
              <a:lnSpc>
                <a:spcPts val="4311"/>
              </a:lnSpc>
            </a:pPr>
            <a:endParaRPr lang="en-US" sz="3079" b="1">
              <a:solidFill>
                <a:srgbClr val="E94F37"/>
              </a:solidFill>
              <a:latin typeface="Canva Sans Bold"/>
              <a:ea typeface="Canva Sans Bold"/>
              <a:cs typeface="Canva Sans Bold"/>
              <a:sym typeface="Canva Sans Bold"/>
            </a:endParaRPr>
          </a:p>
        </p:txBody>
      </p:sp>
      <p:sp>
        <p:nvSpPr>
          <p:cNvPr id="17" name="TextBox 17"/>
          <p:cNvSpPr txBox="1"/>
          <p:nvPr/>
        </p:nvSpPr>
        <p:spPr>
          <a:xfrm>
            <a:off x="11660593" y="6172200"/>
            <a:ext cx="4969099" cy="1099459"/>
          </a:xfrm>
          <a:prstGeom prst="rect">
            <a:avLst/>
          </a:prstGeom>
        </p:spPr>
        <p:txBody>
          <a:bodyPr lIns="0" tIns="0" rIns="0" bIns="0" rtlCol="0" anchor="t">
            <a:spAutoFit/>
          </a:bodyPr>
          <a:lstStyle/>
          <a:p>
            <a:pPr algn="ctr">
              <a:lnSpc>
                <a:spcPts val="4499"/>
              </a:lnSpc>
              <a:spcBef>
                <a:spcPct val="0"/>
              </a:spcBef>
            </a:pPr>
            <a:r>
              <a:rPr lang="en-US" sz="3214" b="1">
                <a:solidFill>
                  <a:srgbClr val="000000"/>
                </a:solidFill>
                <a:latin typeface="Canva Sans Bold"/>
                <a:ea typeface="Canva Sans Bold"/>
                <a:cs typeface="Canva Sans Bold"/>
                <a:sym typeface="Canva Sans Bold"/>
              </a:rPr>
              <a:t>Abdullah Muhammad Faisal </a:t>
            </a:r>
          </a:p>
        </p:txBody>
      </p:sp>
      <p:sp>
        <p:nvSpPr>
          <p:cNvPr id="18" name="TextBox 18"/>
          <p:cNvSpPr txBox="1"/>
          <p:nvPr/>
        </p:nvSpPr>
        <p:spPr>
          <a:xfrm>
            <a:off x="4900487" y="-16406"/>
            <a:ext cx="8487027" cy="1045106"/>
          </a:xfrm>
          <a:prstGeom prst="rect">
            <a:avLst/>
          </a:prstGeom>
        </p:spPr>
        <p:txBody>
          <a:bodyPr lIns="0" tIns="0" rIns="0" bIns="0" rtlCol="0" anchor="t">
            <a:spAutoFit/>
          </a:bodyPr>
          <a:lstStyle/>
          <a:p>
            <a:pPr algn="ctr">
              <a:lnSpc>
                <a:spcPts val="8469"/>
              </a:lnSpc>
            </a:pPr>
            <a:r>
              <a:rPr lang="en-US" sz="6049">
                <a:solidFill>
                  <a:srgbClr val="A0AABB"/>
                </a:solidFill>
                <a:latin typeface="Francois One"/>
                <a:ea typeface="Francois One"/>
                <a:cs typeface="Francois One"/>
                <a:sym typeface="Francois One"/>
              </a:rPr>
              <a:t>TEAM MEMBERS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1A1A2E"/>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18288000" cy="1509139"/>
            <a:chOff x="0" y="0"/>
            <a:chExt cx="24396967" cy="2013255"/>
          </a:xfrm>
        </p:grpSpPr>
        <p:sp>
          <p:nvSpPr>
            <p:cNvPr id="3" name="Freeform 3"/>
            <p:cNvSpPr/>
            <p:nvPr/>
          </p:nvSpPr>
          <p:spPr>
            <a:xfrm>
              <a:off x="0" y="0"/>
              <a:ext cx="24396954" cy="2013204"/>
            </a:xfrm>
            <a:custGeom>
              <a:avLst/>
              <a:gdLst/>
              <a:ahLst/>
              <a:cxnLst/>
              <a:rect l="l" t="t" r="r" b="b"/>
              <a:pathLst>
                <a:path w="24396954" h="2013204">
                  <a:moveTo>
                    <a:pt x="0" y="0"/>
                  </a:moveTo>
                  <a:lnTo>
                    <a:pt x="24396954" y="0"/>
                  </a:lnTo>
                  <a:lnTo>
                    <a:pt x="24396954" y="2013204"/>
                  </a:lnTo>
                  <a:lnTo>
                    <a:pt x="0" y="2013204"/>
                  </a:lnTo>
                  <a:close/>
                </a:path>
              </a:pathLst>
            </a:custGeom>
            <a:solidFill>
              <a:srgbClr val="CC0000"/>
            </a:solidFill>
          </p:spPr>
        </p:sp>
      </p:grpSp>
      <p:grpSp>
        <p:nvGrpSpPr>
          <p:cNvPr id="4" name="Group 4"/>
          <p:cNvGrpSpPr/>
          <p:nvPr/>
        </p:nvGrpSpPr>
        <p:grpSpPr>
          <a:xfrm>
            <a:off x="328451" y="2926590"/>
            <a:ext cx="5490686" cy="5353421"/>
            <a:chOff x="0" y="0"/>
            <a:chExt cx="7320915" cy="7137895"/>
          </a:xfrm>
        </p:grpSpPr>
        <p:sp>
          <p:nvSpPr>
            <p:cNvPr id="5" name="Freeform 5"/>
            <p:cNvSpPr/>
            <p:nvPr/>
          </p:nvSpPr>
          <p:spPr>
            <a:xfrm>
              <a:off x="0" y="0"/>
              <a:ext cx="7320915" cy="7137895"/>
            </a:xfrm>
            <a:custGeom>
              <a:avLst/>
              <a:gdLst/>
              <a:ahLst/>
              <a:cxnLst/>
              <a:rect l="l" t="t" r="r" b="b"/>
              <a:pathLst>
                <a:path w="7320915" h="7137895">
                  <a:moveTo>
                    <a:pt x="0" y="0"/>
                  </a:moveTo>
                  <a:lnTo>
                    <a:pt x="7320915" y="0"/>
                  </a:lnTo>
                  <a:lnTo>
                    <a:pt x="7320915" y="7137895"/>
                  </a:lnTo>
                  <a:lnTo>
                    <a:pt x="0" y="7137895"/>
                  </a:lnTo>
                  <a:close/>
                </a:path>
              </a:pathLst>
            </a:custGeom>
            <a:solidFill>
              <a:srgbClr val="222D42"/>
            </a:solidFill>
          </p:spPr>
        </p:sp>
      </p:grpSp>
      <p:grpSp>
        <p:nvGrpSpPr>
          <p:cNvPr id="6" name="Group 6"/>
          <p:cNvGrpSpPr/>
          <p:nvPr/>
        </p:nvGrpSpPr>
        <p:grpSpPr>
          <a:xfrm>
            <a:off x="361540" y="2926590"/>
            <a:ext cx="892235" cy="5353421"/>
            <a:chOff x="0" y="0"/>
            <a:chExt cx="1189647" cy="7137895"/>
          </a:xfrm>
        </p:grpSpPr>
        <p:sp>
          <p:nvSpPr>
            <p:cNvPr id="7" name="Freeform 7"/>
            <p:cNvSpPr/>
            <p:nvPr/>
          </p:nvSpPr>
          <p:spPr>
            <a:xfrm>
              <a:off x="0" y="0"/>
              <a:ext cx="1189609" cy="7137895"/>
            </a:xfrm>
            <a:custGeom>
              <a:avLst/>
              <a:gdLst/>
              <a:ahLst/>
              <a:cxnLst/>
              <a:rect l="l" t="t" r="r" b="b"/>
              <a:pathLst>
                <a:path w="1189609" h="7137895">
                  <a:moveTo>
                    <a:pt x="0" y="0"/>
                  </a:moveTo>
                  <a:lnTo>
                    <a:pt x="1189609" y="0"/>
                  </a:lnTo>
                  <a:lnTo>
                    <a:pt x="1189609" y="7137895"/>
                  </a:lnTo>
                  <a:lnTo>
                    <a:pt x="0" y="7137895"/>
                  </a:lnTo>
                  <a:close/>
                </a:path>
              </a:pathLst>
            </a:custGeom>
            <a:solidFill>
              <a:srgbClr val="CC0000"/>
            </a:solidFill>
          </p:spPr>
        </p:sp>
      </p:grpSp>
      <p:sp>
        <p:nvSpPr>
          <p:cNvPr id="8" name="TextBox 8"/>
          <p:cNvSpPr txBox="1"/>
          <p:nvPr/>
        </p:nvSpPr>
        <p:spPr>
          <a:xfrm>
            <a:off x="750322" y="3008452"/>
            <a:ext cx="503453" cy="789318"/>
          </a:xfrm>
          <a:prstGeom prst="rect">
            <a:avLst/>
          </a:prstGeom>
        </p:spPr>
        <p:txBody>
          <a:bodyPr lIns="0" tIns="0" rIns="0" bIns="0" rtlCol="0" anchor="t">
            <a:spAutoFit/>
          </a:bodyPr>
          <a:lstStyle/>
          <a:p>
            <a:pPr algn="ctr">
              <a:lnSpc>
                <a:spcPts val="3242"/>
              </a:lnSpc>
            </a:pPr>
            <a:r>
              <a:rPr lang="en-US" sz="2702" b="1">
                <a:solidFill>
                  <a:srgbClr val="FFFFFF"/>
                </a:solidFill>
                <a:latin typeface="Calibri (MS) Bold"/>
                <a:ea typeface="Calibri (MS) Bold"/>
                <a:cs typeface="Calibri (MS) Bold"/>
                <a:sym typeface="Calibri (MS) Bold"/>
              </a:rPr>
              <a:t>01</a:t>
            </a:r>
          </a:p>
        </p:txBody>
      </p:sp>
      <p:grpSp>
        <p:nvGrpSpPr>
          <p:cNvPr id="9" name="Group 9"/>
          <p:cNvGrpSpPr/>
          <p:nvPr/>
        </p:nvGrpSpPr>
        <p:grpSpPr>
          <a:xfrm>
            <a:off x="6451559" y="2926590"/>
            <a:ext cx="5490686" cy="5353421"/>
            <a:chOff x="0" y="0"/>
            <a:chExt cx="7320915" cy="7137895"/>
          </a:xfrm>
        </p:grpSpPr>
        <p:sp>
          <p:nvSpPr>
            <p:cNvPr id="10" name="Freeform 10"/>
            <p:cNvSpPr/>
            <p:nvPr/>
          </p:nvSpPr>
          <p:spPr>
            <a:xfrm>
              <a:off x="0" y="0"/>
              <a:ext cx="7320915" cy="7137895"/>
            </a:xfrm>
            <a:custGeom>
              <a:avLst/>
              <a:gdLst/>
              <a:ahLst/>
              <a:cxnLst/>
              <a:rect l="l" t="t" r="r" b="b"/>
              <a:pathLst>
                <a:path w="7320915" h="7137895">
                  <a:moveTo>
                    <a:pt x="0" y="0"/>
                  </a:moveTo>
                  <a:lnTo>
                    <a:pt x="7320915" y="0"/>
                  </a:lnTo>
                  <a:lnTo>
                    <a:pt x="7320915" y="7137895"/>
                  </a:lnTo>
                  <a:lnTo>
                    <a:pt x="0" y="7137895"/>
                  </a:lnTo>
                  <a:close/>
                </a:path>
              </a:pathLst>
            </a:custGeom>
            <a:solidFill>
              <a:srgbClr val="222D42"/>
            </a:solidFill>
          </p:spPr>
        </p:sp>
      </p:grpSp>
      <p:grpSp>
        <p:nvGrpSpPr>
          <p:cNvPr id="11" name="Group 11"/>
          <p:cNvGrpSpPr/>
          <p:nvPr/>
        </p:nvGrpSpPr>
        <p:grpSpPr>
          <a:xfrm>
            <a:off x="6458421" y="2926590"/>
            <a:ext cx="892235" cy="5353421"/>
            <a:chOff x="0" y="0"/>
            <a:chExt cx="1189647" cy="7137895"/>
          </a:xfrm>
        </p:grpSpPr>
        <p:sp>
          <p:nvSpPr>
            <p:cNvPr id="12" name="Freeform 12"/>
            <p:cNvSpPr/>
            <p:nvPr/>
          </p:nvSpPr>
          <p:spPr>
            <a:xfrm>
              <a:off x="0" y="0"/>
              <a:ext cx="1189609" cy="7137895"/>
            </a:xfrm>
            <a:custGeom>
              <a:avLst/>
              <a:gdLst/>
              <a:ahLst/>
              <a:cxnLst/>
              <a:rect l="l" t="t" r="r" b="b"/>
              <a:pathLst>
                <a:path w="1189609" h="7137895">
                  <a:moveTo>
                    <a:pt x="0" y="0"/>
                  </a:moveTo>
                  <a:lnTo>
                    <a:pt x="1189609" y="0"/>
                  </a:lnTo>
                  <a:lnTo>
                    <a:pt x="1189609" y="7137895"/>
                  </a:lnTo>
                  <a:lnTo>
                    <a:pt x="0" y="7137895"/>
                  </a:lnTo>
                  <a:close/>
                </a:path>
              </a:pathLst>
            </a:custGeom>
            <a:solidFill>
              <a:srgbClr val="A0AABB"/>
            </a:solidFill>
          </p:spPr>
        </p:sp>
      </p:grpSp>
      <p:sp>
        <p:nvSpPr>
          <p:cNvPr id="13" name="TextBox 13"/>
          <p:cNvSpPr txBox="1"/>
          <p:nvPr/>
        </p:nvSpPr>
        <p:spPr>
          <a:xfrm>
            <a:off x="6652812" y="3008452"/>
            <a:ext cx="503453" cy="789318"/>
          </a:xfrm>
          <a:prstGeom prst="rect">
            <a:avLst/>
          </a:prstGeom>
        </p:spPr>
        <p:txBody>
          <a:bodyPr lIns="0" tIns="0" rIns="0" bIns="0" rtlCol="0" anchor="t">
            <a:spAutoFit/>
          </a:bodyPr>
          <a:lstStyle/>
          <a:p>
            <a:pPr algn="ctr">
              <a:lnSpc>
                <a:spcPts val="3242"/>
              </a:lnSpc>
            </a:pPr>
            <a:r>
              <a:rPr lang="en-US" sz="2702" b="1">
                <a:solidFill>
                  <a:srgbClr val="FFFFFF"/>
                </a:solidFill>
                <a:latin typeface="Calibri (MS) Bold"/>
                <a:ea typeface="Calibri (MS) Bold"/>
                <a:cs typeface="Calibri (MS) Bold"/>
                <a:sym typeface="Calibri (MS) Bold"/>
              </a:rPr>
              <a:t>02</a:t>
            </a:r>
          </a:p>
        </p:txBody>
      </p:sp>
      <p:grpSp>
        <p:nvGrpSpPr>
          <p:cNvPr id="14" name="Group 14"/>
          <p:cNvGrpSpPr/>
          <p:nvPr/>
        </p:nvGrpSpPr>
        <p:grpSpPr>
          <a:xfrm>
            <a:off x="12451980" y="2926590"/>
            <a:ext cx="5490686" cy="5353421"/>
            <a:chOff x="0" y="0"/>
            <a:chExt cx="7320915" cy="7137895"/>
          </a:xfrm>
        </p:grpSpPr>
        <p:sp>
          <p:nvSpPr>
            <p:cNvPr id="15" name="Freeform 15"/>
            <p:cNvSpPr/>
            <p:nvPr/>
          </p:nvSpPr>
          <p:spPr>
            <a:xfrm>
              <a:off x="0" y="0"/>
              <a:ext cx="7320915" cy="7137895"/>
            </a:xfrm>
            <a:custGeom>
              <a:avLst/>
              <a:gdLst/>
              <a:ahLst/>
              <a:cxnLst/>
              <a:rect l="l" t="t" r="r" b="b"/>
              <a:pathLst>
                <a:path w="7320915" h="7137895">
                  <a:moveTo>
                    <a:pt x="0" y="0"/>
                  </a:moveTo>
                  <a:lnTo>
                    <a:pt x="7320915" y="0"/>
                  </a:lnTo>
                  <a:lnTo>
                    <a:pt x="7320915" y="7137895"/>
                  </a:lnTo>
                  <a:lnTo>
                    <a:pt x="0" y="7137895"/>
                  </a:lnTo>
                  <a:close/>
                </a:path>
              </a:pathLst>
            </a:custGeom>
            <a:solidFill>
              <a:srgbClr val="222D42"/>
            </a:solidFill>
          </p:spPr>
        </p:sp>
      </p:grpSp>
      <p:grpSp>
        <p:nvGrpSpPr>
          <p:cNvPr id="16" name="Group 16"/>
          <p:cNvGrpSpPr/>
          <p:nvPr/>
        </p:nvGrpSpPr>
        <p:grpSpPr>
          <a:xfrm>
            <a:off x="12471030" y="2926590"/>
            <a:ext cx="867580" cy="5353421"/>
            <a:chOff x="0" y="0"/>
            <a:chExt cx="1156773" cy="7137895"/>
          </a:xfrm>
        </p:grpSpPr>
        <p:sp>
          <p:nvSpPr>
            <p:cNvPr id="17" name="Freeform 17"/>
            <p:cNvSpPr/>
            <p:nvPr/>
          </p:nvSpPr>
          <p:spPr>
            <a:xfrm>
              <a:off x="0" y="0"/>
              <a:ext cx="1156736" cy="7137895"/>
            </a:xfrm>
            <a:custGeom>
              <a:avLst/>
              <a:gdLst/>
              <a:ahLst/>
              <a:cxnLst/>
              <a:rect l="l" t="t" r="r" b="b"/>
              <a:pathLst>
                <a:path w="1156736" h="7137895">
                  <a:moveTo>
                    <a:pt x="0" y="0"/>
                  </a:moveTo>
                  <a:lnTo>
                    <a:pt x="1156736" y="0"/>
                  </a:lnTo>
                  <a:lnTo>
                    <a:pt x="1156736" y="7137895"/>
                  </a:lnTo>
                  <a:lnTo>
                    <a:pt x="0" y="7137895"/>
                  </a:lnTo>
                  <a:close/>
                </a:path>
              </a:pathLst>
            </a:custGeom>
            <a:solidFill>
              <a:srgbClr val="CC0000"/>
            </a:solidFill>
          </p:spPr>
        </p:sp>
      </p:grpSp>
      <p:sp>
        <p:nvSpPr>
          <p:cNvPr id="18" name="TextBox 18"/>
          <p:cNvSpPr txBox="1"/>
          <p:nvPr/>
        </p:nvSpPr>
        <p:spPr>
          <a:xfrm>
            <a:off x="12555303" y="3008452"/>
            <a:ext cx="503453" cy="789318"/>
          </a:xfrm>
          <a:prstGeom prst="rect">
            <a:avLst/>
          </a:prstGeom>
        </p:spPr>
        <p:txBody>
          <a:bodyPr lIns="0" tIns="0" rIns="0" bIns="0" rtlCol="0" anchor="t">
            <a:spAutoFit/>
          </a:bodyPr>
          <a:lstStyle/>
          <a:p>
            <a:pPr algn="ctr">
              <a:lnSpc>
                <a:spcPts val="3242"/>
              </a:lnSpc>
            </a:pPr>
            <a:r>
              <a:rPr lang="en-US" sz="2702" b="1">
                <a:solidFill>
                  <a:srgbClr val="FFFFFF"/>
                </a:solidFill>
                <a:latin typeface="Calibri (MS) Bold"/>
                <a:ea typeface="Calibri (MS) Bold"/>
                <a:cs typeface="Calibri (MS) Bold"/>
                <a:sym typeface="Calibri (MS) Bold"/>
              </a:rPr>
              <a:t>03</a:t>
            </a:r>
          </a:p>
        </p:txBody>
      </p:sp>
      <p:sp>
        <p:nvSpPr>
          <p:cNvPr id="19" name="TextBox 19"/>
          <p:cNvSpPr txBox="1"/>
          <p:nvPr/>
        </p:nvSpPr>
        <p:spPr>
          <a:xfrm>
            <a:off x="1441304" y="3388243"/>
            <a:ext cx="4143480" cy="609600"/>
          </a:xfrm>
          <a:prstGeom prst="rect">
            <a:avLst/>
          </a:prstGeom>
        </p:spPr>
        <p:txBody>
          <a:bodyPr lIns="0" tIns="0" rIns="0" bIns="0" rtlCol="0" anchor="t">
            <a:spAutoFit/>
          </a:bodyPr>
          <a:lstStyle/>
          <a:p>
            <a:pPr algn="l">
              <a:lnSpc>
                <a:spcPts val="4320"/>
              </a:lnSpc>
            </a:pPr>
            <a:r>
              <a:rPr lang="en-US" sz="3600" b="1">
                <a:solidFill>
                  <a:srgbClr val="FFFFFF"/>
                </a:solidFill>
                <a:latin typeface="Calibri (MS) Bold"/>
                <a:ea typeface="Calibri (MS) Bold"/>
                <a:cs typeface="Calibri (MS) Bold"/>
                <a:sym typeface="Calibri (MS) Bold"/>
              </a:rPr>
              <a:t>STP Analysis</a:t>
            </a:r>
          </a:p>
        </p:txBody>
      </p:sp>
      <p:sp>
        <p:nvSpPr>
          <p:cNvPr id="20" name="TextBox 20"/>
          <p:cNvSpPr txBox="1"/>
          <p:nvPr/>
        </p:nvSpPr>
        <p:spPr>
          <a:xfrm>
            <a:off x="1455172" y="4111512"/>
            <a:ext cx="4129611" cy="4471670"/>
          </a:xfrm>
          <a:prstGeom prst="rect">
            <a:avLst/>
          </a:prstGeom>
        </p:spPr>
        <p:txBody>
          <a:bodyPr lIns="0" tIns="0" rIns="0" bIns="0" rtlCol="0" anchor="t">
            <a:spAutoFit/>
          </a:bodyPr>
          <a:lstStyle/>
          <a:p>
            <a:pPr algn="ctr">
              <a:lnSpc>
                <a:spcPts val="4480"/>
              </a:lnSpc>
            </a:pPr>
            <a:r>
              <a:rPr lang="en-US" sz="3200" b="1">
                <a:solidFill>
                  <a:srgbClr val="A0AABB"/>
                </a:solidFill>
                <a:latin typeface="Canva Sans Bold"/>
                <a:ea typeface="Canva Sans Bold"/>
                <a:cs typeface="Canva Sans Bold"/>
                <a:sym typeface="Canva Sans Bold"/>
              </a:rPr>
              <a:t>Briefing on how walton </a:t>
            </a:r>
          </a:p>
          <a:p>
            <a:pPr algn="ctr">
              <a:lnSpc>
                <a:spcPts val="4480"/>
              </a:lnSpc>
            </a:pPr>
            <a:r>
              <a:rPr lang="en-US" sz="3200" b="1">
                <a:solidFill>
                  <a:srgbClr val="A0AABB"/>
                </a:solidFill>
                <a:latin typeface="Canva Sans Bold"/>
                <a:ea typeface="Canva Sans Bold"/>
                <a:cs typeface="Canva Sans Bold"/>
                <a:sym typeface="Canva Sans Bold"/>
              </a:rPr>
              <a:t>segments, targets and </a:t>
            </a:r>
          </a:p>
          <a:p>
            <a:pPr algn="ctr">
              <a:lnSpc>
                <a:spcPts val="4480"/>
              </a:lnSpc>
            </a:pPr>
            <a:r>
              <a:rPr lang="en-US" sz="3200" b="1">
                <a:solidFill>
                  <a:srgbClr val="A0AABB"/>
                </a:solidFill>
                <a:latin typeface="Canva Sans Bold"/>
                <a:ea typeface="Canva Sans Bold"/>
                <a:cs typeface="Canva Sans Bold"/>
                <a:sym typeface="Canva Sans Bold"/>
              </a:rPr>
              <a:t>position ' s its business </a:t>
            </a:r>
          </a:p>
          <a:p>
            <a:pPr algn="ctr">
              <a:lnSpc>
                <a:spcPts val="4480"/>
              </a:lnSpc>
            </a:pPr>
            <a:r>
              <a:rPr lang="en-US" sz="3200" b="1">
                <a:solidFill>
                  <a:srgbClr val="A0AABB"/>
                </a:solidFill>
                <a:latin typeface="Canva Sans Bold"/>
                <a:ea typeface="Canva Sans Bold"/>
                <a:cs typeface="Canva Sans Bold"/>
                <a:sym typeface="Canva Sans Bold"/>
              </a:rPr>
              <a:t>model </a:t>
            </a:r>
          </a:p>
          <a:p>
            <a:pPr algn="ctr">
              <a:lnSpc>
                <a:spcPts val="4480"/>
              </a:lnSpc>
            </a:pPr>
            <a:endParaRPr lang="en-US" sz="3200" b="1">
              <a:solidFill>
                <a:srgbClr val="A0AABB"/>
              </a:solidFill>
              <a:latin typeface="Canva Sans Bold"/>
              <a:ea typeface="Canva Sans Bold"/>
              <a:cs typeface="Canva Sans Bold"/>
              <a:sym typeface="Canva Sans Bold"/>
            </a:endParaRPr>
          </a:p>
        </p:txBody>
      </p:sp>
      <p:sp>
        <p:nvSpPr>
          <p:cNvPr id="21" name="TextBox 21"/>
          <p:cNvSpPr txBox="1"/>
          <p:nvPr/>
        </p:nvSpPr>
        <p:spPr>
          <a:xfrm>
            <a:off x="7922157" y="3388243"/>
            <a:ext cx="4529823" cy="609600"/>
          </a:xfrm>
          <a:prstGeom prst="rect">
            <a:avLst/>
          </a:prstGeom>
        </p:spPr>
        <p:txBody>
          <a:bodyPr lIns="0" tIns="0" rIns="0" bIns="0" rtlCol="0" anchor="t">
            <a:spAutoFit/>
          </a:bodyPr>
          <a:lstStyle/>
          <a:p>
            <a:pPr algn="l">
              <a:lnSpc>
                <a:spcPts val="4320"/>
              </a:lnSpc>
            </a:pPr>
            <a:r>
              <a:rPr lang="en-US" sz="3600" b="1">
                <a:solidFill>
                  <a:srgbClr val="FFFFFF"/>
                </a:solidFill>
                <a:latin typeface="Calibri (MS) Bold"/>
                <a:ea typeface="Calibri (MS) Bold"/>
                <a:cs typeface="Calibri (MS) Bold"/>
                <a:sym typeface="Calibri (MS) Bold"/>
              </a:rPr>
              <a:t>Marketing Mix</a:t>
            </a:r>
          </a:p>
        </p:txBody>
      </p:sp>
      <p:sp>
        <p:nvSpPr>
          <p:cNvPr id="22" name="TextBox 22"/>
          <p:cNvSpPr txBox="1"/>
          <p:nvPr/>
        </p:nvSpPr>
        <p:spPr>
          <a:xfrm>
            <a:off x="13719610" y="3388243"/>
            <a:ext cx="4072404" cy="609600"/>
          </a:xfrm>
          <a:prstGeom prst="rect">
            <a:avLst/>
          </a:prstGeom>
        </p:spPr>
        <p:txBody>
          <a:bodyPr lIns="0" tIns="0" rIns="0" bIns="0" rtlCol="0" anchor="t">
            <a:spAutoFit/>
          </a:bodyPr>
          <a:lstStyle/>
          <a:p>
            <a:pPr algn="l">
              <a:lnSpc>
                <a:spcPts val="4320"/>
              </a:lnSpc>
            </a:pPr>
            <a:r>
              <a:rPr lang="en-US" sz="3600" b="1">
                <a:solidFill>
                  <a:srgbClr val="FFFFFF"/>
                </a:solidFill>
                <a:latin typeface="Calibri (MS) Bold"/>
                <a:ea typeface="Calibri (MS) Bold"/>
                <a:cs typeface="Calibri (MS) Bold"/>
                <a:sym typeface="Calibri (MS) Bold"/>
              </a:rPr>
              <a:t>Strategic Analysis</a:t>
            </a:r>
          </a:p>
        </p:txBody>
      </p:sp>
      <p:sp>
        <p:nvSpPr>
          <p:cNvPr id="23" name="TextBox 23"/>
          <p:cNvSpPr txBox="1"/>
          <p:nvPr/>
        </p:nvSpPr>
        <p:spPr>
          <a:xfrm>
            <a:off x="7550682" y="4392499"/>
            <a:ext cx="4401088" cy="3347720"/>
          </a:xfrm>
          <a:prstGeom prst="rect">
            <a:avLst/>
          </a:prstGeom>
        </p:spPr>
        <p:txBody>
          <a:bodyPr lIns="0" tIns="0" rIns="0" bIns="0" rtlCol="0" anchor="t">
            <a:spAutoFit/>
          </a:bodyPr>
          <a:lstStyle/>
          <a:p>
            <a:pPr algn="ctr">
              <a:lnSpc>
                <a:spcPts val="4480"/>
              </a:lnSpc>
            </a:pPr>
            <a:r>
              <a:rPr lang="en-US" sz="3200" b="1">
                <a:solidFill>
                  <a:srgbClr val="A0AABB"/>
                </a:solidFill>
                <a:latin typeface="Canva Sans Bold"/>
                <a:ea typeface="Canva Sans Bold"/>
                <a:cs typeface="Canva Sans Bold"/>
                <a:sym typeface="Canva Sans Bold"/>
              </a:rPr>
              <a:t>How walton manages its </a:t>
            </a:r>
          </a:p>
          <a:p>
            <a:pPr algn="ctr">
              <a:lnSpc>
                <a:spcPts val="4480"/>
              </a:lnSpc>
            </a:pPr>
            <a:r>
              <a:rPr lang="en-US" sz="3200" b="1">
                <a:solidFill>
                  <a:srgbClr val="A0AABB"/>
                </a:solidFill>
                <a:latin typeface="Canva Sans Bold"/>
                <a:ea typeface="Canva Sans Bold"/>
                <a:cs typeface="Canva Sans Bold"/>
                <a:sym typeface="Canva Sans Bold"/>
              </a:rPr>
              <a:t>4 p ' s to provide superior </a:t>
            </a:r>
          </a:p>
          <a:p>
            <a:pPr algn="ctr">
              <a:lnSpc>
                <a:spcPts val="4480"/>
              </a:lnSpc>
            </a:pPr>
            <a:r>
              <a:rPr lang="en-US" sz="3200" b="1">
                <a:solidFill>
                  <a:srgbClr val="A0AABB"/>
                </a:solidFill>
                <a:latin typeface="Canva Sans Bold"/>
                <a:ea typeface="Canva Sans Bold"/>
                <a:cs typeface="Canva Sans Bold"/>
                <a:sym typeface="Canva Sans Bold"/>
              </a:rPr>
              <a:t>customer value</a:t>
            </a:r>
          </a:p>
          <a:p>
            <a:pPr algn="ctr">
              <a:lnSpc>
                <a:spcPts val="4480"/>
              </a:lnSpc>
            </a:pPr>
            <a:endParaRPr lang="en-US" sz="3200" b="1">
              <a:solidFill>
                <a:srgbClr val="A0AABB"/>
              </a:solidFill>
              <a:latin typeface="Canva Sans Bold"/>
              <a:ea typeface="Canva Sans Bold"/>
              <a:cs typeface="Canva Sans Bold"/>
              <a:sym typeface="Canva Sans Bold"/>
            </a:endParaRPr>
          </a:p>
        </p:txBody>
      </p:sp>
      <p:sp>
        <p:nvSpPr>
          <p:cNvPr id="24" name="TextBox 24"/>
          <p:cNvSpPr txBox="1"/>
          <p:nvPr/>
        </p:nvSpPr>
        <p:spPr>
          <a:xfrm>
            <a:off x="13419299" y="4392499"/>
            <a:ext cx="4372716" cy="3909695"/>
          </a:xfrm>
          <a:prstGeom prst="rect">
            <a:avLst/>
          </a:prstGeom>
        </p:spPr>
        <p:txBody>
          <a:bodyPr lIns="0" tIns="0" rIns="0" bIns="0" rtlCol="0" anchor="t">
            <a:spAutoFit/>
          </a:bodyPr>
          <a:lstStyle/>
          <a:p>
            <a:pPr algn="ctr">
              <a:lnSpc>
                <a:spcPts val="4480"/>
              </a:lnSpc>
            </a:pPr>
            <a:r>
              <a:rPr lang="en-US" sz="3200" b="1">
                <a:solidFill>
                  <a:srgbClr val="A0AABB"/>
                </a:solidFill>
                <a:latin typeface="Canva Sans Bold"/>
                <a:ea typeface="Canva Sans Bold"/>
                <a:cs typeface="Canva Sans Bold"/>
                <a:sym typeface="Canva Sans Bold"/>
              </a:rPr>
              <a:t>SWOT, Competitors and their </a:t>
            </a:r>
          </a:p>
          <a:p>
            <a:pPr algn="ctr">
              <a:lnSpc>
                <a:spcPts val="4480"/>
              </a:lnSpc>
            </a:pPr>
            <a:r>
              <a:rPr lang="en-US" sz="3200" b="1">
                <a:solidFill>
                  <a:srgbClr val="A0AABB"/>
                </a:solidFill>
                <a:latin typeface="Canva Sans Bold"/>
                <a:ea typeface="Canva Sans Bold"/>
                <a:cs typeface="Canva Sans Bold"/>
                <a:sym typeface="Canva Sans Bold"/>
              </a:rPr>
              <a:t>recent innitiative to make </a:t>
            </a:r>
          </a:p>
          <a:p>
            <a:pPr algn="ctr">
              <a:lnSpc>
                <a:spcPts val="4480"/>
              </a:lnSpc>
            </a:pPr>
            <a:r>
              <a:rPr lang="en-US" sz="3200" b="1">
                <a:solidFill>
                  <a:srgbClr val="A0AABB"/>
                </a:solidFill>
                <a:latin typeface="Canva Sans Bold"/>
                <a:ea typeface="Canva Sans Bold"/>
                <a:cs typeface="Canva Sans Bold"/>
                <a:sym typeface="Canva Sans Bold"/>
              </a:rPr>
              <a:t>the brand a better one</a:t>
            </a:r>
          </a:p>
          <a:p>
            <a:pPr algn="ctr">
              <a:lnSpc>
                <a:spcPts val="4480"/>
              </a:lnSpc>
            </a:pPr>
            <a:endParaRPr lang="en-US" sz="3200" b="1">
              <a:solidFill>
                <a:srgbClr val="A0AABB"/>
              </a:solidFill>
              <a:latin typeface="Canva Sans Bold"/>
              <a:ea typeface="Canva Sans Bold"/>
              <a:cs typeface="Canva Sans Bold"/>
              <a:sym typeface="Canva Sans Bold"/>
            </a:endParaRPr>
          </a:p>
        </p:txBody>
      </p:sp>
      <p:sp>
        <p:nvSpPr>
          <p:cNvPr id="25" name="TextBox 25"/>
          <p:cNvSpPr txBox="1"/>
          <p:nvPr/>
        </p:nvSpPr>
        <p:spPr>
          <a:xfrm>
            <a:off x="2749932" y="235223"/>
            <a:ext cx="12447391" cy="1083645"/>
          </a:xfrm>
          <a:prstGeom prst="rect">
            <a:avLst/>
          </a:prstGeom>
        </p:spPr>
        <p:txBody>
          <a:bodyPr lIns="0" tIns="0" rIns="0" bIns="0" rtlCol="0" anchor="t">
            <a:spAutoFit/>
          </a:bodyPr>
          <a:lstStyle/>
          <a:p>
            <a:pPr algn="ctr">
              <a:lnSpc>
                <a:spcPts val="8856"/>
              </a:lnSpc>
            </a:pPr>
            <a:r>
              <a:rPr lang="en-US" sz="6325" b="1">
                <a:solidFill>
                  <a:srgbClr val="FFFFFF"/>
                </a:solidFill>
                <a:latin typeface="Canva Sans Bold"/>
                <a:ea typeface="Canva Sans Bold"/>
                <a:cs typeface="Canva Sans Bold"/>
                <a:sym typeface="Canva Sans Bold"/>
              </a:rPr>
              <a:t>Outline of the Session</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222D42"/>
        </a:solidFill>
        <a:effectLst/>
      </p:bgPr>
    </p:bg>
    <p:spTree>
      <p:nvGrpSpPr>
        <p:cNvPr id="1" name=""/>
        <p:cNvGrpSpPr/>
        <p:nvPr/>
      </p:nvGrpSpPr>
      <p:grpSpPr>
        <a:xfrm>
          <a:off x="0" y="0"/>
          <a:ext cx="0" cy="0"/>
          <a:chOff x="0" y="0"/>
          <a:chExt cx="0" cy="0"/>
        </a:xfrm>
      </p:grpSpPr>
      <p:grpSp>
        <p:nvGrpSpPr>
          <p:cNvPr id="2" name="Group 2"/>
          <p:cNvGrpSpPr/>
          <p:nvPr/>
        </p:nvGrpSpPr>
        <p:grpSpPr>
          <a:xfrm>
            <a:off x="-9725" y="0"/>
            <a:ext cx="18297725" cy="1886914"/>
            <a:chOff x="0" y="0"/>
            <a:chExt cx="24396967" cy="2515886"/>
          </a:xfrm>
        </p:grpSpPr>
        <p:sp>
          <p:nvSpPr>
            <p:cNvPr id="3" name="Freeform 3"/>
            <p:cNvSpPr/>
            <p:nvPr/>
          </p:nvSpPr>
          <p:spPr>
            <a:xfrm>
              <a:off x="0" y="0"/>
              <a:ext cx="24396954" cy="2515911"/>
            </a:xfrm>
            <a:custGeom>
              <a:avLst/>
              <a:gdLst/>
              <a:ahLst/>
              <a:cxnLst/>
              <a:rect l="l" t="t" r="r" b="b"/>
              <a:pathLst>
                <a:path w="24396954" h="2515911">
                  <a:moveTo>
                    <a:pt x="0" y="0"/>
                  </a:moveTo>
                  <a:lnTo>
                    <a:pt x="24396954" y="0"/>
                  </a:lnTo>
                  <a:lnTo>
                    <a:pt x="24396954" y="2515911"/>
                  </a:lnTo>
                  <a:lnTo>
                    <a:pt x="0" y="2515911"/>
                  </a:lnTo>
                  <a:close/>
                </a:path>
              </a:pathLst>
            </a:custGeom>
            <a:solidFill>
              <a:srgbClr val="1800AD"/>
            </a:solidFill>
          </p:spPr>
        </p:sp>
      </p:grpSp>
      <p:sp>
        <p:nvSpPr>
          <p:cNvPr id="4" name="TextBox 4"/>
          <p:cNvSpPr txBox="1"/>
          <p:nvPr/>
        </p:nvSpPr>
        <p:spPr>
          <a:xfrm>
            <a:off x="296230" y="2074414"/>
            <a:ext cx="17991770" cy="5146746"/>
          </a:xfrm>
          <a:prstGeom prst="rect">
            <a:avLst/>
          </a:prstGeom>
        </p:spPr>
        <p:txBody>
          <a:bodyPr lIns="0" tIns="0" rIns="0" bIns="0" rtlCol="0" anchor="t">
            <a:spAutoFit/>
          </a:bodyPr>
          <a:lstStyle/>
          <a:p>
            <a:pPr algn="l">
              <a:lnSpc>
                <a:spcPts val="5882"/>
              </a:lnSpc>
            </a:pPr>
            <a:r>
              <a:rPr lang="en-US" sz="4201" b="1">
                <a:solidFill>
                  <a:srgbClr val="FFFFFF"/>
                </a:solidFill>
                <a:latin typeface="Canva Sans Bold"/>
                <a:ea typeface="Canva Sans Bold"/>
                <a:cs typeface="Canva Sans Bold"/>
                <a:sym typeface="Canva Sans Bold"/>
              </a:rPr>
              <a:t>Walton is one of the largest and leading electronics &amp; electrical manufacturer in Bangladesh producing refrigerators, ACs, TVs, and home appliances. Walton is expanding both locally and globally with an 8% growth rate. Today our team will discuss about the ways how Walton grabs their consumer and uses marketing strategies to maintain their position as one of the leading manufacturer in Bangladesh eading</a:t>
            </a:r>
          </a:p>
        </p:txBody>
      </p:sp>
      <p:sp>
        <p:nvSpPr>
          <p:cNvPr id="5" name="Freeform 5"/>
          <p:cNvSpPr/>
          <p:nvPr/>
        </p:nvSpPr>
        <p:spPr>
          <a:xfrm>
            <a:off x="16393021" y="8382296"/>
            <a:ext cx="1904704" cy="1904704"/>
          </a:xfrm>
          <a:custGeom>
            <a:avLst/>
            <a:gdLst/>
            <a:ahLst/>
            <a:cxnLst/>
            <a:rect l="l" t="t" r="r" b="b"/>
            <a:pathLst>
              <a:path w="1904704" h="1904704">
                <a:moveTo>
                  <a:pt x="0" y="0"/>
                </a:moveTo>
                <a:lnTo>
                  <a:pt x="1904704" y="0"/>
                </a:lnTo>
                <a:lnTo>
                  <a:pt x="1904704" y="1904704"/>
                </a:lnTo>
                <a:lnTo>
                  <a:pt x="0" y="1904704"/>
                </a:lnTo>
                <a:lnTo>
                  <a:pt x="0" y="0"/>
                </a:lnTo>
                <a:close/>
              </a:path>
            </a:pathLst>
          </a:custGeom>
          <a:blipFill>
            <a:blip r:embed="rId2"/>
            <a:stretch>
              <a:fillRect/>
            </a:stretch>
          </a:blipFill>
        </p:spPr>
      </p:sp>
      <p:grpSp>
        <p:nvGrpSpPr>
          <p:cNvPr id="6" name="Group 6"/>
          <p:cNvGrpSpPr/>
          <p:nvPr/>
        </p:nvGrpSpPr>
        <p:grpSpPr>
          <a:xfrm>
            <a:off x="5685799" y="-24304"/>
            <a:ext cx="7407557" cy="1911218"/>
            <a:chOff x="0" y="0"/>
            <a:chExt cx="8625703" cy="2225511"/>
          </a:xfrm>
        </p:grpSpPr>
        <p:sp>
          <p:nvSpPr>
            <p:cNvPr id="7" name="Freeform 7"/>
            <p:cNvSpPr/>
            <p:nvPr/>
          </p:nvSpPr>
          <p:spPr>
            <a:xfrm>
              <a:off x="0" y="0"/>
              <a:ext cx="8625699" cy="2225455"/>
            </a:xfrm>
            <a:custGeom>
              <a:avLst/>
              <a:gdLst/>
              <a:ahLst/>
              <a:cxnLst/>
              <a:rect l="l" t="t" r="r" b="b"/>
              <a:pathLst>
                <a:path w="8625699" h="2225455">
                  <a:moveTo>
                    <a:pt x="0" y="0"/>
                  </a:moveTo>
                  <a:lnTo>
                    <a:pt x="8625699" y="0"/>
                  </a:lnTo>
                  <a:lnTo>
                    <a:pt x="8625699" y="2225455"/>
                  </a:lnTo>
                  <a:lnTo>
                    <a:pt x="0" y="2225455"/>
                  </a:lnTo>
                  <a:close/>
                </a:path>
              </a:pathLst>
            </a:custGeom>
            <a:solidFill>
              <a:srgbClr val="CC0000"/>
            </a:solidFill>
          </p:spPr>
        </p:sp>
      </p:grpSp>
      <p:sp>
        <p:nvSpPr>
          <p:cNvPr id="8" name="TextBox 8"/>
          <p:cNvSpPr txBox="1"/>
          <p:nvPr/>
        </p:nvSpPr>
        <p:spPr>
          <a:xfrm>
            <a:off x="5803542" y="52783"/>
            <a:ext cx="6690640" cy="1609091"/>
          </a:xfrm>
          <a:prstGeom prst="rect">
            <a:avLst/>
          </a:prstGeom>
        </p:spPr>
        <p:txBody>
          <a:bodyPr lIns="0" tIns="0" rIns="0" bIns="0" rtlCol="0" anchor="t">
            <a:spAutoFit/>
          </a:bodyPr>
          <a:lstStyle/>
          <a:p>
            <a:pPr algn="ctr">
              <a:lnSpc>
                <a:spcPts val="13159"/>
              </a:lnSpc>
            </a:pPr>
            <a:r>
              <a:rPr lang="en-US" sz="9399" b="1">
                <a:solidFill>
                  <a:srgbClr val="FFFFFF"/>
                </a:solidFill>
                <a:latin typeface="Canva Sans Bold"/>
                <a:ea typeface="Canva Sans Bold"/>
                <a:cs typeface="Canva Sans Bold"/>
                <a:sym typeface="Canva Sans Bold"/>
              </a:rPr>
              <a:t>WALTON</a:t>
            </a:r>
          </a:p>
        </p:txBody>
      </p:sp>
      <p:sp>
        <p:nvSpPr>
          <p:cNvPr id="9" name="Freeform 9"/>
          <p:cNvSpPr/>
          <p:nvPr/>
        </p:nvSpPr>
        <p:spPr>
          <a:xfrm>
            <a:off x="0" y="8456761"/>
            <a:ext cx="1904704" cy="1904704"/>
          </a:xfrm>
          <a:custGeom>
            <a:avLst/>
            <a:gdLst/>
            <a:ahLst/>
            <a:cxnLst/>
            <a:rect l="l" t="t" r="r" b="b"/>
            <a:pathLst>
              <a:path w="1904704" h="1904704">
                <a:moveTo>
                  <a:pt x="0" y="0"/>
                </a:moveTo>
                <a:lnTo>
                  <a:pt x="1904704" y="0"/>
                </a:lnTo>
                <a:lnTo>
                  <a:pt x="1904704" y="1904703"/>
                </a:lnTo>
                <a:lnTo>
                  <a:pt x="0" y="1904703"/>
                </a:lnTo>
                <a:lnTo>
                  <a:pt x="0" y="0"/>
                </a:lnTo>
                <a:close/>
              </a:path>
            </a:pathLst>
          </a:custGeom>
          <a:blipFill>
            <a:blip r:embed="rId2"/>
            <a:stretch>
              <a:fillRect/>
            </a:stretch>
          </a:blipFill>
        </p:spPr>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CC0000"/>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8291874" cy="10287000"/>
            <a:chOff x="0" y="0"/>
            <a:chExt cx="8291868" cy="10287000"/>
          </a:xfrm>
        </p:grpSpPr>
        <p:sp>
          <p:nvSpPr>
            <p:cNvPr id="3" name="Freeform 3"/>
            <p:cNvSpPr/>
            <p:nvPr/>
          </p:nvSpPr>
          <p:spPr>
            <a:xfrm>
              <a:off x="0" y="0"/>
              <a:ext cx="8291827" cy="10287000"/>
            </a:xfrm>
            <a:custGeom>
              <a:avLst/>
              <a:gdLst/>
              <a:ahLst/>
              <a:cxnLst/>
              <a:rect l="l" t="t" r="r" b="b"/>
              <a:pathLst>
                <a:path w="8291827" h="10287000">
                  <a:moveTo>
                    <a:pt x="0" y="0"/>
                  </a:moveTo>
                  <a:lnTo>
                    <a:pt x="0" y="10287000"/>
                  </a:lnTo>
                  <a:lnTo>
                    <a:pt x="8291827" y="10287000"/>
                  </a:lnTo>
                  <a:lnTo>
                    <a:pt x="8291827" y="0"/>
                  </a:lnTo>
                  <a:close/>
                </a:path>
              </a:pathLst>
            </a:custGeom>
            <a:solidFill>
              <a:srgbClr val="A0AABB"/>
            </a:solidFill>
          </p:spPr>
        </p:sp>
      </p:grpSp>
      <p:grpSp>
        <p:nvGrpSpPr>
          <p:cNvPr id="4" name="Group 4"/>
          <p:cNvGrpSpPr/>
          <p:nvPr/>
        </p:nvGrpSpPr>
        <p:grpSpPr>
          <a:xfrm>
            <a:off x="8886015" y="1706676"/>
            <a:ext cx="8788849" cy="8047365"/>
            <a:chOff x="0" y="0"/>
            <a:chExt cx="11718466" cy="10729820"/>
          </a:xfrm>
        </p:grpSpPr>
        <p:sp>
          <p:nvSpPr>
            <p:cNvPr id="5" name="Freeform 5"/>
            <p:cNvSpPr/>
            <p:nvPr/>
          </p:nvSpPr>
          <p:spPr>
            <a:xfrm>
              <a:off x="0" y="0"/>
              <a:ext cx="11718440" cy="10729820"/>
            </a:xfrm>
            <a:custGeom>
              <a:avLst/>
              <a:gdLst/>
              <a:ahLst/>
              <a:cxnLst/>
              <a:rect l="l" t="t" r="r" b="b"/>
              <a:pathLst>
                <a:path w="11718440" h="10729820">
                  <a:moveTo>
                    <a:pt x="0" y="0"/>
                  </a:moveTo>
                  <a:lnTo>
                    <a:pt x="11718440" y="0"/>
                  </a:lnTo>
                  <a:lnTo>
                    <a:pt x="11718440" y="10729820"/>
                  </a:lnTo>
                  <a:lnTo>
                    <a:pt x="0" y="10729820"/>
                  </a:lnTo>
                  <a:lnTo>
                    <a:pt x="0" y="0"/>
                  </a:lnTo>
                  <a:close/>
                </a:path>
              </a:pathLst>
            </a:custGeom>
            <a:blipFill>
              <a:blip r:embed="rId2"/>
              <a:stretch>
                <a:fillRect l="-63" r="-63"/>
              </a:stretch>
            </a:blipFill>
          </p:spPr>
        </p:sp>
      </p:grpSp>
      <p:grpSp>
        <p:nvGrpSpPr>
          <p:cNvPr id="6" name="Group 6"/>
          <p:cNvGrpSpPr/>
          <p:nvPr/>
        </p:nvGrpSpPr>
        <p:grpSpPr>
          <a:xfrm>
            <a:off x="0" y="-164172"/>
            <a:ext cx="8295008" cy="10287000"/>
            <a:chOff x="0" y="0"/>
            <a:chExt cx="8295005" cy="10287000"/>
          </a:xfrm>
        </p:grpSpPr>
        <p:sp>
          <p:nvSpPr>
            <p:cNvPr id="7" name="Freeform 7"/>
            <p:cNvSpPr/>
            <p:nvPr/>
          </p:nvSpPr>
          <p:spPr>
            <a:xfrm>
              <a:off x="0" y="0"/>
              <a:ext cx="8295005" cy="10287000"/>
            </a:xfrm>
            <a:custGeom>
              <a:avLst/>
              <a:gdLst/>
              <a:ahLst/>
              <a:cxnLst/>
              <a:rect l="l" t="t" r="r" b="b"/>
              <a:pathLst>
                <a:path w="8295005" h="10287000">
                  <a:moveTo>
                    <a:pt x="0" y="0"/>
                  </a:moveTo>
                  <a:lnTo>
                    <a:pt x="0" y="10287000"/>
                  </a:lnTo>
                  <a:lnTo>
                    <a:pt x="8295005" y="10287000"/>
                  </a:lnTo>
                  <a:lnTo>
                    <a:pt x="8295005" y="0"/>
                  </a:lnTo>
                  <a:close/>
                </a:path>
              </a:pathLst>
            </a:custGeom>
            <a:solidFill>
              <a:srgbClr val="E94F37">
                <a:alpha val="0"/>
              </a:srgbClr>
            </a:solidFill>
          </p:spPr>
        </p:sp>
      </p:grpSp>
      <p:sp>
        <p:nvSpPr>
          <p:cNvPr id="8" name="TextBox 8"/>
          <p:cNvSpPr txBox="1"/>
          <p:nvPr/>
        </p:nvSpPr>
        <p:spPr>
          <a:xfrm>
            <a:off x="11239752" y="537515"/>
            <a:ext cx="4880991" cy="887120"/>
          </a:xfrm>
          <a:prstGeom prst="rect">
            <a:avLst/>
          </a:prstGeom>
        </p:spPr>
        <p:txBody>
          <a:bodyPr lIns="0" tIns="0" rIns="0" bIns="0" rtlCol="0" anchor="t">
            <a:spAutoFit/>
          </a:bodyPr>
          <a:lstStyle/>
          <a:p>
            <a:pPr algn="l">
              <a:lnSpc>
                <a:spcPts val="7278"/>
              </a:lnSpc>
            </a:pPr>
            <a:r>
              <a:rPr lang="en-US" sz="5198">
                <a:solidFill>
                  <a:srgbClr val="000000"/>
                </a:solidFill>
                <a:latin typeface="Francois One"/>
                <a:ea typeface="Francois One"/>
                <a:cs typeface="Francois One"/>
                <a:sym typeface="Francois One"/>
              </a:rPr>
              <a:t>S.T.P Analysis </a:t>
            </a:r>
          </a:p>
        </p:txBody>
      </p:sp>
      <p:sp>
        <p:nvSpPr>
          <p:cNvPr id="9" name="TextBox 9"/>
          <p:cNvSpPr txBox="1"/>
          <p:nvPr/>
        </p:nvSpPr>
        <p:spPr>
          <a:xfrm>
            <a:off x="747262" y="1577979"/>
            <a:ext cx="2218468" cy="1224531"/>
          </a:xfrm>
          <a:prstGeom prst="rect">
            <a:avLst/>
          </a:prstGeom>
        </p:spPr>
        <p:txBody>
          <a:bodyPr lIns="0" tIns="0" rIns="0" bIns="0" rtlCol="0" anchor="t">
            <a:spAutoFit/>
          </a:bodyPr>
          <a:lstStyle/>
          <a:p>
            <a:pPr algn="l">
              <a:lnSpc>
                <a:spcPts val="10029"/>
              </a:lnSpc>
            </a:pPr>
            <a:r>
              <a:rPr lang="en-US" sz="7163">
                <a:solidFill>
                  <a:srgbClr val="000000"/>
                </a:solidFill>
                <a:latin typeface="Lexend Deca"/>
                <a:ea typeface="Lexend Deca"/>
                <a:cs typeface="Lexend Deca"/>
                <a:sym typeface="Lexend Deca"/>
              </a:rPr>
              <a:t>S.T.P</a:t>
            </a:r>
          </a:p>
        </p:txBody>
      </p:sp>
      <p:sp>
        <p:nvSpPr>
          <p:cNvPr id="10" name="TextBox 10"/>
          <p:cNvSpPr txBox="1"/>
          <p:nvPr/>
        </p:nvSpPr>
        <p:spPr>
          <a:xfrm>
            <a:off x="-164944" y="3230537"/>
            <a:ext cx="8621762" cy="4177345"/>
          </a:xfrm>
          <a:prstGeom prst="rect">
            <a:avLst/>
          </a:prstGeom>
        </p:spPr>
        <p:txBody>
          <a:bodyPr lIns="0" tIns="0" rIns="0" bIns="0" rtlCol="0" anchor="t">
            <a:spAutoFit/>
          </a:bodyPr>
          <a:lstStyle/>
          <a:p>
            <a:pPr algn="ctr">
              <a:lnSpc>
                <a:spcPts val="6622"/>
              </a:lnSpc>
            </a:pPr>
            <a:r>
              <a:rPr lang="en-US" sz="4730" b="1">
                <a:solidFill>
                  <a:srgbClr val="000000"/>
                </a:solidFill>
                <a:latin typeface="Canva Sans Bold"/>
                <a:ea typeface="Canva Sans Bold"/>
                <a:cs typeface="Canva Sans Bold"/>
                <a:sym typeface="Canva Sans Bold"/>
              </a:rPr>
              <a:t>Walton's segmentation, </a:t>
            </a:r>
          </a:p>
          <a:p>
            <a:pPr algn="ctr">
              <a:lnSpc>
                <a:spcPts val="6622"/>
              </a:lnSpc>
            </a:pPr>
            <a:r>
              <a:rPr lang="en-US" sz="4730" b="1">
                <a:solidFill>
                  <a:srgbClr val="000000"/>
                </a:solidFill>
                <a:latin typeface="Canva Sans Bold"/>
                <a:ea typeface="Canva Sans Bold"/>
                <a:cs typeface="Canva Sans Bold"/>
                <a:sym typeface="Canva Sans Bold"/>
              </a:rPr>
              <a:t>targeting and positioning their </a:t>
            </a:r>
          </a:p>
          <a:p>
            <a:pPr algn="ctr">
              <a:lnSpc>
                <a:spcPts val="6622"/>
              </a:lnSpc>
            </a:pPr>
            <a:r>
              <a:rPr lang="en-US" sz="4730" b="1">
                <a:solidFill>
                  <a:srgbClr val="000000"/>
                </a:solidFill>
                <a:latin typeface="Canva Sans Bold"/>
                <a:ea typeface="Canva Sans Bold"/>
                <a:cs typeface="Canva Sans Bold"/>
                <a:sym typeface="Canva Sans Bold"/>
              </a:rPr>
              <a:t>brand in the market</a:t>
            </a:r>
          </a:p>
          <a:p>
            <a:pPr algn="ctr">
              <a:lnSpc>
                <a:spcPts val="6622"/>
              </a:lnSpc>
            </a:pPr>
            <a:endParaRPr lang="en-US" sz="4730" b="1">
              <a:solidFill>
                <a:srgbClr val="000000"/>
              </a:solidFill>
              <a:latin typeface="Canva Sans Bold"/>
              <a:ea typeface="Canva Sans Bold"/>
              <a:cs typeface="Canva Sans Bold"/>
              <a:sym typeface="Canva Sans Bold"/>
            </a:endParaRPr>
          </a:p>
        </p:txBody>
      </p:sp>
      <p:grpSp>
        <p:nvGrpSpPr>
          <p:cNvPr id="11" name="Group 11"/>
          <p:cNvGrpSpPr/>
          <p:nvPr/>
        </p:nvGrpSpPr>
        <p:grpSpPr>
          <a:xfrm>
            <a:off x="0" y="0"/>
            <a:ext cx="8291874" cy="306363"/>
            <a:chOff x="0" y="0"/>
            <a:chExt cx="25339768" cy="936237"/>
          </a:xfrm>
        </p:grpSpPr>
        <p:sp>
          <p:nvSpPr>
            <p:cNvPr id="12" name="Freeform 12"/>
            <p:cNvSpPr/>
            <p:nvPr/>
          </p:nvSpPr>
          <p:spPr>
            <a:xfrm>
              <a:off x="0" y="0"/>
              <a:ext cx="25339756" cy="936263"/>
            </a:xfrm>
            <a:custGeom>
              <a:avLst/>
              <a:gdLst/>
              <a:ahLst/>
              <a:cxnLst/>
              <a:rect l="l" t="t" r="r" b="b"/>
              <a:pathLst>
                <a:path w="25339756" h="936263">
                  <a:moveTo>
                    <a:pt x="0" y="0"/>
                  </a:moveTo>
                  <a:lnTo>
                    <a:pt x="25339756" y="0"/>
                  </a:lnTo>
                  <a:lnTo>
                    <a:pt x="25339756" y="936263"/>
                  </a:lnTo>
                  <a:lnTo>
                    <a:pt x="0" y="936263"/>
                  </a:lnTo>
                  <a:close/>
                </a:path>
              </a:pathLst>
            </a:custGeom>
            <a:solidFill>
              <a:srgbClr val="CC0000"/>
            </a:solidFill>
          </p:spPr>
        </p:sp>
      </p:grpSp>
      <p:grpSp>
        <p:nvGrpSpPr>
          <p:cNvPr id="13" name="Group 13"/>
          <p:cNvGrpSpPr/>
          <p:nvPr/>
        </p:nvGrpSpPr>
        <p:grpSpPr>
          <a:xfrm>
            <a:off x="161810" y="1192327"/>
            <a:ext cx="8295008" cy="10634014"/>
            <a:chOff x="0" y="0"/>
            <a:chExt cx="8295005" cy="10634014"/>
          </a:xfrm>
        </p:grpSpPr>
        <p:sp>
          <p:nvSpPr>
            <p:cNvPr id="14" name="Freeform 14"/>
            <p:cNvSpPr/>
            <p:nvPr/>
          </p:nvSpPr>
          <p:spPr>
            <a:xfrm>
              <a:off x="0" y="0"/>
              <a:ext cx="8295005" cy="10634014"/>
            </a:xfrm>
            <a:custGeom>
              <a:avLst/>
              <a:gdLst/>
              <a:ahLst/>
              <a:cxnLst/>
              <a:rect l="l" t="t" r="r" b="b"/>
              <a:pathLst>
                <a:path w="8295005" h="10634014">
                  <a:moveTo>
                    <a:pt x="0" y="0"/>
                  </a:moveTo>
                  <a:lnTo>
                    <a:pt x="0" y="10634014"/>
                  </a:lnTo>
                  <a:lnTo>
                    <a:pt x="8295005" y="10634014"/>
                  </a:lnTo>
                  <a:lnTo>
                    <a:pt x="8295005" y="0"/>
                  </a:lnTo>
                  <a:close/>
                </a:path>
              </a:pathLst>
            </a:custGeom>
            <a:solidFill>
              <a:srgbClr val="E94F37">
                <a:alpha val="0"/>
              </a:srgbClr>
            </a:solidFill>
          </p:spPr>
        </p:sp>
      </p:grpSp>
      <p:grpSp>
        <p:nvGrpSpPr>
          <p:cNvPr id="15" name="Group 15"/>
          <p:cNvGrpSpPr/>
          <p:nvPr/>
        </p:nvGrpSpPr>
        <p:grpSpPr>
          <a:xfrm>
            <a:off x="5701424" y="1192327"/>
            <a:ext cx="9996126" cy="1028700"/>
            <a:chOff x="0" y="0"/>
            <a:chExt cx="47777817" cy="4916809"/>
          </a:xfrm>
        </p:grpSpPr>
        <p:sp>
          <p:nvSpPr>
            <p:cNvPr id="16" name="Freeform 16"/>
            <p:cNvSpPr/>
            <p:nvPr/>
          </p:nvSpPr>
          <p:spPr>
            <a:xfrm>
              <a:off x="0" y="0"/>
              <a:ext cx="47777812" cy="4916810"/>
            </a:xfrm>
            <a:custGeom>
              <a:avLst/>
              <a:gdLst/>
              <a:ahLst/>
              <a:cxnLst/>
              <a:rect l="l" t="t" r="r" b="b"/>
              <a:pathLst>
                <a:path w="47777812" h="4916810">
                  <a:moveTo>
                    <a:pt x="0" y="0"/>
                  </a:moveTo>
                  <a:lnTo>
                    <a:pt x="0" y="4916810"/>
                  </a:lnTo>
                  <a:lnTo>
                    <a:pt x="47777812" y="4916810"/>
                  </a:lnTo>
                  <a:lnTo>
                    <a:pt x="47777812" y="0"/>
                  </a:lnTo>
                  <a:close/>
                </a:path>
              </a:pathLst>
            </a:custGeom>
            <a:solidFill>
              <a:srgbClr val="CC5000">
                <a:alpha val="0"/>
              </a:srgbClr>
            </a:solidFill>
          </p:spPr>
        </p:sp>
      </p:grpSp>
      <p:grpSp>
        <p:nvGrpSpPr>
          <p:cNvPr id="17" name="Group 17"/>
          <p:cNvGrpSpPr/>
          <p:nvPr/>
        </p:nvGrpSpPr>
        <p:grpSpPr>
          <a:xfrm>
            <a:off x="3835859" y="1720854"/>
            <a:ext cx="8295008" cy="2225679"/>
            <a:chOff x="0" y="0"/>
            <a:chExt cx="8295005" cy="2225679"/>
          </a:xfrm>
        </p:grpSpPr>
        <p:sp>
          <p:nvSpPr>
            <p:cNvPr id="18" name="Freeform 18"/>
            <p:cNvSpPr/>
            <p:nvPr/>
          </p:nvSpPr>
          <p:spPr>
            <a:xfrm>
              <a:off x="0" y="0"/>
              <a:ext cx="8295005" cy="2225680"/>
            </a:xfrm>
            <a:custGeom>
              <a:avLst/>
              <a:gdLst/>
              <a:ahLst/>
              <a:cxnLst/>
              <a:rect l="l" t="t" r="r" b="b"/>
              <a:pathLst>
                <a:path w="8295005" h="2225680">
                  <a:moveTo>
                    <a:pt x="0" y="0"/>
                  </a:moveTo>
                  <a:lnTo>
                    <a:pt x="0" y="2225680"/>
                  </a:lnTo>
                  <a:lnTo>
                    <a:pt x="8295005" y="2225680"/>
                  </a:lnTo>
                  <a:lnTo>
                    <a:pt x="8295005" y="0"/>
                  </a:lnTo>
                  <a:close/>
                </a:path>
              </a:pathLst>
            </a:custGeom>
            <a:solidFill>
              <a:srgbClr val="A0AABB">
                <a:alpha val="0"/>
              </a:srgbClr>
            </a:solidFill>
          </p:spPr>
        </p:sp>
      </p:grpSp>
      <p:grpSp>
        <p:nvGrpSpPr>
          <p:cNvPr id="19" name="Group 19"/>
          <p:cNvGrpSpPr/>
          <p:nvPr/>
        </p:nvGrpSpPr>
        <p:grpSpPr>
          <a:xfrm>
            <a:off x="0" y="1706676"/>
            <a:ext cx="8456818" cy="9138884"/>
            <a:chOff x="0" y="0"/>
            <a:chExt cx="8456815" cy="9138884"/>
          </a:xfrm>
        </p:grpSpPr>
        <p:sp>
          <p:nvSpPr>
            <p:cNvPr id="20" name="Freeform 20"/>
            <p:cNvSpPr/>
            <p:nvPr/>
          </p:nvSpPr>
          <p:spPr>
            <a:xfrm>
              <a:off x="0" y="0"/>
              <a:ext cx="8456814" cy="9138884"/>
            </a:xfrm>
            <a:custGeom>
              <a:avLst/>
              <a:gdLst/>
              <a:ahLst/>
              <a:cxnLst/>
              <a:rect l="l" t="t" r="r" b="b"/>
              <a:pathLst>
                <a:path w="8456814" h="9138884">
                  <a:moveTo>
                    <a:pt x="0" y="0"/>
                  </a:moveTo>
                  <a:lnTo>
                    <a:pt x="0" y="9138884"/>
                  </a:lnTo>
                  <a:lnTo>
                    <a:pt x="8456814" y="9138884"/>
                  </a:lnTo>
                  <a:lnTo>
                    <a:pt x="8456814" y="0"/>
                  </a:lnTo>
                  <a:close/>
                </a:path>
              </a:pathLst>
            </a:custGeom>
            <a:solidFill>
              <a:srgbClr val="E94F37">
                <a:alpha val="0"/>
              </a:srgbClr>
            </a:solidFill>
          </p:spPr>
        </p:sp>
      </p:grpSp>
      <p:grpSp>
        <p:nvGrpSpPr>
          <p:cNvPr id="21" name="Group 21"/>
          <p:cNvGrpSpPr/>
          <p:nvPr/>
        </p:nvGrpSpPr>
        <p:grpSpPr>
          <a:xfrm>
            <a:off x="8295008" y="0"/>
            <a:ext cx="9992992" cy="306363"/>
            <a:chOff x="0" y="0"/>
            <a:chExt cx="30538342" cy="936236"/>
          </a:xfrm>
        </p:grpSpPr>
        <p:sp>
          <p:nvSpPr>
            <p:cNvPr id="22" name="Freeform 22"/>
            <p:cNvSpPr/>
            <p:nvPr/>
          </p:nvSpPr>
          <p:spPr>
            <a:xfrm>
              <a:off x="0" y="0"/>
              <a:ext cx="30538325" cy="936262"/>
            </a:xfrm>
            <a:custGeom>
              <a:avLst/>
              <a:gdLst/>
              <a:ahLst/>
              <a:cxnLst/>
              <a:rect l="l" t="t" r="r" b="b"/>
              <a:pathLst>
                <a:path w="30538325" h="936262">
                  <a:moveTo>
                    <a:pt x="0" y="0"/>
                  </a:moveTo>
                  <a:lnTo>
                    <a:pt x="30538325" y="0"/>
                  </a:lnTo>
                  <a:lnTo>
                    <a:pt x="30538325" y="936262"/>
                  </a:lnTo>
                  <a:lnTo>
                    <a:pt x="0" y="936262"/>
                  </a:lnTo>
                  <a:close/>
                </a:path>
              </a:pathLst>
            </a:custGeom>
            <a:solidFill>
              <a:srgbClr val="A0AABB"/>
            </a:solidFill>
          </p:spPr>
        </p:sp>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1A1A2E"/>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18297725" cy="1441304"/>
            <a:chOff x="0" y="0"/>
            <a:chExt cx="24396967" cy="1921739"/>
          </a:xfrm>
        </p:grpSpPr>
        <p:sp>
          <p:nvSpPr>
            <p:cNvPr id="3" name="Freeform 3"/>
            <p:cNvSpPr/>
            <p:nvPr/>
          </p:nvSpPr>
          <p:spPr>
            <a:xfrm>
              <a:off x="0" y="0"/>
              <a:ext cx="24396954" cy="1921764"/>
            </a:xfrm>
            <a:custGeom>
              <a:avLst/>
              <a:gdLst/>
              <a:ahLst/>
              <a:cxnLst/>
              <a:rect l="l" t="t" r="r" b="b"/>
              <a:pathLst>
                <a:path w="24396954" h="1921764">
                  <a:moveTo>
                    <a:pt x="0" y="0"/>
                  </a:moveTo>
                  <a:lnTo>
                    <a:pt x="24396954" y="0"/>
                  </a:lnTo>
                  <a:lnTo>
                    <a:pt x="24396954" y="1921764"/>
                  </a:lnTo>
                  <a:lnTo>
                    <a:pt x="0" y="1921764"/>
                  </a:lnTo>
                  <a:close/>
                </a:path>
              </a:pathLst>
            </a:custGeom>
            <a:solidFill>
              <a:srgbClr val="CC0000"/>
            </a:solidFill>
          </p:spPr>
        </p:sp>
      </p:grpSp>
      <p:grpSp>
        <p:nvGrpSpPr>
          <p:cNvPr id="4" name="Group 4"/>
          <p:cNvGrpSpPr/>
          <p:nvPr/>
        </p:nvGrpSpPr>
        <p:grpSpPr>
          <a:xfrm>
            <a:off x="232189" y="1564687"/>
            <a:ext cx="17869447" cy="8566623"/>
            <a:chOff x="0" y="0"/>
            <a:chExt cx="24028446" cy="11519251"/>
          </a:xfrm>
        </p:grpSpPr>
        <p:sp>
          <p:nvSpPr>
            <p:cNvPr id="5" name="Freeform 5"/>
            <p:cNvSpPr/>
            <p:nvPr/>
          </p:nvSpPr>
          <p:spPr>
            <a:xfrm>
              <a:off x="0" y="0"/>
              <a:ext cx="24028485" cy="11519264"/>
            </a:xfrm>
            <a:custGeom>
              <a:avLst/>
              <a:gdLst/>
              <a:ahLst/>
              <a:cxnLst/>
              <a:rect l="l" t="t" r="r" b="b"/>
              <a:pathLst>
                <a:path w="24028485" h="11519264">
                  <a:moveTo>
                    <a:pt x="0" y="0"/>
                  </a:moveTo>
                  <a:lnTo>
                    <a:pt x="24028485" y="0"/>
                  </a:lnTo>
                  <a:lnTo>
                    <a:pt x="24028485" y="11519264"/>
                  </a:lnTo>
                  <a:lnTo>
                    <a:pt x="0" y="11519264"/>
                  </a:lnTo>
                  <a:close/>
                </a:path>
              </a:pathLst>
            </a:custGeom>
            <a:solidFill>
              <a:srgbClr val="222D42"/>
            </a:solidFill>
          </p:spPr>
        </p:sp>
      </p:grpSp>
      <p:grpSp>
        <p:nvGrpSpPr>
          <p:cNvPr id="6" name="Group 6"/>
          <p:cNvGrpSpPr/>
          <p:nvPr/>
        </p:nvGrpSpPr>
        <p:grpSpPr>
          <a:xfrm>
            <a:off x="45825" y="1564687"/>
            <a:ext cx="18242175" cy="155690"/>
            <a:chOff x="0" y="0"/>
            <a:chExt cx="7440287" cy="63500"/>
          </a:xfrm>
        </p:grpSpPr>
        <p:sp>
          <p:nvSpPr>
            <p:cNvPr id="7" name="Freeform 7"/>
            <p:cNvSpPr/>
            <p:nvPr/>
          </p:nvSpPr>
          <p:spPr>
            <a:xfrm>
              <a:off x="0" y="0"/>
              <a:ext cx="7440325" cy="63538"/>
            </a:xfrm>
            <a:custGeom>
              <a:avLst/>
              <a:gdLst/>
              <a:ahLst/>
              <a:cxnLst/>
              <a:rect l="l" t="t" r="r" b="b"/>
              <a:pathLst>
                <a:path w="7440325" h="63538">
                  <a:moveTo>
                    <a:pt x="0" y="0"/>
                  </a:moveTo>
                  <a:lnTo>
                    <a:pt x="7440325" y="0"/>
                  </a:lnTo>
                  <a:lnTo>
                    <a:pt x="7440325" y="63538"/>
                  </a:lnTo>
                  <a:lnTo>
                    <a:pt x="0" y="63538"/>
                  </a:lnTo>
                  <a:close/>
                </a:path>
              </a:pathLst>
            </a:custGeom>
            <a:solidFill>
              <a:srgbClr val="CC0000"/>
            </a:solidFill>
          </p:spPr>
        </p:sp>
      </p:grpSp>
      <p:sp>
        <p:nvSpPr>
          <p:cNvPr id="8" name="TextBox 8"/>
          <p:cNvSpPr txBox="1"/>
          <p:nvPr/>
        </p:nvSpPr>
        <p:spPr>
          <a:xfrm>
            <a:off x="232189" y="209477"/>
            <a:ext cx="17681868" cy="927100"/>
          </a:xfrm>
          <a:prstGeom prst="rect">
            <a:avLst/>
          </a:prstGeom>
        </p:spPr>
        <p:txBody>
          <a:bodyPr lIns="0" tIns="0" rIns="0" bIns="0" rtlCol="0" anchor="t">
            <a:spAutoFit/>
          </a:bodyPr>
          <a:lstStyle/>
          <a:p>
            <a:pPr algn="ctr">
              <a:lnSpc>
                <a:spcPts val="7699"/>
              </a:lnSpc>
            </a:pPr>
            <a:r>
              <a:rPr lang="en-US" sz="5499" b="1">
                <a:solidFill>
                  <a:srgbClr val="FFFFFF"/>
                </a:solidFill>
                <a:latin typeface="Canva Sans Bold"/>
                <a:ea typeface="Canva Sans Bold"/>
                <a:cs typeface="Canva Sans Bold"/>
                <a:sym typeface="Canva Sans Bold"/>
              </a:rPr>
              <a:t>Market sgmentation in which Walton operates</a:t>
            </a:r>
          </a:p>
        </p:txBody>
      </p:sp>
      <p:sp>
        <p:nvSpPr>
          <p:cNvPr id="9" name="TextBox 9"/>
          <p:cNvSpPr txBox="1"/>
          <p:nvPr/>
        </p:nvSpPr>
        <p:spPr>
          <a:xfrm>
            <a:off x="232189" y="1934369"/>
            <a:ext cx="4128001" cy="613410"/>
          </a:xfrm>
          <a:prstGeom prst="rect">
            <a:avLst/>
          </a:prstGeom>
        </p:spPr>
        <p:txBody>
          <a:bodyPr lIns="0" tIns="0" rIns="0" bIns="0" rtlCol="0" anchor="t">
            <a:spAutoFit/>
          </a:bodyPr>
          <a:lstStyle/>
          <a:p>
            <a:pPr marL="777240" lvl="1" indent="-388620" algn="l">
              <a:lnSpc>
                <a:spcPts val="5040"/>
              </a:lnSpc>
              <a:buFont typeface="Arial"/>
              <a:buChar char="•"/>
            </a:pPr>
            <a:r>
              <a:rPr lang="en-US" sz="3600" b="1">
                <a:solidFill>
                  <a:srgbClr val="FFFFFF"/>
                </a:solidFill>
                <a:latin typeface="Canva Sans Bold"/>
                <a:ea typeface="Canva Sans Bold"/>
                <a:cs typeface="Canva Sans Bold"/>
                <a:sym typeface="Canva Sans Bold"/>
              </a:rPr>
              <a:t>Geographic:</a:t>
            </a:r>
          </a:p>
        </p:txBody>
      </p:sp>
      <p:sp>
        <p:nvSpPr>
          <p:cNvPr id="10" name="TextBox 10"/>
          <p:cNvSpPr txBox="1"/>
          <p:nvPr/>
        </p:nvSpPr>
        <p:spPr>
          <a:xfrm>
            <a:off x="4139330" y="1969294"/>
            <a:ext cx="13340829" cy="1099820"/>
          </a:xfrm>
          <a:prstGeom prst="rect">
            <a:avLst/>
          </a:prstGeom>
        </p:spPr>
        <p:txBody>
          <a:bodyPr lIns="0" tIns="0" rIns="0" bIns="0" rtlCol="0" anchor="t">
            <a:spAutoFit/>
          </a:bodyPr>
          <a:lstStyle/>
          <a:p>
            <a:pPr algn="l">
              <a:lnSpc>
                <a:spcPts val="4480"/>
              </a:lnSpc>
            </a:pPr>
            <a:r>
              <a:rPr lang="en-US" sz="3200">
                <a:solidFill>
                  <a:srgbClr val="FFFFFF"/>
                </a:solidFill>
                <a:latin typeface="Canva Sans"/>
                <a:ea typeface="Canva Sans"/>
                <a:cs typeface="Canva Sans"/>
                <a:sym typeface="Canva Sans"/>
              </a:rPr>
              <a:t>1. Walton is focusing on rural Bangladesh </a:t>
            </a:r>
          </a:p>
          <a:p>
            <a:pPr algn="l">
              <a:lnSpc>
                <a:spcPts val="4480"/>
              </a:lnSpc>
            </a:pPr>
            <a:r>
              <a:rPr lang="en-US" sz="3200">
                <a:solidFill>
                  <a:srgbClr val="FFFFFF"/>
                </a:solidFill>
                <a:latin typeface="Canva Sans"/>
                <a:ea typeface="Canva Sans"/>
                <a:cs typeface="Canva Sans"/>
                <a:sym typeface="Canva Sans"/>
              </a:rPr>
              <a:t>2. Internationally expanding across Asia, Europe, Africa, Middle East</a:t>
            </a:r>
          </a:p>
        </p:txBody>
      </p:sp>
      <p:sp>
        <p:nvSpPr>
          <p:cNvPr id="11" name="TextBox 11"/>
          <p:cNvSpPr txBox="1"/>
          <p:nvPr/>
        </p:nvSpPr>
        <p:spPr>
          <a:xfrm>
            <a:off x="232189" y="3720586"/>
            <a:ext cx="4968422" cy="613448"/>
          </a:xfrm>
          <a:prstGeom prst="rect">
            <a:avLst/>
          </a:prstGeom>
        </p:spPr>
        <p:txBody>
          <a:bodyPr lIns="0" tIns="0" rIns="0" bIns="0" rtlCol="0" anchor="t">
            <a:spAutoFit/>
          </a:bodyPr>
          <a:lstStyle/>
          <a:p>
            <a:pPr marL="776918" lvl="1" indent="-388459" algn="l">
              <a:lnSpc>
                <a:spcPts val="5037"/>
              </a:lnSpc>
              <a:buFont typeface="Arial"/>
              <a:buChar char="•"/>
            </a:pPr>
            <a:r>
              <a:rPr lang="en-US" sz="3598" b="1">
                <a:solidFill>
                  <a:srgbClr val="FFFFFF"/>
                </a:solidFill>
                <a:latin typeface="Canva Sans Bold"/>
                <a:ea typeface="Canva Sans Bold"/>
                <a:cs typeface="Canva Sans Bold"/>
                <a:sym typeface="Canva Sans Bold"/>
              </a:rPr>
              <a:t>Demographic:</a:t>
            </a:r>
          </a:p>
        </p:txBody>
      </p:sp>
      <p:sp>
        <p:nvSpPr>
          <p:cNvPr id="12" name="TextBox 12"/>
          <p:cNvSpPr txBox="1"/>
          <p:nvPr/>
        </p:nvSpPr>
        <p:spPr>
          <a:xfrm>
            <a:off x="4360190" y="3730111"/>
            <a:ext cx="13141564" cy="1661795"/>
          </a:xfrm>
          <a:prstGeom prst="rect">
            <a:avLst/>
          </a:prstGeom>
        </p:spPr>
        <p:txBody>
          <a:bodyPr lIns="0" tIns="0" rIns="0" bIns="0" rtlCol="0" anchor="t">
            <a:spAutoFit/>
          </a:bodyPr>
          <a:lstStyle/>
          <a:p>
            <a:pPr algn="l">
              <a:lnSpc>
                <a:spcPts val="4480"/>
              </a:lnSpc>
            </a:pPr>
            <a:r>
              <a:rPr lang="en-US" sz="3200">
                <a:solidFill>
                  <a:srgbClr val="FFFFFF"/>
                </a:solidFill>
                <a:latin typeface="Canva Sans"/>
                <a:ea typeface="Canva Sans"/>
                <a:cs typeface="Canva Sans"/>
                <a:sym typeface="Canva Sans"/>
              </a:rPr>
              <a:t>1. Walton divided the market into Premium, mid-range, and value-         seeking consumers </a:t>
            </a:r>
          </a:p>
          <a:p>
            <a:pPr algn="l">
              <a:lnSpc>
                <a:spcPts val="4480"/>
              </a:lnSpc>
            </a:pPr>
            <a:r>
              <a:rPr lang="en-US" sz="3200">
                <a:solidFill>
                  <a:srgbClr val="FFFFFF"/>
                </a:solidFill>
                <a:latin typeface="Canva Sans"/>
                <a:ea typeface="Canva Sans"/>
                <a:cs typeface="Canva Sans"/>
                <a:sym typeface="Canva Sans"/>
              </a:rPr>
              <a:t>2. Allows them to offer everything</a:t>
            </a:r>
          </a:p>
        </p:txBody>
      </p:sp>
      <p:sp>
        <p:nvSpPr>
          <p:cNvPr id="13" name="TextBox 13"/>
          <p:cNvSpPr txBox="1"/>
          <p:nvPr/>
        </p:nvSpPr>
        <p:spPr>
          <a:xfrm>
            <a:off x="232189" y="5781323"/>
            <a:ext cx="4968422" cy="613410"/>
          </a:xfrm>
          <a:prstGeom prst="rect">
            <a:avLst/>
          </a:prstGeom>
        </p:spPr>
        <p:txBody>
          <a:bodyPr lIns="0" tIns="0" rIns="0" bIns="0" rtlCol="0" anchor="t">
            <a:spAutoFit/>
          </a:bodyPr>
          <a:lstStyle/>
          <a:p>
            <a:pPr marL="777240" lvl="1" indent="-388620" algn="l">
              <a:lnSpc>
                <a:spcPts val="5040"/>
              </a:lnSpc>
              <a:buFont typeface="Arial"/>
              <a:buChar char="•"/>
            </a:pPr>
            <a:r>
              <a:rPr lang="en-US" sz="3600" b="1">
                <a:solidFill>
                  <a:srgbClr val="FFFFFF"/>
                </a:solidFill>
                <a:latin typeface="Canva Sans Bold"/>
                <a:ea typeface="Canva Sans Bold"/>
                <a:cs typeface="Canva Sans Bold"/>
                <a:sym typeface="Canva Sans Bold"/>
              </a:rPr>
              <a:t> Psychographic:</a:t>
            </a:r>
          </a:p>
        </p:txBody>
      </p:sp>
      <p:sp>
        <p:nvSpPr>
          <p:cNvPr id="14" name="TextBox 14"/>
          <p:cNvSpPr txBox="1"/>
          <p:nvPr/>
        </p:nvSpPr>
        <p:spPr>
          <a:xfrm>
            <a:off x="4802081" y="5790848"/>
            <a:ext cx="12699673" cy="1661795"/>
          </a:xfrm>
          <a:prstGeom prst="rect">
            <a:avLst/>
          </a:prstGeom>
        </p:spPr>
        <p:txBody>
          <a:bodyPr lIns="0" tIns="0" rIns="0" bIns="0" rtlCol="0" anchor="t">
            <a:spAutoFit/>
          </a:bodyPr>
          <a:lstStyle/>
          <a:p>
            <a:pPr algn="l">
              <a:lnSpc>
                <a:spcPts val="4480"/>
              </a:lnSpc>
            </a:pPr>
            <a:r>
              <a:rPr lang="en-US" sz="3200">
                <a:solidFill>
                  <a:srgbClr val="FFFFFF"/>
                </a:solidFill>
                <a:latin typeface="Canva Sans"/>
                <a:ea typeface="Canva Sans"/>
                <a:cs typeface="Canva Sans"/>
                <a:sym typeface="Canva Sans"/>
              </a:rPr>
              <a:t>1. Walton focuses on Tech savvy users. </a:t>
            </a:r>
          </a:p>
          <a:p>
            <a:pPr algn="l">
              <a:lnSpc>
                <a:spcPts val="4480"/>
              </a:lnSpc>
            </a:pPr>
            <a:r>
              <a:rPr lang="en-US" sz="3200">
                <a:solidFill>
                  <a:srgbClr val="FFFFFF"/>
                </a:solidFill>
                <a:latin typeface="Canva Sans"/>
                <a:ea typeface="Canva Sans"/>
                <a:cs typeface="Canva Sans"/>
                <a:sym typeface="Canva Sans"/>
              </a:rPr>
              <a:t>2. Also focuses on affordability of the customer</a:t>
            </a:r>
          </a:p>
          <a:p>
            <a:pPr algn="ctr">
              <a:lnSpc>
                <a:spcPts val="4480"/>
              </a:lnSpc>
            </a:pPr>
            <a:endParaRPr lang="en-US" sz="3200">
              <a:solidFill>
                <a:srgbClr val="FFFFFF"/>
              </a:solidFill>
              <a:latin typeface="Canva Sans"/>
              <a:ea typeface="Canva Sans"/>
              <a:cs typeface="Canva Sans"/>
              <a:sym typeface="Canva Sans"/>
            </a:endParaRPr>
          </a:p>
        </p:txBody>
      </p:sp>
      <p:sp>
        <p:nvSpPr>
          <p:cNvPr id="15" name="TextBox 15"/>
          <p:cNvSpPr txBox="1"/>
          <p:nvPr/>
        </p:nvSpPr>
        <p:spPr>
          <a:xfrm>
            <a:off x="232189" y="7686136"/>
            <a:ext cx="4128001" cy="613410"/>
          </a:xfrm>
          <a:prstGeom prst="rect">
            <a:avLst/>
          </a:prstGeom>
        </p:spPr>
        <p:txBody>
          <a:bodyPr lIns="0" tIns="0" rIns="0" bIns="0" rtlCol="0" anchor="t">
            <a:spAutoFit/>
          </a:bodyPr>
          <a:lstStyle/>
          <a:p>
            <a:pPr marL="777240" lvl="1" indent="-388620" algn="l">
              <a:lnSpc>
                <a:spcPts val="5040"/>
              </a:lnSpc>
              <a:buFont typeface="Arial"/>
              <a:buChar char="•"/>
            </a:pPr>
            <a:r>
              <a:rPr lang="en-US" sz="3600" b="1">
                <a:solidFill>
                  <a:srgbClr val="FFFFFF"/>
                </a:solidFill>
                <a:latin typeface="Canva Sans Bold"/>
                <a:ea typeface="Canva Sans Bold"/>
                <a:cs typeface="Canva Sans Bold"/>
                <a:sym typeface="Canva Sans Bold"/>
              </a:rPr>
              <a:t>Behavioral:</a:t>
            </a:r>
          </a:p>
        </p:txBody>
      </p:sp>
      <p:sp>
        <p:nvSpPr>
          <p:cNvPr id="16" name="TextBox 16"/>
          <p:cNvSpPr txBox="1"/>
          <p:nvPr/>
        </p:nvSpPr>
        <p:spPr>
          <a:xfrm>
            <a:off x="3762394" y="7690768"/>
            <a:ext cx="12899110" cy="1688910"/>
          </a:xfrm>
          <a:prstGeom prst="rect">
            <a:avLst/>
          </a:prstGeom>
        </p:spPr>
        <p:txBody>
          <a:bodyPr lIns="0" tIns="0" rIns="0" bIns="0" rtlCol="0" anchor="t">
            <a:spAutoFit/>
          </a:bodyPr>
          <a:lstStyle/>
          <a:p>
            <a:pPr algn="l">
              <a:lnSpc>
                <a:spcPts val="4422"/>
              </a:lnSpc>
            </a:pPr>
            <a:r>
              <a:rPr lang="en-US" sz="3158">
                <a:solidFill>
                  <a:srgbClr val="FFFFFF"/>
                </a:solidFill>
                <a:latin typeface="Canva Sans"/>
                <a:ea typeface="Canva Sans"/>
                <a:cs typeface="Canva Sans"/>
                <a:sym typeface="Canva Sans"/>
              </a:rPr>
              <a:t>1. Demand for modern design &amp; features </a:t>
            </a:r>
          </a:p>
          <a:p>
            <a:pPr algn="l">
              <a:lnSpc>
                <a:spcPts val="4480"/>
              </a:lnSpc>
            </a:pPr>
            <a:r>
              <a:rPr lang="en-US" sz="3200">
                <a:solidFill>
                  <a:srgbClr val="FFFFFF"/>
                </a:solidFill>
                <a:latin typeface="Canva Sans"/>
                <a:ea typeface="Canva Sans"/>
                <a:cs typeface="Canva Sans"/>
                <a:sym typeface="Canva Sans"/>
              </a:rPr>
              <a:t>2. Loyalty programs &amp; distributor relationships</a:t>
            </a:r>
          </a:p>
          <a:p>
            <a:pPr algn="ctr">
              <a:lnSpc>
                <a:spcPts val="4698"/>
              </a:lnSpc>
            </a:pPr>
            <a:endParaRPr lang="en-US" sz="3200">
              <a:solidFill>
                <a:srgbClr val="FFFFFF"/>
              </a:solidFill>
              <a:latin typeface="Canva Sans"/>
              <a:ea typeface="Canva Sans"/>
              <a:cs typeface="Canva Sans"/>
              <a:sym typeface="Canva Sans"/>
            </a:endParaRPr>
          </a:p>
        </p:txBody>
      </p:sp>
      <p:grpSp>
        <p:nvGrpSpPr>
          <p:cNvPr id="17" name="Group 17"/>
          <p:cNvGrpSpPr/>
          <p:nvPr/>
        </p:nvGrpSpPr>
        <p:grpSpPr>
          <a:xfrm>
            <a:off x="18050" y="9668028"/>
            <a:ext cx="18269950" cy="655107"/>
            <a:chOff x="0" y="0"/>
            <a:chExt cx="35758739" cy="1282204"/>
          </a:xfrm>
        </p:grpSpPr>
        <p:sp>
          <p:nvSpPr>
            <p:cNvPr id="18" name="Freeform 18"/>
            <p:cNvSpPr/>
            <p:nvPr/>
          </p:nvSpPr>
          <p:spPr>
            <a:xfrm>
              <a:off x="0" y="0"/>
              <a:ext cx="35758720" cy="1282230"/>
            </a:xfrm>
            <a:custGeom>
              <a:avLst/>
              <a:gdLst/>
              <a:ahLst/>
              <a:cxnLst/>
              <a:rect l="l" t="t" r="r" b="b"/>
              <a:pathLst>
                <a:path w="35758720" h="1282230">
                  <a:moveTo>
                    <a:pt x="0" y="0"/>
                  </a:moveTo>
                  <a:lnTo>
                    <a:pt x="35758720" y="0"/>
                  </a:lnTo>
                  <a:lnTo>
                    <a:pt x="35758720" y="1282230"/>
                  </a:lnTo>
                  <a:lnTo>
                    <a:pt x="0" y="1282230"/>
                  </a:lnTo>
                  <a:close/>
                </a:path>
              </a:pathLst>
            </a:custGeom>
            <a:solidFill>
              <a:srgbClr val="1800AD"/>
            </a:solidFill>
          </p:spPr>
        </p:sp>
      </p:grpSp>
      <p:grpSp>
        <p:nvGrpSpPr>
          <p:cNvPr id="19" name="Group 19"/>
          <p:cNvGrpSpPr/>
          <p:nvPr/>
        </p:nvGrpSpPr>
        <p:grpSpPr>
          <a:xfrm>
            <a:off x="45825" y="9941653"/>
            <a:ext cx="18297725" cy="345347"/>
            <a:chOff x="0" y="0"/>
            <a:chExt cx="24396967" cy="460462"/>
          </a:xfrm>
        </p:grpSpPr>
        <p:sp>
          <p:nvSpPr>
            <p:cNvPr id="20" name="Freeform 20"/>
            <p:cNvSpPr/>
            <p:nvPr/>
          </p:nvSpPr>
          <p:spPr>
            <a:xfrm>
              <a:off x="0" y="0"/>
              <a:ext cx="24396954" cy="460488"/>
            </a:xfrm>
            <a:custGeom>
              <a:avLst/>
              <a:gdLst/>
              <a:ahLst/>
              <a:cxnLst/>
              <a:rect l="l" t="t" r="r" b="b"/>
              <a:pathLst>
                <a:path w="24396954" h="460488">
                  <a:moveTo>
                    <a:pt x="0" y="0"/>
                  </a:moveTo>
                  <a:lnTo>
                    <a:pt x="24396954" y="0"/>
                  </a:lnTo>
                  <a:lnTo>
                    <a:pt x="24396954" y="460488"/>
                  </a:lnTo>
                  <a:lnTo>
                    <a:pt x="0" y="460488"/>
                  </a:lnTo>
                  <a:close/>
                </a:path>
              </a:pathLst>
            </a:custGeom>
            <a:solidFill>
              <a:srgbClr val="CC0000"/>
            </a:solidFill>
          </p:spPr>
        </p:sp>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1A1A2E"/>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18297725" cy="1441304"/>
            <a:chOff x="0" y="0"/>
            <a:chExt cx="24396967" cy="1921739"/>
          </a:xfrm>
        </p:grpSpPr>
        <p:sp>
          <p:nvSpPr>
            <p:cNvPr id="3" name="Freeform 3"/>
            <p:cNvSpPr/>
            <p:nvPr/>
          </p:nvSpPr>
          <p:spPr>
            <a:xfrm>
              <a:off x="0" y="0"/>
              <a:ext cx="24396954" cy="1921764"/>
            </a:xfrm>
            <a:custGeom>
              <a:avLst/>
              <a:gdLst/>
              <a:ahLst/>
              <a:cxnLst/>
              <a:rect l="l" t="t" r="r" b="b"/>
              <a:pathLst>
                <a:path w="24396954" h="1921764">
                  <a:moveTo>
                    <a:pt x="0" y="0"/>
                  </a:moveTo>
                  <a:lnTo>
                    <a:pt x="24396954" y="0"/>
                  </a:lnTo>
                  <a:lnTo>
                    <a:pt x="24396954" y="1921764"/>
                  </a:lnTo>
                  <a:lnTo>
                    <a:pt x="0" y="1921764"/>
                  </a:lnTo>
                  <a:close/>
                </a:path>
              </a:pathLst>
            </a:custGeom>
            <a:solidFill>
              <a:srgbClr val="CC0000"/>
            </a:solidFill>
          </p:spPr>
        </p:sp>
      </p:grpSp>
      <p:grpSp>
        <p:nvGrpSpPr>
          <p:cNvPr id="4" name="Group 4"/>
          <p:cNvGrpSpPr/>
          <p:nvPr/>
        </p:nvGrpSpPr>
        <p:grpSpPr>
          <a:xfrm>
            <a:off x="420513" y="1665328"/>
            <a:ext cx="9038067" cy="527667"/>
            <a:chOff x="0" y="0"/>
            <a:chExt cx="5736822" cy="334932"/>
          </a:xfrm>
        </p:grpSpPr>
        <p:sp>
          <p:nvSpPr>
            <p:cNvPr id="5" name="Freeform 5"/>
            <p:cNvSpPr/>
            <p:nvPr/>
          </p:nvSpPr>
          <p:spPr>
            <a:xfrm>
              <a:off x="0" y="0"/>
              <a:ext cx="5736860" cy="334970"/>
            </a:xfrm>
            <a:custGeom>
              <a:avLst/>
              <a:gdLst/>
              <a:ahLst/>
              <a:cxnLst/>
              <a:rect l="l" t="t" r="r" b="b"/>
              <a:pathLst>
                <a:path w="5736860" h="334970">
                  <a:moveTo>
                    <a:pt x="0" y="0"/>
                  </a:moveTo>
                  <a:lnTo>
                    <a:pt x="5736860" y="0"/>
                  </a:lnTo>
                  <a:lnTo>
                    <a:pt x="5736860" y="334970"/>
                  </a:lnTo>
                  <a:lnTo>
                    <a:pt x="0" y="334970"/>
                  </a:lnTo>
                  <a:close/>
                </a:path>
              </a:pathLst>
            </a:custGeom>
            <a:solidFill>
              <a:srgbClr val="A0AABB"/>
            </a:solidFill>
          </p:spPr>
        </p:sp>
      </p:grpSp>
      <p:grpSp>
        <p:nvGrpSpPr>
          <p:cNvPr id="6" name="Group 6"/>
          <p:cNvGrpSpPr/>
          <p:nvPr/>
        </p:nvGrpSpPr>
        <p:grpSpPr>
          <a:xfrm>
            <a:off x="358237" y="2269196"/>
            <a:ext cx="17571526" cy="1894284"/>
            <a:chOff x="0" y="0"/>
            <a:chExt cx="23428701" cy="2525712"/>
          </a:xfrm>
        </p:grpSpPr>
        <p:sp>
          <p:nvSpPr>
            <p:cNvPr id="7" name="Freeform 7"/>
            <p:cNvSpPr/>
            <p:nvPr/>
          </p:nvSpPr>
          <p:spPr>
            <a:xfrm>
              <a:off x="0" y="0"/>
              <a:ext cx="23428739" cy="2525776"/>
            </a:xfrm>
            <a:custGeom>
              <a:avLst/>
              <a:gdLst/>
              <a:ahLst/>
              <a:cxnLst/>
              <a:rect l="l" t="t" r="r" b="b"/>
              <a:pathLst>
                <a:path w="23428739" h="2525776">
                  <a:moveTo>
                    <a:pt x="0" y="0"/>
                  </a:moveTo>
                  <a:lnTo>
                    <a:pt x="23428739" y="0"/>
                  </a:lnTo>
                  <a:lnTo>
                    <a:pt x="23428739" y="2525776"/>
                  </a:lnTo>
                  <a:lnTo>
                    <a:pt x="0" y="2525776"/>
                  </a:lnTo>
                  <a:close/>
                </a:path>
              </a:pathLst>
            </a:custGeom>
            <a:solidFill>
              <a:srgbClr val="222D42"/>
            </a:solidFill>
          </p:spPr>
        </p:sp>
      </p:grpSp>
      <p:grpSp>
        <p:nvGrpSpPr>
          <p:cNvPr id="8" name="Group 8"/>
          <p:cNvGrpSpPr/>
          <p:nvPr/>
        </p:nvGrpSpPr>
        <p:grpSpPr>
          <a:xfrm>
            <a:off x="429223" y="5054157"/>
            <a:ext cx="17571526" cy="5100798"/>
            <a:chOff x="0" y="0"/>
            <a:chExt cx="11164405" cy="3240890"/>
          </a:xfrm>
        </p:grpSpPr>
        <p:sp>
          <p:nvSpPr>
            <p:cNvPr id="9" name="Freeform 9"/>
            <p:cNvSpPr/>
            <p:nvPr/>
          </p:nvSpPr>
          <p:spPr>
            <a:xfrm>
              <a:off x="0" y="0"/>
              <a:ext cx="11164443" cy="3240862"/>
            </a:xfrm>
            <a:custGeom>
              <a:avLst/>
              <a:gdLst/>
              <a:ahLst/>
              <a:cxnLst/>
              <a:rect l="l" t="t" r="r" b="b"/>
              <a:pathLst>
                <a:path w="11164443" h="3240862">
                  <a:moveTo>
                    <a:pt x="0" y="0"/>
                  </a:moveTo>
                  <a:lnTo>
                    <a:pt x="11164443" y="0"/>
                  </a:lnTo>
                  <a:lnTo>
                    <a:pt x="11164443" y="3240862"/>
                  </a:lnTo>
                  <a:lnTo>
                    <a:pt x="0" y="3240862"/>
                  </a:lnTo>
                  <a:close/>
                </a:path>
              </a:pathLst>
            </a:custGeom>
            <a:solidFill>
              <a:srgbClr val="222D42"/>
            </a:solidFill>
          </p:spPr>
        </p:sp>
      </p:grpSp>
      <p:grpSp>
        <p:nvGrpSpPr>
          <p:cNvPr id="10" name="Group 10"/>
          <p:cNvGrpSpPr/>
          <p:nvPr/>
        </p:nvGrpSpPr>
        <p:grpSpPr>
          <a:xfrm>
            <a:off x="420513" y="4549225"/>
            <a:ext cx="9029358" cy="466939"/>
            <a:chOff x="0" y="0"/>
            <a:chExt cx="11164405" cy="577350"/>
          </a:xfrm>
        </p:grpSpPr>
        <p:sp>
          <p:nvSpPr>
            <p:cNvPr id="11" name="Freeform 11"/>
            <p:cNvSpPr/>
            <p:nvPr/>
          </p:nvSpPr>
          <p:spPr>
            <a:xfrm>
              <a:off x="0" y="0"/>
              <a:ext cx="11164443" cy="577388"/>
            </a:xfrm>
            <a:custGeom>
              <a:avLst/>
              <a:gdLst/>
              <a:ahLst/>
              <a:cxnLst/>
              <a:rect l="l" t="t" r="r" b="b"/>
              <a:pathLst>
                <a:path w="11164443" h="577388">
                  <a:moveTo>
                    <a:pt x="0" y="0"/>
                  </a:moveTo>
                  <a:lnTo>
                    <a:pt x="11164443" y="0"/>
                  </a:lnTo>
                  <a:lnTo>
                    <a:pt x="11164443" y="577388"/>
                  </a:lnTo>
                  <a:lnTo>
                    <a:pt x="0" y="577388"/>
                  </a:lnTo>
                  <a:close/>
                </a:path>
              </a:pathLst>
            </a:custGeom>
            <a:solidFill>
              <a:srgbClr val="E00E23"/>
            </a:solidFill>
          </p:spPr>
        </p:sp>
      </p:grpSp>
      <p:grpSp>
        <p:nvGrpSpPr>
          <p:cNvPr id="12" name="Group 12"/>
          <p:cNvGrpSpPr/>
          <p:nvPr/>
        </p:nvGrpSpPr>
        <p:grpSpPr>
          <a:xfrm>
            <a:off x="1233332" y="5282757"/>
            <a:ext cx="4436225" cy="4365513"/>
            <a:chOff x="0" y="0"/>
            <a:chExt cx="5914967" cy="5820684"/>
          </a:xfrm>
        </p:grpSpPr>
        <p:sp>
          <p:nvSpPr>
            <p:cNvPr id="13" name="Freeform 13"/>
            <p:cNvSpPr/>
            <p:nvPr/>
          </p:nvSpPr>
          <p:spPr>
            <a:xfrm>
              <a:off x="0" y="0"/>
              <a:ext cx="5914906" cy="5820709"/>
            </a:xfrm>
            <a:custGeom>
              <a:avLst/>
              <a:gdLst/>
              <a:ahLst/>
              <a:cxnLst/>
              <a:rect l="l" t="t" r="r" b="b"/>
              <a:pathLst>
                <a:path w="5914906" h="5820709">
                  <a:moveTo>
                    <a:pt x="0" y="0"/>
                  </a:moveTo>
                  <a:lnTo>
                    <a:pt x="5914906" y="0"/>
                  </a:lnTo>
                  <a:lnTo>
                    <a:pt x="5914906" y="5820709"/>
                  </a:lnTo>
                  <a:lnTo>
                    <a:pt x="0" y="5820709"/>
                  </a:lnTo>
                  <a:close/>
                </a:path>
              </a:pathLst>
            </a:custGeom>
            <a:solidFill>
              <a:srgbClr val="CC0000"/>
            </a:solidFill>
          </p:spPr>
        </p:sp>
      </p:grpSp>
      <p:grpSp>
        <p:nvGrpSpPr>
          <p:cNvPr id="14" name="Group 14"/>
          <p:cNvGrpSpPr/>
          <p:nvPr/>
        </p:nvGrpSpPr>
        <p:grpSpPr>
          <a:xfrm>
            <a:off x="7108660" y="5349432"/>
            <a:ext cx="4436225" cy="4365513"/>
            <a:chOff x="0" y="0"/>
            <a:chExt cx="5914967" cy="5820684"/>
          </a:xfrm>
        </p:grpSpPr>
        <p:sp>
          <p:nvSpPr>
            <p:cNvPr id="15" name="Freeform 15"/>
            <p:cNvSpPr/>
            <p:nvPr/>
          </p:nvSpPr>
          <p:spPr>
            <a:xfrm>
              <a:off x="0" y="0"/>
              <a:ext cx="5914906" cy="5820709"/>
            </a:xfrm>
            <a:custGeom>
              <a:avLst/>
              <a:gdLst/>
              <a:ahLst/>
              <a:cxnLst/>
              <a:rect l="l" t="t" r="r" b="b"/>
              <a:pathLst>
                <a:path w="5914906" h="5820709">
                  <a:moveTo>
                    <a:pt x="0" y="0"/>
                  </a:moveTo>
                  <a:lnTo>
                    <a:pt x="5914906" y="0"/>
                  </a:lnTo>
                  <a:lnTo>
                    <a:pt x="5914906" y="5820709"/>
                  </a:lnTo>
                  <a:lnTo>
                    <a:pt x="0" y="5820709"/>
                  </a:lnTo>
                  <a:close/>
                </a:path>
              </a:pathLst>
            </a:custGeom>
            <a:solidFill>
              <a:srgbClr val="990000"/>
            </a:solidFill>
          </p:spPr>
        </p:sp>
      </p:grpSp>
      <p:grpSp>
        <p:nvGrpSpPr>
          <p:cNvPr id="16" name="Group 16"/>
          <p:cNvGrpSpPr/>
          <p:nvPr/>
        </p:nvGrpSpPr>
        <p:grpSpPr>
          <a:xfrm>
            <a:off x="12983989" y="5421800"/>
            <a:ext cx="4442319" cy="4365513"/>
            <a:chOff x="0" y="0"/>
            <a:chExt cx="5923092" cy="5820684"/>
          </a:xfrm>
        </p:grpSpPr>
        <p:sp>
          <p:nvSpPr>
            <p:cNvPr id="17" name="Freeform 17"/>
            <p:cNvSpPr/>
            <p:nvPr/>
          </p:nvSpPr>
          <p:spPr>
            <a:xfrm>
              <a:off x="0" y="0"/>
              <a:ext cx="5923031" cy="5820709"/>
            </a:xfrm>
            <a:custGeom>
              <a:avLst/>
              <a:gdLst/>
              <a:ahLst/>
              <a:cxnLst/>
              <a:rect l="l" t="t" r="r" b="b"/>
              <a:pathLst>
                <a:path w="5923031" h="5820709">
                  <a:moveTo>
                    <a:pt x="0" y="0"/>
                  </a:moveTo>
                  <a:lnTo>
                    <a:pt x="5923031" y="0"/>
                  </a:lnTo>
                  <a:lnTo>
                    <a:pt x="5923031" y="5820709"/>
                  </a:lnTo>
                  <a:lnTo>
                    <a:pt x="0" y="5820709"/>
                  </a:lnTo>
                  <a:close/>
                </a:path>
              </a:pathLst>
            </a:custGeom>
            <a:solidFill>
              <a:srgbClr val="FF6633"/>
            </a:solidFill>
          </p:spPr>
        </p:sp>
      </p:grpSp>
      <p:sp>
        <p:nvSpPr>
          <p:cNvPr id="18" name="TextBox 18"/>
          <p:cNvSpPr txBox="1"/>
          <p:nvPr/>
        </p:nvSpPr>
        <p:spPr>
          <a:xfrm>
            <a:off x="777773" y="165897"/>
            <a:ext cx="16289188" cy="1023785"/>
          </a:xfrm>
          <a:prstGeom prst="rect">
            <a:avLst/>
          </a:prstGeom>
        </p:spPr>
        <p:txBody>
          <a:bodyPr lIns="0" tIns="0" rIns="0" bIns="0" rtlCol="0" anchor="t">
            <a:spAutoFit/>
          </a:bodyPr>
          <a:lstStyle/>
          <a:p>
            <a:pPr algn="l">
              <a:lnSpc>
                <a:spcPts val="5043"/>
              </a:lnSpc>
            </a:pPr>
            <a:r>
              <a:rPr lang="en-US" sz="4203" b="1">
                <a:solidFill>
                  <a:srgbClr val="FFFFFF"/>
                </a:solidFill>
                <a:latin typeface="Calibri (MS) Bold"/>
                <a:ea typeface="Calibri (MS) Bold"/>
                <a:cs typeface="Calibri (MS) Bold"/>
                <a:sym typeface="Calibri (MS) Bold"/>
              </a:rPr>
              <a:t>STP Analysis</a:t>
            </a:r>
          </a:p>
        </p:txBody>
      </p:sp>
      <p:sp>
        <p:nvSpPr>
          <p:cNvPr id="19" name="TextBox 19"/>
          <p:cNvSpPr txBox="1"/>
          <p:nvPr/>
        </p:nvSpPr>
        <p:spPr>
          <a:xfrm>
            <a:off x="777773" y="931516"/>
            <a:ext cx="16289188" cy="436616"/>
          </a:xfrm>
          <a:prstGeom prst="rect">
            <a:avLst/>
          </a:prstGeom>
        </p:spPr>
        <p:txBody>
          <a:bodyPr lIns="0" tIns="0" rIns="0" bIns="0" rtlCol="0" anchor="t">
            <a:spAutoFit/>
          </a:bodyPr>
          <a:lstStyle/>
          <a:p>
            <a:pPr algn="l">
              <a:lnSpc>
                <a:spcPts val="2341"/>
              </a:lnSpc>
            </a:pPr>
            <a:r>
              <a:rPr lang="en-US" sz="1951">
                <a:solidFill>
                  <a:srgbClr val="FFCCCC"/>
                </a:solidFill>
                <a:latin typeface="Calibri (MS)"/>
                <a:ea typeface="Calibri (MS)"/>
                <a:cs typeface="Calibri (MS)"/>
                <a:sym typeface="Calibri (MS)"/>
              </a:rPr>
              <a:t>Segmentation · Targeting · Positioning</a:t>
            </a:r>
          </a:p>
        </p:txBody>
      </p:sp>
      <p:sp>
        <p:nvSpPr>
          <p:cNvPr id="20" name="TextBox 20"/>
          <p:cNvSpPr txBox="1"/>
          <p:nvPr/>
        </p:nvSpPr>
        <p:spPr>
          <a:xfrm>
            <a:off x="358237" y="1598653"/>
            <a:ext cx="7641355" cy="609600"/>
          </a:xfrm>
          <a:prstGeom prst="rect">
            <a:avLst/>
          </a:prstGeom>
        </p:spPr>
        <p:txBody>
          <a:bodyPr lIns="0" tIns="0" rIns="0" bIns="0" rtlCol="0" anchor="t">
            <a:spAutoFit/>
          </a:bodyPr>
          <a:lstStyle/>
          <a:p>
            <a:pPr marL="777240" lvl="1" indent="-388620" algn="l">
              <a:lnSpc>
                <a:spcPts val="4320"/>
              </a:lnSpc>
              <a:buFont typeface="Arial"/>
              <a:buChar char="•"/>
            </a:pPr>
            <a:r>
              <a:rPr lang="en-US" sz="3600" b="1">
                <a:solidFill>
                  <a:srgbClr val="FFFFFF"/>
                </a:solidFill>
                <a:latin typeface="Calibri (MS) Bold"/>
                <a:ea typeface="Calibri (MS) Bold"/>
                <a:cs typeface="Calibri (MS) Bold"/>
                <a:sym typeface="Calibri (MS) Bold"/>
              </a:rPr>
              <a:t>TARGETING:</a:t>
            </a:r>
          </a:p>
        </p:txBody>
      </p:sp>
      <p:sp>
        <p:nvSpPr>
          <p:cNvPr id="21" name="TextBox 21"/>
          <p:cNvSpPr txBox="1"/>
          <p:nvPr/>
        </p:nvSpPr>
        <p:spPr>
          <a:xfrm>
            <a:off x="674621" y="4444557"/>
            <a:ext cx="7641355" cy="609600"/>
          </a:xfrm>
          <a:prstGeom prst="rect">
            <a:avLst/>
          </a:prstGeom>
        </p:spPr>
        <p:txBody>
          <a:bodyPr lIns="0" tIns="0" rIns="0" bIns="0" rtlCol="0" anchor="t">
            <a:spAutoFit/>
          </a:bodyPr>
          <a:lstStyle/>
          <a:p>
            <a:pPr algn="l">
              <a:lnSpc>
                <a:spcPts val="4320"/>
              </a:lnSpc>
            </a:pPr>
            <a:r>
              <a:rPr lang="en-US" sz="3600" b="1">
                <a:solidFill>
                  <a:srgbClr val="FFFFFF"/>
                </a:solidFill>
                <a:latin typeface="Calibri (MS) Bold"/>
                <a:ea typeface="Calibri (MS) Bold"/>
                <a:cs typeface="Calibri (MS) Bold"/>
                <a:sym typeface="Calibri (MS) Bold"/>
              </a:rPr>
              <a:t>POSITIONING</a:t>
            </a:r>
          </a:p>
        </p:txBody>
      </p:sp>
      <p:sp>
        <p:nvSpPr>
          <p:cNvPr id="22" name="TextBox 22"/>
          <p:cNvSpPr txBox="1"/>
          <p:nvPr/>
        </p:nvSpPr>
        <p:spPr>
          <a:xfrm>
            <a:off x="2244301" y="2501685"/>
            <a:ext cx="15014999" cy="1661795"/>
          </a:xfrm>
          <a:prstGeom prst="rect">
            <a:avLst/>
          </a:prstGeom>
        </p:spPr>
        <p:txBody>
          <a:bodyPr lIns="0" tIns="0" rIns="0" bIns="0" rtlCol="0" anchor="t">
            <a:spAutoFit/>
          </a:bodyPr>
          <a:lstStyle/>
          <a:p>
            <a:pPr algn="l">
              <a:lnSpc>
                <a:spcPts val="4480"/>
              </a:lnSpc>
            </a:pPr>
            <a:r>
              <a:rPr lang="en-US" sz="3200">
                <a:solidFill>
                  <a:srgbClr val="FFFFFF"/>
                </a:solidFill>
                <a:latin typeface="Canva Sans"/>
                <a:ea typeface="Canva Sans"/>
                <a:cs typeface="Canva Sans"/>
                <a:sym typeface="Canva Sans"/>
              </a:rPr>
              <a:t>1. Walton focuses on middle income mass market </a:t>
            </a:r>
          </a:p>
          <a:p>
            <a:pPr algn="l">
              <a:lnSpc>
                <a:spcPts val="4480"/>
              </a:lnSpc>
            </a:pPr>
            <a:r>
              <a:rPr lang="en-US" sz="3200">
                <a:solidFill>
                  <a:srgbClr val="FFFFFF"/>
                </a:solidFill>
                <a:latin typeface="Canva Sans"/>
                <a:ea typeface="Canva Sans"/>
                <a:cs typeface="Canva Sans"/>
                <a:sym typeface="Canva Sans"/>
              </a:rPr>
              <a:t>2. Targeting the Asian &amp; global markets to build strong brand identity</a:t>
            </a:r>
          </a:p>
          <a:p>
            <a:pPr algn="ctr">
              <a:lnSpc>
                <a:spcPts val="4480"/>
              </a:lnSpc>
            </a:pPr>
            <a:r>
              <a:rPr lang="en-US" sz="3200">
                <a:solidFill>
                  <a:srgbClr val="FFFFFF"/>
                </a:solidFill>
                <a:latin typeface="Canva Sans"/>
                <a:ea typeface="Canva Sans"/>
                <a:cs typeface="Canva Sans"/>
                <a:sym typeface="Canva Sans"/>
              </a:rPr>
              <a:t> </a:t>
            </a:r>
          </a:p>
        </p:txBody>
      </p:sp>
      <p:sp>
        <p:nvSpPr>
          <p:cNvPr id="23" name="TextBox 23"/>
          <p:cNvSpPr txBox="1"/>
          <p:nvPr/>
        </p:nvSpPr>
        <p:spPr>
          <a:xfrm>
            <a:off x="1596159" y="5292282"/>
            <a:ext cx="3710570" cy="976630"/>
          </a:xfrm>
          <a:prstGeom prst="rect">
            <a:avLst/>
          </a:prstGeom>
        </p:spPr>
        <p:txBody>
          <a:bodyPr lIns="0" tIns="0" rIns="0" bIns="0" rtlCol="0" anchor="t">
            <a:spAutoFit/>
          </a:bodyPr>
          <a:lstStyle/>
          <a:p>
            <a:pPr algn="ctr">
              <a:lnSpc>
                <a:spcPts val="3919"/>
              </a:lnSpc>
            </a:pPr>
            <a:r>
              <a:rPr lang="en-US" sz="2799" b="1">
                <a:solidFill>
                  <a:srgbClr val="FFFFFF"/>
                </a:solidFill>
                <a:latin typeface="Canva Sans Bold"/>
                <a:ea typeface="Canva Sans Bold"/>
                <a:cs typeface="Canva Sans Bold"/>
                <a:sym typeface="Canva Sans Bold"/>
              </a:rPr>
              <a:t>Smart Technology at Affordable Prices</a:t>
            </a:r>
          </a:p>
        </p:txBody>
      </p:sp>
      <p:sp>
        <p:nvSpPr>
          <p:cNvPr id="24" name="TextBox 24"/>
          <p:cNvSpPr txBox="1"/>
          <p:nvPr/>
        </p:nvSpPr>
        <p:spPr>
          <a:xfrm>
            <a:off x="1233332" y="6373687"/>
            <a:ext cx="4437054" cy="2956325"/>
          </a:xfrm>
          <a:prstGeom prst="rect">
            <a:avLst/>
          </a:prstGeom>
        </p:spPr>
        <p:txBody>
          <a:bodyPr lIns="0" tIns="0" rIns="0" bIns="0" rtlCol="0" anchor="t">
            <a:spAutoFit/>
          </a:bodyPr>
          <a:lstStyle/>
          <a:p>
            <a:pPr marL="604206" lvl="1" indent="-302103" algn="l">
              <a:lnSpc>
                <a:spcPts val="3917"/>
              </a:lnSpc>
              <a:buFont typeface="Arial"/>
              <a:buChar char="•"/>
            </a:pPr>
            <a:r>
              <a:rPr lang="en-US" sz="2798">
                <a:solidFill>
                  <a:srgbClr val="FFFFFF"/>
                </a:solidFill>
                <a:latin typeface="Canva Sans"/>
                <a:ea typeface="Canva Sans"/>
                <a:cs typeface="Canva Sans"/>
                <a:sym typeface="Canva Sans"/>
              </a:rPr>
              <a:t>Global quality + local market understanding</a:t>
            </a:r>
          </a:p>
          <a:p>
            <a:pPr marL="604206" lvl="1" indent="-302103" algn="l">
              <a:lnSpc>
                <a:spcPts val="3917"/>
              </a:lnSpc>
              <a:buFont typeface="Arial"/>
              <a:buChar char="•"/>
            </a:pPr>
            <a:r>
              <a:rPr lang="en-US" sz="2798">
                <a:solidFill>
                  <a:srgbClr val="FFFFFF"/>
                </a:solidFill>
                <a:latin typeface="Canva Sans"/>
                <a:ea typeface="Canva Sans"/>
                <a:cs typeface="Canva Sans"/>
                <a:sym typeface="Canva Sans"/>
              </a:rPr>
              <a:t>Cost reduction through vertical integration</a:t>
            </a:r>
          </a:p>
          <a:p>
            <a:pPr algn="l">
              <a:lnSpc>
                <a:spcPts val="3917"/>
              </a:lnSpc>
            </a:pPr>
            <a:endParaRPr lang="en-US" sz="2798">
              <a:solidFill>
                <a:srgbClr val="FFFFFF"/>
              </a:solidFill>
              <a:latin typeface="Canva Sans"/>
              <a:ea typeface="Canva Sans"/>
              <a:cs typeface="Canva Sans"/>
              <a:sym typeface="Canva Sans"/>
            </a:endParaRPr>
          </a:p>
        </p:txBody>
      </p:sp>
      <p:sp>
        <p:nvSpPr>
          <p:cNvPr id="25" name="TextBox 25"/>
          <p:cNvSpPr txBox="1"/>
          <p:nvPr/>
        </p:nvSpPr>
        <p:spPr>
          <a:xfrm>
            <a:off x="7471488" y="5437697"/>
            <a:ext cx="3710570" cy="1471930"/>
          </a:xfrm>
          <a:prstGeom prst="rect">
            <a:avLst/>
          </a:prstGeom>
        </p:spPr>
        <p:txBody>
          <a:bodyPr lIns="0" tIns="0" rIns="0" bIns="0" rtlCol="0" anchor="t">
            <a:spAutoFit/>
          </a:bodyPr>
          <a:lstStyle/>
          <a:p>
            <a:pPr algn="ctr">
              <a:lnSpc>
                <a:spcPts val="3919"/>
              </a:lnSpc>
            </a:pPr>
            <a:r>
              <a:rPr lang="en-US" sz="2799" b="1">
                <a:solidFill>
                  <a:srgbClr val="FFFFFF"/>
                </a:solidFill>
                <a:latin typeface="Canva Sans Bold"/>
                <a:ea typeface="Canva Sans Bold"/>
                <a:cs typeface="Canva Sans Bold"/>
                <a:sym typeface="Canva Sans Bold"/>
              </a:rPr>
              <a:t>Credibility-Driven Innovation</a:t>
            </a:r>
          </a:p>
          <a:p>
            <a:pPr algn="ctr">
              <a:lnSpc>
                <a:spcPts val="3919"/>
              </a:lnSpc>
            </a:pPr>
            <a:endParaRPr lang="en-US" sz="2799" b="1">
              <a:solidFill>
                <a:srgbClr val="FFFFFF"/>
              </a:solidFill>
              <a:latin typeface="Canva Sans Bold"/>
              <a:ea typeface="Canva Sans Bold"/>
              <a:cs typeface="Canva Sans Bold"/>
              <a:sym typeface="Canva Sans Bold"/>
            </a:endParaRPr>
          </a:p>
        </p:txBody>
      </p:sp>
      <p:sp>
        <p:nvSpPr>
          <p:cNvPr id="26" name="TextBox 26"/>
          <p:cNvSpPr txBox="1"/>
          <p:nvPr/>
        </p:nvSpPr>
        <p:spPr>
          <a:xfrm>
            <a:off x="6831760" y="6368607"/>
            <a:ext cx="4854842" cy="2961405"/>
          </a:xfrm>
          <a:prstGeom prst="rect">
            <a:avLst/>
          </a:prstGeom>
        </p:spPr>
        <p:txBody>
          <a:bodyPr lIns="0" tIns="0" rIns="0" bIns="0" rtlCol="0" anchor="t">
            <a:spAutoFit/>
          </a:bodyPr>
          <a:lstStyle/>
          <a:p>
            <a:pPr algn="l">
              <a:lnSpc>
                <a:spcPts val="3922"/>
              </a:lnSpc>
            </a:pPr>
            <a:endParaRPr/>
          </a:p>
          <a:p>
            <a:pPr marL="604942" lvl="1" indent="-302471" algn="l">
              <a:lnSpc>
                <a:spcPts val="3922"/>
              </a:lnSpc>
              <a:buFont typeface="Arial"/>
              <a:buChar char="•"/>
            </a:pPr>
            <a:r>
              <a:rPr lang="en-US" sz="2801">
                <a:solidFill>
                  <a:srgbClr val="FFFFFF"/>
                </a:solidFill>
                <a:latin typeface="Canva Sans"/>
                <a:ea typeface="Canva Sans"/>
                <a:cs typeface="Canva Sans"/>
                <a:sym typeface="Canva Sans"/>
              </a:rPr>
              <a:t> Strong R&amp;D investment</a:t>
            </a:r>
          </a:p>
          <a:p>
            <a:pPr marL="604942" lvl="1" indent="-302471" algn="l">
              <a:lnSpc>
                <a:spcPts val="3922"/>
              </a:lnSpc>
              <a:buFont typeface="Arial"/>
              <a:buChar char="•"/>
            </a:pPr>
            <a:r>
              <a:rPr lang="en-US" sz="2801">
                <a:solidFill>
                  <a:srgbClr val="FFFFFF"/>
                </a:solidFill>
                <a:latin typeface="Canva Sans"/>
                <a:ea typeface="Canva Sans"/>
                <a:cs typeface="Canva Sans"/>
                <a:sym typeface="Canva Sans"/>
              </a:rPr>
              <a:t>AI &amp; IoT-based smart products</a:t>
            </a:r>
          </a:p>
          <a:p>
            <a:pPr algn="l">
              <a:lnSpc>
                <a:spcPts val="3922"/>
              </a:lnSpc>
            </a:pPr>
            <a:endParaRPr lang="en-US" sz="2801">
              <a:solidFill>
                <a:srgbClr val="FFFFFF"/>
              </a:solidFill>
              <a:latin typeface="Canva Sans"/>
              <a:ea typeface="Canva Sans"/>
              <a:cs typeface="Canva Sans"/>
              <a:sym typeface="Canva Sans"/>
            </a:endParaRPr>
          </a:p>
          <a:p>
            <a:pPr algn="l">
              <a:lnSpc>
                <a:spcPts val="3922"/>
              </a:lnSpc>
            </a:pPr>
            <a:endParaRPr lang="en-US" sz="2801">
              <a:solidFill>
                <a:srgbClr val="FFFFFF"/>
              </a:solidFill>
              <a:latin typeface="Canva Sans"/>
              <a:ea typeface="Canva Sans"/>
              <a:cs typeface="Canva Sans"/>
              <a:sym typeface="Canva Sans"/>
            </a:endParaRPr>
          </a:p>
        </p:txBody>
      </p:sp>
      <p:sp>
        <p:nvSpPr>
          <p:cNvPr id="27" name="TextBox 27"/>
          <p:cNvSpPr txBox="1"/>
          <p:nvPr/>
        </p:nvSpPr>
        <p:spPr>
          <a:xfrm>
            <a:off x="13124877" y="5504372"/>
            <a:ext cx="4134423" cy="976630"/>
          </a:xfrm>
          <a:prstGeom prst="rect">
            <a:avLst/>
          </a:prstGeom>
        </p:spPr>
        <p:txBody>
          <a:bodyPr lIns="0" tIns="0" rIns="0" bIns="0" rtlCol="0" anchor="t">
            <a:spAutoFit/>
          </a:bodyPr>
          <a:lstStyle/>
          <a:p>
            <a:pPr algn="ctr">
              <a:lnSpc>
                <a:spcPts val="3919"/>
              </a:lnSpc>
            </a:pPr>
            <a:r>
              <a:rPr lang="en-US" sz="2799" b="1">
                <a:solidFill>
                  <a:srgbClr val="FFFFFF"/>
                </a:solidFill>
                <a:latin typeface="Canva Sans Bold"/>
                <a:ea typeface="Canva Sans Bold"/>
                <a:cs typeface="Canva Sans Bold"/>
                <a:sym typeface="Canva Sans Bold"/>
              </a:rPr>
              <a:t>“Made in Bangladesh” Strength</a:t>
            </a:r>
          </a:p>
        </p:txBody>
      </p:sp>
      <p:sp>
        <p:nvSpPr>
          <p:cNvPr id="28" name="TextBox 28"/>
          <p:cNvSpPr txBox="1"/>
          <p:nvPr/>
        </p:nvSpPr>
        <p:spPr>
          <a:xfrm>
            <a:off x="12689149" y="6620609"/>
            <a:ext cx="4737159" cy="2462480"/>
          </a:xfrm>
          <a:prstGeom prst="rect">
            <a:avLst/>
          </a:prstGeom>
        </p:spPr>
        <p:txBody>
          <a:bodyPr lIns="0" tIns="0" rIns="0" bIns="0" rtlCol="0" anchor="t">
            <a:spAutoFit/>
          </a:bodyPr>
          <a:lstStyle/>
          <a:p>
            <a:pPr marL="604942" lvl="1" indent="-302471" algn="l">
              <a:lnSpc>
                <a:spcPts val="3922"/>
              </a:lnSpc>
              <a:buFont typeface="Arial"/>
              <a:buChar char="•"/>
            </a:pPr>
            <a:r>
              <a:rPr lang="en-US" sz="2801">
                <a:solidFill>
                  <a:srgbClr val="FFFFFF"/>
                </a:solidFill>
                <a:latin typeface="Canva Sans"/>
                <a:ea typeface="Canva Sans"/>
                <a:cs typeface="Canva Sans"/>
                <a:sym typeface="Canva Sans"/>
              </a:rPr>
              <a:t>Builds trust &amp; emotional connection</a:t>
            </a:r>
          </a:p>
          <a:p>
            <a:pPr marL="604942" lvl="1" indent="-302471" algn="l">
              <a:lnSpc>
                <a:spcPts val="3922"/>
              </a:lnSpc>
              <a:buFont typeface="Arial"/>
              <a:buChar char="•"/>
            </a:pPr>
            <a:r>
              <a:rPr lang="en-US" sz="2801">
                <a:solidFill>
                  <a:srgbClr val="FFFFFF"/>
                </a:solidFill>
                <a:latin typeface="Canva Sans"/>
                <a:ea typeface="Canva Sans"/>
                <a:cs typeface="Canva Sans"/>
                <a:sym typeface="Canva Sans"/>
              </a:rPr>
              <a:t>Competes with international brands</a:t>
            </a:r>
          </a:p>
          <a:p>
            <a:pPr algn="l">
              <a:lnSpc>
                <a:spcPts val="3922"/>
              </a:lnSpc>
            </a:pPr>
            <a:endParaRPr lang="en-US" sz="2801">
              <a:solidFill>
                <a:srgbClr val="FFFFFF"/>
              </a:solidFill>
              <a:latin typeface="Canva Sans"/>
              <a:ea typeface="Canva Sans"/>
              <a:cs typeface="Canva Sans"/>
              <a:sym typeface="Canva Sans"/>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1A1A2E"/>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18297725" cy="1509941"/>
            <a:chOff x="0" y="0"/>
            <a:chExt cx="24396967" cy="2013255"/>
          </a:xfrm>
        </p:grpSpPr>
        <p:sp>
          <p:nvSpPr>
            <p:cNvPr id="3" name="Freeform 3"/>
            <p:cNvSpPr/>
            <p:nvPr/>
          </p:nvSpPr>
          <p:spPr>
            <a:xfrm>
              <a:off x="0" y="0"/>
              <a:ext cx="24396954" cy="2013204"/>
            </a:xfrm>
            <a:custGeom>
              <a:avLst/>
              <a:gdLst/>
              <a:ahLst/>
              <a:cxnLst/>
              <a:rect l="l" t="t" r="r" b="b"/>
              <a:pathLst>
                <a:path w="24396954" h="2013204">
                  <a:moveTo>
                    <a:pt x="0" y="0"/>
                  </a:moveTo>
                  <a:lnTo>
                    <a:pt x="24396954" y="0"/>
                  </a:lnTo>
                  <a:lnTo>
                    <a:pt x="24396954" y="2013204"/>
                  </a:lnTo>
                  <a:lnTo>
                    <a:pt x="0" y="2013204"/>
                  </a:lnTo>
                  <a:close/>
                </a:path>
              </a:pathLst>
            </a:custGeom>
            <a:solidFill>
              <a:srgbClr val="CC0000"/>
            </a:solidFill>
          </p:spPr>
        </p:sp>
      </p:grpSp>
      <p:grpSp>
        <p:nvGrpSpPr>
          <p:cNvPr id="4" name="Group 4"/>
          <p:cNvGrpSpPr/>
          <p:nvPr/>
        </p:nvGrpSpPr>
        <p:grpSpPr>
          <a:xfrm>
            <a:off x="13791123" y="2213050"/>
            <a:ext cx="4180513" cy="3502948"/>
            <a:chOff x="0" y="0"/>
            <a:chExt cx="12750042" cy="10683553"/>
          </a:xfrm>
        </p:grpSpPr>
        <p:sp>
          <p:nvSpPr>
            <p:cNvPr id="5" name="Freeform 5"/>
            <p:cNvSpPr/>
            <p:nvPr/>
          </p:nvSpPr>
          <p:spPr>
            <a:xfrm>
              <a:off x="0" y="0"/>
              <a:ext cx="12750043" cy="10683553"/>
            </a:xfrm>
            <a:custGeom>
              <a:avLst/>
              <a:gdLst/>
              <a:ahLst/>
              <a:cxnLst/>
              <a:rect l="l" t="t" r="r" b="b"/>
              <a:pathLst>
                <a:path w="12750043" h="10683553">
                  <a:moveTo>
                    <a:pt x="0" y="0"/>
                  </a:moveTo>
                  <a:lnTo>
                    <a:pt x="12750043" y="0"/>
                  </a:lnTo>
                  <a:lnTo>
                    <a:pt x="12750043" y="10683553"/>
                  </a:lnTo>
                  <a:lnTo>
                    <a:pt x="0" y="10683553"/>
                  </a:lnTo>
                  <a:close/>
                </a:path>
              </a:pathLst>
            </a:custGeom>
            <a:blipFill>
              <a:blip r:embed="rId2"/>
              <a:stretch>
                <a:fillRect l="-5917" t="-113" b="-26291"/>
              </a:stretch>
            </a:blipFill>
          </p:spPr>
        </p:sp>
      </p:grpSp>
      <p:grpSp>
        <p:nvGrpSpPr>
          <p:cNvPr id="6" name="Group 6"/>
          <p:cNvGrpSpPr/>
          <p:nvPr/>
        </p:nvGrpSpPr>
        <p:grpSpPr>
          <a:xfrm>
            <a:off x="549069" y="1672246"/>
            <a:ext cx="17422568" cy="498999"/>
            <a:chOff x="0" y="0"/>
            <a:chExt cx="23230090" cy="665332"/>
          </a:xfrm>
        </p:grpSpPr>
        <p:sp>
          <p:nvSpPr>
            <p:cNvPr id="7" name="Freeform 7"/>
            <p:cNvSpPr/>
            <p:nvPr/>
          </p:nvSpPr>
          <p:spPr>
            <a:xfrm>
              <a:off x="0" y="0"/>
              <a:ext cx="23229346" cy="665331"/>
            </a:xfrm>
            <a:custGeom>
              <a:avLst/>
              <a:gdLst/>
              <a:ahLst/>
              <a:cxnLst/>
              <a:rect l="l" t="t" r="r" b="b"/>
              <a:pathLst>
                <a:path w="23229346" h="665331">
                  <a:moveTo>
                    <a:pt x="0" y="0"/>
                  </a:moveTo>
                  <a:lnTo>
                    <a:pt x="23229346" y="0"/>
                  </a:lnTo>
                  <a:lnTo>
                    <a:pt x="23229346" y="665331"/>
                  </a:lnTo>
                  <a:lnTo>
                    <a:pt x="0" y="665331"/>
                  </a:lnTo>
                  <a:close/>
                </a:path>
              </a:pathLst>
            </a:custGeom>
            <a:solidFill>
              <a:srgbClr val="CC0000"/>
            </a:solidFill>
          </p:spPr>
        </p:sp>
      </p:grpSp>
      <p:grpSp>
        <p:nvGrpSpPr>
          <p:cNvPr id="8" name="Group 8"/>
          <p:cNvGrpSpPr/>
          <p:nvPr/>
        </p:nvGrpSpPr>
        <p:grpSpPr>
          <a:xfrm>
            <a:off x="549069" y="2193581"/>
            <a:ext cx="13242054" cy="3294412"/>
            <a:chOff x="0" y="0"/>
            <a:chExt cx="17656073" cy="4392549"/>
          </a:xfrm>
        </p:grpSpPr>
        <p:sp>
          <p:nvSpPr>
            <p:cNvPr id="9" name="Freeform 9"/>
            <p:cNvSpPr/>
            <p:nvPr/>
          </p:nvSpPr>
          <p:spPr>
            <a:xfrm>
              <a:off x="0" y="0"/>
              <a:ext cx="17656073" cy="4392549"/>
            </a:xfrm>
            <a:custGeom>
              <a:avLst/>
              <a:gdLst/>
              <a:ahLst/>
              <a:cxnLst/>
              <a:rect l="l" t="t" r="r" b="b"/>
              <a:pathLst>
                <a:path w="17656073" h="4392549">
                  <a:moveTo>
                    <a:pt x="0" y="0"/>
                  </a:moveTo>
                  <a:lnTo>
                    <a:pt x="17656073" y="0"/>
                  </a:lnTo>
                  <a:lnTo>
                    <a:pt x="17656073" y="4392549"/>
                  </a:lnTo>
                  <a:lnTo>
                    <a:pt x="0" y="4392549"/>
                  </a:lnTo>
                  <a:close/>
                </a:path>
              </a:pathLst>
            </a:custGeom>
            <a:solidFill>
              <a:srgbClr val="222D42"/>
            </a:solidFill>
          </p:spPr>
        </p:sp>
      </p:grpSp>
      <p:grpSp>
        <p:nvGrpSpPr>
          <p:cNvPr id="10" name="Group 10"/>
          <p:cNvGrpSpPr/>
          <p:nvPr/>
        </p:nvGrpSpPr>
        <p:grpSpPr>
          <a:xfrm>
            <a:off x="582582" y="5735048"/>
            <a:ext cx="17389054" cy="521335"/>
            <a:chOff x="0" y="0"/>
            <a:chExt cx="23185406" cy="695113"/>
          </a:xfrm>
        </p:grpSpPr>
        <p:sp>
          <p:nvSpPr>
            <p:cNvPr id="11" name="Freeform 11"/>
            <p:cNvSpPr/>
            <p:nvPr/>
          </p:nvSpPr>
          <p:spPr>
            <a:xfrm>
              <a:off x="0" y="0"/>
              <a:ext cx="23184662" cy="695113"/>
            </a:xfrm>
            <a:custGeom>
              <a:avLst/>
              <a:gdLst/>
              <a:ahLst/>
              <a:cxnLst/>
              <a:rect l="l" t="t" r="r" b="b"/>
              <a:pathLst>
                <a:path w="23184662" h="695113">
                  <a:moveTo>
                    <a:pt x="0" y="0"/>
                  </a:moveTo>
                  <a:lnTo>
                    <a:pt x="23184662" y="0"/>
                  </a:lnTo>
                  <a:lnTo>
                    <a:pt x="23184662" y="695113"/>
                  </a:lnTo>
                  <a:lnTo>
                    <a:pt x="0" y="695113"/>
                  </a:lnTo>
                  <a:close/>
                </a:path>
              </a:pathLst>
            </a:custGeom>
            <a:solidFill>
              <a:srgbClr val="CC0000"/>
            </a:solidFill>
          </p:spPr>
        </p:sp>
      </p:grpSp>
      <p:grpSp>
        <p:nvGrpSpPr>
          <p:cNvPr id="12" name="Group 12"/>
          <p:cNvGrpSpPr/>
          <p:nvPr/>
        </p:nvGrpSpPr>
        <p:grpSpPr>
          <a:xfrm>
            <a:off x="9260353" y="1672246"/>
            <a:ext cx="8711284" cy="498999"/>
            <a:chOff x="0" y="0"/>
            <a:chExt cx="11615045" cy="665332"/>
          </a:xfrm>
        </p:grpSpPr>
        <p:sp>
          <p:nvSpPr>
            <p:cNvPr id="13" name="Freeform 13"/>
            <p:cNvSpPr/>
            <p:nvPr/>
          </p:nvSpPr>
          <p:spPr>
            <a:xfrm>
              <a:off x="0" y="0"/>
              <a:ext cx="11614673" cy="665331"/>
            </a:xfrm>
            <a:custGeom>
              <a:avLst/>
              <a:gdLst/>
              <a:ahLst/>
              <a:cxnLst/>
              <a:rect l="l" t="t" r="r" b="b"/>
              <a:pathLst>
                <a:path w="11614673" h="665331">
                  <a:moveTo>
                    <a:pt x="0" y="0"/>
                  </a:moveTo>
                  <a:lnTo>
                    <a:pt x="11614673" y="0"/>
                  </a:lnTo>
                  <a:lnTo>
                    <a:pt x="11614673" y="665331"/>
                  </a:lnTo>
                  <a:lnTo>
                    <a:pt x="0" y="665331"/>
                  </a:lnTo>
                  <a:close/>
                </a:path>
              </a:pathLst>
            </a:custGeom>
            <a:solidFill>
              <a:srgbClr val="163F97"/>
            </a:solidFill>
          </p:spPr>
        </p:sp>
      </p:grpSp>
      <p:sp>
        <p:nvSpPr>
          <p:cNvPr id="14" name="TextBox 14"/>
          <p:cNvSpPr txBox="1"/>
          <p:nvPr/>
        </p:nvSpPr>
        <p:spPr>
          <a:xfrm>
            <a:off x="7226427" y="1615096"/>
            <a:ext cx="4134878" cy="1099820"/>
          </a:xfrm>
          <a:prstGeom prst="rect">
            <a:avLst/>
          </a:prstGeom>
        </p:spPr>
        <p:txBody>
          <a:bodyPr lIns="0" tIns="0" rIns="0" bIns="0" rtlCol="0" anchor="t">
            <a:spAutoFit/>
          </a:bodyPr>
          <a:lstStyle/>
          <a:p>
            <a:pPr algn="ctr">
              <a:lnSpc>
                <a:spcPts val="4480"/>
              </a:lnSpc>
            </a:pPr>
            <a:r>
              <a:rPr lang="en-US" sz="3200" b="1">
                <a:solidFill>
                  <a:srgbClr val="FFFFFF"/>
                </a:solidFill>
                <a:latin typeface="Canva Sans Bold"/>
                <a:ea typeface="Canva Sans Bold"/>
                <a:cs typeface="Canva Sans Bold"/>
                <a:sym typeface="Canva Sans Bold"/>
              </a:rPr>
              <a:t>Product Strategy</a:t>
            </a:r>
          </a:p>
          <a:p>
            <a:pPr algn="ctr">
              <a:lnSpc>
                <a:spcPts val="4480"/>
              </a:lnSpc>
            </a:pPr>
            <a:endParaRPr lang="en-US" sz="3200" b="1">
              <a:solidFill>
                <a:srgbClr val="FFFFFF"/>
              </a:solidFill>
              <a:latin typeface="Canva Sans Bold"/>
              <a:ea typeface="Canva Sans Bold"/>
              <a:cs typeface="Canva Sans Bold"/>
              <a:sym typeface="Canva Sans Bold"/>
            </a:endParaRPr>
          </a:p>
        </p:txBody>
      </p:sp>
      <p:sp>
        <p:nvSpPr>
          <p:cNvPr id="15" name="TextBox 15"/>
          <p:cNvSpPr txBox="1"/>
          <p:nvPr/>
        </p:nvSpPr>
        <p:spPr>
          <a:xfrm>
            <a:off x="582582" y="2141743"/>
            <a:ext cx="12853272" cy="3804285"/>
          </a:xfrm>
          <a:prstGeom prst="rect">
            <a:avLst/>
          </a:prstGeom>
        </p:spPr>
        <p:txBody>
          <a:bodyPr lIns="0" tIns="0" rIns="0" bIns="0" rtlCol="0" anchor="t">
            <a:spAutoFit/>
          </a:bodyPr>
          <a:lstStyle/>
          <a:p>
            <a:pPr marL="777240" lvl="1" indent="-388620" algn="l">
              <a:lnSpc>
                <a:spcPts val="5040"/>
              </a:lnSpc>
              <a:buFont typeface="Arial"/>
              <a:buChar char="•"/>
            </a:pPr>
            <a:r>
              <a:rPr lang="en-US" sz="3600">
                <a:solidFill>
                  <a:srgbClr val="FFFFFF"/>
                </a:solidFill>
                <a:latin typeface="Canva Sans"/>
                <a:ea typeface="Canva Sans"/>
                <a:cs typeface="Canva Sans"/>
                <a:sym typeface="Canva Sans"/>
              </a:rPr>
              <a:t>Wide product range: fridge, TV, AC, smartphone, laptop</a:t>
            </a:r>
          </a:p>
          <a:p>
            <a:pPr marL="777240" lvl="1" indent="-388620" algn="l">
              <a:lnSpc>
                <a:spcPts val="5040"/>
              </a:lnSpc>
              <a:buFont typeface="Arial"/>
              <a:buChar char="•"/>
            </a:pPr>
            <a:r>
              <a:rPr lang="en-US" sz="3600">
                <a:solidFill>
                  <a:srgbClr val="FFFFFF"/>
                </a:solidFill>
                <a:latin typeface="Canva Sans"/>
                <a:ea typeface="Canva Sans"/>
                <a:cs typeface="Canva Sans"/>
                <a:sym typeface="Canva Sans"/>
              </a:rPr>
              <a:t>Focus on innovation &amp; smart technology</a:t>
            </a:r>
          </a:p>
          <a:p>
            <a:pPr marL="777240" lvl="1" indent="-388620" algn="l">
              <a:lnSpc>
                <a:spcPts val="5040"/>
              </a:lnSpc>
              <a:buFont typeface="Arial"/>
              <a:buChar char="•"/>
            </a:pPr>
            <a:r>
              <a:rPr lang="en-US" sz="3600">
                <a:solidFill>
                  <a:srgbClr val="FFFFFF"/>
                </a:solidFill>
                <a:latin typeface="Canva Sans"/>
                <a:ea typeface="Canva Sans"/>
                <a:cs typeface="Canva Sans"/>
                <a:sym typeface="Canva Sans"/>
              </a:rPr>
              <a:t>Example: AI-powered smart refrigerator</a:t>
            </a:r>
          </a:p>
          <a:p>
            <a:pPr marL="777240" lvl="1" indent="-388620" algn="l">
              <a:lnSpc>
                <a:spcPts val="5040"/>
              </a:lnSpc>
              <a:buFont typeface="Arial"/>
              <a:buChar char="•"/>
            </a:pPr>
            <a:r>
              <a:rPr lang="en-US" sz="3600">
                <a:solidFill>
                  <a:srgbClr val="FFFFFF"/>
                </a:solidFill>
                <a:latin typeface="Canva Sans"/>
                <a:ea typeface="Canva Sans"/>
                <a:cs typeface="Canva Sans"/>
                <a:sym typeface="Canva Sans"/>
              </a:rPr>
              <a:t>Designed for local needs (e.g., larger freezer space</a:t>
            </a:r>
          </a:p>
          <a:p>
            <a:pPr algn="ctr">
              <a:lnSpc>
                <a:spcPts val="5040"/>
              </a:lnSpc>
            </a:pPr>
            <a:endParaRPr lang="en-US" sz="3600">
              <a:solidFill>
                <a:srgbClr val="FFFFFF"/>
              </a:solidFill>
              <a:latin typeface="Canva Sans"/>
              <a:ea typeface="Canva Sans"/>
              <a:cs typeface="Canva Sans"/>
              <a:sym typeface="Canva Sans"/>
            </a:endParaRPr>
          </a:p>
          <a:p>
            <a:pPr algn="ctr">
              <a:lnSpc>
                <a:spcPts val="5040"/>
              </a:lnSpc>
            </a:pPr>
            <a:endParaRPr lang="en-US" sz="3600">
              <a:solidFill>
                <a:srgbClr val="FFFFFF"/>
              </a:solidFill>
              <a:latin typeface="Canva Sans"/>
              <a:ea typeface="Canva Sans"/>
              <a:cs typeface="Canva Sans"/>
              <a:sym typeface="Canva Sans"/>
            </a:endParaRPr>
          </a:p>
        </p:txBody>
      </p:sp>
      <p:grpSp>
        <p:nvGrpSpPr>
          <p:cNvPr id="16" name="Group 16"/>
          <p:cNvGrpSpPr/>
          <p:nvPr/>
        </p:nvGrpSpPr>
        <p:grpSpPr>
          <a:xfrm>
            <a:off x="582582" y="5735048"/>
            <a:ext cx="8711284" cy="521335"/>
            <a:chOff x="0" y="0"/>
            <a:chExt cx="11615045" cy="695113"/>
          </a:xfrm>
        </p:grpSpPr>
        <p:sp>
          <p:nvSpPr>
            <p:cNvPr id="17" name="Freeform 17"/>
            <p:cNvSpPr/>
            <p:nvPr/>
          </p:nvSpPr>
          <p:spPr>
            <a:xfrm>
              <a:off x="0" y="0"/>
              <a:ext cx="11614673" cy="695113"/>
            </a:xfrm>
            <a:custGeom>
              <a:avLst/>
              <a:gdLst/>
              <a:ahLst/>
              <a:cxnLst/>
              <a:rect l="l" t="t" r="r" b="b"/>
              <a:pathLst>
                <a:path w="11614673" h="695113">
                  <a:moveTo>
                    <a:pt x="0" y="0"/>
                  </a:moveTo>
                  <a:lnTo>
                    <a:pt x="11614673" y="0"/>
                  </a:lnTo>
                  <a:lnTo>
                    <a:pt x="11614673" y="695113"/>
                  </a:lnTo>
                  <a:lnTo>
                    <a:pt x="0" y="695113"/>
                  </a:lnTo>
                  <a:close/>
                </a:path>
              </a:pathLst>
            </a:custGeom>
            <a:solidFill>
              <a:srgbClr val="163F97"/>
            </a:solidFill>
          </p:spPr>
        </p:sp>
      </p:grpSp>
      <p:sp>
        <p:nvSpPr>
          <p:cNvPr id="18" name="TextBox 18"/>
          <p:cNvSpPr txBox="1"/>
          <p:nvPr/>
        </p:nvSpPr>
        <p:spPr>
          <a:xfrm>
            <a:off x="6789065" y="5677898"/>
            <a:ext cx="5341758" cy="1099820"/>
          </a:xfrm>
          <a:prstGeom prst="rect">
            <a:avLst/>
          </a:prstGeom>
        </p:spPr>
        <p:txBody>
          <a:bodyPr lIns="0" tIns="0" rIns="0" bIns="0" rtlCol="0" anchor="t">
            <a:spAutoFit/>
          </a:bodyPr>
          <a:lstStyle/>
          <a:p>
            <a:pPr algn="ctr">
              <a:lnSpc>
                <a:spcPts val="4480"/>
              </a:lnSpc>
            </a:pPr>
            <a:r>
              <a:rPr lang="en-US" sz="3200" b="1">
                <a:solidFill>
                  <a:srgbClr val="FFFFFF"/>
                </a:solidFill>
                <a:latin typeface="Canva Sans Bold"/>
                <a:ea typeface="Canva Sans Bold"/>
                <a:cs typeface="Canva Sans Bold"/>
                <a:sym typeface="Canva Sans Bold"/>
              </a:rPr>
              <a:t>Pricing Strategy</a:t>
            </a:r>
          </a:p>
          <a:p>
            <a:pPr algn="ctr">
              <a:lnSpc>
                <a:spcPts val="4480"/>
              </a:lnSpc>
            </a:pPr>
            <a:endParaRPr lang="en-US" sz="3200" b="1">
              <a:solidFill>
                <a:srgbClr val="FFFFFF"/>
              </a:solidFill>
              <a:latin typeface="Canva Sans Bold"/>
              <a:ea typeface="Canva Sans Bold"/>
              <a:cs typeface="Canva Sans Bold"/>
              <a:sym typeface="Canva Sans Bold"/>
            </a:endParaRPr>
          </a:p>
        </p:txBody>
      </p:sp>
      <p:grpSp>
        <p:nvGrpSpPr>
          <p:cNvPr id="19" name="Group 19"/>
          <p:cNvGrpSpPr/>
          <p:nvPr/>
        </p:nvGrpSpPr>
        <p:grpSpPr>
          <a:xfrm>
            <a:off x="1028700" y="6294483"/>
            <a:ext cx="3985263" cy="3294412"/>
            <a:chOff x="0" y="0"/>
            <a:chExt cx="5313684" cy="4392549"/>
          </a:xfrm>
        </p:grpSpPr>
        <p:sp>
          <p:nvSpPr>
            <p:cNvPr id="20" name="Freeform 20"/>
            <p:cNvSpPr/>
            <p:nvPr/>
          </p:nvSpPr>
          <p:spPr>
            <a:xfrm>
              <a:off x="0" y="0"/>
              <a:ext cx="5313685" cy="4392549"/>
            </a:xfrm>
            <a:custGeom>
              <a:avLst/>
              <a:gdLst/>
              <a:ahLst/>
              <a:cxnLst/>
              <a:rect l="l" t="t" r="r" b="b"/>
              <a:pathLst>
                <a:path w="5313685" h="4392549">
                  <a:moveTo>
                    <a:pt x="0" y="0"/>
                  </a:moveTo>
                  <a:lnTo>
                    <a:pt x="5313685" y="0"/>
                  </a:lnTo>
                  <a:lnTo>
                    <a:pt x="5313685" y="4392549"/>
                  </a:lnTo>
                  <a:lnTo>
                    <a:pt x="0" y="4392549"/>
                  </a:lnTo>
                  <a:close/>
                </a:path>
              </a:pathLst>
            </a:custGeom>
            <a:solidFill>
              <a:srgbClr val="0F6E56"/>
            </a:solidFill>
          </p:spPr>
        </p:sp>
      </p:grpSp>
      <p:grpSp>
        <p:nvGrpSpPr>
          <p:cNvPr id="21" name="Group 21"/>
          <p:cNvGrpSpPr/>
          <p:nvPr/>
        </p:nvGrpSpPr>
        <p:grpSpPr>
          <a:xfrm>
            <a:off x="13137111" y="6294483"/>
            <a:ext cx="3985263" cy="3294412"/>
            <a:chOff x="0" y="0"/>
            <a:chExt cx="5313684" cy="4392549"/>
          </a:xfrm>
        </p:grpSpPr>
        <p:sp>
          <p:nvSpPr>
            <p:cNvPr id="22" name="Freeform 22"/>
            <p:cNvSpPr/>
            <p:nvPr/>
          </p:nvSpPr>
          <p:spPr>
            <a:xfrm>
              <a:off x="0" y="0"/>
              <a:ext cx="5313685" cy="4392549"/>
            </a:xfrm>
            <a:custGeom>
              <a:avLst/>
              <a:gdLst/>
              <a:ahLst/>
              <a:cxnLst/>
              <a:rect l="l" t="t" r="r" b="b"/>
              <a:pathLst>
                <a:path w="5313685" h="4392549">
                  <a:moveTo>
                    <a:pt x="0" y="0"/>
                  </a:moveTo>
                  <a:lnTo>
                    <a:pt x="5313685" y="0"/>
                  </a:lnTo>
                  <a:lnTo>
                    <a:pt x="5313685" y="4392549"/>
                  </a:lnTo>
                  <a:lnTo>
                    <a:pt x="0" y="4392549"/>
                  </a:lnTo>
                  <a:close/>
                </a:path>
              </a:pathLst>
            </a:custGeom>
            <a:solidFill>
              <a:srgbClr val="0F6E56"/>
            </a:solidFill>
          </p:spPr>
        </p:sp>
      </p:grpSp>
      <p:grpSp>
        <p:nvGrpSpPr>
          <p:cNvPr id="23" name="Group 23"/>
          <p:cNvGrpSpPr/>
          <p:nvPr/>
        </p:nvGrpSpPr>
        <p:grpSpPr>
          <a:xfrm>
            <a:off x="7082905" y="6294483"/>
            <a:ext cx="3985263" cy="3294412"/>
            <a:chOff x="0" y="0"/>
            <a:chExt cx="5313684" cy="4392549"/>
          </a:xfrm>
        </p:grpSpPr>
        <p:sp>
          <p:nvSpPr>
            <p:cNvPr id="24" name="Freeform 24"/>
            <p:cNvSpPr/>
            <p:nvPr/>
          </p:nvSpPr>
          <p:spPr>
            <a:xfrm>
              <a:off x="0" y="0"/>
              <a:ext cx="5313685" cy="4392549"/>
            </a:xfrm>
            <a:custGeom>
              <a:avLst/>
              <a:gdLst/>
              <a:ahLst/>
              <a:cxnLst/>
              <a:rect l="l" t="t" r="r" b="b"/>
              <a:pathLst>
                <a:path w="5313685" h="4392549">
                  <a:moveTo>
                    <a:pt x="0" y="0"/>
                  </a:moveTo>
                  <a:lnTo>
                    <a:pt x="5313685" y="0"/>
                  </a:lnTo>
                  <a:lnTo>
                    <a:pt x="5313685" y="4392549"/>
                  </a:lnTo>
                  <a:lnTo>
                    <a:pt x="0" y="4392549"/>
                  </a:lnTo>
                  <a:close/>
                </a:path>
              </a:pathLst>
            </a:custGeom>
            <a:solidFill>
              <a:srgbClr val="0F6E56"/>
            </a:solidFill>
          </p:spPr>
        </p:sp>
      </p:grpSp>
      <p:sp>
        <p:nvSpPr>
          <p:cNvPr id="25" name="TextBox 25"/>
          <p:cNvSpPr txBox="1"/>
          <p:nvPr/>
        </p:nvSpPr>
        <p:spPr>
          <a:xfrm>
            <a:off x="1028700" y="6446883"/>
            <a:ext cx="3985263" cy="537845"/>
          </a:xfrm>
          <a:prstGeom prst="rect">
            <a:avLst/>
          </a:prstGeom>
        </p:spPr>
        <p:txBody>
          <a:bodyPr lIns="0" tIns="0" rIns="0" bIns="0" rtlCol="0" anchor="t">
            <a:spAutoFit/>
          </a:bodyPr>
          <a:lstStyle/>
          <a:p>
            <a:pPr algn="ctr">
              <a:lnSpc>
                <a:spcPts val="4480"/>
              </a:lnSpc>
              <a:spcBef>
                <a:spcPct val="0"/>
              </a:spcBef>
            </a:pPr>
            <a:r>
              <a:rPr lang="en-US" sz="3200">
                <a:solidFill>
                  <a:srgbClr val="FFFFFF"/>
                </a:solidFill>
                <a:latin typeface="Canva Sans"/>
                <a:ea typeface="Canva Sans"/>
                <a:cs typeface="Canva Sans"/>
                <a:sym typeface="Canva Sans"/>
              </a:rPr>
              <a:t>৳</a:t>
            </a:r>
          </a:p>
        </p:txBody>
      </p:sp>
      <p:sp>
        <p:nvSpPr>
          <p:cNvPr id="26" name="TextBox 26"/>
          <p:cNvSpPr txBox="1"/>
          <p:nvPr/>
        </p:nvSpPr>
        <p:spPr>
          <a:xfrm>
            <a:off x="7082905" y="6487523"/>
            <a:ext cx="3985263" cy="537845"/>
          </a:xfrm>
          <a:prstGeom prst="rect">
            <a:avLst/>
          </a:prstGeom>
        </p:spPr>
        <p:txBody>
          <a:bodyPr lIns="0" tIns="0" rIns="0" bIns="0" rtlCol="0" anchor="t">
            <a:spAutoFit/>
          </a:bodyPr>
          <a:lstStyle/>
          <a:p>
            <a:pPr algn="ctr">
              <a:lnSpc>
                <a:spcPts val="4480"/>
              </a:lnSpc>
              <a:spcBef>
                <a:spcPct val="0"/>
              </a:spcBef>
            </a:pPr>
            <a:r>
              <a:rPr lang="en-US" sz="3200">
                <a:solidFill>
                  <a:srgbClr val="FFFFFF"/>
                </a:solidFill>
                <a:latin typeface="Canva Sans"/>
                <a:ea typeface="Canva Sans"/>
                <a:cs typeface="Canva Sans"/>
                <a:sym typeface="Canva Sans"/>
              </a:rPr>
              <a:t>🌐</a:t>
            </a:r>
          </a:p>
        </p:txBody>
      </p:sp>
      <p:sp>
        <p:nvSpPr>
          <p:cNvPr id="27" name="TextBox 27"/>
          <p:cNvSpPr txBox="1"/>
          <p:nvPr/>
        </p:nvSpPr>
        <p:spPr>
          <a:xfrm>
            <a:off x="13137111" y="6237333"/>
            <a:ext cx="3985263" cy="537845"/>
          </a:xfrm>
          <a:prstGeom prst="rect">
            <a:avLst/>
          </a:prstGeom>
        </p:spPr>
        <p:txBody>
          <a:bodyPr lIns="0" tIns="0" rIns="0" bIns="0" rtlCol="0" anchor="t">
            <a:spAutoFit/>
          </a:bodyPr>
          <a:lstStyle/>
          <a:p>
            <a:pPr algn="ctr">
              <a:lnSpc>
                <a:spcPts val="4480"/>
              </a:lnSpc>
              <a:spcBef>
                <a:spcPct val="0"/>
              </a:spcBef>
            </a:pPr>
            <a:r>
              <a:rPr lang="en-US" sz="3200">
                <a:solidFill>
                  <a:srgbClr val="FFFFFF"/>
                </a:solidFill>
                <a:latin typeface="Canva Sans"/>
                <a:ea typeface="Canva Sans"/>
                <a:cs typeface="Canva Sans"/>
                <a:sym typeface="Canva Sans"/>
              </a:rPr>
              <a:t>💳</a:t>
            </a:r>
          </a:p>
        </p:txBody>
      </p:sp>
      <p:sp>
        <p:nvSpPr>
          <p:cNvPr id="28" name="TextBox 28"/>
          <p:cNvSpPr txBox="1"/>
          <p:nvPr/>
        </p:nvSpPr>
        <p:spPr>
          <a:xfrm>
            <a:off x="1231800" y="6968218"/>
            <a:ext cx="3579064" cy="2223770"/>
          </a:xfrm>
          <a:prstGeom prst="rect">
            <a:avLst/>
          </a:prstGeom>
        </p:spPr>
        <p:txBody>
          <a:bodyPr lIns="0" tIns="0" rIns="0" bIns="0" rtlCol="0" anchor="t">
            <a:spAutoFit/>
          </a:bodyPr>
          <a:lstStyle/>
          <a:p>
            <a:pPr algn="ctr">
              <a:lnSpc>
                <a:spcPts val="4480"/>
              </a:lnSpc>
            </a:pPr>
            <a:r>
              <a:rPr lang="en-US" sz="3200" b="1">
                <a:solidFill>
                  <a:srgbClr val="FFFFFF"/>
                </a:solidFill>
                <a:latin typeface="Canva Sans Bold"/>
                <a:ea typeface="Canva Sans Bold"/>
                <a:cs typeface="Canva Sans Bold"/>
                <a:sym typeface="Canva Sans Bold"/>
              </a:rPr>
              <a:t>Affordable &amp; value-based pricing</a:t>
            </a:r>
          </a:p>
          <a:p>
            <a:pPr algn="ctr">
              <a:lnSpc>
                <a:spcPts val="4480"/>
              </a:lnSpc>
            </a:pPr>
            <a:endParaRPr lang="en-US" sz="3200" b="1">
              <a:solidFill>
                <a:srgbClr val="FFFFFF"/>
              </a:solidFill>
              <a:latin typeface="Canva Sans Bold"/>
              <a:ea typeface="Canva Sans Bold"/>
              <a:cs typeface="Canva Sans Bold"/>
              <a:sym typeface="Canva Sans Bold"/>
            </a:endParaRPr>
          </a:p>
        </p:txBody>
      </p:sp>
      <p:sp>
        <p:nvSpPr>
          <p:cNvPr id="29" name="TextBox 29"/>
          <p:cNvSpPr txBox="1"/>
          <p:nvPr/>
        </p:nvSpPr>
        <p:spPr>
          <a:xfrm>
            <a:off x="7406012" y="6968218"/>
            <a:ext cx="3402260" cy="2223770"/>
          </a:xfrm>
          <a:prstGeom prst="rect">
            <a:avLst/>
          </a:prstGeom>
        </p:spPr>
        <p:txBody>
          <a:bodyPr lIns="0" tIns="0" rIns="0" bIns="0" rtlCol="0" anchor="t">
            <a:spAutoFit/>
          </a:bodyPr>
          <a:lstStyle/>
          <a:p>
            <a:pPr algn="ctr">
              <a:lnSpc>
                <a:spcPts val="4480"/>
              </a:lnSpc>
            </a:pPr>
            <a:r>
              <a:rPr lang="en-US" sz="3200" b="1">
                <a:solidFill>
                  <a:srgbClr val="FFFFFF"/>
                </a:solidFill>
                <a:latin typeface="Canva Sans Bold"/>
                <a:ea typeface="Canva Sans Bold"/>
                <a:cs typeface="Canva Sans Bold"/>
                <a:sym typeface="Canva Sans Bold"/>
              </a:rPr>
              <a:t>Lower than global competitors</a:t>
            </a:r>
          </a:p>
          <a:p>
            <a:pPr algn="ctr">
              <a:lnSpc>
                <a:spcPts val="4480"/>
              </a:lnSpc>
            </a:pPr>
            <a:endParaRPr lang="en-US" sz="3200" b="1">
              <a:solidFill>
                <a:srgbClr val="FFFFFF"/>
              </a:solidFill>
              <a:latin typeface="Canva Sans Bold"/>
              <a:ea typeface="Canva Sans Bold"/>
              <a:cs typeface="Canva Sans Bold"/>
              <a:sym typeface="Canva Sans Bold"/>
            </a:endParaRPr>
          </a:p>
        </p:txBody>
      </p:sp>
      <p:sp>
        <p:nvSpPr>
          <p:cNvPr id="30" name="TextBox 30"/>
          <p:cNvSpPr txBox="1"/>
          <p:nvPr/>
        </p:nvSpPr>
        <p:spPr>
          <a:xfrm>
            <a:off x="13474467" y="6927578"/>
            <a:ext cx="3310551" cy="2223770"/>
          </a:xfrm>
          <a:prstGeom prst="rect">
            <a:avLst/>
          </a:prstGeom>
        </p:spPr>
        <p:txBody>
          <a:bodyPr lIns="0" tIns="0" rIns="0" bIns="0" rtlCol="0" anchor="t">
            <a:spAutoFit/>
          </a:bodyPr>
          <a:lstStyle/>
          <a:p>
            <a:pPr algn="ctr">
              <a:lnSpc>
                <a:spcPts val="4480"/>
              </a:lnSpc>
            </a:pPr>
            <a:r>
              <a:rPr lang="en-US" sz="3200" b="1">
                <a:solidFill>
                  <a:srgbClr val="FEFEFE"/>
                </a:solidFill>
                <a:latin typeface="Canva Sans Bold"/>
                <a:ea typeface="Canva Sans Bold"/>
                <a:cs typeface="Canva Sans Bold"/>
                <a:sym typeface="Canva Sans Bold"/>
              </a:rPr>
              <a:t>EMI / installment সুবিধা</a:t>
            </a:r>
          </a:p>
          <a:p>
            <a:pPr algn="ctr">
              <a:lnSpc>
                <a:spcPts val="4480"/>
              </a:lnSpc>
            </a:pPr>
            <a:endParaRPr lang="en-US" sz="3200" b="1">
              <a:solidFill>
                <a:srgbClr val="FEFEFE"/>
              </a:solidFill>
              <a:latin typeface="Canva Sans Bold"/>
              <a:ea typeface="Canva Sans Bold"/>
              <a:cs typeface="Canva Sans Bold"/>
              <a:sym typeface="Canva Sans Bold"/>
            </a:endParaRPr>
          </a:p>
        </p:txBody>
      </p:sp>
      <p:sp>
        <p:nvSpPr>
          <p:cNvPr id="31" name="TextBox 31"/>
          <p:cNvSpPr txBox="1"/>
          <p:nvPr/>
        </p:nvSpPr>
        <p:spPr>
          <a:xfrm>
            <a:off x="3319881" y="216490"/>
            <a:ext cx="11154947" cy="962660"/>
          </a:xfrm>
          <a:prstGeom prst="rect">
            <a:avLst/>
          </a:prstGeom>
        </p:spPr>
        <p:txBody>
          <a:bodyPr lIns="0" tIns="0" rIns="0" bIns="0" rtlCol="0" anchor="t">
            <a:spAutoFit/>
          </a:bodyPr>
          <a:lstStyle/>
          <a:p>
            <a:pPr algn="ctr">
              <a:lnSpc>
                <a:spcPts val="7839"/>
              </a:lnSpc>
            </a:pPr>
            <a:r>
              <a:rPr lang="en-US" sz="5599" b="1">
                <a:solidFill>
                  <a:srgbClr val="FFFFFF"/>
                </a:solidFill>
                <a:latin typeface="Canva Sans Bold"/>
                <a:ea typeface="Canva Sans Bold"/>
                <a:cs typeface="Canva Sans Bold"/>
                <a:sym typeface="Canva Sans Bold"/>
              </a:rPr>
              <a:t>Marketing Mix</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E2E8F0"/>
        </a:solidFill>
        <a:effectLst/>
      </p:bgPr>
    </p:bg>
    <p:spTree>
      <p:nvGrpSpPr>
        <p:cNvPr id="1" name=""/>
        <p:cNvGrpSpPr/>
        <p:nvPr/>
      </p:nvGrpSpPr>
      <p:grpSpPr>
        <a:xfrm>
          <a:off x="0" y="0"/>
          <a:ext cx="0" cy="0"/>
          <a:chOff x="0" y="0"/>
          <a:chExt cx="0" cy="0"/>
        </a:xfrm>
      </p:grpSpPr>
      <p:grpSp>
        <p:nvGrpSpPr>
          <p:cNvPr id="2" name="Group 2"/>
          <p:cNvGrpSpPr/>
          <p:nvPr/>
        </p:nvGrpSpPr>
        <p:grpSpPr>
          <a:xfrm>
            <a:off x="-25403" y="45720"/>
            <a:ext cx="18313403" cy="2037083"/>
            <a:chOff x="0" y="0"/>
            <a:chExt cx="24417871" cy="2716111"/>
          </a:xfrm>
        </p:grpSpPr>
        <p:sp>
          <p:nvSpPr>
            <p:cNvPr id="3" name="Freeform 3"/>
            <p:cNvSpPr/>
            <p:nvPr/>
          </p:nvSpPr>
          <p:spPr>
            <a:xfrm>
              <a:off x="16891" y="16891"/>
              <a:ext cx="24383999" cy="2682240"/>
            </a:xfrm>
            <a:custGeom>
              <a:avLst/>
              <a:gdLst/>
              <a:ahLst/>
              <a:cxnLst/>
              <a:rect l="l" t="t" r="r" b="b"/>
              <a:pathLst>
                <a:path w="24383999" h="2682240">
                  <a:moveTo>
                    <a:pt x="0" y="0"/>
                  </a:moveTo>
                  <a:lnTo>
                    <a:pt x="24383999" y="0"/>
                  </a:lnTo>
                  <a:lnTo>
                    <a:pt x="24383999" y="2682240"/>
                  </a:lnTo>
                  <a:lnTo>
                    <a:pt x="0" y="2682240"/>
                  </a:lnTo>
                  <a:close/>
                </a:path>
              </a:pathLst>
            </a:custGeom>
            <a:solidFill>
              <a:srgbClr val="E00E23"/>
            </a:solidFill>
          </p:spPr>
        </p:sp>
        <p:sp>
          <p:nvSpPr>
            <p:cNvPr id="4" name="Freeform 4"/>
            <p:cNvSpPr/>
            <p:nvPr/>
          </p:nvSpPr>
          <p:spPr>
            <a:xfrm>
              <a:off x="0" y="0"/>
              <a:ext cx="24417782" cy="2716022"/>
            </a:xfrm>
            <a:custGeom>
              <a:avLst/>
              <a:gdLst/>
              <a:ahLst/>
              <a:cxnLst/>
              <a:rect l="l" t="t" r="r" b="b"/>
              <a:pathLst>
                <a:path w="24417782" h="2716022">
                  <a:moveTo>
                    <a:pt x="16891" y="0"/>
                  </a:moveTo>
                  <a:lnTo>
                    <a:pt x="24400890" y="0"/>
                  </a:lnTo>
                  <a:cubicBezTo>
                    <a:pt x="24410290" y="0"/>
                    <a:pt x="24417782" y="7620"/>
                    <a:pt x="24417782" y="16891"/>
                  </a:cubicBezTo>
                  <a:lnTo>
                    <a:pt x="24417782" y="2699131"/>
                  </a:lnTo>
                  <a:cubicBezTo>
                    <a:pt x="24417782" y="2708529"/>
                    <a:pt x="24410163" y="2716022"/>
                    <a:pt x="24400890" y="2716022"/>
                  </a:cubicBezTo>
                  <a:lnTo>
                    <a:pt x="16891" y="2716022"/>
                  </a:lnTo>
                  <a:cubicBezTo>
                    <a:pt x="7493" y="2716022"/>
                    <a:pt x="0" y="2708402"/>
                    <a:pt x="0" y="2699131"/>
                  </a:cubicBezTo>
                  <a:lnTo>
                    <a:pt x="0" y="16891"/>
                  </a:lnTo>
                  <a:cubicBezTo>
                    <a:pt x="0" y="7620"/>
                    <a:pt x="7620" y="0"/>
                    <a:pt x="16891" y="0"/>
                  </a:cubicBezTo>
                  <a:moveTo>
                    <a:pt x="16891" y="33909"/>
                  </a:moveTo>
                  <a:lnTo>
                    <a:pt x="16891" y="16891"/>
                  </a:lnTo>
                  <a:lnTo>
                    <a:pt x="33909" y="16891"/>
                  </a:lnTo>
                  <a:lnTo>
                    <a:pt x="33909" y="2699131"/>
                  </a:lnTo>
                  <a:lnTo>
                    <a:pt x="16891" y="2699131"/>
                  </a:lnTo>
                  <a:lnTo>
                    <a:pt x="16891" y="2682240"/>
                  </a:lnTo>
                  <a:lnTo>
                    <a:pt x="24400890" y="2682240"/>
                  </a:lnTo>
                  <a:lnTo>
                    <a:pt x="24400890" y="2699131"/>
                  </a:lnTo>
                  <a:lnTo>
                    <a:pt x="24384000" y="2699131"/>
                  </a:lnTo>
                  <a:lnTo>
                    <a:pt x="24384000" y="16891"/>
                  </a:lnTo>
                  <a:lnTo>
                    <a:pt x="24400890" y="16891"/>
                  </a:lnTo>
                  <a:lnTo>
                    <a:pt x="24400890" y="33909"/>
                  </a:lnTo>
                  <a:lnTo>
                    <a:pt x="16891" y="33909"/>
                  </a:lnTo>
                  <a:close/>
                </a:path>
              </a:pathLst>
            </a:custGeom>
            <a:solidFill>
              <a:srgbClr val="0D1B3E"/>
            </a:solidFill>
          </p:spPr>
        </p:sp>
      </p:grpSp>
      <p:grpSp>
        <p:nvGrpSpPr>
          <p:cNvPr id="5" name="Group 5"/>
          <p:cNvGrpSpPr/>
          <p:nvPr/>
        </p:nvGrpSpPr>
        <p:grpSpPr>
          <a:xfrm>
            <a:off x="-12697" y="1998983"/>
            <a:ext cx="18313403" cy="125987"/>
            <a:chOff x="0" y="0"/>
            <a:chExt cx="24417871" cy="167983"/>
          </a:xfrm>
        </p:grpSpPr>
        <p:sp>
          <p:nvSpPr>
            <p:cNvPr id="6" name="Freeform 6"/>
            <p:cNvSpPr/>
            <p:nvPr/>
          </p:nvSpPr>
          <p:spPr>
            <a:xfrm>
              <a:off x="16891" y="16891"/>
              <a:ext cx="24383999" cy="134112"/>
            </a:xfrm>
            <a:custGeom>
              <a:avLst/>
              <a:gdLst/>
              <a:ahLst/>
              <a:cxnLst/>
              <a:rect l="l" t="t" r="r" b="b"/>
              <a:pathLst>
                <a:path w="24383999" h="134112">
                  <a:moveTo>
                    <a:pt x="0" y="0"/>
                  </a:moveTo>
                  <a:lnTo>
                    <a:pt x="24383999" y="0"/>
                  </a:lnTo>
                  <a:lnTo>
                    <a:pt x="24383999" y="134112"/>
                  </a:lnTo>
                  <a:lnTo>
                    <a:pt x="0" y="134112"/>
                  </a:lnTo>
                  <a:close/>
                </a:path>
              </a:pathLst>
            </a:custGeom>
            <a:solidFill>
              <a:srgbClr val="FEFEFE"/>
            </a:solidFill>
          </p:spPr>
        </p:sp>
        <p:sp>
          <p:nvSpPr>
            <p:cNvPr id="7" name="Freeform 7"/>
            <p:cNvSpPr/>
            <p:nvPr/>
          </p:nvSpPr>
          <p:spPr>
            <a:xfrm>
              <a:off x="0" y="0"/>
              <a:ext cx="24417782" cy="167896"/>
            </a:xfrm>
            <a:custGeom>
              <a:avLst/>
              <a:gdLst/>
              <a:ahLst/>
              <a:cxnLst/>
              <a:rect l="l" t="t" r="r" b="b"/>
              <a:pathLst>
                <a:path w="24417782" h="167896">
                  <a:moveTo>
                    <a:pt x="16891" y="0"/>
                  </a:moveTo>
                  <a:lnTo>
                    <a:pt x="24400890" y="0"/>
                  </a:lnTo>
                  <a:cubicBezTo>
                    <a:pt x="24410290" y="0"/>
                    <a:pt x="24417782" y="7620"/>
                    <a:pt x="24417782" y="16891"/>
                  </a:cubicBezTo>
                  <a:lnTo>
                    <a:pt x="24417782" y="151003"/>
                  </a:lnTo>
                  <a:cubicBezTo>
                    <a:pt x="24417782" y="160401"/>
                    <a:pt x="24410163" y="167894"/>
                    <a:pt x="24400890" y="167894"/>
                  </a:cubicBezTo>
                  <a:lnTo>
                    <a:pt x="16891" y="167894"/>
                  </a:lnTo>
                  <a:cubicBezTo>
                    <a:pt x="7620" y="168021"/>
                    <a:pt x="0" y="160401"/>
                    <a:pt x="0" y="151003"/>
                  </a:cubicBezTo>
                  <a:lnTo>
                    <a:pt x="0" y="16891"/>
                  </a:lnTo>
                  <a:cubicBezTo>
                    <a:pt x="0" y="7620"/>
                    <a:pt x="7620" y="0"/>
                    <a:pt x="16891" y="0"/>
                  </a:cubicBezTo>
                  <a:moveTo>
                    <a:pt x="16891" y="33909"/>
                  </a:moveTo>
                  <a:lnTo>
                    <a:pt x="16891" y="16891"/>
                  </a:lnTo>
                  <a:lnTo>
                    <a:pt x="33909" y="16891"/>
                  </a:lnTo>
                  <a:lnTo>
                    <a:pt x="33909" y="151003"/>
                  </a:lnTo>
                  <a:lnTo>
                    <a:pt x="16891" y="151003"/>
                  </a:lnTo>
                  <a:lnTo>
                    <a:pt x="16891" y="134112"/>
                  </a:lnTo>
                  <a:lnTo>
                    <a:pt x="24400890" y="134112"/>
                  </a:lnTo>
                  <a:lnTo>
                    <a:pt x="24400890" y="151003"/>
                  </a:lnTo>
                  <a:lnTo>
                    <a:pt x="24384000" y="151003"/>
                  </a:lnTo>
                  <a:lnTo>
                    <a:pt x="24384000" y="16891"/>
                  </a:lnTo>
                  <a:lnTo>
                    <a:pt x="24400890" y="16891"/>
                  </a:lnTo>
                  <a:lnTo>
                    <a:pt x="24400890" y="33909"/>
                  </a:lnTo>
                  <a:lnTo>
                    <a:pt x="16891" y="33909"/>
                  </a:lnTo>
                  <a:close/>
                </a:path>
              </a:pathLst>
            </a:custGeom>
            <a:solidFill>
              <a:srgbClr val="FEFEFE"/>
            </a:solidFill>
          </p:spPr>
        </p:sp>
      </p:grpSp>
      <p:grpSp>
        <p:nvGrpSpPr>
          <p:cNvPr id="8" name="Group 8"/>
          <p:cNvGrpSpPr/>
          <p:nvPr/>
        </p:nvGrpSpPr>
        <p:grpSpPr>
          <a:xfrm>
            <a:off x="1938528" y="246383"/>
            <a:ext cx="16824960" cy="1371600"/>
            <a:chOff x="0" y="0"/>
            <a:chExt cx="22433280" cy="1828800"/>
          </a:xfrm>
        </p:grpSpPr>
        <p:sp>
          <p:nvSpPr>
            <p:cNvPr id="9" name="Freeform 9"/>
            <p:cNvSpPr/>
            <p:nvPr/>
          </p:nvSpPr>
          <p:spPr>
            <a:xfrm>
              <a:off x="0" y="0"/>
              <a:ext cx="22433280" cy="1828800"/>
            </a:xfrm>
            <a:custGeom>
              <a:avLst/>
              <a:gdLst/>
              <a:ahLst/>
              <a:cxnLst/>
              <a:rect l="l" t="t" r="r" b="b"/>
              <a:pathLst>
                <a:path w="22433280" h="1828800">
                  <a:moveTo>
                    <a:pt x="0" y="0"/>
                  </a:moveTo>
                  <a:lnTo>
                    <a:pt x="22433280" y="0"/>
                  </a:lnTo>
                  <a:lnTo>
                    <a:pt x="22433280" y="1828800"/>
                  </a:lnTo>
                  <a:lnTo>
                    <a:pt x="0" y="1828800"/>
                  </a:lnTo>
                  <a:close/>
                </a:path>
              </a:pathLst>
            </a:custGeom>
            <a:blipFill>
              <a:blip r:embed="rId2">
                <a:alphaModFix amt="0"/>
              </a:blip>
              <a:stretch>
                <a:fillRect t="-189016" b="-189016"/>
              </a:stretch>
            </a:blipFill>
          </p:spPr>
        </p:sp>
        <p:sp>
          <p:nvSpPr>
            <p:cNvPr id="10" name="TextBox 10"/>
            <p:cNvSpPr txBox="1"/>
            <p:nvPr/>
          </p:nvSpPr>
          <p:spPr>
            <a:xfrm>
              <a:off x="0" y="-38100"/>
              <a:ext cx="22433280" cy="1866900"/>
            </a:xfrm>
            <a:prstGeom prst="rect">
              <a:avLst/>
            </a:prstGeom>
          </p:spPr>
          <p:txBody>
            <a:bodyPr lIns="0" tIns="0" rIns="0" bIns="0" rtlCol="0" anchor="ctr"/>
            <a:lstStyle/>
            <a:p>
              <a:pPr algn="l">
                <a:lnSpc>
                  <a:spcPts val="6719"/>
                </a:lnSpc>
              </a:pPr>
              <a:r>
                <a:rPr lang="en-US" sz="5599" b="1">
                  <a:solidFill>
                    <a:srgbClr val="FFFFFF"/>
                  </a:solidFill>
                  <a:latin typeface="Arial Bold"/>
                  <a:ea typeface="Arial Bold"/>
                  <a:cs typeface="Arial Bold"/>
                  <a:sym typeface="Arial Bold"/>
                </a:rPr>
                <a:t>PROMOTION STRATEGY</a:t>
              </a:r>
            </a:p>
          </p:txBody>
        </p:sp>
      </p:grpSp>
      <p:grpSp>
        <p:nvGrpSpPr>
          <p:cNvPr id="11" name="Group 11"/>
          <p:cNvGrpSpPr/>
          <p:nvPr/>
        </p:nvGrpSpPr>
        <p:grpSpPr>
          <a:xfrm>
            <a:off x="506482" y="2273303"/>
            <a:ext cx="8425177" cy="3395977"/>
            <a:chOff x="0" y="0"/>
            <a:chExt cx="11233569" cy="4527969"/>
          </a:xfrm>
        </p:grpSpPr>
        <p:sp>
          <p:nvSpPr>
            <p:cNvPr id="12" name="Freeform 12"/>
            <p:cNvSpPr/>
            <p:nvPr/>
          </p:nvSpPr>
          <p:spPr>
            <a:xfrm>
              <a:off x="8509" y="8509"/>
              <a:ext cx="11216640" cy="4511040"/>
            </a:xfrm>
            <a:custGeom>
              <a:avLst/>
              <a:gdLst/>
              <a:ahLst/>
              <a:cxnLst/>
              <a:rect l="l" t="t" r="r" b="b"/>
              <a:pathLst>
                <a:path w="11216640" h="4511040">
                  <a:moveTo>
                    <a:pt x="0" y="0"/>
                  </a:moveTo>
                  <a:lnTo>
                    <a:pt x="11216640" y="0"/>
                  </a:lnTo>
                  <a:lnTo>
                    <a:pt x="11216640" y="4511040"/>
                  </a:lnTo>
                  <a:lnTo>
                    <a:pt x="0" y="4511040"/>
                  </a:lnTo>
                  <a:close/>
                </a:path>
              </a:pathLst>
            </a:custGeom>
            <a:blipFill>
              <a:blip r:embed="rId3">
                <a:alphaModFix amt="25000"/>
              </a:blip>
              <a:stretch>
                <a:fillRect t="-83293" r="-27473" b="-2162"/>
              </a:stretch>
            </a:blipFill>
          </p:spPr>
        </p:sp>
        <p:sp>
          <p:nvSpPr>
            <p:cNvPr id="13" name="Freeform 13"/>
            <p:cNvSpPr/>
            <p:nvPr/>
          </p:nvSpPr>
          <p:spPr>
            <a:xfrm>
              <a:off x="0" y="0"/>
              <a:ext cx="11233658" cy="4528058"/>
            </a:xfrm>
            <a:custGeom>
              <a:avLst/>
              <a:gdLst/>
              <a:ahLst/>
              <a:cxnLst/>
              <a:rect l="l" t="t" r="r" b="b"/>
              <a:pathLst>
                <a:path w="11233658" h="4528058">
                  <a:moveTo>
                    <a:pt x="8509" y="0"/>
                  </a:moveTo>
                  <a:lnTo>
                    <a:pt x="11225149" y="0"/>
                  </a:lnTo>
                  <a:cubicBezTo>
                    <a:pt x="11229848" y="0"/>
                    <a:pt x="11233658" y="3810"/>
                    <a:pt x="11233658" y="8509"/>
                  </a:cubicBezTo>
                  <a:lnTo>
                    <a:pt x="11233658" y="4519549"/>
                  </a:lnTo>
                  <a:cubicBezTo>
                    <a:pt x="11233658" y="4524248"/>
                    <a:pt x="11229848" y="4528058"/>
                    <a:pt x="11225149" y="4528058"/>
                  </a:cubicBezTo>
                  <a:lnTo>
                    <a:pt x="8509" y="4528058"/>
                  </a:lnTo>
                  <a:cubicBezTo>
                    <a:pt x="3810" y="4528058"/>
                    <a:pt x="0" y="4524248"/>
                    <a:pt x="0" y="4519549"/>
                  </a:cubicBezTo>
                  <a:lnTo>
                    <a:pt x="0" y="8509"/>
                  </a:lnTo>
                  <a:cubicBezTo>
                    <a:pt x="0" y="3810"/>
                    <a:pt x="3810" y="0"/>
                    <a:pt x="8509" y="0"/>
                  </a:cubicBezTo>
                  <a:moveTo>
                    <a:pt x="8509" y="16891"/>
                  </a:moveTo>
                  <a:lnTo>
                    <a:pt x="8509" y="8509"/>
                  </a:lnTo>
                  <a:lnTo>
                    <a:pt x="17018" y="8509"/>
                  </a:lnTo>
                  <a:lnTo>
                    <a:pt x="17018" y="4519549"/>
                  </a:lnTo>
                  <a:lnTo>
                    <a:pt x="8509" y="4519549"/>
                  </a:lnTo>
                  <a:lnTo>
                    <a:pt x="8509" y="4511040"/>
                  </a:lnTo>
                  <a:lnTo>
                    <a:pt x="11225149" y="4511040"/>
                  </a:lnTo>
                  <a:lnTo>
                    <a:pt x="11225149" y="4519549"/>
                  </a:lnTo>
                  <a:lnTo>
                    <a:pt x="11216640" y="4519549"/>
                  </a:lnTo>
                  <a:lnTo>
                    <a:pt x="11216640" y="8509"/>
                  </a:lnTo>
                  <a:lnTo>
                    <a:pt x="11225149" y="8509"/>
                  </a:lnTo>
                  <a:lnTo>
                    <a:pt x="11225149" y="17018"/>
                  </a:lnTo>
                  <a:lnTo>
                    <a:pt x="8509" y="17018"/>
                  </a:lnTo>
                  <a:close/>
                </a:path>
              </a:pathLst>
            </a:custGeom>
            <a:solidFill>
              <a:srgbClr val="E2E8F0">
                <a:alpha val="24706"/>
              </a:srgbClr>
            </a:solidFill>
          </p:spPr>
        </p:sp>
      </p:grpSp>
      <p:grpSp>
        <p:nvGrpSpPr>
          <p:cNvPr id="14" name="Group 14"/>
          <p:cNvGrpSpPr/>
          <p:nvPr/>
        </p:nvGrpSpPr>
        <p:grpSpPr>
          <a:xfrm>
            <a:off x="353063" y="2273303"/>
            <a:ext cx="153419" cy="3408683"/>
            <a:chOff x="0" y="0"/>
            <a:chExt cx="204559" cy="4544911"/>
          </a:xfrm>
        </p:grpSpPr>
        <p:sp>
          <p:nvSpPr>
            <p:cNvPr id="15" name="Freeform 15"/>
            <p:cNvSpPr/>
            <p:nvPr/>
          </p:nvSpPr>
          <p:spPr>
            <a:xfrm>
              <a:off x="16891" y="16891"/>
              <a:ext cx="170688" cy="4511040"/>
            </a:xfrm>
            <a:custGeom>
              <a:avLst/>
              <a:gdLst/>
              <a:ahLst/>
              <a:cxnLst/>
              <a:rect l="l" t="t" r="r" b="b"/>
              <a:pathLst>
                <a:path w="170688" h="4511040">
                  <a:moveTo>
                    <a:pt x="0" y="0"/>
                  </a:moveTo>
                  <a:lnTo>
                    <a:pt x="170688" y="0"/>
                  </a:lnTo>
                  <a:lnTo>
                    <a:pt x="170688" y="4511040"/>
                  </a:lnTo>
                  <a:lnTo>
                    <a:pt x="0" y="4511040"/>
                  </a:lnTo>
                  <a:close/>
                </a:path>
              </a:pathLst>
            </a:custGeom>
            <a:solidFill>
              <a:srgbClr val="F8FAFC"/>
            </a:solidFill>
          </p:spPr>
        </p:sp>
        <p:sp>
          <p:nvSpPr>
            <p:cNvPr id="16" name="Freeform 16"/>
            <p:cNvSpPr/>
            <p:nvPr/>
          </p:nvSpPr>
          <p:spPr>
            <a:xfrm>
              <a:off x="0" y="0"/>
              <a:ext cx="204470" cy="4544822"/>
            </a:xfrm>
            <a:custGeom>
              <a:avLst/>
              <a:gdLst/>
              <a:ahLst/>
              <a:cxnLst/>
              <a:rect l="l" t="t" r="r" b="b"/>
              <a:pathLst>
                <a:path w="204470" h="4544822">
                  <a:moveTo>
                    <a:pt x="16891" y="0"/>
                  </a:moveTo>
                  <a:lnTo>
                    <a:pt x="187579" y="0"/>
                  </a:lnTo>
                  <a:cubicBezTo>
                    <a:pt x="196977" y="0"/>
                    <a:pt x="204470" y="7620"/>
                    <a:pt x="204470" y="16891"/>
                  </a:cubicBezTo>
                  <a:lnTo>
                    <a:pt x="204470" y="4527931"/>
                  </a:lnTo>
                  <a:cubicBezTo>
                    <a:pt x="204470" y="4537329"/>
                    <a:pt x="196850" y="4544822"/>
                    <a:pt x="187579" y="4544822"/>
                  </a:cubicBezTo>
                  <a:lnTo>
                    <a:pt x="16891" y="4544822"/>
                  </a:lnTo>
                  <a:cubicBezTo>
                    <a:pt x="7493" y="4544822"/>
                    <a:pt x="0" y="4537202"/>
                    <a:pt x="0" y="4527931"/>
                  </a:cubicBezTo>
                  <a:lnTo>
                    <a:pt x="0" y="16891"/>
                  </a:lnTo>
                  <a:cubicBezTo>
                    <a:pt x="0" y="7620"/>
                    <a:pt x="7620" y="0"/>
                    <a:pt x="16891" y="0"/>
                  </a:cubicBezTo>
                  <a:moveTo>
                    <a:pt x="16891" y="33909"/>
                  </a:moveTo>
                  <a:lnTo>
                    <a:pt x="16891" y="16891"/>
                  </a:lnTo>
                  <a:lnTo>
                    <a:pt x="33909" y="16891"/>
                  </a:lnTo>
                  <a:lnTo>
                    <a:pt x="33909" y="4527931"/>
                  </a:lnTo>
                  <a:lnTo>
                    <a:pt x="16891" y="4527931"/>
                  </a:lnTo>
                  <a:lnTo>
                    <a:pt x="16891" y="4511040"/>
                  </a:lnTo>
                  <a:lnTo>
                    <a:pt x="187579" y="4511040"/>
                  </a:lnTo>
                  <a:lnTo>
                    <a:pt x="187579" y="4527931"/>
                  </a:lnTo>
                  <a:lnTo>
                    <a:pt x="170688" y="4527931"/>
                  </a:lnTo>
                  <a:lnTo>
                    <a:pt x="170688" y="16891"/>
                  </a:lnTo>
                  <a:lnTo>
                    <a:pt x="187579" y="16891"/>
                  </a:lnTo>
                  <a:lnTo>
                    <a:pt x="187579" y="33909"/>
                  </a:lnTo>
                  <a:lnTo>
                    <a:pt x="16891" y="33909"/>
                  </a:lnTo>
                  <a:close/>
                </a:path>
              </a:pathLst>
            </a:custGeom>
            <a:solidFill>
              <a:srgbClr val="F8FAFC"/>
            </a:solidFill>
          </p:spPr>
        </p:sp>
      </p:grpSp>
      <p:grpSp>
        <p:nvGrpSpPr>
          <p:cNvPr id="17" name="Group 17"/>
          <p:cNvGrpSpPr/>
          <p:nvPr/>
        </p:nvGrpSpPr>
        <p:grpSpPr>
          <a:xfrm>
            <a:off x="1244351" y="2499998"/>
            <a:ext cx="6949440" cy="769620"/>
            <a:chOff x="0" y="0"/>
            <a:chExt cx="9265920" cy="1026160"/>
          </a:xfrm>
        </p:grpSpPr>
        <p:sp>
          <p:nvSpPr>
            <p:cNvPr id="18" name="Freeform 18"/>
            <p:cNvSpPr/>
            <p:nvPr/>
          </p:nvSpPr>
          <p:spPr>
            <a:xfrm>
              <a:off x="0" y="0"/>
              <a:ext cx="9265920" cy="1026160"/>
            </a:xfrm>
            <a:custGeom>
              <a:avLst/>
              <a:gdLst/>
              <a:ahLst/>
              <a:cxnLst/>
              <a:rect l="l" t="t" r="r" b="b"/>
              <a:pathLst>
                <a:path w="9265920" h="1026160">
                  <a:moveTo>
                    <a:pt x="0" y="0"/>
                  </a:moveTo>
                  <a:lnTo>
                    <a:pt x="9265920" y="0"/>
                  </a:lnTo>
                  <a:lnTo>
                    <a:pt x="9265920" y="1026160"/>
                  </a:lnTo>
                  <a:lnTo>
                    <a:pt x="0" y="1026160"/>
                  </a:lnTo>
                  <a:close/>
                </a:path>
              </a:pathLst>
            </a:custGeom>
            <a:blipFill>
              <a:blip r:embed="rId2">
                <a:alphaModFix amt="0"/>
              </a:blip>
              <a:stretch>
                <a:fillRect t="-126043" b="-125845"/>
              </a:stretch>
            </a:blipFill>
          </p:spPr>
        </p:sp>
        <p:sp>
          <p:nvSpPr>
            <p:cNvPr id="19" name="TextBox 19"/>
            <p:cNvSpPr txBox="1"/>
            <p:nvPr/>
          </p:nvSpPr>
          <p:spPr>
            <a:xfrm>
              <a:off x="0" y="-66675"/>
              <a:ext cx="9265920" cy="1092835"/>
            </a:xfrm>
            <a:prstGeom prst="rect">
              <a:avLst/>
            </a:prstGeom>
          </p:spPr>
          <p:txBody>
            <a:bodyPr lIns="0" tIns="0" rIns="0" bIns="0" rtlCol="0" anchor="ctr"/>
            <a:lstStyle/>
            <a:p>
              <a:pPr algn="l">
                <a:lnSpc>
                  <a:spcPts val="4320"/>
                </a:lnSpc>
              </a:pPr>
              <a:r>
                <a:rPr lang="en-US" sz="3600" b="1">
                  <a:solidFill>
                    <a:srgbClr val="0D1B3E"/>
                  </a:solidFill>
                  <a:latin typeface="Calibri (MS) Bold"/>
                  <a:ea typeface="Calibri (MS) Bold"/>
                  <a:cs typeface="Calibri (MS) Bold"/>
                  <a:sym typeface="Calibri (MS) Bold"/>
                </a:rPr>
                <a:t>Digital Campaigns</a:t>
              </a:r>
            </a:p>
          </p:txBody>
        </p:sp>
      </p:grpSp>
      <p:grpSp>
        <p:nvGrpSpPr>
          <p:cNvPr id="20" name="Group 20"/>
          <p:cNvGrpSpPr/>
          <p:nvPr/>
        </p:nvGrpSpPr>
        <p:grpSpPr>
          <a:xfrm>
            <a:off x="9320527" y="2279647"/>
            <a:ext cx="8425177" cy="3395977"/>
            <a:chOff x="0" y="0"/>
            <a:chExt cx="11233569" cy="4527969"/>
          </a:xfrm>
        </p:grpSpPr>
        <p:sp>
          <p:nvSpPr>
            <p:cNvPr id="21" name="Freeform 21"/>
            <p:cNvSpPr/>
            <p:nvPr/>
          </p:nvSpPr>
          <p:spPr>
            <a:xfrm>
              <a:off x="8509" y="8509"/>
              <a:ext cx="11216640" cy="4511040"/>
            </a:xfrm>
            <a:custGeom>
              <a:avLst/>
              <a:gdLst/>
              <a:ahLst/>
              <a:cxnLst/>
              <a:rect l="l" t="t" r="r" b="b"/>
              <a:pathLst>
                <a:path w="11216640" h="4511040">
                  <a:moveTo>
                    <a:pt x="0" y="0"/>
                  </a:moveTo>
                  <a:lnTo>
                    <a:pt x="11216640" y="0"/>
                  </a:lnTo>
                  <a:lnTo>
                    <a:pt x="11216640" y="4511040"/>
                  </a:lnTo>
                  <a:lnTo>
                    <a:pt x="0" y="4511040"/>
                  </a:lnTo>
                  <a:close/>
                </a:path>
              </a:pathLst>
            </a:custGeom>
            <a:blipFill>
              <a:blip r:embed="rId4">
                <a:alphaModFix amt="15000"/>
              </a:blip>
              <a:stretch>
                <a:fillRect l="-5282" t="-39060" b="-35352"/>
              </a:stretch>
            </a:blipFill>
          </p:spPr>
        </p:sp>
        <p:sp>
          <p:nvSpPr>
            <p:cNvPr id="22" name="Freeform 22"/>
            <p:cNvSpPr/>
            <p:nvPr/>
          </p:nvSpPr>
          <p:spPr>
            <a:xfrm>
              <a:off x="0" y="0"/>
              <a:ext cx="11233658" cy="4528058"/>
            </a:xfrm>
            <a:custGeom>
              <a:avLst/>
              <a:gdLst/>
              <a:ahLst/>
              <a:cxnLst/>
              <a:rect l="l" t="t" r="r" b="b"/>
              <a:pathLst>
                <a:path w="11233658" h="4528058">
                  <a:moveTo>
                    <a:pt x="8509" y="0"/>
                  </a:moveTo>
                  <a:lnTo>
                    <a:pt x="11225149" y="0"/>
                  </a:lnTo>
                  <a:cubicBezTo>
                    <a:pt x="11229848" y="0"/>
                    <a:pt x="11233658" y="3810"/>
                    <a:pt x="11233658" y="8509"/>
                  </a:cubicBezTo>
                  <a:lnTo>
                    <a:pt x="11233658" y="4519549"/>
                  </a:lnTo>
                  <a:cubicBezTo>
                    <a:pt x="11233658" y="4524248"/>
                    <a:pt x="11229848" y="4528058"/>
                    <a:pt x="11225149" y="4528058"/>
                  </a:cubicBezTo>
                  <a:lnTo>
                    <a:pt x="8509" y="4528058"/>
                  </a:lnTo>
                  <a:cubicBezTo>
                    <a:pt x="3810" y="4528058"/>
                    <a:pt x="0" y="4524248"/>
                    <a:pt x="0" y="4519549"/>
                  </a:cubicBezTo>
                  <a:lnTo>
                    <a:pt x="0" y="8509"/>
                  </a:lnTo>
                  <a:cubicBezTo>
                    <a:pt x="0" y="3810"/>
                    <a:pt x="3810" y="0"/>
                    <a:pt x="8509" y="0"/>
                  </a:cubicBezTo>
                  <a:moveTo>
                    <a:pt x="8509" y="16891"/>
                  </a:moveTo>
                  <a:lnTo>
                    <a:pt x="8509" y="8509"/>
                  </a:lnTo>
                  <a:lnTo>
                    <a:pt x="17018" y="8509"/>
                  </a:lnTo>
                  <a:lnTo>
                    <a:pt x="17018" y="4519549"/>
                  </a:lnTo>
                  <a:lnTo>
                    <a:pt x="8509" y="4519549"/>
                  </a:lnTo>
                  <a:lnTo>
                    <a:pt x="8509" y="4511040"/>
                  </a:lnTo>
                  <a:lnTo>
                    <a:pt x="11225149" y="4511040"/>
                  </a:lnTo>
                  <a:lnTo>
                    <a:pt x="11225149" y="4519549"/>
                  </a:lnTo>
                  <a:lnTo>
                    <a:pt x="11216640" y="4519549"/>
                  </a:lnTo>
                  <a:lnTo>
                    <a:pt x="11216640" y="8509"/>
                  </a:lnTo>
                  <a:lnTo>
                    <a:pt x="11225149" y="8509"/>
                  </a:lnTo>
                  <a:lnTo>
                    <a:pt x="11225149" y="17018"/>
                  </a:lnTo>
                  <a:lnTo>
                    <a:pt x="8509" y="17018"/>
                  </a:lnTo>
                  <a:close/>
                </a:path>
              </a:pathLst>
            </a:custGeom>
            <a:solidFill>
              <a:srgbClr val="E2E8F0">
                <a:alpha val="14902"/>
              </a:srgbClr>
            </a:solidFill>
          </p:spPr>
        </p:sp>
      </p:grpSp>
      <p:grpSp>
        <p:nvGrpSpPr>
          <p:cNvPr id="23" name="Group 23"/>
          <p:cNvGrpSpPr/>
          <p:nvPr/>
        </p:nvGrpSpPr>
        <p:grpSpPr>
          <a:xfrm>
            <a:off x="9314183" y="2273303"/>
            <a:ext cx="195577" cy="3408683"/>
            <a:chOff x="0" y="0"/>
            <a:chExt cx="260769" cy="4544911"/>
          </a:xfrm>
        </p:grpSpPr>
        <p:sp>
          <p:nvSpPr>
            <p:cNvPr id="24" name="Freeform 24"/>
            <p:cNvSpPr/>
            <p:nvPr/>
          </p:nvSpPr>
          <p:spPr>
            <a:xfrm>
              <a:off x="21532" y="16891"/>
              <a:ext cx="217591" cy="4511040"/>
            </a:xfrm>
            <a:custGeom>
              <a:avLst/>
              <a:gdLst/>
              <a:ahLst/>
              <a:cxnLst/>
              <a:rect l="l" t="t" r="r" b="b"/>
              <a:pathLst>
                <a:path w="217591" h="4511040">
                  <a:moveTo>
                    <a:pt x="0" y="0"/>
                  </a:moveTo>
                  <a:lnTo>
                    <a:pt x="217591" y="0"/>
                  </a:lnTo>
                  <a:lnTo>
                    <a:pt x="217591" y="4511040"/>
                  </a:lnTo>
                  <a:lnTo>
                    <a:pt x="0" y="4511040"/>
                  </a:lnTo>
                  <a:close/>
                </a:path>
              </a:pathLst>
            </a:custGeom>
            <a:solidFill>
              <a:srgbClr val="FFFFFF">
                <a:alpha val="80000"/>
              </a:srgbClr>
            </a:solidFill>
          </p:spPr>
        </p:sp>
        <p:sp>
          <p:nvSpPr>
            <p:cNvPr id="25" name="Freeform 25"/>
            <p:cNvSpPr/>
            <p:nvPr/>
          </p:nvSpPr>
          <p:spPr>
            <a:xfrm>
              <a:off x="0" y="0"/>
              <a:ext cx="260656" cy="4544822"/>
            </a:xfrm>
            <a:custGeom>
              <a:avLst/>
              <a:gdLst/>
              <a:ahLst/>
              <a:cxnLst/>
              <a:rect l="l" t="t" r="r" b="b"/>
              <a:pathLst>
                <a:path w="260656" h="4544822">
                  <a:moveTo>
                    <a:pt x="21532" y="0"/>
                  </a:moveTo>
                  <a:lnTo>
                    <a:pt x="239123" y="0"/>
                  </a:lnTo>
                  <a:cubicBezTo>
                    <a:pt x="251104" y="0"/>
                    <a:pt x="260656" y="7620"/>
                    <a:pt x="260656" y="16891"/>
                  </a:cubicBezTo>
                  <a:lnTo>
                    <a:pt x="260656" y="4527931"/>
                  </a:lnTo>
                  <a:cubicBezTo>
                    <a:pt x="260656" y="4537329"/>
                    <a:pt x="250942" y="4544822"/>
                    <a:pt x="239123" y="4544822"/>
                  </a:cubicBezTo>
                  <a:lnTo>
                    <a:pt x="21532" y="4544822"/>
                  </a:lnTo>
                  <a:cubicBezTo>
                    <a:pt x="9552" y="4544822"/>
                    <a:pt x="0" y="4537202"/>
                    <a:pt x="0" y="4527931"/>
                  </a:cubicBezTo>
                  <a:lnTo>
                    <a:pt x="0" y="16891"/>
                  </a:lnTo>
                  <a:cubicBezTo>
                    <a:pt x="0" y="7620"/>
                    <a:pt x="9714" y="0"/>
                    <a:pt x="21532" y="0"/>
                  </a:cubicBezTo>
                  <a:moveTo>
                    <a:pt x="21532" y="33909"/>
                  </a:moveTo>
                  <a:lnTo>
                    <a:pt x="21532" y="16891"/>
                  </a:lnTo>
                  <a:lnTo>
                    <a:pt x="43227" y="16891"/>
                  </a:lnTo>
                  <a:lnTo>
                    <a:pt x="43227" y="4527931"/>
                  </a:lnTo>
                  <a:lnTo>
                    <a:pt x="21532" y="4527931"/>
                  </a:lnTo>
                  <a:lnTo>
                    <a:pt x="21532" y="4511040"/>
                  </a:lnTo>
                  <a:lnTo>
                    <a:pt x="239123" y="4511040"/>
                  </a:lnTo>
                  <a:lnTo>
                    <a:pt x="239123" y="4527931"/>
                  </a:lnTo>
                  <a:lnTo>
                    <a:pt x="217591" y="4527931"/>
                  </a:lnTo>
                  <a:lnTo>
                    <a:pt x="217591" y="16891"/>
                  </a:lnTo>
                  <a:lnTo>
                    <a:pt x="239123" y="16891"/>
                  </a:lnTo>
                  <a:lnTo>
                    <a:pt x="239123" y="33909"/>
                  </a:lnTo>
                  <a:lnTo>
                    <a:pt x="21532" y="33909"/>
                  </a:lnTo>
                  <a:close/>
                </a:path>
              </a:pathLst>
            </a:custGeom>
            <a:solidFill>
              <a:srgbClr val="FEFEFE">
                <a:alpha val="80000"/>
              </a:srgbClr>
            </a:solidFill>
          </p:spPr>
        </p:sp>
      </p:grpSp>
      <p:grpSp>
        <p:nvGrpSpPr>
          <p:cNvPr id="26" name="Group 26"/>
          <p:cNvGrpSpPr/>
          <p:nvPr/>
        </p:nvGrpSpPr>
        <p:grpSpPr>
          <a:xfrm>
            <a:off x="9820656" y="2501522"/>
            <a:ext cx="6949440" cy="768096"/>
            <a:chOff x="0" y="0"/>
            <a:chExt cx="9265920" cy="1024128"/>
          </a:xfrm>
        </p:grpSpPr>
        <p:sp>
          <p:nvSpPr>
            <p:cNvPr id="27" name="Freeform 27"/>
            <p:cNvSpPr/>
            <p:nvPr/>
          </p:nvSpPr>
          <p:spPr>
            <a:xfrm>
              <a:off x="0" y="0"/>
              <a:ext cx="9265920" cy="1024128"/>
            </a:xfrm>
            <a:custGeom>
              <a:avLst/>
              <a:gdLst/>
              <a:ahLst/>
              <a:cxnLst/>
              <a:rect l="l" t="t" r="r" b="b"/>
              <a:pathLst>
                <a:path w="9265920" h="1024128">
                  <a:moveTo>
                    <a:pt x="0" y="0"/>
                  </a:moveTo>
                  <a:lnTo>
                    <a:pt x="9265920" y="0"/>
                  </a:lnTo>
                  <a:lnTo>
                    <a:pt x="9265920" y="1024128"/>
                  </a:lnTo>
                  <a:lnTo>
                    <a:pt x="0" y="1024128"/>
                  </a:lnTo>
                  <a:close/>
                </a:path>
              </a:pathLst>
            </a:custGeom>
            <a:blipFill>
              <a:blip r:embed="rId2">
                <a:alphaModFix amt="0"/>
              </a:blip>
              <a:stretch>
                <a:fillRect t="-126293" b="-126293"/>
              </a:stretch>
            </a:blipFill>
          </p:spPr>
        </p:sp>
        <p:sp>
          <p:nvSpPr>
            <p:cNvPr id="28" name="TextBox 28"/>
            <p:cNvSpPr txBox="1"/>
            <p:nvPr/>
          </p:nvSpPr>
          <p:spPr>
            <a:xfrm>
              <a:off x="0" y="-66675"/>
              <a:ext cx="9265920" cy="1090803"/>
            </a:xfrm>
            <a:prstGeom prst="rect">
              <a:avLst/>
            </a:prstGeom>
          </p:spPr>
          <p:txBody>
            <a:bodyPr lIns="0" tIns="0" rIns="0" bIns="0" rtlCol="0" anchor="ctr"/>
            <a:lstStyle/>
            <a:p>
              <a:pPr algn="l">
                <a:lnSpc>
                  <a:spcPts val="4320"/>
                </a:lnSpc>
              </a:pPr>
              <a:r>
                <a:rPr lang="en-US" sz="3600" b="1">
                  <a:solidFill>
                    <a:srgbClr val="0D1B3E"/>
                  </a:solidFill>
                  <a:latin typeface="Calibri (MS) Bold"/>
                  <a:ea typeface="Calibri (MS) Bold"/>
                  <a:cs typeface="Calibri (MS) Bold"/>
                  <a:sym typeface="Calibri (MS) Bold"/>
                </a:rPr>
                <a:t>Celebrity Endorsement</a:t>
              </a:r>
            </a:p>
          </p:txBody>
        </p:sp>
      </p:grpSp>
      <p:grpSp>
        <p:nvGrpSpPr>
          <p:cNvPr id="29" name="Group 29"/>
          <p:cNvGrpSpPr/>
          <p:nvPr/>
        </p:nvGrpSpPr>
        <p:grpSpPr>
          <a:xfrm>
            <a:off x="359407" y="6028687"/>
            <a:ext cx="8425177" cy="3395977"/>
            <a:chOff x="0" y="0"/>
            <a:chExt cx="11233569" cy="4527969"/>
          </a:xfrm>
        </p:grpSpPr>
        <p:sp>
          <p:nvSpPr>
            <p:cNvPr id="30" name="Freeform 30"/>
            <p:cNvSpPr/>
            <p:nvPr/>
          </p:nvSpPr>
          <p:spPr>
            <a:xfrm>
              <a:off x="8509" y="8509"/>
              <a:ext cx="11216640" cy="4511040"/>
            </a:xfrm>
            <a:custGeom>
              <a:avLst/>
              <a:gdLst/>
              <a:ahLst/>
              <a:cxnLst/>
              <a:rect l="l" t="t" r="r" b="b"/>
              <a:pathLst>
                <a:path w="11216640" h="4511040">
                  <a:moveTo>
                    <a:pt x="0" y="0"/>
                  </a:moveTo>
                  <a:lnTo>
                    <a:pt x="11216640" y="0"/>
                  </a:lnTo>
                  <a:lnTo>
                    <a:pt x="11216640" y="4511040"/>
                  </a:lnTo>
                  <a:lnTo>
                    <a:pt x="0" y="4511040"/>
                  </a:lnTo>
                  <a:close/>
                </a:path>
              </a:pathLst>
            </a:custGeom>
            <a:blipFill>
              <a:blip r:embed="rId5">
                <a:alphaModFix amt="15000"/>
              </a:blip>
              <a:stretch>
                <a:fillRect l="-704" t="-26705" b="-30889"/>
              </a:stretch>
            </a:blipFill>
          </p:spPr>
        </p:sp>
        <p:sp>
          <p:nvSpPr>
            <p:cNvPr id="31" name="Freeform 31"/>
            <p:cNvSpPr/>
            <p:nvPr/>
          </p:nvSpPr>
          <p:spPr>
            <a:xfrm>
              <a:off x="0" y="0"/>
              <a:ext cx="11233658" cy="4528058"/>
            </a:xfrm>
            <a:custGeom>
              <a:avLst/>
              <a:gdLst/>
              <a:ahLst/>
              <a:cxnLst/>
              <a:rect l="l" t="t" r="r" b="b"/>
              <a:pathLst>
                <a:path w="11233658" h="4528058">
                  <a:moveTo>
                    <a:pt x="8509" y="0"/>
                  </a:moveTo>
                  <a:lnTo>
                    <a:pt x="11225149" y="0"/>
                  </a:lnTo>
                  <a:cubicBezTo>
                    <a:pt x="11229848" y="0"/>
                    <a:pt x="11233658" y="3810"/>
                    <a:pt x="11233658" y="8509"/>
                  </a:cubicBezTo>
                  <a:lnTo>
                    <a:pt x="11233658" y="4519549"/>
                  </a:lnTo>
                  <a:cubicBezTo>
                    <a:pt x="11233658" y="4524248"/>
                    <a:pt x="11229848" y="4528058"/>
                    <a:pt x="11225149" y="4528058"/>
                  </a:cubicBezTo>
                  <a:lnTo>
                    <a:pt x="8509" y="4528058"/>
                  </a:lnTo>
                  <a:cubicBezTo>
                    <a:pt x="3810" y="4528058"/>
                    <a:pt x="0" y="4524248"/>
                    <a:pt x="0" y="4519549"/>
                  </a:cubicBezTo>
                  <a:lnTo>
                    <a:pt x="0" y="8509"/>
                  </a:lnTo>
                  <a:cubicBezTo>
                    <a:pt x="0" y="3810"/>
                    <a:pt x="3810" y="0"/>
                    <a:pt x="8509" y="0"/>
                  </a:cubicBezTo>
                  <a:moveTo>
                    <a:pt x="8509" y="16891"/>
                  </a:moveTo>
                  <a:lnTo>
                    <a:pt x="8509" y="8509"/>
                  </a:lnTo>
                  <a:lnTo>
                    <a:pt x="17018" y="8509"/>
                  </a:lnTo>
                  <a:lnTo>
                    <a:pt x="17018" y="4519549"/>
                  </a:lnTo>
                  <a:lnTo>
                    <a:pt x="8509" y="4519549"/>
                  </a:lnTo>
                  <a:lnTo>
                    <a:pt x="8509" y="4511040"/>
                  </a:lnTo>
                  <a:lnTo>
                    <a:pt x="11225149" y="4511040"/>
                  </a:lnTo>
                  <a:lnTo>
                    <a:pt x="11225149" y="4519549"/>
                  </a:lnTo>
                  <a:lnTo>
                    <a:pt x="11216640" y="4519549"/>
                  </a:lnTo>
                  <a:lnTo>
                    <a:pt x="11216640" y="8509"/>
                  </a:lnTo>
                  <a:lnTo>
                    <a:pt x="11225149" y="8509"/>
                  </a:lnTo>
                  <a:lnTo>
                    <a:pt x="11225149" y="17018"/>
                  </a:lnTo>
                  <a:lnTo>
                    <a:pt x="8509" y="17018"/>
                  </a:lnTo>
                  <a:close/>
                </a:path>
              </a:pathLst>
            </a:custGeom>
            <a:solidFill>
              <a:srgbClr val="E2E8F0">
                <a:alpha val="14902"/>
              </a:srgbClr>
            </a:solidFill>
          </p:spPr>
        </p:sp>
      </p:grpSp>
      <p:grpSp>
        <p:nvGrpSpPr>
          <p:cNvPr id="32" name="Group 32"/>
          <p:cNvGrpSpPr/>
          <p:nvPr/>
        </p:nvGrpSpPr>
        <p:grpSpPr>
          <a:xfrm>
            <a:off x="353063" y="6022343"/>
            <a:ext cx="179956" cy="3408683"/>
            <a:chOff x="0" y="0"/>
            <a:chExt cx="239941" cy="4544911"/>
          </a:xfrm>
        </p:grpSpPr>
        <p:sp>
          <p:nvSpPr>
            <p:cNvPr id="33" name="Freeform 33"/>
            <p:cNvSpPr/>
            <p:nvPr/>
          </p:nvSpPr>
          <p:spPr>
            <a:xfrm>
              <a:off x="19813" y="16891"/>
              <a:ext cx="200212" cy="4511040"/>
            </a:xfrm>
            <a:custGeom>
              <a:avLst/>
              <a:gdLst/>
              <a:ahLst/>
              <a:cxnLst/>
              <a:rect l="l" t="t" r="r" b="b"/>
              <a:pathLst>
                <a:path w="200212" h="4511040">
                  <a:moveTo>
                    <a:pt x="0" y="0"/>
                  </a:moveTo>
                  <a:lnTo>
                    <a:pt x="200211" y="0"/>
                  </a:lnTo>
                  <a:lnTo>
                    <a:pt x="200211" y="4511040"/>
                  </a:lnTo>
                  <a:lnTo>
                    <a:pt x="0" y="4511040"/>
                  </a:lnTo>
                  <a:close/>
                </a:path>
              </a:pathLst>
            </a:custGeom>
            <a:solidFill>
              <a:srgbClr val="FEFEFE"/>
            </a:solidFill>
          </p:spPr>
        </p:sp>
        <p:sp>
          <p:nvSpPr>
            <p:cNvPr id="34" name="Freeform 34"/>
            <p:cNvSpPr/>
            <p:nvPr/>
          </p:nvSpPr>
          <p:spPr>
            <a:xfrm>
              <a:off x="0" y="0"/>
              <a:ext cx="239837" cy="4544822"/>
            </a:xfrm>
            <a:custGeom>
              <a:avLst/>
              <a:gdLst/>
              <a:ahLst/>
              <a:cxnLst/>
              <a:rect l="l" t="t" r="r" b="b"/>
              <a:pathLst>
                <a:path w="239837" h="4544822">
                  <a:moveTo>
                    <a:pt x="19813" y="0"/>
                  </a:moveTo>
                  <a:lnTo>
                    <a:pt x="220024" y="0"/>
                  </a:lnTo>
                  <a:cubicBezTo>
                    <a:pt x="231048" y="0"/>
                    <a:pt x="239837" y="7620"/>
                    <a:pt x="239837" y="16891"/>
                  </a:cubicBezTo>
                  <a:lnTo>
                    <a:pt x="239837" y="4527931"/>
                  </a:lnTo>
                  <a:cubicBezTo>
                    <a:pt x="239837" y="4537329"/>
                    <a:pt x="230899" y="4544822"/>
                    <a:pt x="220024" y="4544822"/>
                  </a:cubicBezTo>
                  <a:lnTo>
                    <a:pt x="19813" y="4544822"/>
                  </a:lnTo>
                  <a:cubicBezTo>
                    <a:pt x="8789" y="4544822"/>
                    <a:pt x="0" y="4537202"/>
                    <a:pt x="0" y="4527931"/>
                  </a:cubicBezTo>
                  <a:lnTo>
                    <a:pt x="0" y="16891"/>
                  </a:lnTo>
                  <a:cubicBezTo>
                    <a:pt x="0" y="7620"/>
                    <a:pt x="8938" y="0"/>
                    <a:pt x="19813" y="0"/>
                  </a:cubicBezTo>
                  <a:moveTo>
                    <a:pt x="19813" y="33909"/>
                  </a:moveTo>
                  <a:lnTo>
                    <a:pt x="19813" y="16891"/>
                  </a:lnTo>
                  <a:lnTo>
                    <a:pt x="39774" y="16891"/>
                  </a:lnTo>
                  <a:lnTo>
                    <a:pt x="39774" y="4527931"/>
                  </a:lnTo>
                  <a:lnTo>
                    <a:pt x="19813" y="4527931"/>
                  </a:lnTo>
                  <a:lnTo>
                    <a:pt x="19813" y="4511040"/>
                  </a:lnTo>
                  <a:lnTo>
                    <a:pt x="220024" y="4511040"/>
                  </a:lnTo>
                  <a:lnTo>
                    <a:pt x="220024" y="4527931"/>
                  </a:lnTo>
                  <a:lnTo>
                    <a:pt x="200212" y="4527931"/>
                  </a:lnTo>
                  <a:lnTo>
                    <a:pt x="200212" y="16891"/>
                  </a:lnTo>
                  <a:lnTo>
                    <a:pt x="220024" y="16891"/>
                  </a:lnTo>
                  <a:lnTo>
                    <a:pt x="220024" y="33909"/>
                  </a:lnTo>
                  <a:lnTo>
                    <a:pt x="19813" y="33909"/>
                  </a:lnTo>
                  <a:close/>
                </a:path>
              </a:pathLst>
            </a:custGeom>
            <a:solidFill>
              <a:srgbClr val="FFFFFF"/>
            </a:solidFill>
          </p:spPr>
        </p:sp>
      </p:grpSp>
      <p:grpSp>
        <p:nvGrpSpPr>
          <p:cNvPr id="35" name="Group 35"/>
          <p:cNvGrpSpPr/>
          <p:nvPr/>
        </p:nvGrpSpPr>
        <p:grpSpPr>
          <a:xfrm>
            <a:off x="694944" y="6272784"/>
            <a:ext cx="694944" cy="694944"/>
            <a:chOff x="0" y="0"/>
            <a:chExt cx="926592" cy="926592"/>
          </a:xfrm>
        </p:grpSpPr>
        <p:sp>
          <p:nvSpPr>
            <p:cNvPr id="36" name="Freeform 36" descr="preencoded.png"/>
            <p:cNvSpPr/>
            <p:nvPr/>
          </p:nvSpPr>
          <p:spPr>
            <a:xfrm>
              <a:off x="0" y="0"/>
              <a:ext cx="926592" cy="926592"/>
            </a:xfrm>
            <a:custGeom>
              <a:avLst/>
              <a:gdLst/>
              <a:ahLst/>
              <a:cxnLst/>
              <a:rect l="l" t="t" r="r" b="b"/>
              <a:pathLst>
                <a:path w="926592" h="926592">
                  <a:moveTo>
                    <a:pt x="0" y="0"/>
                  </a:moveTo>
                  <a:lnTo>
                    <a:pt x="926592" y="0"/>
                  </a:lnTo>
                  <a:lnTo>
                    <a:pt x="926592" y="926592"/>
                  </a:lnTo>
                  <a:lnTo>
                    <a:pt x="0" y="926592"/>
                  </a:lnTo>
                  <a:lnTo>
                    <a:pt x="0" y="0"/>
                  </a:lnTo>
                  <a:close/>
                </a:path>
              </a:pathLst>
            </a:custGeom>
            <a:blipFill>
              <a:blip r:embed="rId6"/>
              <a:stretch>
                <a:fillRect/>
              </a:stretch>
            </a:blipFill>
          </p:spPr>
        </p:sp>
      </p:grpSp>
      <p:grpSp>
        <p:nvGrpSpPr>
          <p:cNvPr id="37" name="Group 37"/>
          <p:cNvGrpSpPr/>
          <p:nvPr/>
        </p:nvGrpSpPr>
        <p:grpSpPr>
          <a:xfrm>
            <a:off x="1554480" y="6217920"/>
            <a:ext cx="6949440" cy="768096"/>
            <a:chOff x="0" y="0"/>
            <a:chExt cx="9265920" cy="1024128"/>
          </a:xfrm>
        </p:grpSpPr>
        <p:sp>
          <p:nvSpPr>
            <p:cNvPr id="38" name="Freeform 38"/>
            <p:cNvSpPr/>
            <p:nvPr/>
          </p:nvSpPr>
          <p:spPr>
            <a:xfrm>
              <a:off x="0" y="0"/>
              <a:ext cx="9265920" cy="1024128"/>
            </a:xfrm>
            <a:custGeom>
              <a:avLst/>
              <a:gdLst/>
              <a:ahLst/>
              <a:cxnLst/>
              <a:rect l="l" t="t" r="r" b="b"/>
              <a:pathLst>
                <a:path w="9265920" h="1024128">
                  <a:moveTo>
                    <a:pt x="0" y="0"/>
                  </a:moveTo>
                  <a:lnTo>
                    <a:pt x="9265920" y="0"/>
                  </a:lnTo>
                  <a:lnTo>
                    <a:pt x="9265920" y="1024128"/>
                  </a:lnTo>
                  <a:lnTo>
                    <a:pt x="0" y="1024128"/>
                  </a:lnTo>
                  <a:close/>
                </a:path>
              </a:pathLst>
            </a:custGeom>
            <a:blipFill>
              <a:blip r:embed="rId2">
                <a:alphaModFix amt="0"/>
              </a:blip>
              <a:stretch>
                <a:fillRect t="-126293" b="-126293"/>
              </a:stretch>
            </a:blipFill>
          </p:spPr>
        </p:sp>
        <p:sp>
          <p:nvSpPr>
            <p:cNvPr id="39" name="TextBox 39"/>
            <p:cNvSpPr txBox="1"/>
            <p:nvPr/>
          </p:nvSpPr>
          <p:spPr>
            <a:xfrm>
              <a:off x="0" y="-66675"/>
              <a:ext cx="9265920" cy="1090803"/>
            </a:xfrm>
            <a:prstGeom prst="rect">
              <a:avLst/>
            </a:prstGeom>
          </p:spPr>
          <p:txBody>
            <a:bodyPr lIns="0" tIns="0" rIns="0" bIns="0" rtlCol="0" anchor="ctr"/>
            <a:lstStyle/>
            <a:p>
              <a:pPr algn="l">
                <a:lnSpc>
                  <a:spcPts val="4320"/>
                </a:lnSpc>
              </a:pPr>
              <a:r>
                <a:rPr lang="en-US" sz="3600" b="1">
                  <a:solidFill>
                    <a:srgbClr val="0D1B3E"/>
                  </a:solidFill>
                  <a:latin typeface="Calibri (MS) Bold"/>
                  <a:ea typeface="Calibri (MS) Bold"/>
                  <a:cs typeface="Calibri (MS) Bold"/>
                  <a:sym typeface="Calibri (MS) Bold"/>
                </a:rPr>
                <a:t>Integrated Marketing (IMC)</a:t>
              </a:r>
            </a:p>
          </p:txBody>
        </p:sp>
      </p:grpSp>
      <p:grpSp>
        <p:nvGrpSpPr>
          <p:cNvPr id="40" name="Group 40"/>
          <p:cNvGrpSpPr/>
          <p:nvPr/>
        </p:nvGrpSpPr>
        <p:grpSpPr>
          <a:xfrm>
            <a:off x="9320527" y="6028687"/>
            <a:ext cx="8425177" cy="3395977"/>
            <a:chOff x="0" y="0"/>
            <a:chExt cx="11233569" cy="4527969"/>
          </a:xfrm>
        </p:grpSpPr>
        <p:sp>
          <p:nvSpPr>
            <p:cNvPr id="41" name="Freeform 41"/>
            <p:cNvSpPr/>
            <p:nvPr/>
          </p:nvSpPr>
          <p:spPr>
            <a:xfrm>
              <a:off x="8509" y="8509"/>
              <a:ext cx="11216640" cy="4511040"/>
            </a:xfrm>
            <a:custGeom>
              <a:avLst/>
              <a:gdLst/>
              <a:ahLst/>
              <a:cxnLst/>
              <a:rect l="l" t="t" r="r" b="b"/>
              <a:pathLst>
                <a:path w="11216640" h="4511040">
                  <a:moveTo>
                    <a:pt x="0" y="0"/>
                  </a:moveTo>
                  <a:lnTo>
                    <a:pt x="11216640" y="0"/>
                  </a:lnTo>
                  <a:lnTo>
                    <a:pt x="11216640" y="4511040"/>
                  </a:lnTo>
                  <a:lnTo>
                    <a:pt x="0" y="4511040"/>
                  </a:lnTo>
                  <a:close/>
                </a:path>
              </a:pathLst>
            </a:custGeom>
            <a:blipFill>
              <a:blip r:embed="rId7">
                <a:alphaModFix amt="19999"/>
              </a:blip>
              <a:stretch>
                <a:fillRect t="-72398" b="-93691"/>
              </a:stretch>
            </a:blipFill>
          </p:spPr>
        </p:sp>
        <p:sp>
          <p:nvSpPr>
            <p:cNvPr id="42" name="Freeform 42"/>
            <p:cNvSpPr/>
            <p:nvPr/>
          </p:nvSpPr>
          <p:spPr>
            <a:xfrm>
              <a:off x="0" y="0"/>
              <a:ext cx="11233658" cy="4528058"/>
            </a:xfrm>
            <a:custGeom>
              <a:avLst/>
              <a:gdLst/>
              <a:ahLst/>
              <a:cxnLst/>
              <a:rect l="l" t="t" r="r" b="b"/>
              <a:pathLst>
                <a:path w="11233658" h="4528058">
                  <a:moveTo>
                    <a:pt x="8509" y="0"/>
                  </a:moveTo>
                  <a:lnTo>
                    <a:pt x="11225149" y="0"/>
                  </a:lnTo>
                  <a:cubicBezTo>
                    <a:pt x="11229848" y="0"/>
                    <a:pt x="11233658" y="3810"/>
                    <a:pt x="11233658" y="8509"/>
                  </a:cubicBezTo>
                  <a:lnTo>
                    <a:pt x="11233658" y="4519549"/>
                  </a:lnTo>
                  <a:cubicBezTo>
                    <a:pt x="11233658" y="4524248"/>
                    <a:pt x="11229848" y="4528058"/>
                    <a:pt x="11225149" y="4528058"/>
                  </a:cubicBezTo>
                  <a:lnTo>
                    <a:pt x="8509" y="4528058"/>
                  </a:lnTo>
                  <a:cubicBezTo>
                    <a:pt x="3810" y="4528058"/>
                    <a:pt x="0" y="4524248"/>
                    <a:pt x="0" y="4519549"/>
                  </a:cubicBezTo>
                  <a:lnTo>
                    <a:pt x="0" y="8509"/>
                  </a:lnTo>
                  <a:cubicBezTo>
                    <a:pt x="0" y="3810"/>
                    <a:pt x="3810" y="0"/>
                    <a:pt x="8509" y="0"/>
                  </a:cubicBezTo>
                  <a:moveTo>
                    <a:pt x="8509" y="16891"/>
                  </a:moveTo>
                  <a:lnTo>
                    <a:pt x="8509" y="8509"/>
                  </a:lnTo>
                  <a:lnTo>
                    <a:pt x="17018" y="8509"/>
                  </a:lnTo>
                  <a:lnTo>
                    <a:pt x="17018" y="4519549"/>
                  </a:lnTo>
                  <a:lnTo>
                    <a:pt x="8509" y="4519549"/>
                  </a:lnTo>
                  <a:lnTo>
                    <a:pt x="8509" y="4511040"/>
                  </a:lnTo>
                  <a:lnTo>
                    <a:pt x="11225149" y="4511040"/>
                  </a:lnTo>
                  <a:lnTo>
                    <a:pt x="11225149" y="4519549"/>
                  </a:lnTo>
                  <a:lnTo>
                    <a:pt x="11216640" y="4519549"/>
                  </a:lnTo>
                  <a:lnTo>
                    <a:pt x="11216640" y="8509"/>
                  </a:lnTo>
                  <a:lnTo>
                    <a:pt x="11225149" y="8509"/>
                  </a:lnTo>
                  <a:lnTo>
                    <a:pt x="11225149" y="17018"/>
                  </a:lnTo>
                  <a:lnTo>
                    <a:pt x="8509" y="17018"/>
                  </a:lnTo>
                  <a:close/>
                </a:path>
              </a:pathLst>
            </a:custGeom>
            <a:solidFill>
              <a:srgbClr val="E2E8F0">
                <a:alpha val="19608"/>
              </a:srgbClr>
            </a:solidFill>
          </p:spPr>
        </p:sp>
      </p:grpSp>
      <p:grpSp>
        <p:nvGrpSpPr>
          <p:cNvPr id="43" name="Group 43"/>
          <p:cNvGrpSpPr/>
          <p:nvPr/>
        </p:nvGrpSpPr>
        <p:grpSpPr>
          <a:xfrm>
            <a:off x="9314183" y="6022343"/>
            <a:ext cx="195577" cy="3408683"/>
            <a:chOff x="0" y="0"/>
            <a:chExt cx="260769" cy="4544911"/>
          </a:xfrm>
        </p:grpSpPr>
        <p:sp>
          <p:nvSpPr>
            <p:cNvPr id="44" name="Freeform 44"/>
            <p:cNvSpPr/>
            <p:nvPr/>
          </p:nvSpPr>
          <p:spPr>
            <a:xfrm>
              <a:off x="21532" y="16891"/>
              <a:ext cx="217591" cy="4511040"/>
            </a:xfrm>
            <a:custGeom>
              <a:avLst/>
              <a:gdLst/>
              <a:ahLst/>
              <a:cxnLst/>
              <a:rect l="l" t="t" r="r" b="b"/>
              <a:pathLst>
                <a:path w="217591" h="4511040">
                  <a:moveTo>
                    <a:pt x="0" y="0"/>
                  </a:moveTo>
                  <a:lnTo>
                    <a:pt x="217591" y="0"/>
                  </a:lnTo>
                  <a:lnTo>
                    <a:pt x="217591" y="4511040"/>
                  </a:lnTo>
                  <a:lnTo>
                    <a:pt x="0" y="4511040"/>
                  </a:lnTo>
                  <a:close/>
                </a:path>
              </a:pathLst>
            </a:custGeom>
            <a:solidFill>
              <a:srgbClr val="FEFEFE"/>
            </a:solidFill>
          </p:spPr>
        </p:sp>
        <p:sp>
          <p:nvSpPr>
            <p:cNvPr id="45" name="Freeform 45"/>
            <p:cNvSpPr/>
            <p:nvPr/>
          </p:nvSpPr>
          <p:spPr>
            <a:xfrm>
              <a:off x="0" y="0"/>
              <a:ext cx="260656" cy="4544822"/>
            </a:xfrm>
            <a:custGeom>
              <a:avLst/>
              <a:gdLst/>
              <a:ahLst/>
              <a:cxnLst/>
              <a:rect l="l" t="t" r="r" b="b"/>
              <a:pathLst>
                <a:path w="260656" h="4544822">
                  <a:moveTo>
                    <a:pt x="21532" y="0"/>
                  </a:moveTo>
                  <a:lnTo>
                    <a:pt x="239123" y="0"/>
                  </a:lnTo>
                  <a:cubicBezTo>
                    <a:pt x="251104" y="0"/>
                    <a:pt x="260656" y="7620"/>
                    <a:pt x="260656" y="16891"/>
                  </a:cubicBezTo>
                  <a:lnTo>
                    <a:pt x="260656" y="4527931"/>
                  </a:lnTo>
                  <a:cubicBezTo>
                    <a:pt x="260656" y="4537329"/>
                    <a:pt x="250942" y="4544822"/>
                    <a:pt x="239123" y="4544822"/>
                  </a:cubicBezTo>
                  <a:lnTo>
                    <a:pt x="21532" y="4544822"/>
                  </a:lnTo>
                  <a:cubicBezTo>
                    <a:pt x="9552" y="4544822"/>
                    <a:pt x="0" y="4537202"/>
                    <a:pt x="0" y="4527931"/>
                  </a:cubicBezTo>
                  <a:lnTo>
                    <a:pt x="0" y="16891"/>
                  </a:lnTo>
                  <a:cubicBezTo>
                    <a:pt x="0" y="7620"/>
                    <a:pt x="9714" y="0"/>
                    <a:pt x="21532" y="0"/>
                  </a:cubicBezTo>
                  <a:moveTo>
                    <a:pt x="21532" y="33909"/>
                  </a:moveTo>
                  <a:lnTo>
                    <a:pt x="21532" y="16891"/>
                  </a:lnTo>
                  <a:lnTo>
                    <a:pt x="43227" y="16891"/>
                  </a:lnTo>
                  <a:lnTo>
                    <a:pt x="43227" y="4527931"/>
                  </a:lnTo>
                  <a:lnTo>
                    <a:pt x="21532" y="4527931"/>
                  </a:lnTo>
                  <a:lnTo>
                    <a:pt x="21532" y="4511040"/>
                  </a:lnTo>
                  <a:lnTo>
                    <a:pt x="239123" y="4511040"/>
                  </a:lnTo>
                  <a:lnTo>
                    <a:pt x="239123" y="4527931"/>
                  </a:lnTo>
                  <a:lnTo>
                    <a:pt x="217591" y="4527931"/>
                  </a:lnTo>
                  <a:lnTo>
                    <a:pt x="217591" y="16891"/>
                  </a:lnTo>
                  <a:lnTo>
                    <a:pt x="239123" y="16891"/>
                  </a:lnTo>
                  <a:lnTo>
                    <a:pt x="239123" y="33909"/>
                  </a:lnTo>
                  <a:lnTo>
                    <a:pt x="21532" y="33909"/>
                  </a:lnTo>
                  <a:close/>
                </a:path>
              </a:pathLst>
            </a:custGeom>
            <a:solidFill>
              <a:srgbClr val="FEFEFE"/>
            </a:solidFill>
          </p:spPr>
        </p:sp>
      </p:grpSp>
      <p:grpSp>
        <p:nvGrpSpPr>
          <p:cNvPr id="46" name="Group 46"/>
          <p:cNvGrpSpPr/>
          <p:nvPr/>
        </p:nvGrpSpPr>
        <p:grpSpPr>
          <a:xfrm>
            <a:off x="9656064" y="6272784"/>
            <a:ext cx="694944" cy="694944"/>
            <a:chOff x="0" y="0"/>
            <a:chExt cx="926592" cy="926592"/>
          </a:xfrm>
        </p:grpSpPr>
        <p:sp>
          <p:nvSpPr>
            <p:cNvPr id="47" name="Freeform 47" descr="preencoded.png"/>
            <p:cNvSpPr/>
            <p:nvPr/>
          </p:nvSpPr>
          <p:spPr>
            <a:xfrm>
              <a:off x="0" y="0"/>
              <a:ext cx="926592" cy="926592"/>
            </a:xfrm>
            <a:custGeom>
              <a:avLst/>
              <a:gdLst/>
              <a:ahLst/>
              <a:cxnLst/>
              <a:rect l="l" t="t" r="r" b="b"/>
              <a:pathLst>
                <a:path w="926592" h="926592">
                  <a:moveTo>
                    <a:pt x="0" y="0"/>
                  </a:moveTo>
                  <a:lnTo>
                    <a:pt x="926592" y="0"/>
                  </a:lnTo>
                  <a:lnTo>
                    <a:pt x="926592" y="926592"/>
                  </a:lnTo>
                  <a:lnTo>
                    <a:pt x="0" y="926592"/>
                  </a:lnTo>
                  <a:lnTo>
                    <a:pt x="0" y="0"/>
                  </a:lnTo>
                  <a:close/>
                </a:path>
              </a:pathLst>
            </a:custGeom>
            <a:blipFill>
              <a:blip r:embed="rId8"/>
              <a:stretch>
                <a:fillRect/>
              </a:stretch>
            </a:blipFill>
          </p:spPr>
        </p:sp>
      </p:grpSp>
      <p:grpSp>
        <p:nvGrpSpPr>
          <p:cNvPr id="48" name="Group 48"/>
          <p:cNvGrpSpPr/>
          <p:nvPr/>
        </p:nvGrpSpPr>
        <p:grpSpPr>
          <a:xfrm>
            <a:off x="10515600" y="6217920"/>
            <a:ext cx="6949440" cy="768096"/>
            <a:chOff x="0" y="0"/>
            <a:chExt cx="9265920" cy="1024128"/>
          </a:xfrm>
        </p:grpSpPr>
        <p:sp>
          <p:nvSpPr>
            <p:cNvPr id="49" name="Freeform 49"/>
            <p:cNvSpPr/>
            <p:nvPr/>
          </p:nvSpPr>
          <p:spPr>
            <a:xfrm>
              <a:off x="0" y="0"/>
              <a:ext cx="9265920" cy="1024128"/>
            </a:xfrm>
            <a:custGeom>
              <a:avLst/>
              <a:gdLst/>
              <a:ahLst/>
              <a:cxnLst/>
              <a:rect l="l" t="t" r="r" b="b"/>
              <a:pathLst>
                <a:path w="9265920" h="1024128">
                  <a:moveTo>
                    <a:pt x="0" y="0"/>
                  </a:moveTo>
                  <a:lnTo>
                    <a:pt x="9265920" y="0"/>
                  </a:lnTo>
                  <a:lnTo>
                    <a:pt x="9265920" y="1024128"/>
                  </a:lnTo>
                  <a:lnTo>
                    <a:pt x="0" y="1024128"/>
                  </a:lnTo>
                  <a:close/>
                </a:path>
              </a:pathLst>
            </a:custGeom>
            <a:blipFill>
              <a:blip r:embed="rId2">
                <a:alphaModFix amt="0"/>
              </a:blip>
              <a:stretch>
                <a:fillRect t="-126293" b="-126293"/>
              </a:stretch>
            </a:blipFill>
          </p:spPr>
        </p:sp>
        <p:sp>
          <p:nvSpPr>
            <p:cNvPr id="50" name="TextBox 50"/>
            <p:cNvSpPr txBox="1"/>
            <p:nvPr/>
          </p:nvSpPr>
          <p:spPr>
            <a:xfrm>
              <a:off x="0" y="-66675"/>
              <a:ext cx="9265920" cy="1090803"/>
            </a:xfrm>
            <a:prstGeom prst="rect">
              <a:avLst/>
            </a:prstGeom>
          </p:spPr>
          <p:txBody>
            <a:bodyPr lIns="0" tIns="0" rIns="0" bIns="0" rtlCol="0" anchor="ctr"/>
            <a:lstStyle/>
            <a:p>
              <a:pPr algn="l">
                <a:lnSpc>
                  <a:spcPts val="4320"/>
                </a:lnSpc>
              </a:pPr>
              <a:r>
                <a:rPr lang="en-US" sz="3600" b="1">
                  <a:solidFill>
                    <a:srgbClr val="0D1B3E"/>
                  </a:solidFill>
                  <a:latin typeface="Calibri (MS) Bold"/>
                  <a:ea typeface="Calibri (MS) Bold"/>
                  <a:cs typeface="Calibri (MS) Bold"/>
                  <a:sym typeface="Calibri (MS) Bold"/>
                </a:rPr>
                <a:t>Digital Customer Database</a:t>
              </a:r>
            </a:p>
          </p:txBody>
        </p:sp>
      </p:grpSp>
      <p:grpSp>
        <p:nvGrpSpPr>
          <p:cNvPr id="51" name="Group 51"/>
          <p:cNvGrpSpPr/>
          <p:nvPr/>
        </p:nvGrpSpPr>
        <p:grpSpPr>
          <a:xfrm>
            <a:off x="11478130" y="45720"/>
            <a:ext cx="6809870" cy="1953263"/>
            <a:chOff x="0" y="0"/>
            <a:chExt cx="9079827" cy="2604351"/>
          </a:xfrm>
        </p:grpSpPr>
        <p:sp>
          <p:nvSpPr>
            <p:cNvPr id="52" name="Freeform 52"/>
            <p:cNvSpPr/>
            <p:nvPr/>
          </p:nvSpPr>
          <p:spPr>
            <a:xfrm>
              <a:off x="6281" y="16196"/>
              <a:ext cx="9067232" cy="2571874"/>
            </a:xfrm>
            <a:custGeom>
              <a:avLst/>
              <a:gdLst/>
              <a:ahLst/>
              <a:cxnLst/>
              <a:rect l="l" t="t" r="r" b="b"/>
              <a:pathLst>
                <a:path w="9067232" h="2571874">
                  <a:moveTo>
                    <a:pt x="0" y="0"/>
                  </a:moveTo>
                  <a:lnTo>
                    <a:pt x="9067232" y="0"/>
                  </a:lnTo>
                  <a:lnTo>
                    <a:pt x="9067232" y="2571874"/>
                  </a:lnTo>
                  <a:lnTo>
                    <a:pt x="0" y="2571874"/>
                  </a:lnTo>
                  <a:close/>
                </a:path>
              </a:pathLst>
            </a:custGeom>
            <a:solidFill>
              <a:srgbClr val="64748B"/>
            </a:solidFill>
          </p:spPr>
        </p:sp>
        <p:sp>
          <p:nvSpPr>
            <p:cNvPr id="53" name="Freeform 53"/>
            <p:cNvSpPr/>
            <p:nvPr/>
          </p:nvSpPr>
          <p:spPr>
            <a:xfrm>
              <a:off x="0" y="0"/>
              <a:ext cx="9079794" cy="2604266"/>
            </a:xfrm>
            <a:custGeom>
              <a:avLst/>
              <a:gdLst/>
              <a:ahLst/>
              <a:cxnLst/>
              <a:rect l="l" t="t" r="r" b="b"/>
              <a:pathLst>
                <a:path w="9079794" h="2604266">
                  <a:moveTo>
                    <a:pt x="6281" y="0"/>
                  </a:moveTo>
                  <a:lnTo>
                    <a:pt x="9073513" y="0"/>
                  </a:lnTo>
                  <a:cubicBezTo>
                    <a:pt x="9077008" y="0"/>
                    <a:pt x="9079794" y="7306"/>
                    <a:pt x="9079794" y="16196"/>
                  </a:cubicBezTo>
                  <a:lnTo>
                    <a:pt x="9079794" y="2588070"/>
                  </a:lnTo>
                  <a:cubicBezTo>
                    <a:pt x="9079794" y="2597081"/>
                    <a:pt x="9076961" y="2604266"/>
                    <a:pt x="9073513" y="2604266"/>
                  </a:cubicBezTo>
                  <a:lnTo>
                    <a:pt x="6281" y="2604266"/>
                  </a:lnTo>
                  <a:cubicBezTo>
                    <a:pt x="2786" y="2604266"/>
                    <a:pt x="0" y="2596959"/>
                    <a:pt x="0" y="2588070"/>
                  </a:cubicBezTo>
                  <a:lnTo>
                    <a:pt x="0" y="16196"/>
                  </a:lnTo>
                  <a:cubicBezTo>
                    <a:pt x="0" y="7306"/>
                    <a:pt x="2834" y="0"/>
                    <a:pt x="6281" y="0"/>
                  </a:cubicBezTo>
                  <a:moveTo>
                    <a:pt x="6281" y="32514"/>
                  </a:moveTo>
                  <a:lnTo>
                    <a:pt x="6281" y="16196"/>
                  </a:lnTo>
                  <a:lnTo>
                    <a:pt x="12609" y="16196"/>
                  </a:lnTo>
                  <a:lnTo>
                    <a:pt x="12609" y="2588070"/>
                  </a:lnTo>
                  <a:lnTo>
                    <a:pt x="6281" y="2588070"/>
                  </a:lnTo>
                  <a:lnTo>
                    <a:pt x="6281" y="2571874"/>
                  </a:lnTo>
                  <a:lnTo>
                    <a:pt x="9073513" y="2571874"/>
                  </a:lnTo>
                  <a:lnTo>
                    <a:pt x="9073513" y="2588070"/>
                  </a:lnTo>
                  <a:lnTo>
                    <a:pt x="9067232" y="2588070"/>
                  </a:lnTo>
                  <a:lnTo>
                    <a:pt x="9067232" y="16196"/>
                  </a:lnTo>
                  <a:lnTo>
                    <a:pt x="9073513" y="16196"/>
                  </a:lnTo>
                  <a:lnTo>
                    <a:pt x="9073513" y="32514"/>
                  </a:lnTo>
                  <a:lnTo>
                    <a:pt x="6281" y="32514"/>
                  </a:lnTo>
                  <a:close/>
                </a:path>
              </a:pathLst>
            </a:custGeom>
            <a:solidFill>
              <a:srgbClr val="0D1B3E"/>
            </a:solidFill>
          </p:spPr>
        </p:sp>
      </p:grpSp>
      <p:sp>
        <p:nvSpPr>
          <p:cNvPr id="54" name="TextBox 54"/>
          <p:cNvSpPr txBox="1"/>
          <p:nvPr/>
        </p:nvSpPr>
        <p:spPr>
          <a:xfrm>
            <a:off x="859536" y="3352800"/>
            <a:ext cx="7534656" cy="2019300"/>
          </a:xfrm>
          <a:prstGeom prst="rect">
            <a:avLst/>
          </a:prstGeom>
        </p:spPr>
        <p:txBody>
          <a:bodyPr lIns="0" tIns="0" rIns="0" bIns="0" rtlCol="0" anchor="t">
            <a:spAutoFit/>
          </a:bodyPr>
          <a:lstStyle/>
          <a:p>
            <a:pPr marL="772153" lvl="1" indent="-386077" algn="l">
              <a:lnSpc>
                <a:spcPts val="3839"/>
              </a:lnSpc>
              <a:buFont typeface="Arial"/>
              <a:buChar char="•"/>
            </a:pPr>
            <a:r>
              <a:rPr lang="en-US" sz="3199">
                <a:solidFill>
                  <a:srgbClr val="000000"/>
                </a:solidFill>
                <a:latin typeface="Calibri (MS)"/>
                <a:ea typeface="Calibri (MS)"/>
                <a:cs typeface="Calibri (MS)"/>
                <a:sym typeface="Calibri (MS)"/>
              </a:rPr>
              <a:t>Seasonal campaigns (S21–S24)</a:t>
            </a:r>
          </a:p>
          <a:p>
            <a:pPr marL="772153" lvl="1" indent="-386077" algn="l">
              <a:lnSpc>
                <a:spcPts val="3839"/>
              </a:lnSpc>
              <a:buFont typeface="Arial"/>
              <a:buChar char="•"/>
            </a:pPr>
            <a:r>
              <a:rPr lang="en-US" sz="3199">
                <a:solidFill>
                  <a:srgbClr val="000000"/>
                </a:solidFill>
                <a:latin typeface="Calibri (MS)"/>
                <a:ea typeface="Calibri (MS)"/>
                <a:cs typeface="Calibri (MS)"/>
                <a:sym typeface="Calibri (MS)"/>
              </a:rPr>
              <a:t>Large-scale consumer incentives</a:t>
            </a:r>
          </a:p>
          <a:p>
            <a:pPr marL="772153" lvl="1" indent="-386077" algn="l">
              <a:lnSpc>
                <a:spcPts val="3839"/>
              </a:lnSpc>
              <a:buFont typeface="Arial"/>
              <a:buChar char="•"/>
            </a:pPr>
            <a:r>
              <a:rPr lang="en-US" sz="3199">
                <a:solidFill>
                  <a:srgbClr val="000000"/>
                </a:solidFill>
                <a:latin typeface="Calibri (MS)"/>
                <a:ea typeface="Calibri (MS)"/>
                <a:cs typeface="Calibri (MS)"/>
                <a:sym typeface="Calibri (MS)"/>
              </a:rPr>
              <a:t>'Double Million' lottery offer</a:t>
            </a:r>
          </a:p>
          <a:p>
            <a:pPr marL="772153" lvl="1" indent="-386077" algn="l">
              <a:lnSpc>
                <a:spcPts val="3839"/>
              </a:lnSpc>
              <a:buFont typeface="Arial"/>
              <a:buChar char="•"/>
            </a:pPr>
            <a:r>
              <a:rPr lang="en-US" sz="3199">
                <a:solidFill>
                  <a:srgbClr val="000000"/>
                </a:solidFill>
                <a:latin typeface="Calibri (MS)"/>
                <a:ea typeface="Calibri (MS)"/>
                <a:cs typeface="Calibri (MS)"/>
                <a:sym typeface="Calibri (MS)"/>
              </a:rPr>
              <a:t>Win Tk 20 lakh (~$23,700 USD)</a:t>
            </a:r>
          </a:p>
        </p:txBody>
      </p:sp>
      <p:sp>
        <p:nvSpPr>
          <p:cNvPr id="55" name="TextBox 55"/>
          <p:cNvSpPr txBox="1"/>
          <p:nvPr/>
        </p:nvSpPr>
        <p:spPr>
          <a:xfrm>
            <a:off x="9447241" y="3212468"/>
            <a:ext cx="8281486" cy="2000250"/>
          </a:xfrm>
          <a:prstGeom prst="rect">
            <a:avLst/>
          </a:prstGeom>
        </p:spPr>
        <p:txBody>
          <a:bodyPr lIns="0" tIns="0" rIns="0" bIns="0" rtlCol="0" anchor="t">
            <a:spAutoFit/>
          </a:bodyPr>
          <a:lstStyle/>
          <a:p>
            <a:pPr marL="772161" lvl="1" indent="-386080" algn="l">
              <a:lnSpc>
                <a:spcPts val="3840"/>
              </a:lnSpc>
              <a:buFont typeface="Arial"/>
              <a:buChar char="•"/>
            </a:pPr>
            <a:r>
              <a:rPr lang="en-US" sz="3200">
                <a:solidFill>
                  <a:srgbClr val="000000"/>
                </a:solidFill>
                <a:latin typeface="Calibri (MS)"/>
                <a:ea typeface="Calibri (MS)"/>
                <a:cs typeface="Calibri (MS)"/>
                <a:sym typeface="Calibri (MS)"/>
              </a:rPr>
              <a:t>Mashrafe Bin Mortaza as brand ambassador</a:t>
            </a:r>
          </a:p>
          <a:p>
            <a:pPr marL="772161" lvl="1" indent="-386080" algn="l">
              <a:lnSpc>
                <a:spcPts val="3840"/>
              </a:lnSpc>
              <a:buFont typeface="Arial"/>
              <a:buChar char="•"/>
            </a:pPr>
            <a:r>
              <a:rPr lang="en-US" sz="3200">
                <a:solidFill>
                  <a:srgbClr val="000000"/>
                </a:solidFill>
                <a:latin typeface="Calibri (MS)"/>
                <a:ea typeface="Calibri (MS)"/>
                <a:cs typeface="Calibri (MS)"/>
                <a:sym typeface="Calibri (MS)"/>
              </a:rPr>
              <a:t>National cricket icon</a:t>
            </a:r>
          </a:p>
          <a:p>
            <a:pPr marL="772161" lvl="1" indent="-386080" algn="l">
              <a:lnSpc>
                <a:spcPts val="3840"/>
              </a:lnSpc>
              <a:buFont typeface="Arial"/>
              <a:buChar char="•"/>
            </a:pPr>
            <a:r>
              <a:rPr lang="en-US" sz="3200">
                <a:solidFill>
                  <a:srgbClr val="000000"/>
                </a:solidFill>
                <a:latin typeface="Calibri (MS)"/>
                <a:ea typeface="Calibri (MS)"/>
                <a:cs typeface="Calibri (MS)"/>
                <a:sym typeface="Calibri (MS)"/>
              </a:rPr>
              <a:t>Builds trust &amp; pride</a:t>
            </a:r>
          </a:p>
          <a:p>
            <a:pPr marL="772161" lvl="1" indent="-386080" algn="l">
              <a:lnSpc>
                <a:spcPts val="3840"/>
              </a:lnSpc>
              <a:buFont typeface="Arial"/>
              <a:buChar char="•"/>
            </a:pPr>
            <a:r>
              <a:rPr lang="en-US" sz="3200">
                <a:solidFill>
                  <a:srgbClr val="000000"/>
                </a:solidFill>
                <a:latin typeface="Calibri (MS)"/>
                <a:ea typeface="Calibri (MS)"/>
                <a:cs typeface="Calibri (MS)"/>
                <a:sym typeface="Calibri (MS)"/>
              </a:rPr>
              <a:t>Wide consumer recognition</a:t>
            </a:r>
          </a:p>
        </p:txBody>
      </p:sp>
      <p:sp>
        <p:nvSpPr>
          <p:cNvPr id="56" name="TextBox 56"/>
          <p:cNvSpPr txBox="1"/>
          <p:nvPr/>
        </p:nvSpPr>
        <p:spPr>
          <a:xfrm>
            <a:off x="859536" y="7120890"/>
            <a:ext cx="7534656" cy="2000250"/>
          </a:xfrm>
          <a:prstGeom prst="rect">
            <a:avLst/>
          </a:prstGeom>
        </p:spPr>
        <p:txBody>
          <a:bodyPr lIns="0" tIns="0" rIns="0" bIns="0" rtlCol="0" anchor="t">
            <a:spAutoFit/>
          </a:bodyPr>
          <a:lstStyle/>
          <a:p>
            <a:pPr marL="772161" lvl="1" indent="-386080" algn="l">
              <a:lnSpc>
                <a:spcPts val="3840"/>
              </a:lnSpc>
              <a:buFont typeface="Arial"/>
              <a:buChar char="•"/>
            </a:pPr>
            <a:r>
              <a:rPr lang="en-US" sz="3200">
                <a:solidFill>
                  <a:srgbClr val="000000"/>
                </a:solidFill>
                <a:latin typeface="Calibri (MS)"/>
                <a:ea typeface="Calibri (MS)"/>
                <a:cs typeface="Calibri (MS)"/>
                <a:sym typeface="Calibri (MS)"/>
              </a:rPr>
              <a:t>All 6 IMC tools deployed</a:t>
            </a:r>
          </a:p>
          <a:p>
            <a:pPr marL="772161" lvl="1" indent="-386080" algn="l">
              <a:lnSpc>
                <a:spcPts val="3840"/>
              </a:lnSpc>
              <a:buFont typeface="Arial"/>
              <a:buChar char="•"/>
            </a:pPr>
            <a:r>
              <a:rPr lang="en-US" sz="3200">
                <a:solidFill>
                  <a:srgbClr val="000000"/>
                </a:solidFill>
                <a:latin typeface="Calibri (MS)"/>
                <a:ea typeface="Calibri (MS)"/>
                <a:cs typeface="Calibri (MS)"/>
                <a:sym typeface="Calibri (MS)"/>
              </a:rPr>
              <a:t>Advertising &amp; sales promotions</a:t>
            </a:r>
          </a:p>
          <a:p>
            <a:pPr marL="772161" lvl="1" indent="-386080" algn="l">
              <a:lnSpc>
                <a:spcPts val="3840"/>
              </a:lnSpc>
              <a:buFont typeface="Arial"/>
              <a:buChar char="•"/>
            </a:pPr>
            <a:r>
              <a:rPr lang="en-US" sz="3200">
                <a:solidFill>
                  <a:srgbClr val="000000"/>
                </a:solidFill>
                <a:latin typeface="Calibri (MS)"/>
                <a:ea typeface="Calibri (MS)"/>
                <a:cs typeface="Calibri (MS)"/>
                <a:sym typeface="Calibri (MS)"/>
              </a:rPr>
              <a:t>Events, PR &amp; digital media</a:t>
            </a:r>
          </a:p>
          <a:p>
            <a:pPr marL="772161" lvl="1" indent="-386080" algn="l">
              <a:lnSpc>
                <a:spcPts val="3840"/>
              </a:lnSpc>
              <a:buFont typeface="Arial"/>
              <a:buChar char="•"/>
            </a:pPr>
            <a:r>
              <a:rPr lang="en-US" sz="3200">
                <a:solidFill>
                  <a:srgbClr val="000000"/>
                </a:solidFill>
                <a:latin typeface="Calibri (MS)"/>
                <a:ea typeface="Calibri (MS)"/>
                <a:cs typeface="Calibri (MS)"/>
                <a:sym typeface="Calibri (MS)"/>
              </a:rPr>
              <a:t>Unified brand message</a:t>
            </a:r>
          </a:p>
        </p:txBody>
      </p:sp>
      <p:sp>
        <p:nvSpPr>
          <p:cNvPr id="57" name="TextBox 57"/>
          <p:cNvSpPr txBox="1"/>
          <p:nvPr/>
        </p:nvSpPr>
        <p:spPr>
          <a:xfrm>
            <a:off x="9820656" y="7120890"/>
            <a:ext cx="7534656" cy="2000250"/>
          </a:xfrm>
          <a:prstGeom prst="rect">
            <a:avLst/>
          </a:prstGeom>
        </p:spPr>
        <p:txBody>
          <a:bodyPr lIns="0" tIns="0" rIns="0" bIns="0" rtlCol="0" anchor="t">
            <a:spAutoFit/>
          </a:bodyPr>
          <a:lstStyle/>
          <a:p>
            <a:pPr marL="772161" lvl="1" indent="-386080" algn="l">
              <a:lnSpc>
                <a:spcPts val="3840"/>
              </a:lnSpc>
              <a:buFont typeface="Arial"/>
              <a:buChar char="•"/>
            </a:pPr>
            <a:r>
              <a:rPr lang="en-US" sz="3200">
                <a:solidFill>
                  <a:srgbClr val="000000"/>
                </a:solidFill>
                <a:latin typeface="Calibri (MS)"/>
                <a:ea typeface="Calibri (MS)"/>
                <a:cs typeface="Calibri (MS)"/>
                <a:sym typeface="Calibri (MS)"/>
              </a:rPr>
              <a:t>SMS &amp; app product registration</a:t>
            </a:r>
          </a:p>
          <a:p>
            <a:pPr marL="772161" lvl="1" indent="-386080" algn="l">
              <a:lnSpc>
                <a:spcPts val="3840"/>
              </a:lnSpc>
              <a:buFont typeface="Arial"/>
              <a:buChar char="•"/>
            </a:pPr>
            <a:r>
              <a:rPr lang="en-US" sz="3200">
                <a:solidFill>
                  <a:srgbClr val="000000"/>
                </a:solidFill>
                <a:latin typeface="Calibri (MS)"/>
                <a:ea typeface="Calibri (MS)"/>
                <a:cs typeface="Calibri (MS)"/>
                <a:sym typeface="Calibri (MS)"/>
              </a:rPr>
              <a:t>Faster after-sales service</a:t>
            </a:r>
          </a:p>
          <a:p>
            <a:pPr marL="772161" lvl="1" indent="-386080" algn="l">
              <a:lnSpc>
                <a:spcPts val="3840"/>
              </a:lnSpc>
              <a:buFont typeface="Arial"/>
              <a:buChar char="•"/>
            </a:pPr>
            <a:r>
              <a:rPr lang="en-US" sz="3200">
                <a:solidFill>
                  <a:srgbClr val="000000"/>
                </a:solidFill>
                <a:latin typeface="Calibri (MS)"/>
                <a:ea typeface="Calibri (MS)"/>
                <a:cs typeface="Calibri (MS)"/>
                <a:sym typeface="Calibri (MS)"/>
              </a:rPr>
              <a:t>Targeted future promotions</a:t>
            </a:r>
          </a:p>
          <a:p>
            <a:pPr marL="772161" lvl="1" indent="-386080" algn="l">
              <a:lnSpc>
                <a:spcPts val="3840"/>
              </a:lnSpc>
              <a:buFont typeface="Arial"/>
              <a:buChar char="•"/>
            </a:pPr>
            <a:r>
              <a:rPr lang="en-US" sz="3200">
                <a:solidFill>
                  <a:srgbClr val="000000"/>
                </a:solidFill>
                <a:latin typeface="Calibri (MS)"/>
                <a:ea typeface="Calibri (MS)"/>
                <a:cs typeface="Calibri (MS)"/>
                <a:sym typeface="Calibri (MS)"/>
              </a:rPr>
              <a:t>Personalized communication</a:t>
            </a:r>
          </a:p>
        </p:txBody>
      </p:sp>
      <p:grpSp>
        <p:nvGrpSpPr>
          <p:cNvPr id="58" name="Group 58"/>
          <p:cNvGrpSpPr/>
          <p:nvPr/>
        </p:nvGrpSpPr>
        <p:grpSpPr>
          <a:xfrm>
            <a:off x="0" y="45720"/>
            <a:ext cx="1342008" cy="1953263"/>
            <a:chOff x="0" y="0"/>
            <a:chExt cx="1789344" cy="2604351"/>
          </a:xfrm>
        </p:grpSpPr>
        <p:sp>
          <p:nvSpPr>
            <p:cNvPr id="59" name="Freeform 59"/>
            <p:cNvSpPr/>
            <p:nvPr/>
          </p:nvSpPr>
          <p:spPr>
            <a:xfrm>
              <a:off x="1238" y="16196"/>
              <a:ext cx="1786862" cy="2571874"/>
            </a:xfrm>
            <a:custGeom>
              <a:avLst/>
              <a:gdLst/>
              <a:ahLst/>
              <a:cxnLst/>
              <a:rect l="l" t="t" r="r" b="b"/>
              <a:pathLst>
                <a:path w="1786862" h="2571874">
                  <a:moveTo>
                    <a:pt x="0" y="0"/>
                  </a:moveTo>
                  <a:lnTo>
                    <a:pt x="1786861" y="0"/>
                  </a:lnTo>
                  <a:lnTo>
                    <a:pt x="1786861" y="2571874"/>
                  </a:lnTo>
                  <a:lnTo>
                    <a:pt x="0" y="2571874"/>
                  </a:lnTo>
                  <a:close/>
                </a:path>
              </a:pathLst>
            </a:custGeom>
            <a:solidFill>
              <a:srgbClr val="64748B"/>
            </a:solidFill>
          </p:spPr>
        </p:sp>
        <p:sp>
          <p:nvSpPr>
            <p:cNvPr id="60" name="Freeform 60"/>
            <p:cNvSpPr/>
            <p:nvPr/>
          </p:nvSpPr>
          <p:spPr>
            <a:xfrm>
              <a:off x="0" y="0"/>
              <a:ext cx="1789337" cy="2604266"/>
            </a:xfrm>
            <a:custGeom>
              <a:avLst/>
              <a:gdLst/>
              <a:ahLst/>
              <a:cxnLst/>
              <a:rect l="l" t="t" r="r" b="b"/>
              <a:pathLst>
                <a:path w="1789337" h="2604266">
                  <a:moveTo>
                    <a:pt x="1238" y="0"/>
                  </a:moveTo>
                  <a:lnTo>
                    <a:pt x="1788099" y="0"/>
                  </a:lnTo>
                  <a:cubicBezTo>
                    <a:pt x="1788788" y="0"/>
                    <a:pt x="1789337" y="7306"/>
                    <a:pt x="1789337" y="16196"/>
                  </a:cubicBezTo>
                  <a:lnTo>
                    <a:pt x="1789337" y="2588070"/>
                  </a:lnTo>
                  <a:cubicBezTo>
                    <a:pt x="1789337" y="2597081"/>
                    <a:pt x="1788779" y="2604266"/>
                    <a:pt x="1788099" y="2604266"/>
                  </a:cubicBezTo>
                  <a:lnTo>
                    <a:pt x="1238" y="2604266"/>
                  </a:lnTo>
                  <a:cubicBezTo>
                    <a:pt x="549" y="2604266"/>
                    <a:pt x="0" y="2596959"/>
                    <a:pt x="0" y="2588070"/>
                  </a:cubicBezTo>
                  <a:lnTo>
                    <a:pt x="0" y="16196"/>
                  </a:lnTo>
                  <a:cubicBezTo>
                    <a:pt x="0" y="7306"/>
                    <a:pt x="558" y="0"/>
                    <a:pt x="1238" y="0"/>
                  </a:cubicBezTo>
                  <a:moveTo>
                    <a:pt x="1238" y="32514"/>
                  </a:moveTo>
                  <a:lnTo>
                    <a:pt x="1238" y="16196"/>
                  </a:lnTo>
                  <a:lnTo>
                    <a:pt x="2485" y="16196"/>
                  </a:lnTo>
                  <a:lnTo>
                    <a:pt x="2485" y="2588070"/>
                  </a:lnTo>
                  <a:lnTo>
                    <a:pt x="1238" y="2588070"/>
                  </a:lnTo>
                  <a:lnTo>
                    <a:pt x="1238" y="2571874"/>
                  </a:lnTo>
                  <a:lnTo>
                    <a:pt x="1788099" y="2571874"/>
                  </a:lnTo>
                  <a:lnTo>
                    <a:pt x="1788099" y="2588070"/>
                  </a:lnTo>
                  <a:lnTo>
                    <a:pt x="1786862" y="2588070"/>
                  </a:lnTo>
                  <a:lnTo>
                    <a:pt x="1786862" y="16196"/>
                  </a:lnTo>
                  <a:lnTo>
                    <a:pt x="1788099" y="16196"/>
                  </a:lnTo>
                  <a:lnTo>
                    <a:pt x="1788099" y="32514"/>
                  </a:lnTo>
                  <a:lnTo>
                    <a:pt x="1238" y="32514"/>
                  </a:lnTo>
                  <a:close/>
                </a:path>
              </a:pathLst>
            </a:custGeom>
            <a:solidFill>
              <a:srgbClr val="0D1B3E"/>
            </a:solidFill>
          </p:spPr>
        </p:sp>
      </p:gr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E2E8F0"/>
        </a:solidFill>
        <a:effectLst/>
      </p:bgPr>
    </p:bg>
    <p:spTree>
      <p:nvGrpSpPr>
        <p:cNvPr id="1" name=""/>
        <p:cNvGrpSpPr/>
        <p:nvPr/>
      </p:nvGrpSpPr>
      <p:grpSpPr>
        <a:xfrm>
          <a:off x="0" y="0"/>
          <a:ext cx="0" cy="0"/>
          <a:chOff x="0" y="0"/>
          <a:chExt cx="0" cy="0"/>
        </a:xfrm>
      </p:grpSpPr>
      <p:grpSp>
        <p:nvGrpSpPr>
          <p:cNvPr id="2" name="Group 2"/>
          <p:cNvGrpSpPr/>
          <p:nvPr/>
        </p:nvGrpSpPr>
        <p:grpSpPr>
          <a:xfrm>
            <a:off x="-12697" y="-12697"/>
            <a:ext cx="18313403" cy="2037083"/>
            <a:chOff x="0" y="0"/>
            <a:chExt cx="24417871" cy="2716111"/>
          </a:xfrm>
        </p:grpSpPr>
        <p:sp>
          <p:nvSpPr>
            <p:cNvPr id="3" name="Freeform 3"/>
            <p:cNvSpPr/>
            <p:nvPr/>
          </p:nvSpPr>
          <p:spPr>
            <a:xfrm>
              <a:off x="16891" y="16891"/>
              <a:ext cx="24383999" cy="2682240"/>
            </a:xfrm>
            <a:custGeom>
              <a:avLst/>
              <a:gdLst/>
              <a:ahLst/>
              <a:cxnLst/>
              <a:rect l="l" t="t" r="r" b="b"/>
              <a:pathLst>
                <a:path w="24383999" h="2682240">
                  <a:moveTo>
                    <a:pt x="0" y="0"/>
                  </a:moveTo>
                  <a:lnTo>
                    <a:pt x="24383999" y="0"/>
                  </a:lnTo>
                  <a:lnTo>
                    <a:pt x="24383999" y="2682240"/>
                  </a:lnTo>
                  <a:lnTo>
                    <a:pt x="0" y="2682240"/>
                  </a:lnTo>
                  <a:close/>
                </a:path>
              </a:pathLst>
            </a:custGeom>
            <a:solidFill>
              <a:srgbClr val="163F97">
                <a:alpha val="89804"/>
              </a:srgbClr>
            </a:solidFill>
          </p:spPr>
        </p:sp>
        <p:sp>
          <p:nvSpPr>
            <p:cNvPr id="4" name="Freeform 4"/>
            <p:cNvSpPr/>
            <p:nvPr/>
          </p:nvSpPr>
          <p:spPr>
            <a:xfrm>
              <a:off x="0" y="0"/>
              <a:ext cx="24417782" cy="2716022"/>
            </a:xfrm>
            <a:custGeom>
              <a:avLst/>
              <a:gdLst/>
              <a:ahLst/>
              <a:cxnLst/>
              <a:rect l="l" t="t" r="r" b="b"/>
              <a:pathLst>
                <a:path w="24417782" h="2716022">
                  <a:moveTo>
                    <a:pt x="16891" y="0"/>
                  </a:moveTo>
                  <a:lnTo>
                    <a:pt x="24400890" y="0"/>
                  </a:lnTo>
                  <a:cubicBezTo>
                    <a:pt x="24410290" y="0"/>
                    <a:pt x="24417782" y="7620"/>
                    <a:pt x="24417782" y="16891"/>
                  </a:cubicBezTo>
                  <a:lnTo>
                    <a:pt x="24417782" y="2699131"/>
                  </a:lnTo>
                  <a:cubicBezTo>
                    <a:pt x="24417782" y="2708529"/>
                    <a:pt x="24410163" y="2716022"/>
                    <a:pt x="24400890" y="2716022"/>
                  </a:cubicBezTo>
                  <a:lnTo>
                    <a:pt x="16891" y="2716022"/>
                  </a:lnTo>
                  <a:cubicBezTo>
                    <a:pt x="7493" y="2716022"/>
                    <a:pt x="0" y="2708402"/>
                    <a:pt x="0" y="2699131"/>
                  </a:cubicBezTo>
                  <a:lnTo>
                    <a:pt x="0" y="16891"/>
                  </a:lnTo>
                  <a:cubicBezTo>
                    <a:pt x="0" y="7620"/>
                    <a:pt x="7620" y="0"/>
                    <a:pt x="16891" y="0"/>
                  </a:cubicBezTo>
                  <a:moveTo>
                    <a:pt x="16891" y="33909"/>
                  </a:moveTo>
                  <a:lnTo>
                    <a:pt x="16891" y="16891"/>
                  </a:lnTo>
                  <a:lnTo>
                    <a:pt x="33909" y="16891"/>
                  </a:lnTo>
                  <a:lnTo>
                    <a:pt x="33909" y="2699131"/>
                  </a:lnTo>
                  <a:lnTo>
                    <a:pt x="16891" y="2699131"/>
                  </a:lnTo>
                  <a:lnTo>
                    <a:pt x="16891" y="2682240"/>
                  </a:lnTo>
                  <a:lnTo>
                    <a:pt x="24400890" y="2682240"/>
                  </a:lnTo>
                  <a:lnTo>
                    <a:pt x="24400890" y="2699131"/>
                  </a:lnTo>
                  <a:lnTo>
                    <a:pt x="24384000" y="2699131"/>
                  </a:lnTo>
                  <a:lnTo>
                    <a:pt x="24384000" y="16891"/>
                  </a:lnTo>
                  <a:lnTo>
                    <a:pt x="24400890" y="16891"/>
                  </a:lnTo>
                  <a:lnTo>
                    <a:pt x="24400890" y="33909"/>
                  </a:lnTo>
                  <a:lnTo>
                    <a:pt x="16891" y="33909"/>
                  </a:lnTo>
                  <a:close/>
                </a:path>
              </a:pathLst>
            </a:custGeom>
            <a:solidFill>
              <a:srgbClr val="0D1B3E">
                <a:alpha val="89804"/>
              </a:srgbClr>
            </a:solidFill>
          </p:spPr>
        </p:sp>
      </p:grpSp>
      <p:grpSp>
        <p:nvGrpSpPr>
          <p:cNvPr id="5" name="Group 5"/>
          <p:cNvGrpSpPr/>
          <p:nvPr/>
        </p:nvGrpSpPr>
        <p:grpSpPr>
          <a:xfrm>
            <a:off x="-12697" y="1998983"/>
            <a:ext cx="18313403" cy="125987"/>
            <a:chOff x="0" y="0"/>
            <a:chExt cx="24417871" cy="167983"/>
          </a:xfrm>
        </p:grpSpPr>
        <p:sp>
          <p:nvSpPr>
            <p:cNvPr id="6" name="Freeform 6"/>
            <p:cNvSpPr/>
            <p:nvPr/>
          </p:nvSpPr>
          <p:spPr>
            <a:xfrm>
              <a:off x="16891" y="16891"/>
              <a:ext cx="24383999" cy="134112"/>
            </a:xfrm>
            <a:custGeom>
              <a:avLst/>
              <a:gdLst/>
              <a:ahLst/>
              <a:cxnLst/>
              <a:rect l="l" t="t" r="r" b="b"/>
              <a:pathLst>
                <a:path w="24383999" h="134112">
                  <a:moveTo>
                    <a:pt x="0" y="0"/>
                  </a:moveTo>
                  <a:lnTo>
                    <a:pt x="24383999" y="0"/>
                  </a:lnTo>
                  <a:lnTo>
                    <a:pt x="24383999" y="134112"/>
                  </a:lnTo>
                  <a:lnTo>
                    <a:pt x="0" y="134112"/>
                  </a:lnTo>
                  <a:close/>
                </a:path>
              </a:pathLst>
            </a:custGeom>
            <a:solidFill>
              <a:srgbClr val="64748B"/>
            </a:solidFill>
          </p:spPr>
        </p:sp>
        <p:sp>
          <p:nvSpPr>
            <p:cNvPr id="7" name="Freeform 7"/>
            <p:cNvSpPr/>
            <p:nvPr/>
          </p:nvSpPr>
          <p:spPr>
            <a:xfrm>
              <a:off x="0" y="0"/>
              <a:ext cx="24417782" cy="167896"/>
            </a:xfrm>
            <a:custGeom>
              <a:avLst/>
              <a:gdLst/>
              <a:ahLst/>
              <a:cxnLst/>
              <a:rect l="l" t="t" r="r" b="b"/>
              <a:pathLst>
                <a:path w="24417782" h="167896">
                  <a:moveTo>
                    <a:pt x="16891" y="0"/>
                  </a:moveTo>
                  <a:lnTo>
                    <a:pt x="24400890" y="0"/>
                  </a:lnTo>
                  <a:cubicBezTo>
                    <a:pt x="24410290" y="0"/>
                    <a:pt x="24417782" y="7620"/>
                    <a:pt x="24417782" y="16891"/>
                  </a:cubicBezTo>
                  <a:lnTo>
                    <a:pt x="24417782" y="151003"/>
                  </a:lnTo>
                  <a:cubicBezTo>
                    <a:pt x="24417782" y="160401"/>
                    <a:pt x="24410163" y="167894"/>
                    <a:pt x="24400890" y="167894"/>
                  </a:cubicBezTo>
                  <a:lnTo>
                    <a:pt x="16891" y="167894"/>
                  </a:lnTo>
                  <a:cubicBezTo>
                    <a:pt x="7620" y="168021"/>
                    <a:pt x="0" y="160401"/>
                    <a:pt x="0" y="151003"/>
                  </a:cubicBezTo>
                  <a:lnTo>
                    <a:pt x="0" y="16891"/>
                  </a:lnTo>
                  <a:cubicBezTo>
                    <a:pt x="0" y="7620"/>
                    <a:pt x="7620" y="0"/>
                    <a:pt x="16891" y="0"/>
                  </a:cubicBezTo>
                  <a:moveTo>
                    <a:pt x="16891" y="33909"/>
                  </a:moveTo>
                  <a:lnTo>
                    <a:pt x="16891" y="16891"/>
                  </a:lnTo>
                  <a:lnTo>
                    <a:pt x="33909" y="16891"/>
                  </a:lnTo>
                  <a:lnTo>
                    <a:pt x="33909" y="151003"/>
                  </a:lnTo>
                  <a:lnTo>
                    <a:pt x="16891" y="151003"/>
                  </a:lnTo>
                  <a:lnTo>
                    <a:pt x="16891" y="134112"/>
                  </a:lnTo>
                  <a:lnTo>
                    <a:pt x="24400890" y="134112"/>
                  </a:lnTo>
                  <a:lnTo>
                    <a:pt x="24400890" y="151003"/>
                  </a:lnTo>
                  <a:lnTo>
                    <a:pt x="24384000" y="151003"/>
                  </a:lnTo>
                  <a:lnTo>
                    <a:pt x="24384000" y="16891"/>
                  </a:lnTo>
                  <a:lnTo>
                    <a:pt x="24400890" y="16891"/>
                  </a:lnTo>
                  <a:lnTo>
                    <a:pt x="24400890" y="33909"/>
                  </a:lnTo>
                  <a:lnTo>
                    <a:pt x="16891" y="33909"/>
                  </a:lnTo>
                  <a:close/>
                </a:path>
              </a:pathLst>
            </a:custGeom>
            <a:solidFill>
              <a:srgbClr val="A0AABB"/>
            </a:solidFill>
          </p:spPr>
        </p:sp>
      </p:grpSp>
      <p:grpSp>
        <p:nvGrpSpPr>
          <p:cNvPr id="8" name="Group 8"/>
          <p:cNvGrpSpPr/>
          <p:nvPr/>
        </p:nvGrpSpPr>
        <p:grpSpPr>
          <a:xfrm>
            <a:off x="731520" y="329184"/>
            <a:ext cx="16824960" cy="1371600"/>
            <a:chOff x="0" y="0"/>
            <a:chExt cx="22433280" cy="1828800"/>
          </a:xfrm>
        </p:grpSpPr>
        <p:sp>
          <p:nvSpPr>
            <p:cNvPr id="9" name="Freeform 9"/>
            <p:cNvSpPr/>
            <p:nvPr/>
          </p:nvSpPr>
          <p:spPr>
            <a:xfrm>
              <a:off x="0" y="0"/>
              <a:ext cx="22433280" cy="1828800"/>
            </a:xfrm>
            <a:custGeom>
              <a:avLst/>
              <a:gdLst/>
              <a:ahLst/>
              <a:cxnLst/>
              <a:rect l="l" t="t" r="r" b="b"/>
              <a:pathLst>
                <a:path w="22433280" h="1828800">
                  <a:moveTo>
                    <a:pt x="0" y="0"/>
                  </a:moveTo>
                  <a:lnTo>
                    <a:pt x="22433280" y="0"/>
                  </a:lnTo>
                  <a:lnTo>
                    <a:pt x="22433280" y="1828800"/>
                  </a:lnTo>
                  <a:lnTo>
                    <a:pt x="0" y="1828800"/>
                  </a:lnTo>
                  <a:close/>
                </a:path>
              </a:pathLst>
            </a:custGeom>
            <a:blipFill>
              <a:blip r:embed="rId2">
                <a:alphaModFix amt="0"/>
              </a:blip>
              <a:stretch>
                <a:fillRect t="-189016" b="-189016"/>
              </a:stretch>
            </a:blipFill>
          </p:spPr>
        </p:sp>
        <p:sp>
          <p:nvSpPr>
            <p:cNvPr id="10" name="TextBox 10"/>
            <p:cNvSpPr txBox="1"/>
            <p:nvPr/>
          </p:nvSpPr>
          <p:spPr>
            <a:xfrm>
              <a:off x="0" y="-38100"/>
              <a:ext cx="22433280" cy="1866900"/>
            </a:xfrm>
            <a:prstGeom prst="rect">
              <a:avLst/>
            </a:prstGeom>
          </p:spPr>
          <p:txBody>
            <a:bodyPr lIns="0" tIns="0" rIns="0" bIns="0" rtlCol="0" anchor="ctr"/>
            <a:lstStyle/>
            <a:p>
              <a:pPr algn="l">
                <a:lnSpc>
                  <a:spcPts val="6719"/>
                </a:lnSpc>
              </a:pPr>
              <a:r>
                <a:rPr lang="en-US" sz="5599" b="1">
                  <a:solidFill>
                    <a:srgbClr val="FFFFFF"/>
                  </a:solidFill>
                  <a:latin typeface="Arial Bold"/>
                  <a:ea typeface="Arial Bold"/>
                  <a:cs typeface="Arial Bold"/>
                  <a:sym typeface="Arial Bold"/>
                </a:rPr>
                <a:t>PLACE STRATEGY</a:t>
              </a:r>
            </a:p>
          </p:txBody>
        </p:sp>
      </p:grpSp>
      <p:grpSp>
        <p:nvGrpSpPr>
          <p:cNvPr id="11" name="Group 11"/>
          <p:cNvGrpSpPr/>
          <p:nvPr/>
        </p:nvGrpSpPr>
        <p:grpSpPr>
          <a:xfrm>
            <a:off x="353063" y="2273303"/>
            <a:ext cx="153419" cy="3408683"/>
            <a:chOff x="0" y="0"/>
            <a:chExt cx="204559" cy="4544911"/>
          </a:xfrm>
        </p:grpSpPr>
        <p:sp>
          <p:nvSpPr>
            <p:cNvPr id="12" name="Freeform 12"/>
            <p:cNvSpPr/>
            <p:nvPr/>
          </p:nvSpPr>
          <p:spPr>
            <a:xfrm>
              <a:off x="16891" y="16891"/>
              <a:ext cx="170688" cy="4511040"/>
            </a:xfrm>
            <a:custGeom>
              <a:avLst/>
              <a:gdLst/>
              <a:ahLst/>
              <a:cxnLst/>
              <a:rect l="l" t="t" r="r" b="b"/>
              <a:pathLst>
                <a:path w="170688" h="4511040">
                  <a:moveTo>
                    <a:pt x="0" y="0"/>
                  </a:moveTo>
                  <a:lnTo>
                    <a:pt x="170688" y="0"/>
                  </a:lnTo>
                  <a:lnTo>
                    <a:pt x="170688" y="4511040"/>
                  </a:lnTo>
                  <a:lnTo>
                    <a:pt x="0" y="4511040"/>
                  </a:lnTo>
                  <a:close/>
                </a:path>
              </a:pathLst>
            </a:custGeom>
            <a:solidFill>
              <a:srgbClr val="0891B2"/>
            </a:solidFill>
          </p:spPr>
        </p:sp>
        <p:sp>
          <p:nvSpPr>
            <p:cNvPr id="13" name="Freeform 13"/>
            <p:cNvSpPr/>
            <p:nvPr/>
          </p:nvSpPr>
          <p:spPr>
            <a:xfrm>
              <a:off x="0" y="0"/>
              <a:ext cx="204470" cy="4544822"/>
            </a:xfrm>
            <a:custGeom>
              <a:avLst/>
              <a:gdLst/>
              <a:ahLst/>
              <a:cxnLst/>
              <a:rect l="l" t="t" r="r" b="b"/>
              <a:pathLst>
                <a:path w="204470" h="4544822">
                  <a:moveTo>
                    <a:pt x="16891" y="0"/>
                  </a:moveTo>
                  <a:lnTo>
                    <a:pt x="187579" y="0"/>
                  </a:lnTo>
                  <a:cubicBezTo>
                    <a:pt x="196977" y="0"/>
                    <a:pt x="204470" y="7620"/>
                    <a:pt x="204470" y="16891"/>
                  </a:cubicBezTo>
                  <a:lnTo>
                    <a:pt x="204470" y="4527931"/>
                  </a:lnTo>
                  <a:cubicBezTo>
                    <a:pt x="204470" y="4537329"/>
                    <a:pt x="196850" y="4544822"/>
                    <a:pt x="187579" y="4544822"/>
                  </a:cubicBezTo>
                  <a:lnTo>
                    <a:pt x="16891" y="4544822"/>
                  </a:lnTo>
                  <a:cubicBezTo>
                    <a:pt x="7493" y="4544822"/>
                    <a:pt x="0" y="4537202"/>
                    <a:pt x="0" y="4527931"/>
                  </a:cubicBezTo>
                  <a:lnTo>
                    <a:pt x="0" y="16891"/>
                  </a:lnTo>
                  <a:cubicBezTo>
                    <a:pt x="0" y="7620"/>
                    <a:pt x="7620" y="0"/>
                    <a:pt x="16891" y="0"/>
                  </a:cubicBezTo>
                  <a:moveTo>
                    <a:pt x="16891" y="33909"/>
                  </a:moveTo>
                  <a:lnTo>
                    <a:pt x="16891" y="16891"/>
                  </a:lnTo>
                  <a:lnTo>
                    <a:pt x="33909" y="16891"/>
                  </a:lnTo>
                  <a:lnTo>
                    <a:pt x="33909" y="4527931"/>
                  </a:lnTo>
                  <a:lnTo>
                    <a:pt x="16891" y="4527931"/>
                  </a:lnTo>
                  <a:lnTo>
                    <a:pt x="16891" y="4511040"/>
                  </a:lnTo>
                  <a:lnTo>
                    <a:pt x="187579" y="4511040"/>
                  </a:lnTo>
                  <a:lnTo>
                    <a:pt x="187579" y="4527931"/>
                  </a:lnTo>
                  <a:lnTo>
                    <a:pt x="170688" y="4527931"/>
                  </a:lnTo>
                  <a:lnTo>
                    <a:pt x="170688" y="16891"/>
                  </a:lnTo>
                  <a:lnTo>
                    <a:pt x="187579" y="16891"/>
                  </a:lnTo>
                  <a:lnTo>
                    <a:pt x="187579" y="33909"/>
                  </a:lnTo>
                  <a:lnTo>
                    <a:pt x="16891" y="33909"/>
                  </a:lnTo>
                  <a:close/>
                </a:path>
              </a:pathLst>
            </a:custGeom>
            <a:solidFill>
              <a:srgbClr val="0891B2"/>
            </a:solidFill>
          </p:spPr>
        </p:sp>
      </p:grpSp>
      <p:grpSp>
        <p:nvGrpSpPr>
          <p:cNvPr id="14" name="Group 14"/>
          <p:cNvGrpSpPr/>
          <p:nvPr/>
        </p:nvGrpSpPr>
        <p:grpSpPr>
          <a:xfrm>
            <a:off x="9320527" y="2279647"/>
            <a:ext cx="8425177" cy="3395977"/>
            <a:chOff x="0" y="0"/>
            <a:chExt cx="11233569" cy="4527969"/>
          </a:xfrm>
        </p:grpSpPr>
        <p:sp>
          <p:nvSpPr>
            <p:cNvPr id="15" name="Freeform 15"/>
            <p:cNvSpPr/>
            <p:nvPr/>
          </p:nvSpPr>
          <p:spPr>
            <a:xfrm>
              <a:off x="8509" y="8509"/>
              <a:ext cx="11216640" cy="4511040"/>
            </a:xfrm>
            <a:custGeom>
              <a:avLst/>
              <a:gdLst/>
              <a:ahLst/>
              <a:cxnLst/>
              <a:rect l="l" t="t" r="r" b="b"/>
              <a:pathLst>
                <a:path w="11216640" h="4511040">
                  <a:moveTo>
                    <a:pt x="0" y="0"/>
                  </a:moveTo>
                  <a:lnTo>
                    <a:pt x="11216640" y="0"/>
                  </a:lnTo>
                  <a:lnTo>
                    <a:pt x="11216640" y="4511040"/>
                  </a:lnTo>
                  <a:lnTo>
                    <a:pt x="0" y="4511040"/>
                  </a:lnTo>
                  <a:close/>
                </a:path>
              </a:pathLst>
            </a:custGeom>
            <a:blipFill>
              <a:blip r:embed="rId3">
                <a:alphaModFix amt="15000"/>
              </a:blip>
              <a:stretch>
                <a:fillRect t="-20021" b="-20021"/>
              </a:stretch>
            </a:blipFill>
          </p:spPr>
        </p:sp>
        <p:sp>
          <p:nvSpPr>
            <p:cNvPr id="16" name="Freeform 16"/>
            <p:cNvSpPr/>
            <p:nvPr/>
          </p:nvSpPr>
          <p:spPr>
            <a:xfrm>
              <a:off x="0" y="0"/>
              <a:ext cx="11233658" cy="4528058"/>
            </a:xfrm>
            <a:custGeom>
              <a:avLst/>
              <a:gdLst/>
              <a:ahLst/>
              <a:cxnLst/>
              <a:rect l="l" t="t" r="r" b="b"/>
              <a:pathLst>
                <a:path w="11233658" h="4528058">
                  <a:moveTo>
                    <a:pt x="8509" y="0"/>
                  </a:moveTo>
                  <a:lnTo>
                    <a:pt x="11225149" y="0"/>
                  </a:lnTo>
                  <a:cubicBezTo>
                    <a:pt x="11229848" y="0"/>
                    <a:pt x="11233658" y="3810"/>
                    <a:pt x="11233658" y="8509"/>
                  </a:cubicBezTo>
                  <a:lnTo>
                    <a:pt x="11233658" y="4519549"/>
                  </a:lnTo>
                  <a:cubicBezTo>
                    <a:pt x="11233658" y="4524248"/>
                    <a:pt x="11229848" y="4528058"/>
                    <a:pt x="11225149" y="4528058"/>
                  </a:cubicBezTo>
                  <a:lnTo>
                    <a:pt x="8509" y="4528058"/>
                  </a:lnTo>
                  <a:cubicBezTo>
                    <a:pt x="3810" y="4528058"/>
                    <a:pt x="0" y="4524248"/>
                    <a:pt x="0" y="4519549"/>
                  </a:cubicBezTo>
                  <a:lnTo>
                    <a:pt x="0" y="8509"/>
                  </a:lnTo>
                  <a:cubicBezTo>
                    <a:pt x="0" y="3810"/>
                    <a:pt x="3810" y="0"/>
                    <a:pt x="8509" y="0"/>
                  </a:cubicBezTo>
                  <a:moveTo>
                    <a:pt x="8509" y="16891"/>
                  </a:moveTo>
                  <a:lnTo>
                    <a:pt x="8509" y="8509"/>
                  </a:lnTo>
                  <a:lnTo>
                    <a:pt x="17018" y="8509"/>
                  </a:lnTo>
                  <a:lnTo>
                    <a:pt x="17018" y="4519549"/>
                  </a:lnTo>
                  <a:lnTo>
                    <a:pt x="8509" y="4519549"/>
                  </a:lnTo>
                  <a:lnTo>
                    <a:pt x="8509" y="4511040"/>
                  </a:lnTo>
                  <a:lnTo>
                    <a:pt x="11225149" y="4511040"/>
                  </a:lnTo>
                  <a:lnTo>
                    <a:pt x="11225149" y="4519549"/>
                  </a:lnTo>
                  <a:lnTo>
                    <a:pt x="11216640" y="4519549"/>
                  </a:lnTo>
                  <a:lnTo>
                    <a:pt x="11216640" y="8509"/>
                  </a:lnTo>
                  <a:lnTo>
                    <a:pt x="11225149" y="8509"/>
                  </a:lnTo>
                  <a:lnTo>
                    <a:pt x="11225149" y="17018"/>
                  </a:lnTo>
                  <a:lnTo>
                    <a:pt x="8509" y="17018"/>
                  </a:lnTo>
                  <a:close/>
                </a:path>
              </a:pathLst>
            </a:custGeom>
            <a:solidFill>
              <a:srgbClr val="E2E8F0">
                <a:alpha val="14902"/>
              </a:srgbClr>
            </a:solidFill>
          </p:spPr>
        </p:sp>
      </p:grpSp>
      <p:grpSp>
        <p:nvGrpSpPr>
          <p:cNvPr id="17" name="Group 17"/>
          <p:cNvGrpSpPr/>
          <p:nvPr/>
        </p:nvGrpSpPr>
        <p:grpSpPr>
          <a:xfrm>
            <a:off x="9314183" y="2273303"/>
            <a:ext cx="153419" cy="3408683"/>
            <a:chOff x="0" y="0"/>
            <a:chExt cx="204559" cy="4544911"/>
          </a:xfrm>
        </p:grpSpPr>
        <p:sp>
          <p:nvSpPr>
            <p:cNvPr id="18" name="Freeform 18"/>
            <p:cNvSpPr/>
            <p:nvPr/>
          </p:nvSpPr>
          <p:spPr>
            <a:xfrm>
              <a:off x="16891" y="16891"/>
              <a:ext cx="170688" cy="4511040"/>
            </a:xfrm>
            <a:custGeom>
              <a:avLst/>
              <a:gdLst/>
              <a:ahLst/>
              <a:cxnLst/>
              <a:rect l="l" t="t" r="r" b="b"/>
              <a:pathLst>
                <a:path w="170688" h="4511040">
                  <a:moveTo>
                    <a:pt x="0" y="0"/>
                  </a:moveTo>
                  <a:lnTo>
                    <a:pt x="170688" y="0"/>
                  </a:lnTo>
                  <a:lnTo>
                    <a:pt x="170688" y="4511040"/>
                  </a:lnTo>
                  <a:lnTo>
                    <a:pt x="0" y="4511040"/>
                  </a:lnTo>
                  <a:close/>
                </a:path>
              </a:pathLst>
            </a:custGeom>
            <a:solidFill>
              <a:srgbClr val="7C3AED"/>
            </a:solidFill>
          </p:spPr>
        </p:sp>
        <p:sp>
          <p:nvSpPr>
            <p:cNvPr id="19" name="Freeform 19"/>
            <p:cNvSpPr/>
            <p:nvPr/>
          </p:nvSpPr>
          <p:spPr>
            <a:xfrm>
              <a:off x="0" y="0"/>
              <a:ext cx="204470" cy="4544822"/>
            </a:xfrm>
            <a:custGeom>
              <a:avLst/>
              <a:gdLst/>
              <a:ahLst/>
              <a:cxnLst/>
              <a:rect l="l" t="t" r="r" b="b"/>
              <a:pathLst>
                <a:path w="204470" h="4544822">
                  <a:moveTo>
                    <a:pt x="16891" y="0"/>
                  </a:moveTo>
                  <a:lnTo>
                    <a:pt x="187579" y="0"/>
                  </a:lnTo>
                  <a:cubicBezTo>
                    <a:pt x="196977" y="0"/>
                    <a:pt x="204470" y="7620"/>
                    <a:pt x="204470" y="16891"/>
                  </a:cubicBezTo>
                  <a:lnTo>
                    <a:pt x="204470" y="4527931"/>
                  </a:lnTo>
                  <a:cubicBezTo>
                    <a:pt x="204470" y="4537329"/>
                    <a:pt x="196850" y="4544822"/>
                    <a:pt x="187579" y="4544822"/>
                  </a:cubicBezTo>
                  <a:lnTo>
                    <a:pt x="16891" y="4544822"/>
                  </a:lnTo>
                  <a:cubicBezTo>
                    <a:pt x="7493" y="4544822"/>
                    <a:pt x="0" y="4537202"/>
                    <a:pt x="0" y="4527931"/>
                  </a:cubicBezTo>
                  <a:lnTo>
                    <a:pt x="0" y="16891"/>
                  </a:lnTo>
                  <a:cubicBezTo>
                    <a:pt x="0" y="7620"/>
                    <a:pt x="7620" y="0"/>
                    <a:pt x="16891" y="0"/>
                  </a:cubicBezTo>
                  <a:moveTo>
                    <a:pt x="16891" y="33909"/>
                  </a:moveTo>
                  <a:lnTo>
                    <a:pt x="16891" y="16891"/>
                  </a:lnTo>
                  <a:lnTo>
                    <a:pt x="33909" y="16891"/>
                  </a:lnTo>
                  <a:lnTo>
                    <a:pt x="33909" y="4527931"/>
                  </a:lnTo>
                  <a:lnTo>
                    <a:pt x="16891" y="4527931"/>
                  </a:lnTo>
                  <a:lnTo>
                    <a:pt x="16891" y="4511040"/>
                  </a:lnTo>
                  <a:lnTo>
                    <a:pt x="187579" y="4511040"/>
                  </a:lnTo>
                  <a:lnTo>
                    <a:pt x="187579" y="4527931"/>
                  </a:lnTo>
                  <a:lnTo>
                    <a:pt x="170688" y="4527931"/>
                  </a:lnTo>
                  <a:lnTo>
                    <a:pt x="170688" y="16891"/>
                  </a:lnTo>
                  <a:lnTo>
                    <a:pt x="187579" y="16891"/>
                  </a:lnTo>
                  <a:lnTo>
                    <a:pt x="187579" y="33909"/>
                  </a:lnTo>
                  <a:lnTo>
                    <a:pt x="16891" y="33909"/>
                  </a:lnTo>
                  <a:close/>
                </a:path>
              </a:pathLst>
            </a:custGeom>
            <a:solidFill>
              <a:srgbClr val="7C3AED"/>
            </a:solidFill>
          </p:spPr>
        </p:sp>
      </p:grpSp>
      <p:grpSp>
        <p:nvGrpSpPr>
          <p:cNvPr id="20" name="Group 20"/>
          <p:cNvGrpSpPr/>
          <p:nvPr/>
        </p:nvGrpSpPr>
        <p:grpSpPr>
          <a:xfrm>
            <a:off x="10058395" y="2468880"/>
            <a:ext cx="6949440" cy="768096"/>
            <a:chOff x="0" y="0"/>
            <a:chExt cx="9265920" cy="1024128"/>
          </a:xfrm>
        </p:grpSpPr>
        <p:sp>
          <p:nvSpPr>
            <p:cNvPr id="21" name="Freeform 21"/>
            <p:cNvSpPr/>
            <p:nvPr/>
          </p:nvSpPr>
          <p:spPr>
            <a:xfrm>
              <a:off x="0" y="0"/>
              <a:ext cx="9265920" cy="1024128"/>
            </a:xfrm>
            <a:custGeom>
              <a:avLst/>
              <a:gdLst/>
              <a:ahLst/>
              <a:cxnLst/>
              <a:rect l="l" t="t" r="r" b="b"/>
              <a:pathLst>
                <a:path w="9265920" h="1024128">
                  <a:moveTo>
                    <a:pt x="0" y="0"/>
                  </a:moveTo>
                  <a:lnTo>
                    <a:pt x="9265920" y="0"/>
                  </a:lnTo>
                  <a:lnTo>
                    <a:pt x="9265920" y="1024128"/>
                  </a:lnTo>
                  <a:lnTo>
                    <a:pt x="0" y="1024128"/>
                  </a:lnTo>
                  <a:close/>
                </a:path>
              </a:pathLst>
            </a:custGeom>
            <a:blipFill>
              <a:blip r:embed="rId2">
                <a:alphaModFix amt="0"/>
              </a:blip>
              <a:stretch>
                <a:fillRect t="-126293" b="-126293"/>
              </a:stretch>
            </a:blipFill>
          </p:spPr>
        </p:sp>
        <p:sp>
          <p:nvSpPr>
            <p:cNvPr id="22" name="TextBox 22"/>
            <p:cNvSpPr txBox="1"/>
            <p:nvPr/>
          </p:nvSpPr>
          <p:spPr>
            <a:xfrm>
              <a:off x="0" y="-66675"/>
              <a:ext cx="9265920" cy="1090803"/>
            </a:xfrm>
            <a:prstGeom prst="rect">
              <a:avLst/>
            </a:prstGeom>
          </p:spPr>
          <p:txBody>
            <a:bodyPr lIns="0" tIns="0" rIns="0" bIns="0" rtlCol="0" anchor="ctr"/>
            <a:lstStyle/>
            <a:p>
              <a:pPr algn="l">
                <a:lnSpc>
                  <a:spcPts val="4320"/>
                </a:lnSpc>
              </a:pPr>
              <a:r>
                <a:rPr lang="en-US" sz="3600" b="1">
                  <a:solidFill>
                    <a:srgbClr val="0D1B3E"/>
                  </a:solidFill>
                  <a:latin typeface="Calibri (MS) Bold"/>
                  <a:ea typeface="Calibri (MS) Bold"/>
                  <a:cs typeface="Calibri (MS) Bold"/>
                  <a:sym typeface="Calibri (MS) Bold"/>
                </a:rPr>
                <a:t>E-Commerce (E-Plaza)</a:t>
              </a:r>
            </a:p>
          </p:txBody>
        </p:sp>
      </p:grpSp>
      <p:grpSp>
        <p:nvGrpSpPr>
          <p:cNvPr id="23" name="Group 23"/>
          <p:cNvGrpSpPr/>
          <p:nvPr/>
        </p:nvGrpSpPr>
        <p:grpSpPr>
          <a:xfrm>
            <a:off x="506482" y="2286010"/>
            <a:ext cx="8425177" cy="3395977"/>
            <a:chOff x="0" y="0"/>
            <a:chExt cx="11233569" cy="4527969"/>
          </a:xfrm>
        </p:grpSpPr>
        <p:sp>
          <p:nvSpPr>
            <p:cNvPr id="24" name="Freeform 24"/>
            <p:cNvSpPr/>
            <p:nvPr/>
          </p:nvSpPr>
          <p:spPr>
            <a:xfrm>
              <a:off x="8509" y="8509"/>
              <a:ext cx="11216640" cy="4511040"/>
            </a:xfrm>
            <a:custGeom>
              <a:avLst/>
              <a:gdLst/>
              <a:ahLst/>
              <a:cxnLst/>
              <a:rect l="l" t="t" r="r" b="b"/>
              <a:pathLst>
                <a:path w="11216640" h="4511040">
                  <a:moveTo>
                    <a:pt x="0" y="0"/>
                  </a:moveTo>
                  <a:lnTo>
                    <a:pt x="11216640" y="0"/>
                  </a:lnTo>
                  <a:lnTo>
                    <a:pt x="11216640" y="4511040"/>
                  </a:lnTo>
                  <a:lnTo>
                    <a:pt x="0" y="4511040"/>
                  </a:lnTo>
                  <a:close/>
                </a:path>
              </a:pathLst>
            </a:custGeom>
            <a:blipFill>
              <a:blip r:embed="rId4">
                <a:alphaModFix amt="19999"/>
              </a:blip>
              <a:stretch>
                <a:fillRect t="-25837" b="-25837"/>
              </a:stretch>
            </a:blipFill>
          </p:spPr>
        </p:sp>
        <p:sp>
          <p:nvSpPr>
            <p:cNvPr id="25" name="Freeform 25"/>
            <p:cNvSpPr/>
            <p:nvPr/>
          </p:nvSpPr>
          <p:spPr>
            <a:xfrm>
              <a:off x="0" y="0"/>
              <a:ext cx="11233658" cy="4528058"/>
            </a:xfrm>
            <a:custGeom>
              <a:avLst/>
              <a:gdLst/>
              <a:ahLst/>
              <a:cxnLst/>
              <a:rect l="l" t="t" r="r" b="b"/>
              <a:pathLst>
                <a:path w="11233658" h="4528058">
                  <a:moveTo>
                    <a:pt x="8509" y="0"/>
                  </a:moveTo>
                  <a:lnTo>
                    <a:pt x="11225149" y="0"/>
                  </a:lnTo>
                  <a:cubicBezTo>
                    <a:pt x="11229848" y="0"/>
                    <a:pt x="11233658" y="3810"/>
                    <a:pt x="11233658" y="8509"/>
                  </a:cubicBezTo>
                  <a:lnTo>
                    <a:pt x="11233658" y="4519549"/>
                  </a:lnTo>
                  <a:cubicBezTo>
                    <a:pt x="11233658" y="4524248"/>
                    <a:pt x="11229848" y="4528058"/>
                    <a:pt x="11225149" y="4528058"/>
                  </a:cubicBezTo>
                  <a:lnTo>
                    <a:pt x="8509" y="4528058"/>
                  </a:lnTo>
                  <a:cubicBezTo>
                    <a:pt x="3810" y="4528058"/>
                    <a:pt x="0" y="4524248"/>
                    <a:pt x="0" y="4519549"/>
                  </a:cubicBezTo>
                  <a:lnTo>
                    <a:pt x="0" y="8509"/>
                  </a:lnTo>
                  <a:cubicBezTo>
                    <a:pt x="0" y="3810"/>
                    <a:pt x="3810" y="0"/>
                    <a:pt x="8509" y="0"/>
                  </a:cubicBezTo>
                  <a:moveTo>
                    <a:pt x="8509" y="16891"/>
                  </a:moveTo>
                  <a:lnTo>
                    <a:pt x="8509" y="8509"/>
                  </a:lnTo>
                  <a:lnTo>
                    <a:pt x="17018" y="8509"/>
                  </a:lnTo>
                  <a:lnTo>
                    <a:pt x="17018" y="4519549"/>
                  </a:lnTo>
                  <a:lnTo>
                    <a:pt x="8509" y="4519549"/>
                  </a:lnTo>
                  <a:lnTo>
                    <a:pt x="8509" y="4511040"/>
                  </a:lnTo>
                  <a:lnTo>
                    <a:pt x="11225149" y="4511040"/>
                  </a:lnTo>
                  <a:lnTo>
                    <a:pt x="11225149" y="4519549"/>
                  </a:lnTo>
                  <a:lnTo>
                    <a:pt x="11216640" y="4519549"/>
                  </a:lnTo>
                  <a:lnTo>
                    <a:pt x="11216640" y="8509"/>
                  </a:lnTo>
                  <a:lnTo>
                    <a:pt x="11225149" y="8509"/>
                  </a:lnTo>
                  <a:lnTo>
                    <a:pt x="11225149" y="17018"/>
                  </a:lnTo>
                  <a:lnTo>
                    <a:pt x="8509" y="17018"/>
                  </a:lnTo>
                  <a:close/>
                </a:path>
              </a:pathLst>
            </a:custGeom>
            <a:solidFill>
              <a:srgbClr val="E2E8F0">
                <a:alpha val="19608"/>
              </a:srgbClr>
            </a:solidFill>
          </p:spPr>
        </p:sp>
      </p:grpSp>
      <p:grpSp>
        <p:nvGrpSpPr>
          <p:cNvPr id="26" name="Group 26"/>
          <p:cNvGrpSpPr/>
          <p:nvPr/>
        </p:nvGrpSpPr>
        <p:grpSpPr>
          <a:xfrm>
            <a:off x="353063" y="6022343"/>
            <a:ext cx="153419" cy="3408683"/>
            <a:chOff x="0" y="0"/>
            <a:chExt cx="204559" cy="4544911"/>
          </a:xfrm>
        </p:grpSpPr>
        <p:sp>
          <p:nvSpPr>
            <p:cNvPr id="27" name="Freeform 27"/>
            <p:cNvSpPr/>
            <p:nvPr/>
          </p:nvSpPr>
          <p:spPr>
            <a:xfrm>
              <a:off x="16891" y="16891"/>
              <a:ext cx="170688" cy="4511040"/>
            </a:xfrm>
            <a:custGeom>
              <a:avLst/>
              <a:gdLst/>
              <a:ahLst/>
              <a:cxnLst/>
              <a:rect l="l" t="t" r="r" b="b"/>
              <a:pathLst>
                <a:path w="170688" h="4511040">
                  <a:moveTo>
                    <a:pt x="0" y="0"/>
                  </a:moveTo>
                  <a:lnTo>
                    <a:pt x="170688" y="0"/>
                  </a:lnTo>
                  <a:lnTo>
                    <a:pt x="170688" y="4511040"/>
                  </a:lnTo>
                  <a:lnTo>
                    <a:pt x="0" y="4511040"/>
                  </a:lnTo>
                  <a:close/>
                </a:path>
              </a:pathLst>
            </a:custGeom>
            <a:solidFill>
              <a:srgbClr val="059669"/>
            </a:solidFill>
          </p:spPr>
        </p:sp>
        <p:sp>
          <p:nvSpPr>
            <p:cNvPr id="28" name="Freeform 28"/>
            <p:cNvSpPr/>
            <p:nvPr/>
          </p:nvSpPr>
          <p:spPr>
            <a:xfrm>
              <a:off x="0" y="0"/>
              <a:ext cx="204470" cy="4544822"/>
            </a:xfrm>
            <a:custGeom>
              <a:avLst/>
              <a:gdLst/>
              <a:ahLst/>
              <a:cxnLst/>
              <a:rect l="l" t="t" r="r" b="b"/>
              <a:pathLst>
                <a:path w="204470" h="4544822">
                  <a:moveTo>
                    <a:pt x="16891" y="0"/>
                  </a:moveTo>
                  <a:lnTo>
                    <a:pt x="187579" y="0"/>
                  </a:lnTo>
                  <a:cubicBezTo>
                    <a:pt x="196977" y="0"/>
                    <a:pt x="204470" y="7620"/>
                    <a:pt x="204470" y="16891"/>
                  </a:cubicBezTo>
                  <a:lnTo>
                    <a:pt x="204470" y="4527931"/>
                  </a:lnTo>
                  <a:cubicBezTo>
                    <a:pt x="204470" y="4537329"/>
                    <a:pt x="196850" y="4544822"/>
                    <a:pt x="187579" y="4544822"/>
                  </a:cubicBezTo>
                  <a:lnTo>
                    <a:pt x="16891" y="4544822"/>
                  </a:lnTo>
                  <a:cubicBezTo>
                    <a:pt x="7493" y="4544822"/>
                    <a:pt x="0" y="4537202"/>
                    <a:pt x="0" y="4527931"/>
                  </a:cubicBezTo>
                  <a:lnTo>
                    <a:pt x="0" y="16891"/>
                  </a:lnTo>
                  <a:cubicBezTo>
                    <a:pt x="0" y="7620"/>
                    <a:pt x="7620" y="0"/>
                    <a:pt x="16891" y="0"/>
                  </a:cubicBezTo>
                  <a:moveTo>
                    <a:pt x="16891" y="33909"/>
                  </a:moveTo>
                  <a:lnTo>
                    <a:pt x="16891" y="16891"/>
                  </a:lnTo>
                  <a:lnTo>
                    <a:pt x="33909" y="16891"/>
                  </a:lnTo>
                  <a:lnTo>
                    <a:pt x="33909" y="4527931"/>
                  </a:lnTo>
                  <a:lnTo>
                    <a:pt x="16891" y="4527931"/>
                  </a:lnTo>
                  <a:lnTo>
                    <a:pt x="16891" y="4511040"/>
                  </a:lnTo>
                  <a:lnTo>
                    <a:pt x="187579" y="4511040"/>
                  </a:lnTo>
                  <a:lnTo>
                    <a:pt x="187579" y="4527931"/>
                  </a:lnTo>
                  <a:lnTo>
                    <a:pt x="170688" y="4527931"/>
                  </a:lnTo>
                  <a:lnTo>
                    <a:pt x="170688" y="16891"/>
                  </a:lnTo>
                  <a:lnTo>
                    <a:pt x="187579" y="16891"/>
                  </a:lnTo>
                  <a:lnTo>
                    <a:pt x="187579" y="33909"/>
                  </a:lnTo>
                  <a:lnTo>
                    <a:pt x="16891" y="33909"/>
                  </a:lnTo>
                  <a:close/>
                </a:path>
              </a:pathLst>
            </a:custGeom>
            <a:solidFill>
              <a:srgbClr val="059669"/>
            </a:solidFill>
          </p:spPr>
        </p:sp>
      </p:grpSp>
      <p:grpSp>
        <p:nvGrpSpPr>
          <p:cNvPr id="29" name="Group 29"/>
          <p:cNvGrpSpPr/>
          <p:nvPr/>
        </p:nvGrpSpPr>
        <p:grpSpPr>
          <a:xfrm>
            <a:off x="9320527" y="6028687"/>
            <a:ext cx="8425177" cy="3395977"/>
            <a:chOff x="0" y="0"/>
            <a:chExt cx="11233569" cy="4527969"/>
          </a:xfrm>
        </p:grpSpPr>
        <p:sp>
          <p:nvSpPr>
            <p:cNvPr id="30" name="Freeform 30"/>
            <p:cNvSpPr/>
            <p:nvPr/>
          </p:nvSpPr>
          <p:spPr>
            <a:xfrm>
              <a:off x="8509" y="8509"/>
              <a:ext cx="11216640" cy="4511040"/>
            </a:xfrm>
            <a:custGeom>
              <a:avLst/>
              <a:gdLst/>
              <a:ahLst/>
              <a:cxnLst/>
              <a:rect l="l" t="t" r="r" b="b"/>
              <a:pathLst>
                <a:path w="11216640" h="4511040">
                  <a:moveTo>
                    <a:pt x="0" y="0"/>
                  </a:moveTo>
                  <a:lnTo>
                    <a:pt x="11216640" y="0"/>
                  </a:lnTo>
                  <a:lnTo>
                    <a:pt x="11216640" y="4511040"/>
                  </a:lnTo>
                  <a:lnTo>
                    <a:pt x="0" y="4511040"/>
                  </a:lnTo>
                  <a:close/>
                </a:path>
              </a:pathLst>
            </a:custGeom>
            <a:blipFill>
              <a:blip r:embed="rId5">
                <a:alphaModFix amt="19999"/>
              </a:blip>
              <a:stretch>
                <a:fillRect t="-19853" b="-19853"/>
              </a:stretch>
            </a:blipFill>
          </p:spPr>
        </p:sp>
        <p:sp>
          <p:nvSpPr>
            <p:cNvPr id="31" name="Freeform 31"/>
            <p:cNvSpPr/>
            <p:nvPr/>
          </p:nvSpPr>
          <p:spPr>
            <a:xfrm>
              <a:off x="0" y="0"/>
              <a:ext cx="11233658" cy="4528058"/>
            </a:xfrm>
            <a:custGeom>
              <a:avLst/>
              <a:gdLst/>
              <a:ahLst/>
              <a:cxnLst/>
              <a:rect l="l" t="t" r="r" b="b"/>
              <a:pathLst>
                <a:path w="11233658" h="4528058">
                  <a:moveTo>
                    <a:pt x="8509" y="0"/>
                  </a:moveTo>
                  <a:lnTo>
                    <a:pt x="11225149" y="0"/>
                  </a:lnTo>
                  <a:cubicBezTo>
                    <a:pt x="11229848" y="0"/>
                    <a:pt x="11233658" y="3810"/>
                    <a:pt x="11233658" y="8509"/>
                  </a:cubicBezTo>
                  <a:lnTo>
                    <a:pt x="11233658" y="4519549"/>
                  </a:lnTo>
                  <a:cubicBezTo>
                    <a:pt x="11233658" y="4524248"/>
                    <a:pt x="11229848" y="4528058"/>
                    <a:pt x="11225149" y="4528058"/>
                  </a:cubicBezTo>
                  <a:lnTo>
                    <a:pt x="8509" y="4528058"/>
                  </a:lnTo>
                  <a:cubicBezTo>
                    <a:pt x="3810" y="4528058"/>
                    <a:pt x="0" y="4524248"/>
                    <a:pt x="0" y="4519549"/>
                  </a:cubicBezTo>
                  <a:lnTo>
                    <a:pt x="0" y="8509"/>
                  </a:lnTo>
                  <a:cubicBezTo>
                    <a:pt x="0" y="3810"/>
                    <a:pt x="3810" y="0"/>
                    <a:pt x="8509" y="0"/>
                  </a:cubicBezTo>
                  <a:moveTo>
                    <a:pt x="8509" y="16891"/>
                  </a:moveTo>
                  <a:lnTo>
                    <a:pt x="8509" y="8509"/>
                  </a:lnTo>
                  <a:lnTo>
                    <a:pt x="17018" y="8509"/>
                  </a:lnTo>
                  <a:lnTo>
                    <a:pt x="17018" y="4519549"/>
                  </a:lnTo>
                  <a:lnTo>
                    <a:pt x="8509" y="4519549"/>
                  </a:lnTo>
                  <a:lnTo>
                    <a:pt x="8509" y="4511040"/>
                  </a:lnTo>
                  <a:lnTo>
                    <a:pt x="11225149" y="4511040"/>
                  </a:lnTo>
                  <a:lnTo>
                    <a:pt x="11225149" y="4519549"/>
                  </a:lnTo>
                  <a:lnTo>
                    <a:pt x="11216640" y="4519549"/>
                  </a:lnTo>
                  <a:lnTo>
                    <a:pt x="11216640" y="8509"/>
                  </a:lnTo>
                  <a:lnTo>
                    <a:pt x="11225149" y="8509"/>
                  </a:lnTo>
                  <a:lnTo>
                    <a:pt x="11225149" y="17018"/>
                  </a:lnTo>
                  <a:lnTo>
                    <a:pt x="8509" y="17018"/>
                  </a:lnTo>
                  <a:close/>
                </a:path>
              </a:pathLst>
            </a:custGeom>
            <a:solidFill>
              <a:srgbClr val="E2E8F0">
                <a:alpha val="19608"/>
              </a:srgbClr>
            </a:solidFill>
          </p:spPr>
        </p:sp>
      </p:grpSp>
      <p:grpSp>
        <p:nvGrpSpPr>
          <p:cNvPr id="32" name="Group 32"/>
          <p:cNvGrpSpPr/>
          <p:nvPr/>
        </p:nvGrpSpPr>
        <p:grpSpPr>
          <a:xfrm>
            <a:off x="9314183" y="6022343"/>
            <a:ext cx="153419" cy="3408683"/>
            <a:chOff x="0" y="0"/>
            <a:chExt cx="204559" cy="4544911"/>
          </a:xfrm>
        </p:grpSpPr>
        <p:sp>
          <p:nvSpPr>
            <p:cNvPr id="33" name="Freeform 33"/>
            <p:cNvSpPr/>
            <p:nvPr/>
          </p:nvSpPr>
          <p:spPr>
            <a:xfrm>
              <a:off x="16891" y="16891"/>
              <a:ext cx="170688" cy="4511040"/>
            </a:xfrm>
            <a:custGeom>
              <a:avLst/>
              <a:gdLst/>
              <a:ahLst/>
              <a:cxnLst/>
              <a:rect l="l" t="t" r="r" b="b"/>
              <a:pathLst>
                <a:path w="170688" h="4511040">
                  <a:moveTo>
                    <a:pt x="0" y="0"/>
                  </a:moveTo>
                  <a:lnTo>
                    <a:pt x="170688" y="0"/>
                  </a:lnTo>
                  <a:lnTo>
                    <a:pt x="170688" y="4511040"/>
                  </a:lnTo>
                  <a:lnTo>
                    <a:pt x="0" y="4511040"/>
                  </a:lnTo>
                  <a:close/>
                </a:path>
              </a:pathLst>
            </a:custGeom>
            <a:solidFill>
              <a:srgbClr val="DC2626"/>
            </a:solidFill>
          </p:spPr>
        </p:sp>
        <p:sp>
          <p:nvSpPr>
            <p:cNvPr id="34" name="Freeform 34"/>
            <p:cNvSpPr/>
            <p:nvPr/>
          </p:nvSpPr>
          <p:spPr>
            <a:xfrm>
              <a:off x="0" y="0"/>
              <a:ext cx="204470" cy="4544822"/>
            </a:xfrm>
            <a:custGeom>
              <a:avLst/>
              <a:gdLst/>
              <a:ahLst/>
              <a:cxnLst/>
              <a:rect l="l" t="t" r="r" b="b"/>
              <a:pathLst>
                <a:path w="204470" h="4544822">
                  <a:moveTo>
                    <a:pt x="16891" y="0"/>
                  </a:moveTo>
                  <a:lnTo>
                    <a:pt x="187579" y="0"/>
                  </a:lnTo>
                  <a:cubicBezTo>
                    <a:pt x="196977" y="0"/>
                    <a:pt x="204470" y="7620"/>
                    <a:pt x="204470" y="16891"/>
                  </a:cubicBezTo>
                  <a:lnTo>
                    <a:pt x="204470" y="4527931"/>
                  </a:lnTo>
                  <a:cubicBezTo>
                    <a:pt x="204470" y="4537329"/>
                    <a:pt x="196850" y="4544822"/>
                    <a:pt x="187579" y="4544822"/>
                  </a:cubicBezTo>
                  <a:lnTo>
                    <a:pt x="16891" y="4544822"/>
                  </a:lnTo>
                  <a:cubicBezTo>
                    <a:pt x="7493" y="4544822"/>
                    <a:pt x="0" y="4537202"/>
                    <a:pt x="0" y="4527931"/>
                  </a:cubicBezTo>
                  <a:lnTo>
                    <a:pt x="0" y="16891"/>
                  </a:lnTo>
                  <a:cubicBezTo>
                    <a:pt x="0" y="7620"/>
                    <a:pt x="7620" y="0"/>
                    <a:pt x="16891" y="0"/>
                  </a:cubicBezTo>
                  <a:moveTo>
                    <a:pt x="16891" y="33909"/>
                  </a:moveTo>
                  <a:lnTo>
                    <a:pt x="16891" y="16891"/>
                  </a:lnTo>
                  <a:lnTo>
                    <a:pt x="33909" y="16891"/>
                  </a:lnTo>
                  <a:lnTo>
                    <a:pt x="33909" y="4527931"/>
                  </a:lnTo>
                  <a:lnTo>
                    <a:pt x="16891" y="4527931"/>
                  </a:lnTo>
                  <a:lnTo>
                    <a:pt x="16891" y="4511040"/>
                  </a:lnTo>
                  <a:lnTo>
                    <a:pt x="187579" y="4511040"/>
                  </a:lnTo>
                  <a:lnTo>
                    <a:pt x="187579" y="4527931"/>
                  </a:lnTo>
                  <a:lnTo>
                    <a:pt x="170688" y="4527931"/>
                  </a:lnTo>
                  <a:lnTo>
                    <a:pt x="170688" y="16891"/>
                  </a:lnTo>
                  <a:lnTo>
                    <a:pt x="187579" y="16891"/>
                  </a:lnTo>
                  <a:lnTo>
                    <a:pt x="187579" y="33909"/>
                  </a:lnTo>
                  <a:lnTo>
                    <a:pt x="16891" y="33909"/>
                  </a:lnTo>
                  <a:close/>
                </a:path>
              </a:pathLst>
            </a:custGeom>
            <a:solidFill>
              <a:srgbClr val="DC2626"/>
            </a:solidFill>
          </p:spPr>
        </p:sp>
      </p:grpSp>
      <p:grpSp>
        <p:nvGrpSpPr>
          <p:cNvPr id="35" name="Group 35"/>
          <p:cNvGrpSpPr/>
          <p:nvPr/>
        </p:nvGrpSpPr>
        <p:grpSpPr>
          <a:xfrm>
            <a:off x="10058395" y="6131497"/>
            <a:ext cx="6949440" cy="768096"/>
            <a:chOff x="0" y="0"/>
            <a:chExt cx="9265920" cy="1024128"/>
          </a:xfrm>
        </p:grpSpPr>
        <p:sp>
          <p:nvSpPr>
            <p:cNvPr id="36" name="Freeform 36"/>
            <p:cNvSpPr/>
            <p:nvPr/>
          </p:nvSpPr>
          <p:spPr>
            <a:xfrm>
              <a:off x="0" y="0"/>
              <a:ext cx="9265920" cy="1024128"/>
            </a:xfrm>
            <a:custGeom>
              <a:avLst/>
              <a:gdLst/>
              <a:ahLst/>
              <a:cxnLst/>
              <a:rect l="l" t="t" r="r" b="b"/>
              <a:pathLst>
                <a:path w="9265920" h="1024128">
                  <a:moveTo>
                    <a:pt x="0" y="0"/>
                  </a:moveTo>
                  <a:lnTo>
                    <a:pt x="9265920" y="0"/>
                  </a:lnTo>
                  <a:lnTo>
                    <a:pt x="9265920" y="1024128"/>
                  </a:lnTo>
                  <a:lnTo>
                    <a:pt x="0" y="1024128"/>
                  </a:lnTo>
                  <a:close/>
                </a:path>
              </a:pathLst>
            </a:custGeom>
            <a:blipFill>
              <a:blip r:embed="rId2">
                <a:alphaModFix amt="0"/>
              </a:blip>
              <a:stretch>
                <a:fillRect t="-126293" b="-126293"/>
              </a:stretch>
            </a:blipFill>
          </p:spPr>
        </p:sp>
        <p:sp>
          <p:nvSpPr>
            <p:cNvPr id="37" name="TextBox 37"/>
            <p:cNvSpPr txBox="1"/>
            <p:nvPr/>
          </p:nvSpPr>
          <p:spPr>
            <a:xfrm>
              <a:off x="0" y="-66675"/>
              <a:ext cx="9265920" cy="1090803"/>
            </a:xfrm>
            <a:prstGeom prst="rect">
              <a:avLst/>
            </a:prstGeom>
          </p:spPr>
          <p:txBody>
            <a:bodyPr lIns="0" tIns="0" rIns="0" bIns="0" rtlCol="0" anchor="ctr"/>
            <a:lstStyle/>
            <a:p>
              <a:pPr algn="l">
                <a:lnSpc>
                  <a:spcPts val="4320"/>
                </a:lnSpc>
              </a:pPr>
              <a:r>
                <a:rPr lang="en-US" sz="3600" b="1">
                  <a:solidFill>
                    <a:srgbClr val="0D1B3E"/>
                  </a:solidFill>
                  <a:latin typeface="Calibri (MS) Bold"/>
                  <a:ea typeface="Calibri (MS) Bold"/>
                  <a:cs typeface="Calibri (MS) Bold"/>
                  <a:sym typeface="Calibri (MS) Bold"/>
                </a:rPr>
                <a:t>Global Distribution</a:t>
              </a:r>
            </a:p>
          </p:txBody>
        </p:sp>
      </p:grpSp>
      <p:sp>
        <p:nvSpPr>
          <p:cNvPr id="38" name="Freeform 38"/>
          <p:cNvSpPr/>
          <p:nvPr/>
        </p:nvSpPr>
        <p:spPr>
          <a:xfrm>
            <a:off x="13990320" y="10196189"/>
            <a:ext cx="5029317" cy="5029317"/>
          </a:xfrm>
          <a:custGeom>
            <a:avLst/>
            <a:gdLst/>
            <a:ahLst/>
            <a:cxnLst/>
            <a:rect l="l" t="t" r="r" b="b"/>
            <a:pathLst>
              <a:path w="5029317" h="5029317">
                <a:moveTo>
                  <a:pt x="0" y="0"/>
                </a:moveTo>
                <a:lnTo>
                  <a:pt x="5029317" y="0"/>
                </a:lnTo>
                <a:lnTo>
                  <a:pt x="5029317" y="5029316"/>
                </a:lnTo>
                <a:lnTo>
                  <a:pt x="0" y="5029316"/>
                </a:lnTo>
                <a:lnTo>
                  <a:pt x="0" y="0"/>
                </a:lnTo>
                <a:close/>
              </a:path>
            </a:pathLst>
          </a:custGeom>
          <a:blipFill>
            <a:blip r:embed="rId6"/>
            <a:stretch>
              <a:fillRect/>
            </a:stretch>
          </a:blipFill>
        </p:spPr>
      </p:sp>
      <p:grpSp>
        <p:nvGrpSpPr>
          <p:cNvPr id="39" name="Group 39"/>
          <p:cNvGrpSpPr/>
          <p:nvPr/>
        </p:nvGrpSpPr>
        <p:grpSpPr>
          <a:xfrm>
            <a:off x="536581" y="6028687"/>
            <a:ext cx="8425177" cy="3453765"/>
            <a:chOff x="0" y="0"/>
            <a:chExt cx="11233569" cy="4605020"/>
          </a:xfrm>
        </p:grpSpPr>
        <p:sp>
          <p:nvSpPr>
            <p:cNvPr id="40" name="Freeform 40"/>
            <p:cNvSpPr/>
            <p:nvPr/>
          </p:nvSpPr>
          <p:spPr>
            <a:xfrm>
              <a:off x="8509" y="8654"/>
              <a:ext cx="11216640" cy="4587803"/>
            </a:xfrm>
            <a:custGeom>
              <a:avLst/>
              <a:gdLst/>
              <a:ahLst/>
              <a:cxnLst/>
              <a:rect l="l" t="t" r="r" b="b"/>
              <a:pathLst>
                <a:path w="11216640" h="4587803">
                  <a:moveTo>
                    <a:pt x="0" y="0"/>
                  </a:moveTo>
                  <a:lnTo>
                    <a:pt x="11216640" y="0"/>
                  </a:lnTo>
                  <a:lnTo>
                    <a:pt x="11216640" y="4587803"/>
                  </a:lnTo>
                  <a:lnTo>
                    <a:pt x="0" y="4587803"/>
                  </a:lnTo>
                  <a:close/>
                </a:path>
              </a:pathLst>
            </a:custGeom>
            <a:blipFill>
              <a:blip r:embed="rId6">
                <a:alphaModFix amt="19999"/>
              </a:blip>
              <a:stretch>
                <a:fillRect t="-72244" b="-72244"/>
              </a:stretch>
            </a:blipFill>
          </p:spPr>
        </p:sp>
        <p:sp>
          <p:nvSpPr>
            <p:cNvPr id="41" name="Freeform 41"/>
            <p:cNvSpPr/>
            <p:nvPr/>
          </p:nvSpPr>
          <p:spPr>
            <a:xfrm>
              <a:off x="0" y="0"/>
              <a:ext cx="11233658" cy="4605109"/>
            </a:xfrm>
            <a:custGeom>
              <a:avLst/>
              <a:gdLst/>
              <a:ahLst/>
              <a:cxnLst/>
              <a:rect l="l" t="t" r="r" b="b"/>
              <a:pathLst>
                <a:path w="11233658" h="4605109">
                  <a:moveTo>
                    <a:pt x="8509" y="0"/>
                  </a:moveTo>
                  <a:lnTo>
                    <a:pt x="11225149" y="0"/>
                  </a:lnTo>
                  <a:cubicBezTo>
                    <a:pt x="11229848" y="0"/>
                    <a:pt x="11233658" y="3875"/>
                    <a:pt x="11233658" y="8654"/>
                  </a:cubicBezTo>
                  <a:lnTo>
                    <a:pt x="11233658" y="4596457"/>
                  </a:lnTo>
                  <a:cubicBezTo>
                    <a:pt x="11233658" y="4601236"/>
                    <a:pt x="11229848" y="4605109"/>
                    <a:pt x="11225149" y="4605109"/>
                  </a:cubicBezTo>
                  <a:lnTo>
                    <a:pt x="8509" y="4605109"/>
                  </a:lnTo>
                  <a:cubicBezTo>
                    <a:pt x="3810" y="4605109"/>
                    <a:pt x="0" y="4601236"/>
                    <a:pt x="0" y="4596457"/>
                  </a:cubicBezTo>
                  <a:lnTo>
                    <a:pt x="0" y="8654"/>
                  </a:lnTo>
                  <a:cubicBezTo>
                    <a:pt x="0" y="3875"/>
                    <a:pt x="3810" y="0"/>
                    <a:pt x="8509" y="0"/>
                  </a:cubicBezTo>
                  <a:moveTo>
                    <a:pt x="8509" y="17178"/>
                  </a:moveTo>
                  <a:lnTo>
                    <a:pt x="8509" y="8654"/>
                  </a:lnTo>
                  <a:lnTo>
                    <a:pt x="17018" y="8654"/>
                  </a:lnTo>
                  <a:lnTo>
                    <a:pt x="17018" y="4596457"/>
                  </a:lnTo>
                  <a:lnTo>
                    <a:pt x="8509" y="4596457"/>
                  </a:lnTo>
                  <a:lnTo>
                    <a:pt x="8509" y="4587803"/>
                  </a:lnTo>
                  <a:lnTo>
                    <a:pt x="11225149" y="4587803"/>
                  </a:lnTo>
                  <a:lnTo>
                    <a:pt x="11225149" y="4596457"/>
                  </a:lnTo>
                  <a:lnTo>
                    <a:pt x="11216640" y="4596457"/>
                  </a:lnTo>
                  <a:lnTo>
                    <a:pt x="11216640" y="8654"/>
                  </a:lnTo>
                  <a:lnTo>
                    <a:pt x="11225149" y="8654"/>
                  </a:lnTo>
                  <a:lnTo>
                    <a:pt x="11225149" y="17308"/>
                  </a:lnTo>
                  <a:lnTo>
                    <a:pt x="8509" y="17308"/>
                  </a:lnTo>
                  <a:close/>
                </a:path>
              </a:pathLst>
            </a:custGeom>
            <a:solidFill>
              <a:srgbClr val="E2E8F0">
                <a:alpha val="19608"/>
              </a:srgbClr>
            </a:solidFill>
          </p:spPr>
        </p:sp>
      </p:grpSp>
      <p:sp>
        <p:nvSpPr>
          <p:cNvPr id="42" name="TextBox 42"/>
          <p:cNvSpPr txBox="1"/>
          <p:nvPr/>
        </p:nvSpPr>
        <p:spPr>
          <a:xfrm>
            <a:off x="859536" y="3371850"/>
            <a:ext cx="7925048" cy="2000250"/>
          </a:xfrm>
          <a:prstGeom prst="rect">
            <a:avLst/>
          </a:prstGeom>
        </p:spPr>
        <p:txBody>
          <a:bodyPr lIns="0" tIns="0" rIns="0" bIns="0" rtlCol="0" anchor="t">
            <a:spAutoFit/>
          </a:bodyPr>
          <a:lstStyle/>
          <a:p>
            <a:pPr marL="772161" lvl="1" indent="-386080" algn="l">
              <a:lnSpc>
                <a:spcPts val="3840"/>
              </a:lnSpc>
              <a:buFont typeface="Arial"/>
              <a:buChar char="•"/>
            </a:pPr>
            <a:r>
              <a:rPr lang="en-US" sz="3200">
                <a:solidFill>
                  <a:srgbClr val="000000"/>
                </a:solidFill>
                <a:latin typeface="Calibri (MS)"/>
                <a:ea typeface="Calibri (MS)"/>
                <a:cs typeface="Calibri (MS)"/>
                <a:sym typeface="Calibri (MS)"/>
              </a:rPr>
              <a:t>Thousands of Walton Plaza showrooms</a:t>
            </a:r>
          </a:p>
          <a:p>
            <a:pPr marL="772161" lvl="1" indent="-386080" algn="l">
              <a:lnSpc>
                <a:spcPts val="3840"/>
              </a:lnSpc>
              <a:buFont typeface="Arial"/>
              <a:buChar char="•"/>
            </a:pPr>
            <a:r>
              <a:rPr lang="en-US" sz="3200">
                <a:solidFill>
                  <a:srgbClr val="000000"/>
                </a:solidFill>
                <a:latin typeface="Calibri (MS)"/>
                <a:ea typeface="Calibri (MS)"/>
                <a:cs typeface="Calibri (MS)"/>
                <a:sym typeface="Calibri (MS)"/>
              </a:rPr>
              <a:t>Franchise shops &amp; exclusive distributors</a:t>
            </a:r>
          </a:p>
          <a:p>
            <a:pPr marL="772161" lvl="1" indent="-386080" algn="l">
              <a:lnSpc>
                <a:spcPts val="3840"/>
              </a:lnSpc>
              <a:buFont typeface="Arial"/>
              <a:buChar char="•"/>
            </a:pPr>
            <a:r>
              <a:rPr lang="en-US" sz="3200">
                <a:solidFill>
                  <a:srgbClr val="000000"/>
                </a:solidFill>
                <a:latin typeface="Calibri (MS)"/>
                <a:ea typeface="Calibri (MS)"/>
                <a:cs typeface="Calibri (MS)"/>
                <a:sym typeface="Calibri (MS)"/>
              </a:rPr>
              <a:t>Covers urban centers to rural upazilas</a:t>
            </a:r>
          </a:p>
          <a:p>
            <a:pPr marL="772161" lvl="1" indent="-386080" algn="l">
              <a:lnSpc>
                <a:spcPts val="3840"/>
              </a:lnSpc>
              <a:buFont typeface="Arial"/>
              <a:buChar char="•"/>
            </a:pPr>
            <a:r>
              <a:rPr lang="en-US" sz="3200">
                <a:solidFill>
                  <a:srgbClr val="000000"/>
                </a:solidFill>
                <a:latin typeface="Calibri (MS)"/>
                <a:ea typeface="Calibri (MS)"/>
                <a:cs typeface="Calibri (MS)"/>
                <a:sym typeface="Calibri (MS)"/>
              </a:rPr>
              <a:t>Nationwide coverage across Bangladesh</a:t>
            </a:r>
          </a:p>
        </p:txBody>
      </p:sp>
      <p:sp>
        <p:nvSpPr>
          <p:cNvPr id="43" name="TextBox 43"/>
          <p:cNvSpPr txBox="1"/>
          <p:nvPr/>
        </p:nvSpPr>
        <p:spPr>
          <a:xfrm>
            <a:off x="9820656" y="3371850"/>
            <a:ext cx="7925048" cy="2000250"/>
          </a:xfrm>
          <a:prstGeom prst="rect">
            <a:avLst/>
          </a:prstGeom>
        </p:spPr>
        <p:txBody>
          <a:bodyPr lIns="0" tIns="0" rIns="0" bIns="0" rtlCol="0" anchor="t">
            <a:spAutoFit/>
          </a:bodyPr>
          <a:lstStyle/>
          <a:p>
            <a:pPr marL="772161" lvl="1" indent="-386080" algn="l">
              <a:lnSpc>
                <a:spcPts val="3840"/>
              </a:lnSpc>
              <a:buFont typeface="Arial"/>
              <a:buChar char="•"/>
            </a:pPr>
            <a:r>
              <a:rPr lang="en-US" sz="3200">
                <a:solidFill>
                  <a:srgbClr val="000000"/>
                </a:solidFill>
                <a:latin typeface="Calibri (MS)"/>
                <a:ea typeface="Calibri (MS)"/>
                <a:cs typeface="Calibri (MS)"/>
                <a:sym typeface="Calibri (MS)"/>
              </a:rPr>
              <a:t>Own portal 'E-Plaza' + upgraded website</a:t>
            </a:r>
          </a:p>
          <a:p>
            <a:pPr marL="772161" lvl="1" indent="-386080" algn="l">
              <a:lnSpc>
                <a:spcPts val="3840"/>
              </a:lnSpc>
              <a:buFont typeface="Arial"/>
              <a:buChar char="•"/>
            </a:pPr>
            <a:r>
              <a:rPr lang="en-US" sz="3200">
                <a:solidFill>
                  <a:srgbClr val="000000"/>
                </a:solidFill>
                <a:latin typeface="Calibri (MS)"/>
                <a:ea typeface="Calibri (MS)"/>
                <a:cs typeface="Calibri (MS)"/>
                <a:sym typeface="Calibri (MS)"/>
              </a:rPr>
              <a:t>Special online-exclusive offers</a:t>
            </a:r>
          </a:p>
          <a:p>
            <a:pPr marL="772161" lvl="1" indent="-386080" algn="l">
              <a:lnSpc>
                <a:spcPts val="3840"/>
              </a:lnSpc>
              <a:buFont typeface="Arial"/>
              <a:buChar char="•"/>
            </a:pPr>
            <a:r>
              <a:rPr lang="en-US" sz="3200">
                <a:solidFill>
                  <a:srgbClr val="000000"/>
                </a:solidFill>
                <a:latin typeface="Calibri (MS)"/>
                <a:ea typeface="Calibri (MS)"/>
                <a:cs typeface="Calibri (MS)"/>
                <a:sym typeface="Calibri (MS)"/>
              </a:rPr>
              <a:t>Dedicated B2B &amp; B2C platforms</a:t>
            </a:r>
          </a:p>
          <a:p>
            <a:pPr marL="772161" lvl="1" indent="-386080" algn="l">
              <a:lnSpc>
                <a:spcPts val="3840"/>
              </a:lnSpc>
              <a:buFont typeface="Arial"/>
              <a:buChar char="•"/>
            </a:pPr>
            <a:r>
              <a:rPr lang="en-US" sz="3200">
                <a:solidFill>
                  <a:srgbClr val="000000"/>
                </a:solidFill>
                <a:latin typeface="Calibri (MS)"/>
                <a:ea typeface="Calibri (MS)"/>
                <a:cs typeface="Calibri (MS)"/>
                <a:sym typeface="Calibri (MS)"/>
              </a:rPr>
              <a:t>Direct-to-consumer reach nationwide</a:t>
            </a:r>
          </a:p>
        </p:txBody>
      </p:sp>
      <p:sp>
        <p:nvSpPr>
          <p:cNvPr id="44" name="TextBox 44"/>
          <p:cNvSpPr txBox="1"/>
          <p:nvPr/>
        </p:nvSpPr>
        <p:spPr>
          <a:xfrm>
            <a:off x="9744704" y="6783381"/>
            <a:ext cx="7925048" cy="2238375"/>
          </a:xfrm>
          <a:prstGeom prst="rect">
            <a:avLst/>
          </a:prstGeom>
        </p:spPr>
        <p:txBody>
          <a:bodyPr lIns="0" tIns="0" rIns="0" bIns="0" rtlCol="0" anchor="t">
            <a:spAutoFit/>
          </a:bodyPr>
          <a:lstStyle/>
          <a:p>
            <a:pPr marL="868680" lvl="1" indent="-434340" algn="l">
              <a:lnSpc>
                <a:spcPts val="4320"/>
              </a:lnSpc>
              <a:buFont typeface="Arial"/>
              <a:buChar char="•"/>
            </a:pPr>
            <a:r>
              <a:rPr lang="en-US" sz="3600">
                <a:solidFill>
                  <a:srgbClr val="000000"/>
                </a:solidFill>
                <a:latin typeface="Calibri (MS)"/>
                <a:ea typeface="Calibri (MS)"/>
                <a:cs typeface="Calibri (MS)"/>
                <a:sym typeface="Calibri (MS)"/>
              </a:rPr>
              <a:t>Exports to 60+ countries worldwide</a:t>
            </a:r>
          </a:p>
          <a:p>
            <a:pPr marL="868680" lvl="1" indent="-434340" algn="l">
              <a:lnSpc>
                <a:spcPts val="4320"/>
              </a:lnSpc>
              <a:buFont typeface="Arial"/>
              <a:buChar char="•"/>
            </a:pPr>
            <a:r>
              <a:rPr lang="en-US" sz="3600">
                <a:solidFill>
                  <a:srgbClr val="000000"/>
                </a:solidFill>
                <a:latin typeface="Calibri (MS)"/>
                <a:ea typeface="Calibri (MS)"/>
                <a:cs typeface="Calibri (MS)"/>
                <a:sym typeface="Calibri (MS)"/>
              </a:rPr>
              <a:t>USA, UK, Germany &amp; India included</a:t>
            </a:r>
          </a:p>
          <a:p>
            <a:pPr marL="868680" lvl="1" indent="-434340" algn="l">
              <a:lnSpc>
                <a:spcPts val="4320"/>
              </a:lnSpc>
              <a:buFont typeface="Arial"/>
              <a:buChar char="•"/>
            </a:pPr>
            <a:r>
              <a:rPr lang="en-US" sz="3600">
                <a:solidFill>
                  <a:srgbClr val="000000"/>
                </a:solidFill>
                <a:latin typeface="Calibri (MS)"/>
                <a:ea typeface="Calibri (MS)"/>
                <a:cs typeface="Calibri (MS)"/>
                <a:sym typeface="Calibri (MS)"/>
              </a:rPr>
              <a:t>International sales offices</a:t>
            </a:r>
          </a:p>
          <a:p>
            <a:pPr marL="868680" lvl="1" indent="-434340" algn="l">
              <a:lnSpc>
                <a:spcPts val="4320"/>
              </a:lnSpc>
              <a:buFont typeface="Arial"/>
              <a:buChar char="•"/>
            </a:pPr>
            <a:r>
              <a:rPr lang="en-US" sz="3600">
                <a:solidFill>
                  <a:srgbClr val="000000"/>
                </a:solidFill>
                <a:latin typeface="Calibri (MS)"/>
                <a:ea typeface="Calibri (MS)"/>
                <a:cs typeface="Calibri (MS)"/>
                <a:sym typeface="Calibri (MS)"/>
              </a:rPr>
              <a:t>Global distributorships network</a:t>
            </a:r>
          </a:p>
        </p:txBody>
      </p:sp>
      <p:sp>
        <p:nvSpPr>
          <p:cNvPr id="45" name="TextBox 45"/>
          <p:cNvSpPr txBox="1"/>
          <p:nvPr/>
        </p:nvSpPr>
        <p:spPr>
          <a:xfrm>
            <a:off x="1224768" y="2512885"/>
            <a:ext cx="5379085" cy="613410"/>
          </a:xfrm>
          <a:prstGeom prst="rect">
            <a:avLst/>
          </a:prstGeom>
        </p:spPr>
        <p:txBody>
          <a:bodyPr lIns="0" tIns="0" rIns="0" bIns="0" rtlCol="0" anchor="t">
            <a:spAutoFit/>
          </a:bodyPr>
          <a:lstStyle/>
          <a:p>
            <a:pPr algn="ctr">
              <a:lnSpc>
                <a:spcPts val="5040"/>
              </a:lnSpc>
            </a:pPr>
            <a:r>
              <a:rPr lang="en-US" sz="3600" b="1">
                <a:solidFill>
                  <a:srgbClr val="000000"/>
                </a:solidFill>
                <a:latin typeface="Canva Sans Bold"/>
                <a:ea typeface="Canva Sans Bold"/>
                <a:cs typeface="Canva Sans Bold"/>
                <a:sym typeface="Canva Sans Bold"/>
              </a:rPr>
              <a:t>Physical Retail Network </a:t>
            </a:r>
          </a:p>
        </p:txBody>
      </p:sp>
      <p:sp>
        <p:nvSpPr>
          <p:cNvPr id="46" name="TextBox 46"/>
          <p:cNvSpPr txBox="1"/>
          <p:nvPr/>
        </p:nvSpPr>
        <p:spPr>
          <a:xfrm>
            <a:off x="731520" y="6151245"/>
            <a:ext cx="4268153" cy="613410"/>
          </a:xfrm>
          <a:prstGeom prst="rect">
            <a:avLst/>
          </a:prstGeom>
        </p:spPr>
        <p:txBody>
          <a:bodyPr lIns="0" tIns="0" rIns="0" bIns="0" rtlCol="0" anchor="t">
            <a:spAutoFit/>
          </a:bodyPr>
          <a:lstStyle/>
          <a:p>
            <a:pPr algn="ctr">
              <a:lnSpc>
                <a:spcPts val="5040"/>
              </a:lnSpc>
            </a:pPr>
            <a:r>
              <a:rPr lang="en-US" sz="3600" b="1">
                <a:solidFill>
                  <a:srgbClr val="000000"/>
                </a:solidFill>
                <a:latin typeface="Canva Sans Bold"/>
                <a:ea typeface="Canva Sans Bold"/>
                <a:cs typeface="Canva Sans Bold"/>
                <a:sym typeface="Canva Sans Bold"/>
              </a:rPr>
              <a:t>After-Sales Service</a:t>
            </a:r>
          </a:p>
        </p:txBody>
      </p:sp>
      <p:sp>
        <p:nvSpPr>
          <p:cNvPr id="47" name="TextBox 47"/>
          <p:cNvSpPr txBox="1"/>
          <p:nvPr/>
        </p:nvSpPr>
        <p:spPr>
          <a:xfrm>
            <a:off x="731520" y="6785293"/>
            <a:ext cx="8784584" cy="2842895"/>
          </a:xfrm>
          <a:prstGeom prst="rect">
            <a:avLst/>
          </a:prstGeom>
        </p:spPr>
        <p:txBody>
          <a:bodyPr lIns="0" tIns="0" rIns="0" bIns="0" rtlCol="0" anchor="t">
            <a:spAutoFit/>
          </a:bodyPr>
          <a:lstStyle/>
          <a:p>
            <a:pPr marL="690881" lvl="1" indent="-345440" algn="l">
              <a:lnSpc>
                <a:spcPts val="4480"/>
              </a:lnSpc>
              <a:buFont typeface="Arial"/>
              <a:buChar char="•"/>
            </a:pPr>
            <a:r>
              <a:rPr lang="en-US" sz="3200">
                <a:solidFill>
                  <a:srgbClr val="000000"/>
                </a:solidFill>
                <a:latin typeface="Calibri (MS)"/>
                <a:ea typeface="Calibri (MS)"/>
                <a:cs typeface="Calibri (MS)"/>
                <a:sym typeface="Calibri (MS)"/>
              </a:rPr>
              <a:t>86+ ISO-certified service centers</a:t>
            </a:r>
          </a:p>
          <a:p>
            <a:pPr marL="690881" lvl="1" indent="-345440" algn="l">
              <a:lnSpc>
                <a:spcPts val="4480"/>
              </a:lnSpc>
              <a:buFont typeface="Arial"/>
              <a:buChar char="•"/>
            </a:pPr>
            <a:r>
              <a:rPr lang="en-US" sz="3200">
                <a:solidFill>
                  <a:srgbClr val="000000"/>
                </a:solidFill>
                <a:latin typeface="Calibri (MS)"/>
                <a:ea typeface="Calibri (MS)"/>
                <a:cs typeface="Calibri (MS)"/>
                <a:sym typeface="Calibri (MS)"/>
              </a:rPr>
              <a:t>Staffed by skilled engineers</a:t>
            </a:r>
          </a:p>
          <a:p>
            <a:pPr marL="690881" lvl="1" indent="-345440" algn="l">
              <a:lnSpc>
                <a:spcPts val="4480"/>
              </a:lnSpc>
              <a:buFont typeface="Arial"/>
              <a:buChar char="•"/>
            </a:pPr>
            <a:r>
              <a:rPr lang="en-US" sz="3200">
                <a:solidFill>
                  <a:srgbClr val="000000"/>
                </a:solidFill>
                <a:latin typeface="Calibri (MS)"/>
                <a:ea typeface="Calibri (MS)"/>
                <a:cs typeface="Calibri (MS)"/>
                <a:sym typeface="Calibri (MS)"/>
              </a:rPr>
              <a:t>12-year compressor warranty</a:t>
            </a:r>
          </a:p>
          <a:p>
            <a:pPr marL="690881" lvl="1" indent="-345440" algn="l">
              <a:lnSpc>
                <a:spcPts val="4480"/>
              </a:lnSpc>
              <a:buFont typeface="Arial"/>
              <a:buChar char="•"/>
            </a:pPr>
            <a:r>
              <a:rPr lang="en-US" sz="3200">
                <a:solidFill>
                  <a:srgbClr val="000000"/>
                </a:solidFill>
                <a:latin typeface="Calibri (MS)"/>
                <a:ea typeface="Calibri (MS)"/>
                <a:cs typeface="Calibri (MS)"/>
                <a:sym typeface="Calibri (MS)"/>
              </a:rPr>
              <a:t>1-year full replacement guarantee</a:t>
            </a:r>
          </a:p>
          <a:p>
            <a:pPr algn="ctr">
              <a:lnSpc>
                <a:spcPts val="4480"/>
              </a:lnSpc>
            </a:pPr>
            <a:endParaRPr lang="en-US" sz="3200">
              <a:solidFill>
                <a:srgbClr val="000000"/>
              </a:solidFill>
              <a:latin typeface="Calibri (MS)"/>
              <a:ea typeface="Calibri (MS)"/>
              <a:cs typeface="Calibri (MS)"/>
              <a:sym typeface="Calibri (MS)"/>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E2E8F0"/>
        </a:solidFill>
        <a:effectLst/>
      </p:bgPr>
    </p:bg>
    <p:spTree>
      <p:nvGrpSpPr>
        <p:cNvPr id="1" name=""/>
        <p:cNvGrpSpPr/>
        <p:nvPr/>
      </p:nvGrpSpPr>
      <p:grpSpPr>
        <a:xfrm>
          <a:off x="0" y="0"/>
          <a:ext cx="0" cy="0"/>
          <a:chOff x="0" y="0"/>
          <a:chExt cx="0" cy="0"/>
        </a:xfrm>
      </p:grpSpPr>
      <p:grpSp>
        <p:nvGrpSpPr>
          <p:cNvPr id="2" name="Group 2"/>
          <p:cNvGrpSpPr/>
          <p:nvPr/>
        </p:nvGrpSpPr>
        <p:grpSpPr>
          <a:xfrm>
            <a:off x="-12697" y="-12697"/>
            <a:ext cx="18313403" cy="2037083"/>
            <a:chOff x="0" y="0"/>
            <a:chExt cx="24417871" cy="2716111"/>
          </a:xfrm>
        </p:grpSpPr>
        <p:sp>
          <p:nvSpPr>
            <p:cNvPr id="3" name="Freeform 3"/>
            <p:cNvSpPr/>
            <p:nvPr/>
          </p:nvSpPr>
          <p:spPr>
            <a:xfrm>
              <a:off x="16891" y="16891"/>
              <a:ext cx="24383999" cy="2682240"/>
            </a:xfrm>
            <a:custGeom>
              <a:avLst/>
              <a:gdLst/>
              <a:ahLst/>
              <a:cxnLst/>
              <a:rect l="l" t="t" r="r" b="b"/>
              <a:pathLst>
                <a:path w="24383999" h="2682240">
                  <a:moveTo>
                    <a:pt x="0" y="0"/>
                  </a:moveTo>
                  <a:lnTo>
                    <a:pt x="24383999" y="0"/>
                  </a:lnTo>
                  <a:lnTo>
                    <a:pt x="24383999" y="2682240"/>
                  </a:lnTo>
                  <a:lnTo>
                    <a:pt x="0" y="2682240"/>
                  </a:lnTo>
                  <a:close/>
                </a:path>
              </a:pathLst>
            </a:custGeom>
            <a:solidFill>
              <a:srgbClr val="0D1B3E"/>
            </a:solidFill>
          </p:spPr>
        </p:sp>
        <p:sp>
          <p:nvSpPr>
            <p:cNvPr id="4" name="Freeform 4"/>
            <p:cNvSpPr/>
            <p:nvPr/>
          </p:nvSpPr>
          <p:spPr>
            <a:xfrm>
              <a:off x="0" y="0"/>
              <a:ext cx="24417782" cy="2716022"/>
            </a:xfrm>
            <a:custGeom>
              <a:avLst/>
              <a:gdLst/>
              <a:ahLst/>
              <a:cxnLst/>
              <a:rect l="l" t="t" r="r" b="b"/>
              <a:pathLst>
                <a:path w="24417782" h="2716022">
                  <a:moveTo>
                    <a:pt x="16891" y="0"/>
                  </a:moveTo>
                  <a:lnTo>
                    <a:pt x="24400890" y="0"/>
                  </a:lnTo>
                  <a:cubicBezTo>
                    <a:pt x="24410290" y="0"/>
                    <a:pt x="24417782" y="7620"/>
                    <a:pt x="24417782" y="16891"/>
                  </a:cubicBezTo>
                  <a:lnTo>
                    <a:pt x="24417782" y="2699131"/>
                  </a:lnTo>
                  <a:cubicBezTo>
                    <a:pt x="24417782" y="2708529"/>
                    <a:pt x="24410163" y="2716022"/>
                    <a:pt x="24400890" y="2716022"/>
                  </a:cubicBezTo>
                  <a:lnTo>
                    <a:pt x="16891" y="2716022"/>
                  </a:lnTo>
                  <a:cubicBezTo>
                    <a:pt x="7493" y="2716022"/>
                    <a:pt x="0" y="2708402"/>
                    <a:pt x="0" y="2699131"/>
                  </a:cubicBezTo>
                  <a:lnTo>
                    <a:pt x="0" y="16891"/>
                  </a:lnTo>
                  <a:cubicBezTo>
                    <a:pt x="0" y="7620"/>
                    <a:pt x="7620" y="0"/>
                    <a:pt x="16891" y="0"/>
                  </a:cubicBezTo>
                  <a:moveTo>
                    <a:pt x="16891" y="33909"/>
                  </a:moveTo>
                  <a:lnTo>
                    <a:pt x="16891" y="16891"/>
                  </a:lnTo>
                  <a:lnTo>
                    <a:pt x="33909" y="16891"/>
                  </a:lnTo>
                  <a:lnTo>
                    <a:pt x="33909" y="2699131"/>
                  </a:lnTo>
                  <a:lnTo>
                    <a:pt x="16891" y="2699131"/>
                  </a:lnTo>
                  <a:lnTo>
                    <a:pt x="16891" y="2682240"/>
                  </a:lnTo>
                  <a:lnTo>
                    <a:pt x="24400890" y="2682240"/>
                  </a:lnTo>
                  <a:lnTo>
                    <a:pt x="24400890" y="2699131"/>
                  </a:lnTo>
                  <a:lnTo>
                    <a:pt x="24384000" y="2699131"/>
                  </a:lnTo>
                  <a:lnTo>
                    <a:pt x="24384000" y="16891"/>
                  </a:lnTo>
                  <a:lnTo>
                    <a:pt x="24400890" y="16891"/>
                  </a:lnTo>
                  <a:lnTo>
                    <a:pt x="24400890" y="33909"/>
                  </a:lnTo>
                  <a:lnTo>
                    <a:pt x="16891" y="33909"/>
                  </a:lnTo>
                  <a:close/>
                </a:path>
              </a:pathLst>
            </a:custGeom>
            <a:solidFill>
              <a:srgbClr val="0D1B3E"/>
            </a:solidFill>
          </p:spPr>
        </p:sp>
      </p:grpSp>
      <p:grpSp>
        <p:nvGrpSpPr>
          <p:cNvPr id="5" name="Group 5"/>
          <p:cNvGrpSpPr/>
          <p:nvPr/>
        </p:nvGrpSpPr>
        <p:grpSpPr>
          <a:xfrm>
            <a:off x="0" y="1953635"/>
            <a:ext cx="18313403" cy="125987"/>
            <a:chOff x="0" y="0"/>
            <a:chExt cx="24417871" cy="167983"/>
          </a:xfrm>
        </p:grpSpPr>
        <p:sp>
          <p:nvSpPr>
            <p:cNvPr id="6" name="Freeform 6"/>
            <p:cNvSpPr/>
            <p:nvPr/>
          </p:nvSpPr>
          <p:spPr>
            <a:xfrm>
              <a:off x="16891" y="16891"/>
              <a:ext cx="24383999" cy="134112"/>
            </a:xfrm>
            <a:custGeom>
              <a:avLst/>
              <a:gdLst/>
              <a:ahLst/>
              <a:cxnLst/>
              <a:rect l="l" t="t" r="r" b="b"/>
              <a:pathLst>
                <a:path w="24383999" h="134112">
                  <a:moveTo>
                    <a:pt x="0" y="0"/>
                  </a:moveTo>
                  <a:lnTo>
                    <a:pt x="24383999" y="0"/>
                  </a:lnTo>
                  <a:lnTo>
                    <a:pt x="24383999" y="134112"/>
                  </a:lnTo>
                  <a:lnTo>
                    <a:pt x="0" y="134112"/>
                  </a:lnTo>
                  <a:close/>
                </a:path>
              </a:pathLst>
            </a:custGeom>
            <a:solidFill>
              <a:srgbClr val="A0AABB"/>
            </a:solidFill>
          </p:spPr>
        </p:sp>
        <p:sp>
          <p:nvSpPr>
            <p:cNvPr id="7" name="Freeform 7"/>
            <p:cNvSpPr/>
            <p:nvPr/>
          </p:nvSpPr>
          <p:spPr>
            <a:xfrm>
              <a:off x="0" y="0"/>
              <a:ext cx="24417782" cy="167896"/>
            </a:xfrm>
            <a:custGeom>
              <a:avLst/>
              <a:gdLst/>
              <a:ahLst/>
              <a:cxnLst/>
              <a:rect l="l" t="t" r="r" b="b"/>
              <a:pathLst>
                <a:path w="24417782" h="167896">
                  <a:moveTo>
                    <a:pt x="16891" y="0"/>
                  </a:moveTo>
                  <a:lnTo>
                    <a:pt x="24400890" y="0"/>
                  </a:lnTo>
                  <a:cubicBezTo>
                    <a:pt x="24410290" y="0"/>
                    <a:pt x="24417782" y="7620"/>
                    <a:pt x="24417782" y="16891"/>
                  </a:cubicBezTo>
                  <a:lnTo>
                    <a:pt x="24417782" y="151003"/>
                  </a:lnTo>
                  <a:cubicBezTo>
                    <a:pt x="24417782" y="160401"/>
                    <a:pt x="24410163" y="167894"/>
                    <a:pt x="24400890" y="167894"/>
                  </a:cubicBezTo>
                  <a:lnTo>
                    <a:pt x="16891" y="167894"/>
                  </a:lnTo>
                  <a:cubicBezTo>
                    <a:pt x="7620" y="168021"/>
                    <a:pt x="0" y="160401"/>
                    <a:pt x="0" y="151003"/>
                  </a:cubicBezTo>
                  <a:lnTo>
                    <a:pt x="0" y="16891"/>
                  </a:lnTo>
                  <a:cubicBezTo>
                    <a:pt x="0" y="7620"/>
                    <a:pt x="7620" y="0"/>
                    <a:pt x="16891" y="0"/>
                  </a:cubicBezTo>
                  <a:moveTo>
                    <a:pt x="16891" y="33909"/>
                  </a:moveTo>
                  <a:lnTo>
                    <a:pt x="16891" y="16891"/>
                  </a:lnTo>
                  <a:lnTo>
                    <a:pt x="33909" y="16891"/>
                  </a:lnTo>
                  <a:lnTo>
                    <a:pt x="33909" y="151003"/>
                  </a:lnTo>
                  <a:lnTo>
                    <a:pt x="16891" y="151003"/>
                  </a:lnTo>
                  <a:lnTo>
                    <a:pt x="16891" y="134112"/>
                  </a:lnTo>
                  <a:lnTo>
                    <a:pt x="24400890" y="134112"/>
                  </a:lnTo>
                  <a:lnTo>
                    <a:pt x="24400890" y="151003"/>
                  </a:lnTo>
                  <a:lnTo>
                    <a:pt x="24384000" y="151003"/>
                  </a:lnTo>
                  <a:lnTo>
                    <a:pt x="24384000" y="16891"/>
                  </a:lnTo>
                  <a:lnTo>
                    <a:pt x="24400890" y="16891"/>
                  </a:lnTo>
                  <a:lnTo>
                    <a:pt x="24400890" y="33909"/>
                  </a:lnTo>
                  <a:lnTo>
                    <a:pt x="16891" y="33909"/>
                  </a:lnTo>
                  <a:close/>
                </a:path>
              </a:pathLst>
            </a:custGeom>
            <a:solidFill>
              <a:srgbClr val="A0AABB"/>
            </a:solidFill>
          </p:spPr>
        </p:sp>
      </p:grpSp>
      <p:grpSp>
        <p:nvGrpSpPr>
          <p:cNvPr id="8" name="Group 8"/>
          <p:cNvGrpSpPr/>
          <p:nvPr/>
        </p:nvGrpSpPr>
        <p:grpSpPr>
          <a:xfrm>
            <a:off x="731520" y="329184"/>
            <a:ext cx="16824960" cy="1371600"/>
            <a:chOff x="0" y="0"/>
            <a:chExt cx="22433280" cy="1828800"/>
          </a:xfrm>
        </p:grpSpPr>
        <p:sp>
          <p:nvSpPr>
            <p:cNvPr id="9" name="Freeform 9"/>
            <p:cNvSpPr/>
            <p:nvPr/>
          </p:nvSpPr>
          <p:spPr>
            <a:xfrm>
              <a:off x="0" y="0"/>
              <a:ext cx="22433280" cy="1828800"/>
            </a:xfrm>
            <a:custGeom>
              <a:avLst/>
              <a:gdLst/>
              <a:ahLst/>
              <a:cxnLst/>
              <a:rect l="l" t="t" r="r" b="b"/>
              <a:pathLst>
                <a:path w="22433280" h="1828800">
                  <a:moveTo>
                    <a:pt x="0" y="0"/>
                  </a:moveTo>
                  <a:lnTo>
                    <a:pt x="22433280" y="0"/>
                  </a:lnTo>
                  <a:lnTo>
                    <a:pt x="22433280" y="1828800"/>
                  </a:lnTo>
                  <a:lnTo>
                    <a:pt x="0" y="1828800"/>
                  </a:lnTo>
                  <a:close/>
                </a:path>
              </a:pathLst>
            </a:custGeom>
            <a:blipFill>
              <a:blip r:embed="rId2">
                <a:alphaModFix amt="0"/>
              </a:blip>
              <a:stretch>
                <a:fillRect t="-189016" b="-189016"/>
              </a:stretch>
            </a:blipFill>
          </p:spPr>
        </p:sp>
        <p:sp>
          <p:nvSpPr>
            <p:cNvPr id="10" name="TextBox 10"/>
            <p:cNvSpPr txBox="1"/>
            <p:nvPr/>
          </p:nvSpPr>
          <p:spPr>
            <a:xfrm>
              <a:off x="0" y="-38100"/>
              <a:ext cx="22433280" cy="1866900"/>
            </a:xfrm>
            <a:prstGeom prst="rect">
              <a:avLst/>
            </a:prstGeom>
          </p:spPr>
          <p:txBody>
            <a:bodyPr lIns="0" tIns="0" rIns="0" bIns="0" rtlCol="0" anchor="ctr"/>
            <a:lstStyle/>
            <a:p>
              <a:pPr algn="l">
                <a:lnSpc>
                  <a:spcPts val="6719"/>
                </a:lnSpc>
              </a:pPr>
              <a:r>
                <a:rPr lang="en-US" sz="5599" b="1">
                  <a:solidFill>
                    <a:srgbClr val="FFFFFF"/>
                  </a:solidFill>
                  <a:latin typeface="Arial Bold"/>
                  <a:ea typeface="Arial Bold"/>
                  <a:cs typeface="Arial Bold"/>
                  <a:sym typeface="Arial Bold"/>
                </a:rPr>
                <a:t>MAJOR COMPETITORS</a:t>
              </a:r>
            </a:p>
          </p:txBody>
        </p:sp>
      </p:grpSp>
      <p:grpSp>
        <p:nvGrpSpPr>
          <p:cNvPr id="11" name="Group 11"/>
          <p:cNvGrpSpPr/>
          <p:nvPr/>
        </p:nvGrpSpPr>
        <p:grpSpPr>
          <a:xfrm>
            <a:off x="359407" y="2279647"/>
            <a:ext cx="8425177" cy="7510777"/>
            <a:chOff x="0" y="0"/>
            <a:chExt cx="11233569" cy="10014369"/>
          </a:xfrm>
        </p:grpSpPr>
        <p:sp>
          <p:nvSpPr>
            <p:cNvPr id="12" name="Freeform 12"/>
            <p:cNvSpPr/>
            <p:nvPr/>
          </p:nvSpPr>
          <p:spPr>
            <a:xfrm>
              <a:off x="8509" y="8509"/>
              <a:ext cx="11216640" cy="9997440"/>
            </a:xfrm>
            <a:custGeom>
              <a:avLst/>
              <a:gdLst/>
              <a:ahLst/>
              <a:cxnLst/>
              <a:rect l="l" t="t" r="r" b="b"/>
              <a:pathLst>
                <a:path w="11216640" h="9997440">
                  <a:moveTo>
                    <a:pt x="0" y="0"/>
                  </a:moveTo>
                  <a:lnTo>
                    <a:pt x="11216640" y="0"/>
                  </a:lnTo>
                  <a:lnTo>
                    <a:pt x="11216640" y="9997440"/>
                  </a:lnTo>
                  <a:lnTo>
                    <a:pt x="0" y="9997440"/>
                  </a:lnTo>
                  <a:close/>
                </a:path>
              </a:pathLst>
            </a:custGeom>
            <a:solidFill>
              <a:srgbClr val="FFFFFF"/>
            </a:solidFill>
          </p:spPr>
        </p:sp>
        <p:sp>
          <p:nvSpPr>
            <p:cNvPr id="13" name="Freeform 13"/>
            <p:cNvSpPr/>
            <p:nvPr/>
          </p:nvSpPr>
          <p:spPr>
            <a:xfrm>
              <a:off x="0" y="0"/>
              <a:ext cx="11233658" cy="10014458"/>
            </a:xfrm>
            <a:custGeom>
              <a:avLst/>
              <a:gdLst/>
              <a:ahLst/>
              <a:cxnLst/>
              <a:rect l="l" t="t" r="r" b="b"/>
              <a:pathLst>
                <a:path w="11233658" h="10014458">
                  <a:moveTo>
                    <a:pt x="8509" y="0"/>
                  </a:moveTo>
                  <a:lnTo>
                    <a:pt x="11225149" y="0"/>
                  </a:lnTo>
                  <a:cubicBezTo>
                    <a:pt x="11229848" y="0"/>
                    <a:pt x="11233658" y="3810"/>
                    <a:pt x="11233658" y="8509"/>
                  </a:cubicBezTo>
                  <a:lnTo>
                    <a:pt x="11233658" y="10005949"/>
                  </a:lnTo>
                  <a:cubicBezTo>
                    <a:pt x="11233658" y="10010648"/>
                    <a:pt x="11229848" y="10014458"/>
                    <a:pt x="11225149" y="10014458"/>
                  </a:cubicBezTo>
                  <a:lnTo>
                    <a:pt x="8509" y="10014458"/>
                  </a:lnTo>
                  <a:cubicBezTo>
                    <a:pt x="3810" y="10014458"/>
                    <a:pt x="0" y="10010648"/>
                    <a:pt x="0" y="10005949"/>
                  </a:cubicBezTo>
                  <a:lnTo>
                    <a:pt x="0" y="8509"/>
                  </a:lnTo>
                  <a:cubicBezTo>
                    <a:pt x="0" y="3810"/>
                    <a:pt x="3810" y="0"/>
                    <a:pt x="8509" y="0"/>
                  </a:cubicBezTo>
                  <a:moveTo>
                    <a:pt x="8509" y="16891"/>
                  </a:moveTo>
                  <a:lnTo>
                    <a:pt x="8509" y="8509"/>
                  </a:lnTo>
                  <a:lnTo>
                    <a:pt x="17018" y="8509"/>
                  </a:lnTo>
                  <a:lnTo>
                    <a:pt x="17018" y="10005949"/>
                  </a:lnTo>
                  <a:lnTo>
                    <a:pt x="8509" y="10005949"/>
                  </a:lnTo>
                  <a:lnTo>
                    <a:pt x="8509" y="9997440"/>
                  </a:lnTo>
                  <a:lnTo>
                    <a:pt x="11225149" y="9997440"/>
                  </a:lnTo>
                  <a:lnTo>
                    <a:pt x="11225149" y="10005949"/>
                  </a:lnTo>
                  <a:lnTo>
                    <a:pt x="11216640" y="10005949"/>
                  </a:lnTo>
                  <a:lnTo>
                    <a:pt x="11216640" y="8509"/>
                  </a:lnTo>
                  <a:lnTo>
                    <a:pt x="11225149" y="8509"/>
                  </a:lnTo>
                  <a:lnTo>
                    <a:pt x="11225149" y="17018"/>
                  </a:lnTo>
                  <a:lnTo>
                    <a:pt x="8509" y="17018"/>
                  </a:lnTo>
                  <a:close/>
                </a:path>
              </a:pathLst>
            </a:custGeom>
            <a:solidFill>
              <a:srgbClr val="E2E8F0"/>
            </a:solidFill>
          </p:spPr>
        </p:sp>
      </p:grpSp>
      <p:grpSp>
        <p:nvGrpSpPr>
          <p:cNvPr id="14" name="Group 14"/>
          <p:cNvGrpSpPr/>
          <p:nvPr/>
        </p:nvGrpSpPr>
        <p:grpSpPr>
          <a:xfrm>
            <a:off x="359407" y="2279647"/>
            <a:ext cx="8425177" cy="829313"/>
            <a:chOff x="0" y="0"/>
            <a:chExt cx="11233569" cy="1105751"/>
          </a:xfrm>
        </p:grpSpPr>
        <p:sp>
          <p:nvSpPr>
            <p:cNvPr id="15" name="Freeform 15"/>
            <p:cNvSpPr/>
            <p:nvPr/>
          </p:nvSpPr>
          <p:spPr>
            <a:xfrm>
              <a:off x="8509" y="7323"/>
              <a:ext cx="11216640" cy="1091182"/>
            </a:xfrm>
            <a:custGeom>
              <a:avLst/>
              <a:gdLst/>
              <a:ahLst/>
              <a:cxnLst/>
              <a:rect l="l" t="t" r="r" b="b"/>
              <a:pathLst>
                <a:path w="11216640" h="1091182">
                  <a:moveTo>
                    <a:pt x="0" y="0"/>
                  </a:moveTo>
                  <a:lnTo>
                    <a:pt x="11216640" y="0"/>
                  </a:lnTo>
                  <a:lnTo>
                    <a:pt x="11216640" y="1091182"/>
                  </a:lnTo>
                  <a:lnTo>
                    <a:pt x="0" y="1091182"/>
                  </a:lnTo>
                  <a:close/>
                </a:path>
              </a:pathLst>
            </a:custGeom>
            <a:solidFill>
              <a:srgbClr val="A0AABB"/>
            </a:solidFill>
          </p:spPr>
        </p:sp>
        <p:sp>
          <p:nvSpPr>
            <p:cNvPr id="16" name="Freeform 16"/>
            <p:cNvSpPr/>
            <p:nvPr/>
          </p:nvSpPr>
          <p:spPr>
            <a:xfrm>
              <a:off x="0" y="0"/>
              <a:ext cx="11233658" cy="1105840"/>
            </a:xfrm>
            <a:custGeom>
              <a:avLst/>
              <a:gdLst/>
              <a:ahLst/>
              <a:cxnLst/>
              <a:rect l="l" t="t" r="r" b="b"/>
              <a:pathLst>
                <a:path w="11233658" h="1105840">
                  <a:moveTo>
                    <a:pt x="8509" y="0"/>
                  </a:moveTo>
                  <a:lnTo>
                    <a:pt x="11225149" y="0"/>
                  </a:lnTo>
                  <a:cubicBezTo>
                    <a:pt x="11229848" y="0"/>
                    <a:pt x="11233658" y="3279"/>
                    <a:pt x="11233658" y="7323"/>
                  </a:cubicBezTo>
                  <a:lnTo>
                    <a:pt x="11233658" y="1098505"/>
                  </a:lnTo>
                  <a:cubicBezTo>
                    <a:pt x="11233658" y="1102549"/>
                    <a:pt x="11229848" y="1105840"/>
                    <a:pt x="11225149" y="1105840"/>
                  </a:cubicBezTo>
                  <a:lnTo>
                    <a:pt x="8509" y="1105840"/>
                  </a:lnTo>
                  <a:cubicBezTo>
                    <a:pt x="3810" y="1105840"/>
                    <a:pt x="0" y="1102549"/>
                    <a:pt x="0" y="1098505"/>
                  </a:cubicBezTo>
                  <a:lnTo>
                    <a:pt x="0" y="7323"/>
                  </a:lnTo>
                  <a:cubicBezTo>
                    <a:pt x="0" y="3279"/>
                    <a:pt x="3810" y="0"/>
                    <a:pt x="8509" y="0"/>
                  </a:cubicBezTo>
                  <a:moveTo>
                    <a:pt x="8509" y="14536"/>
                  </a:moveTo>
                  <a:lnTo>
                    <a:pt x="8509" y="7323"/>
                  </a:lnTo>
                  <a:lnTo>
                    <a:pt x="17018" y="7323"/>
                  </a:lnTo>
                  <a:lnTo>
                    <a:pt x="17018" y="1098505"/>
                  </a:lnTo>
                  <a:lnTo>
                    <a:pt x="8509" y="1098505"/>
                  </a:lnTo>
                  <a:lnTo>
                    <a:pt x="8509" y="1091182"/>
                  </a:lnTo>
                  <a:lnTo>
                    <a:pt x="11225149" y="1091182"/>
                  </a:lnTo>
                  <a:lnTo>
                    <a:pt x="11225149" y="1098505"/>
                  </a:lnTo>
                  <a:lnTo>
                    <a:pt x="11216640" y="1098505"/>
                  </a:lnTo>
                  <a:lnTo>
                    <a:pt x="11216640" y="7323"/>
                  </a:lnTo>
                  <a:lnTo>
                    <a:pt x="11225149" y="7323"/>
                  </a:lnTo>
                  <a:lnTo>
                    <a:pt x="11225149" y="14645"/>
                  </a:lnTo>
                  <a:lnTo>
                    <a:pt x="8509" y="14645"/>
                  </a:lnTo>
                  <a:close/>
                </a:path>
              </a:pathLst>
            </a:custGeom>
            <a:solidFill>
              <a:srgbClr val="FDE68A"/>
            </a:solidFill>
          </p:spPr>
        </p:sp>
      </p:grpSp>
      <p:grpSp>
        <p:nvGrpSpPr>
          <p:cNvPr id="17" name="Group 17"/>
          <p:cNvGrpSpPr/>
          <p:nvPr/>
        </p:nvGrpSpPr>
        <p:grpSpPr>
          <a:xfrm>
            <a:off x="9320527" y="2279647"/>
            <a:ext cx="8608057" cy="7510777"/>
            <a:chOff x="0" y="0"/>
            <a:chExt cx="11477409" cy="10014369"/>
          </a:xfrm>
        </p:grpSpPr>
        <p:sp>
          <p:nvSpPr>
            <p:cNvPr id="18" name="Freeform 18"/>
            <p:cNvSpPr/>
            <p:nvPr/>
          </p:nvSpPr>
          <p:spPr>
            <a:xfrm>
              <a:off x="8509" y="8509"/>
              <a:ext cx="11460480" cy="9997440"/>
            </a:xfrm>
            <a:custGeom>
              <a:avLst/>
              <a:gdLst/>
              <a:ahLst/>
              <a:cxnLst/>
              <a:rect l="l" t="t" r="r" b="b"/>
              <a:pathLst>
                <a:path w="11460480" h="9997440">
                  <a:moveTo>
                    <a:pt x="0" y="0"/>
                  </a:moveTo>
                  <a:lnTo>
                    <a:pt x="11460480" y="0"/>
                  </a:lnTo>
                  <a:lnTo>
                    <a:pt x="11460480" y="9997440"/>
                  </a:lnTo>
                  <a:lnTo>
                    <a:pt x="0" y="9997440"/>
                  </a:lnTo>
                  <a:close/>
                </a:path>
              </a:pathLst>
            </a:custGeom>
            <a:solidFill>
              <a:srgbClr val="FFFFFF"/>
            </a:solidFill>
          </p:spPr>
        </p:sp>
        <p:sp>
          <p:nvSpPr>
            <p:cNvPr id="19" name="Freeform 19"/>
            <p:cNvSpPr/>
            <p:nvPr/>
          </p:nvSpPr>
          <p:spPr>
            <a:xfrm>
              <a:off x="0" y="0"/>
              <a:ext cx="11477499" cy="10014458"/>
            </a:xfrm>
            <a:custGeom>
              <a:avLst/>
              <a:gdLst/>
              <a:ahLst/>
              <a:cxnLst/>
              <a:rect l="l" t="t" r="r" b="b"/>
              <a:pathLst>
                <a:path w="11477499" h="10014458">
                  <a:moveTo>
                    <a:pt x="8509" y="0"/>
                  </a:moveTo>
                  <a:lnTo>
                    <a:pt x="11468989" y="0"/>
                  </a:lnTo>
                  <a:cubicBezTo>
                    <a:pt x="11473688" y="0"/>
                    <a:pt x="11477499" y="3810"/>
                    <a:pt x="11477499" y="8509"/>
                  </a:cubicBezTo>
                  <a:lnTo>
                    <a:pt x="11477499" y="10005949"/>
                  </a:lnTo>
                  <a:cubicBezTo>
                    <a:pt x="11477499" y="10010648"/>
                    <a:pt x="11473688" y="10014458"/>
                    <a:pt x="11468989" y="10014458"/>
                  </a:cubicBezTo>
                  <a:lnTo>
                    <a:pt x="8509" y="10014458"/>
                  </a:lnTo>
                  <a:cubicBezTo>
                    <a:pt x="3810" y="10014458"/>
                    <a:pt x="0" y="10010648"/>
                    <a:pt x="0" y="10005949"/>
                  </a:cubicBezTo>
                  <a:lnTo>
                    <a:pt x="0" y="8509"/>
                  </a:lnTo>
                  <a:cubicBezTo>
                    <a:pt x="0" y="3810"/>
                    <a:pt x="3810" y="0"/>
                    <a:pt x="8509" y="0"/>
                  </a:cubicBezTo>
                  <a:moveTo>
                    <a:pt x="8509" y="16891"/>
                  </a:moveTo>
                  <a:lnTo>
                    <a:pt x="8509" y="8509"/>
                  </a:lnTo>
                  <a:lnTo>
                    <a:pt x="17018" y="8509"/>
                  </a:lnTo>
                  <a:lnTo>
                    <a:pt x="17018" y="10005949"/>
                  </a:lnTo>
                  <a:lnTo>
                    <a:pt x="8509" y="10005949"/>
                  </a:lnTo>
                  <a:lnTo>
                    <a:pt x="8509" y="9997440"/>
                  </a:lnTo>
                  <a:lnTo>
                    <a:pt x="11468989" y="9997440"/>
                  </a:lnTo>
                  <a:lnTo>
                    <a:pt x="11468989" y="10005949"/>
                  </a:lnTo>
                  <a:lnTo>
                    <a:pt x="11460480" y="10005949"/>
                  </a:lnTo>
                  <a:lnTo>
                    <a:pt x="11460480" y="8509"/>
                  </a:lnTo>
                  <a:lnTo>
                    <a:pt x="11468989" y="8509"/>
                  </a:lnTo>
                  <a:lnTo>
                    <a:pt x="11468989" y="17018"/>
                  </a:lnTo>
                  <a:lnTo>
                    <a:pt x="8509" y="17018"/>
                  </a:lnTo>
                  <a:close/>
                </a:path>
              </a:pathLst>
            </a:custGeom>
            <a:solidFill>
              <a:srgbClr val="E2E8F0"/>
            </a:solidFill>
          </p:spPr>
        </p:sp>
      </p:grpSp>
      <p:grpSp>
        <p:nvGrpSpPr>
          <p:cNvPr id="20" name="Group 20"/>
          <p:cNvGrpSpPr/>
          <p:nvPr/>
        </p:nvGrpSpPr>
        <p:grpSpPr>
          <a:xfrm>
            <a:off x="9320527" y="2279647"/>
            <a:ext cx="8608057" cy="963673"/>
            <a:chOff x="0" y="0"/>
            <a:chExt cx="11477409" cy="1284897"/>
          </a:xfrm>
        </p:grpSpPr>
        <p:sp>
          <p:nvSpPr>
            <p:cNvPr id="21" name="Freeform 21"/>
            <p:cNvSpPr/>
            <p:nvPr/>
          </p:nvSpPr>
          <p:spPr>
            <a:xfrm>
              <a:off x="8509" y="8509"/>
              <a:ext cx="11460480" cy="1267968"/>
            </a:xfrm>
            <a:custGeom>
              <a:avLst/>
              <a:gdLst/>
              <a:ahLst/>
              <a:cxnLst/>
              <a:rect l="l" t="t" r="r" b="b"/>
              <a:pathLst>
                <a:path w="11460480" h="1267968">
                  <a:moveTo>
                    <a:pt x="0" y="0"/>
                  </a:moveTo>
                  <a:lnTo>
                    <a:pt x="11460480" y="0"/>
                  </a:lnTo>
                  <a:lnTo>
                    <a:pt x="11460480" y="1267968"/>
                  </a:lnTo>
                  <a:lnTo>
                    <a:pt x="0" y="1267968"/>
                  </a:lnTo>
                  <a:close/>
                </a:path>
              </a:pathLst>
            </a:custGeom>
            <a:solidFill>
              <a:srgbClr val="A0AABB"/>
            </a:solidFill>
          </p:spPr>
        </p:sp>
        <p:sp>
          <p:nvSpPr>
            <p:cNvPr id="22" name="Freeform 22"/>
            <p:cNvSpPr/>
            <p:nvPr/>
          </p:nvSpPr>
          <p:spPr>
            <a:xfrm>
              <a:off x="0" y="0"/>
              <a:ext cx="11477499" cy="1284986"/>
            </a:xfrm>
            <a:custGeom>
              <a:avLst/>
              <a:gdLst/>
              <a:ahLst/>
              <a:cxnLst/>
              <a:rect l="l" t="t" r="r" b="b"/>
              <a:pathLst>
                <a:path w="11477499" h="1284986">
                  <a:moveTo>
                    <a:pt x="8509" y="0"/>
                  </a:moveTo>
                  <a:lnTo>
                    <a:pt x="11468989" y="0"/>
                  </a:lnTo>
                  <a:cubicBezTo>
                    <a:pt x="11473688" y="0"/>
                    <a:pt x="11477499" y="3810"/>
                    <a:pt x="11477499" y="8509"/>
                  </a:cubicBezTo>
                  <a:lnTo>
                    <a:pt x="11477499" y="1276477"/>
                  </a:lnTo>
                  <a:cubicBezTo>
                    <a:pt x="11477499" y="1281176"/>
                    <a:pt x="11473688" y="1284986"/>
                    <a:pt x="11468989" y="1284986"/>
                  </a:cubicBezTo>
                  <a:lnTo>
                    <a:pt x="8509" y="1284986"/>
                  </a:lnTo>
                  <a:cubicBezTo>
                    <a:pt x="3810" y="1284986"/>
                    <a:pt x="0" y="1281176"/>
                    <a:pt x="0" y="1276477"/>
                  </a:cubicBezTo>
                  <a:lnTo>
                    <a:pt x="0" y="8509"/>
                  </a:lnTo>
                  <a:cubicBezTo>
                    <a:pt x="0" y="3810"/>
                    <a:pt x="3810" y="0"/>
                    <a:pt x="8509" y="0"/>
                  </a:cubicBezTo>
                  <a:moveTo>
                    <a:pt x="8509" y="16891"/>
                  </a:moveTo>
                  <a:lnTo>
                    <a:pt x="8509" y="8509"/>
                  </a:lnTo>
                  <a:lnTo>
                    <a:pt x="17018" y="8509"/>
                  </a:lnTo>
                  <a:lnTo>
                    <a:pt x="17018" y="1276477"/>
                  </a:lnTo>
                  <a:lnTo>
                    <a:pt x="8509" y="1276477"/>
                  </a:lnTo>
                  <a:lnTo>
                    <a:pt x="8509" y="1267968"/>
                  </a:lnTo>
                  <a:lnTo>
                    <a:pt x="11468989" y="1267968"/>
                  </a:lnTo>
                  <a:lnTo>
                    <a:pt x="11468989" y="1276477"/>
                  </a:lnTo>
                  <a:lnTo>
                    <a:pt x="11460480" y="1276477"/>
                  </a:lnTo>
                  <a:lnTo>
                    <a:pt x="11460480" y="8509"/>
                  </a:lnTo>
                  <a:lnTo>
                    <a:pt x="11468989" y="8509"/>
                  </a:lnTo>
                  <a:lnTo>
                    <a:pt x="11468989" y="17018"/>
                  </a:lnTo>
                  <a:lnTo>
                    <a:pt x="8509" y="17018"/>
                  </a:lnTo>
                  <a:close/>
                </a:path>
              </a:pathLst>
            </a:custGeom>
            <a:solidFill>
              <a:srgbClr val="FECACA"/>
            </a:solidFill>
          </p:spPr>
        </p:sp>
      </p:grpSp>
      <p:grpSp>
        <p:nvGrpSpPr>
          <p:cNvPr id="23" name="Group 23"/>
          <p:cNvGrpSpPr/>
          <p:nvPr/>
        </p:nvGrpSpPr>
        <p:grpSpPr>
          <a:xfrm>
            <a:off x="359407" y="3243320"/>
            <a:ext cx="8425177" cy="2908901"/>
            <a:chOff x="0" y="0"/>
            <a:chExt cx="11233569" cy="3878535"/>
          </a:xfrm>
        </p:grpSpPr>
        <p:sp>
          <p:nvSpPr>
            <p:cNvPr id="24" name="Freeform 24"/>
            <p:cNvSpPr/>
            <p:nvPr/>
          </p:nvSpPr>
          <p:spPr>
            <a:xfrm>
              <a:off x="8509" y="3296"/>
              <a:ext cx="11216640" cy="3871978"/>
            </a:xfrm>
            <a:custGeom>
              <a:avLst/>
              <a:gdLst/>
              <a:ahLst/>
              <a:cxnLst/>
              <a:rect l="l" t="t" r="r" b="b"/>
              <a:pathLst>
                <a:path w="11216640" h="3871978">
                  <a:moveTo>
                    <a:pt x="0" y="0"/>
                  </a:moveTo>
                  <a:lnTo>
                    <a:pt x="11216640" y="0"/>
                  </a:lnTo>
                  <a:lnTo>
                    <a:pt x="11216640" y="3871978"/>
                  </a:lnTo>
                  <a:lnTo>
                    <a:pt x="0" y="3871978"/>
                  </a:lnTo>
                  <a:close/>
                </a:path>
              </a:pathLst>
            </a:custGeom>
            <a:blipFill>
              <a:blip r:embed="rId3">
                <a:alphaModFix amt="9999"/>
              </a:blip>
              <a:stretch>
                <a:fillRect t="-94843" b="-94843"/>
              </a:stretch>
            </a:blipFill>
          </p:spPr>
        </p:sp>
        <p:sp>
          <p:nvSpPr>
            <p:cNvPr id="25" name="Freeform 25"/>
            <p:cNvSpPr/>
            <p:nvPr/>
          </p:nvSpPr>
          <p:spPr>
            <a:xfrm>
              <a:off x="0" y="0"/>
              <a:ext cx="11233658" cy="3878624"/>
            </a:xfrm>
            <a:custGeom>
              <a:avLst/>
              <a:gdLst/>
              <a:ahLst/>
              <a:cxnLst/>
              <a:rect l="l" t="t" r="r" b="b"/>
              <a:pathLst>
                <a:path w="11233658" h="3878624">
                  <a:moveTo>
                    <a:pt x="8509" y="0"/>
                  </a:moveTo>
                  <a:lnTo>
                    <a:pt x="11225149" y="0"/>
                  </a:lnTo>
                  <a:cubicBezTo>
                    <a:pt x="11229848" y="0"/>
                    <a:pt x="11233658" y="1476"/>
                    <a:pt x="11233658" y="3296"/>
                  </a:cubicBezTo>
                  <a:lnTo>
                    <a:pt x="11233658" y="3875274"/>
                  </a:lnTo>
                  <a:cubicBezTo>
                    <a:pt x="11233658" y="3877094"/>
                    <a:pt x="11229848" y="3878624"/>
                    <a:pt x="11225149" y="3878624"/>
                  </a:cubicBezTo>
                  <a:lnTo>
                    <a:pt x="8509" y="3878624"/>
                  </a:lnTo>
                  <a:cubicBezTo>
                    <a:pt x="3810" y="3878624"/>
                    <a:pt x="0" y="3877094"/>
                    <a:pt x="0" y="3875274"/>
                  </a:cubicBezTo>
                  <a:lnTo>
                    <a:pt x="0" y="3296"/>
                  </a:lnTo>
                  <a:cubicBezTo>
                    <a:pt x="0" y="1476"/>
                    <a:pt x="3810" y="0"/>
                    <a:pt x="8509" y="0"/>
                  </a:cubicBezTo>
                  <a:moveTo>
                    <a:pt x="8509" y="6542"/>
                  </a:moveTo>
                  <a:lnTo>
                    <a:pt x="8509" y="3296"/>
                  </a:lnTo>
                  <a:lnTo>
                    <a:pt x="17018" y="3296"/>
                  </a:lnTo>
                  <a:lnTo>
                    <a:pt x="17018" y="3875274"/>
                  </a:lnTo>
                  <a:lnTo>
                    <a:pt x="8509" y="3875274"/>
                  </a:lnTo>
                  <a:lnTo>
                    <a:pt x="8509" y="3871978"/>
                  </a:lnTo>
                  <a:lnTo>
                    <a:pt x="11225149" y="3871978"/>
                  </a:lnTo>
                  <a:lnTo>
                    <a:pt x="11225149" y="3875274"/>
                  </a:lnTo>
                  <a:lnTo>
                    <a:pt x="11216640" y="3875274"/>
                  </a:lnTo>
                  <a:lnTo>
                    <a:pt x="11216640" y="3296"/>
                  </a:lnTo>
                  <a:lnTo>
                    <a:pt x="11225149" y="3296"/>
                  </a:lnTo>
                  <a:lnTo>
                    <a:pt x="11225149" y="6591"/>
                  </a:lnTo>
                  <a:lnTo>
                    <a:pt x="8509" y="6591"/>
                  </a:lnTo>
                  <a:close/>
                </a:path>
              </a:pathLst>
            </a:custGeom>
            <a:solidFill>
              <a:srgbClr val="E2E8F0">
                <a:alpha val="9804"/>
              </a:srgbClr>
            </a:solidFill>
          </p:spPr>
        </p:sp>
      </p:grpSp>
      <p:grpSp>
        <p:nvGrpSpPr>
          <p:cNvPr id="26" name="Group 26"/>
          <p:cNvGrpSpPr/>
          <p:nvPr/>
        </p:nvGrpSpPr>
        <p:grpSpPr>
          <a:xfrm>
            <a:off x="359407" y="6447496"/>
            <a:ext cx="8425177" cy="217600"/>
            <a:chOff x="0" y="0"/>
            <a:chExt cx="11233569" cy="290133"/>
          </a:xfrm>
        </p:grpSpPr>
        <p:sp>
          <p:nvSpPr>
            <p:cNvPr id="27" name="Freeform 27"/>
            <p:cNvSpPr/>
            <p:nvPr/>
          </p:nvSpPr>
          <p:spPr>
            <a:xfrm>
              <a:off x="8509" y="247"/>
              <a:ext cx="11216640" cy="289642"/>
            </a:xfrm>
            <a:custGeom>
              <a:avLst/>
              <a:gdLst/>
              <a:ahLst/>
              <a:cxnLst/>
              <a:rect l="l" t="t" r="r" b="b"/>
              <a:pathLst>
                <a:path w="11216640" h="289642">
                  <a:moveTo>
                    <a:pt x="0" y="0"/>
                  </a:moveTo>
                  <a:lnTo>
                    <a:pt x="11216640" y="0"/>
                  </a:lnTo>
                  <a:lnTo>
                    <a:pt x="11216640" y="289642"/>
                  </a:lnTo>
                  <a:lnTo>
                    <a:pt x="0" y="289642"/>
                  </a:lnTo>
                  <a:close/>
                </a:path>
              </a:pathLst>
            </a:custGeom>
            <a:solidFill>
              <a:srgbClr val="A0AABB"/>
            </a:solidFill>
          </p:spPr>
        </p:sp>
        <p:sp>
          <p:nvSpPr>
            <p:cNvPr id="28" name="Freeform 28"/>
            <p:cNvSpPr/>
            <p:nvPr/>
          </p:nvSpPr>
          <p:spPr>
            <a:xfrm>
              <a:off x="0" y="0"/>
              <a:ext cx="11233658" cy="290222"/>
            </a:xfrm>
            <a:custGeom>
              <a:avLst/>
              <a:gdLst/>
              <a:ahLst/>
              <a:cxnLst/>
              <a:rect l="l" t="t" r="r" b="b"/>
              <a:pathLst>
                <a:path w="11233658" h="290222">
                  <a:moveTo>
                    <a:pt x="8509" y="0"/>
                  </a:moveTo>
                  <a:lnTo>
                    <a:pt x="11225149" y="0"/>
                  </a:lnTo>
                  <a:cubicBezTo>
                    <a:pt x="11229848" y="0"/>
                    <a:pt x="11233658" y="110"/>
                    <a:pt x="11233658" y="247"/>
                  </a:cubicBezTo>
                  <a:lnTo>
                    <a:pt x="11233658" y="289889"/>
                  </a:lnTo>
                  <a:cubicBezTo>
                    <a:pt x="11233658" y="290025"/>
                    <a:pt x="11229848" y="290222"/>
                    <a:pt x="11225149" y="290222"/>
                  </a:cubicBezTo>
                  <a:lnTo>
                    <a:pt x="8509" y="290222"/>
                  </a:lnTo>
                  <a:cubicBezTo>
                    <a:pt x="3810" y="290222"/>
                    <a:pt x="0" y="290025"/>
                    <a:pt x="0" y="289889"/>
                  </a:cubicBezTo>
                  <a:lnTo>
                    <a:pt x="0" y="247"/>
                  </a:lnTo>
                  <a:cubicBezTo>
                    <a:pt x="0" y="110"/>
                    <a:pt x="3810" y="0"/>
                    <a:pt x="8509" y="0"/>
                  </a:cubicBezTo>
                  <a:moveTo>
                    <a:pt x="8509" y="489"/>
                  </a:moveTo>
                  <a:lnTo>
                    <a:pt x="8509" y="247"/>
                  </a:lnTo>
                  <a:lnTo>
                    <a:pt x="17018" y="247"/>
                  </a:lnTo>
                  <a:lnTo>
                    <a:pt x="17018" y="289889"/>
                  </a:lnTo>
                  <a:lnTo>
                    <a:pt x="8509" y="289889"/>
                  </a:lnTo>
                  <a:lnTo>
                    <a:pt x="8509" y="289642"/>
                  </a:lnTo>
                  <a:lnTo>
                    <a:pt x="11225149" y="289642"/>
                  </a:lnTo>
                  <a:lnTo>
                    <a:pt x="11225149" y="289889"/>
                  </a:lnTo>
                  <a:lnTo>
                    <a:pt x="11216640" y="289889"/>
                  </a:lnTo>
                  <a:lnTo>
                    <a:pt x="11216640" y="247"/>
                  </a:lnTo>
                  <a:lnTo>
                    <a:pt x="11225149" y="247"/>
                  </a:lnTo>
                  <a:lnTo>
                    <a:pt x="11225149" y="493"/>
                  </a:lnTo>
                  <a:lnTo>
                    <a:pt x="8509" y="493"/>
                  </a:lnTo>
                  <a:close/>
                </a:path>
              </a:pathLst>
            </a:custGeom>
            <a:solidFill>
              <a:srgbClr val="E2E8F0"/>
            </a:solidFill>
          </p:spPr>
        </p:sp>
      </p:grpSp>
      <p:grpSp>
        <p:nvGrpSpPr>
          <p:cNvPr id="29" name="Group 29"/>
          <p:cNvGrpSpPr/>
          <p:nvPr/>
        </p:nvGrpSpPr>
        <p:grpSpPr>
          <a:xfrm>
            <a:off x="548640" y="2377440"/>
            <a:ext cx="7863840" cy="731520"/>
            <a:chOff x="0" y="0"/>
            <a:chExt cx="10485120" cy="975360"/>
          </a:xfrm>
        </p:grpSpPr>
        <p:sp>
          <p:nvSpPr>
            <p:cNvPr id="30" name="Freeform 30"/>
            <p:cNvSpPr/>
            <p:nvPr/>
          </p:nvSpPr>
          <p:spPr>
            <a:xfrm>
              <a:off x="0" y="0"/>
              <a:ext cx="10485120" cy="975360"/>
            </a:xfrm>
            <a:custGeom>
              <a:avLst/>
              <a:gdLst/>
              <a:ahLst/>
              <a:cxnLst/>
              <a:rect l="l" t="t" r="r" b="b"/>
              <a:pathLst>
                <a:path w="10485120" h="975360">
                  <a:moveTo>
                    <a:pt x="0" y="0"/>
                  </a:moveTo>
                  <a:lnTo>
                    <a:pt x="10485120" y="0"/>
                  </a:lnTo>
                  <a:lnTo>
                    <a:pt x="10485120" y="975360"/>
                  </a:lnTo>
                  <a:lnTo>
                    <a:pt x="0" y="975360"/>
                  </a:lnTo>
                  <a:close/>
                </a:path>
              </a:pathLst>
            </a:custGeom>
            <a:blipFill>
              <a:blip r:embed="rId2">
                <a:alphaModFix amt="0"/>
              </a:blip>
              <a:stretch>
                <a:fillRect t="-159464" b="-159464"/>
              </a:stretch>
            </a:blipFill>
          </p:spPr>
        </p:sp>
        <p:sp>
          <p:nvSpPr>
            <p:cNvPr id="31" name="TextBox 31"/>
            <p:cNvSpPr txBox="1"/>
            <p:nvPr/>
          </p:nvSpPr>
          <p:spPr>
            <a:xfrm>
              <a:off x="0" y="-66675"/>
              <a:ext cx="10485120" cy="1042035"/>
            </a:xfrm>
            <a:prstGeom prst="rect">
              <a:avLst/>
            </a:prstGeom>
          </p:spPr>
          <p:txBody>
            <a:bodyPr lIns="0" tIns="0" rIns="0" bIns="0" rtlCol="0" anchor="ctr"/>
            <a:lstStyle/>
            <a:p>
              <a:pPr algn="l">
                <a:lnSpc>
                  <a:spcPts val="4320"/>
                </a:lnSpc>
              </a:pPr>
              <a:r>
                <a:rPr lang="en-US" sz="3600" b="1">
                  <a:solidFill>
                    <a:srgbClr val="FEFEFE"/>
                  </a:solidFill>
                  <a:latin typeface="Calibri (MS) Bold"/>
                  <a:ea typeface="Calibri (MS) Bold"/>
                  <a:cs typeface="Calibri (MS) Bold"/>
                  <a:sym typeface="Calibri (MS) Bold"/>
                </a:rPr>
                <a:t>🏭  LOCAL COMPETITORS</a:t>
              </a:r>
            </a:p>
          </p:txBody>
        </p:sp>
      </p:grpSp>
      <p:grpSp>
        <p:nvGrpSpPr>
          <p:cNvPr id="32" name="Group 32"/>
          <p:cNvGrpSpPr/>
          <p:nvPr/>
        </p:nvGrpSpPr>
        <p:grpSpPr>
          <a:xfrm>
            <a:off x="694944" y="3438144"/>
            <a:ext cx="7680960" cy="720403"/>
            <a:chOff x="0" y="0"/>
            <a:chExt cx="10241280" cy="960537"/>
          </a:xfrm>
        </p:grpSpPr>
        <p:sp>
          <p:nvSpPr>
            <p:cNvPr id="33" name="Freeform 33"/>
            <p:cNvSpPr/>
            <p:nvPr/>
          </p:nvSpPr>
          <p:spPr>
            <a:xfrm>
              <a:off x="0" y="0"/>
              <a:ext cx="10241280" cy="960537"/>
            </a:xfrm>
            <a:custGeom>
              <a:avLst/>
              <a:gdLst/>
              <a:ahLst/>
              <a:cxnLst/>
              <a:rect l="l" t="t" r="r" b="b"/>
              <a:pathLst>
                <a:path w="10241280" h="960537">
                  <a:moveTo>
                    <a:pt x="0" y="0"/>
                  </a:moveTo>
                  <a:lnTo>
                    <a:pt x="10241280" y="0"/>
                  </a:lnTo>
                  <a:lnTo>
                    <a:pt x="10241280" y="960537"/>
                  </a:lnTo>
                  <a:lnTo>
                    <a:pt x="0" y="960537"/>
                  </a:lnTo>
                  <a:close/>
                </a:path>
              </a:pathLst>
            </a:custGeom>
            <a:blipFill>
              <a:blip r:embed="rId2">
                <a:alphaModFix amt="0"/>
              </a:blip>
              <a:stretch>
                <a:fillRect t="-169671" b="-145828"/>
              </a:stretch>
            </a:blipFill>
          </p:spPr>
        </p:sp>
        <p:sp>
          <p:nvSpPr>
            <p:cNvPr id="34" name="TextBox 34"/>
            <p:cNvSpPr txBox="1"/>
            <p:nvPr/>
          </p:nvSpPr>
          <p:spPr>
            <a:xfrm>
              <a:off x="0" y="-66675"/>
              <a:ext cx="10241280" cy="1027212"/>
            </a:xfrm>
            <a:prstGeom prst="rect">
              <a:avLst/>
            </a:prstGeom>
          </p:spPr>
          <p:txBody>
            <a:bodyPr lIns="0" tIns="0" rIns="0" bIns="0" rtlCol="0" anchor="ctr"/>
            <a:lstStyle/>
            <a:p>
              <a:pPr algn="l">
                <a:lnSpc>
                  <a:spcPts val="4320"/>
                </a:lnSpc>
              </a:pPr>
              <a:r>
                <a:rPr lang="en-US" sz="3600" b="1">
                  <a:solidFill>
                    <a:srgbClr val="0D1B3E"/>
                  </a:solidFill>
                  <a:latin typeface="Calibri (MS) Bold"/>
                  <a:ea typeface="Calibri (MS) Bold"/>
                  <a:cs typeface="Calibri (MS) Bold"/>
                  <a:sym typeface="Calibri (MS) Bold"/>
                </a:rPr>
                <a:t>Superstar Group</a:t>
              </a:r>
            </a:p>
          </p:txBody>
        </p:sp>
      </p:grpSp>
      <p:grpSp>
        <p:nvGrpSpPr>
          <p:cNvPr id="35" name="Group 35"/>
          <p:cNvGrpSpPr/>
          <p:nvPr/>
        </p:nvGrpSpPr>
        <p:grpSpPr>
          <a:xfrm>
            <a:off x="731520" y="4158547"/>
            <a:ext cx="7680960" cy="643533"/>
            <a:chOff x="0" y="0"/>
            <a:chExt cx="10241280" cy="858044"/>
          </a:xfrm>
        </p:grpSpPr>
        <p:sp>
          <p:nvSpPr>
            <p:cNvPr id="36" name="Freeform 36"/>
            <p:cNvSpPr/>
            <p:nvPr/>
          </p:nvSpPr>
          <p:spPr>
            <a:xfrm>
              <a:off x="0" y="0"/>
              <a:ext cx="10241280" cy="858044"/>
            </a:xfrm>
            <a:custGeom>
              <a:avLst/>
              <a:gdLst/>
              <a:ahLst/>
              <a:cxnLst/>
              <a:rect l="l" t="t" r="r" b="b"/>
              <a:pathLst>
                <a:path w="10241280" h="858044">
                  <a:moveTo>
                    <a:pt x="0" y="0"/>
                  </a:moveTo>
                  <a:lnTo>
                    <a:pt x="10241280" y="0"/>
                  </a:lnTo>
                  <a:lnTo>
                    <a:pt x="10241280" y="858044"/>
                  </a:lnTo>
                  <a:lnTo>
                    <a:pt x="0" y="858044"/>
                  </a:lnTo>
                  <a:close/>
                </a:path>
              </a:pathLst>
            </a:custGeom>
            <a:blipFill>
              <a:blip r:embed="rId2">
                <a:alphaModFix amt="0"/>
              </a:blip>
              <a:stretch>
                <a:fillRect t="-192780" b="-172351"/>
              </a:stretch>
            </a:blipFill>
          </p:spPr>
        </p:sp>
        <p:sp>
          <p:nvSpPr>
            <p:cNvPr id="37" name="TextBox 37"/>
            <p:cNvSpPr txBox="1"/>
            <p:nvPr/>
          </p:nvSpPr>
          <p:spPr>
            <a:xfrm>
              <a:off x="0" y="-57150"/>
              <a:ext cx="10241280" cy="915194"/>
            </a:xfrm>
            <a:prstGeom prst="rect">
              <a:avLst/>
            </a:prstGeom>
          </p:spPr>
          <p:txBody>
            <a:bodyPr lIns="0" tIns="0" rIns="0" bIns="0" rtlCol="0" anchor="ctr"/>
            <a:lstStyle/>
            <a:p>
              <a:pPr marL="772161" lvl="1" indent="-386080" algn="l">
                <a:lnSpc>
                  <a:spcPts val="3840"/>
                </a:lnSpc>
                <a:buFont typeface="Arial"/>
                <a:buChar char="•"/>
              </a:pPr>
              <a:r>
                <a:rPr lang="en-US" sz="3200">
                  <a:solidFill>
                    <a:srgbClr val="475569"/>
                  </a:solidFill>
                  <a:latin typeface="Calibri (MS)"/>
                  <a:ea typeface="Calibri (MS)"/>
                  <a:cs typeface="Calibri (MS)"/>
                  <a:sym typeface="Calibri (MS)"/>
                </a:rPr>
                <a:t>29% share in electrical accessories</a:t>
              </a:r>
            </a:p>
          </p:txBody>
        </p:sp>
      </p:grpSp>
      <p:grpSp>
        <p:nvGrpSpPr>
          <p:cNvPr id="38" name="Group 38"/>
          <p:cNvGrpSpPr/>
          <p:nvPr/>
        </p:nvGrpSpPr>
        <p:grpSpPr>
          <a:xfrm>
            <a:off x="694944" y="4830342"/>
            <a:ext cx="7680960" cy="643533"/>
            <a:chOff x="0" y="0"/>
            <a:chExt cx="10241280" cy="858044"/>
          </a:xfrm>
        </p:grpSpPr>
        <p:sp>
          <p:nvSpPr>
            <p:cNvPr id="39" name="Freeform 39"/>
            <p:cNvSpPr/>
            <p:nvPr/>
          </p:nvSpPr>
          <p:spPr>
            <a:xfrm>
              <a:off x="0" y="0"/>
              <a:ext cx="10241280" cy="858044"/>
            </a:xfrm>
            <a:custGeom>
              <a:avLst/>
              <a:gdLst/>
              <a:ahLst/>
              <a:cxnLst/>
              <a:rect l="l" t="t" r="r" b="b"/>
              <a:pathLst>
                <a:path w="10241280" h="858044">
                  <a:moveTo>
                    <a:pt x="0" y="0"/>
                  </a:moveTo>
                  <a:lnTo>
                    <a:pt x="10241280" y="0"/>
                  </a:lnTo>
                  <a:lnTo>
                    <a:pt x="10241280" y="858044"/>
                  </a:lnTo>
                  <a:lnTo>
                    <a:pt x="0" y="858044"/>
                  </a:lnTo>
                  <a:close/>
                </a:path>
              </a:pathLst>
            </a:custGeom>
            <a:blipFill>
              <a:blip r:embed="rId2">
                <a:alphaModFix amt="0"/>
              </a:blip>
              <a:stretch>
                <a:fillRect t="-192780" b="-172351"/>
              </a:stretch>
            </a:blipFill>
          </p:spPr>
        </p:sp>
        <p:sp>
          <p:nvSpPr>
            <p:cNvPr id="40" name="TextBox 40"/>
            <p:cNvSpPr txBox="1"/>
            <p:nvPr/>
          </p:nvSpPr>
          <p:spPr>
            <a:xfrm>
              <a:off x="0" y="-57150"/>
              <a:ext cx="10241280" cy="915194"/>
            </a:xfrm>
            <a:prstGeom prst="rect">
              <a:avLst/>
            </a:prstGeom>
          </p:spPr>
          <p:txBody>
            <a:bodyPr lIns="0" tIns="0" rIns="0" bIns="0" rtlCol="0" anchor="ctr"/>
            <a:lstStyle/>
            <a:p>
              <a:pPr marL="772161" lvl="1" indent="-386080" algn="l">
                <a:lnSpc>
                  <a:spcPts val="3840"/>
                </a:lnSpc>
                <a:buFont typeface="Arial"/>
                <a:buChar char="•"/>
              </a:pPr>
              <a:r>
                <a:rPr lang="en-US" sz="3200">
                  <a:solidFill>
                    <a:srgbClr val="475569"/>
                  </a:solidFill>
                  <a:latin typeface="Calibri (MS)"/>
                  <a:ea typeface="Calibri (MS)"/>
                  <a:cs typeface="Calibri (MS)"/>
                  <a:sym typeface="Calibri (MS)"/>
                </a:rPr>
                <a:t>25.59% in lighting products</a:t>
              </a:r>
            </a:p>
          </p:txBody>
        </p:sp>
      </p:grpSp>
      <p:grpSp>
        <p:nvGrpSpPr>
          <p:cNvPr id="41" name="Group 41"/>
          <p:cNvGrpSpPr/>
          <p:nvPr/>
        </p:nvGrpSpPr>
        <p:grpSpPr>
          <a:xfrm>
            <a:off x="359412" y="6693670"/>
            <a:ext cx="8425177" cy="2926951"/>
            <a:chOff x="0" y="0"/>
            <a:chExt cx="11233569" cy="3902602"/>
          </a:xfrm>
        </p:grpSpPr>
        <p:sp>
          <p:nvSpPr>
            <p:cNvPr id="42" name="Freeform 42"/>
            <p:cNvSpPr/>
            <p:nvPr/>
          </p:nvSpPr>
          <p:spPr>
            <a:xfrm>
              <a:off x="8328" y="3316"/>
              <a:ext cx="11217000" cy="3896004"/>
            </a:xfrm>
            <a:custGeom>
              <a:avLst/>
              <a:gdLst/>
              <a:ahLst/>
              <a:cxnLst/>
              <a:rect l="l" t="t" r="r" b="b"/>
              <a:pathLst>
                <a:path w="11217000" h="3896004">
                  <a:moveTo>
                    <a:pt x="0" y="0"/>
                  </a:moveTo>
                  <a:lnTo>
                    <a:pt x="11217000" y="0"/>
                  </a:lnTo>
                  <a:lnTo>
                    <a:pt x="11217000" y="3896004"/>
                  </a:lnTo>
                  <a:lnTo>
                    <a:pt x="0" y="3896004"/>
                  </a:lnTo>
                  <a:close/>
                </a:path>
              </a:pathLst>
            </a:custGeom>
            <a:blipFill>
              <a:blip r:embed="rId4">
                <a:alphaModFix amt="15000"/>
              </a:blip>
              <a:stretch>
                <a:fillRect t="-32260" b="-32260"/>
              </a:stretch>
            </a:blipFill>
          </p:spPr>
        </p:sp>
        <p:sp>
          <p:nvSpPr>
            <p:cNvPr id="43" name="Freeform 43"/>
            <p:cNvSpPr/>
            <p:nvPr/>
          </p:nvSpPr>
          <p:spPr>
            <a:xfrm>
              <a:off x="0" y="0"/>
              <a:ext cx="11233658" cy="3902691"/>
            </a:xfrm>
            <a:custGeom>
              <a:avLst/>
              <a:gdLst/>
              <a:ahLst/>
              <a:cxnLst/>
              <a:rect l="l" t="t" r="r" b="b"/>
              <a:pathLst>
                <a:path w="11233658" h="3902691">
                  <a:moveTo>
                    <a:pt x="8328" y="0"/>
                  </a:moveTo>
                  <a:lnTo>
                    <a:pt x="11225328" y="0"/>
                  </a:lnTo>
                  <a:cubicBezTo>
                    <a:pt x="11229927" y="0"/>
                    <a:pt x="11233658" y="1485"/>
                    <a:pt x="11233658" y="3316"/>
                  </a:cubicBezTo>
                  <a:lnTo>
                    <a:pt x="11233658" y="3899320"/>
                  </a:lnTo>
                  <a:cubicBezTo>
                    <a:pt x="11233658" y="3901151"/>
                    <a:pt x="11229927" y="3902691"/>
                    <a:pt x="11225328" y="3902691"/>
                  </a:cubicBezTo>
                  <a:lnTo>
                    <a:pt x="8328" y="3902691"/>
                  </a:lnTo>
                  <a:cubicBezTo>
                    <a:pt x="3729" y="3902691"/>
                    <a:pt x="0" y="3901151"/>
                    <a:pt x="0" y="3899320"/>
                  </a:cubicBezTo>
                  <a:lnTo>
                    <a:pt x="0" y="3316"/>
                  </a:lnTo>
                  <a:cubicBezTo>
                    <a:pt x="0" y="1485"/>
                    <a:pt x="3729" y="0"/>
                    <a:pt x="8328" y="0"/>
                  </a:cubicBezTo>
                  <a:moveTo>
                    <a:pt x="8328" y="6582"/>
                  </a:moveTo>
                  <a:lnTo>
                    <a:pt x="8328" y="3316"/>
                  </a:lnTo>
                  <a:lnTo>
                    <a:pt x="16656" y="3316"/>
                  </a:lnTo>
                  <a:lnTo>
                    <a:pt x="16656" y="3899320"/>
                  </a:lnTo>
                  <a:lnTo>
                    <a:pt x="8328" y="3899320"/>
                  </a:lnTo>
                  <a:lnTo>
                    <a:pt x="8328" y="3896004"/>
                  </a:lnTo>
                  <a:lnTo>
                    <a:pt x="11225328" y="3896004"/>
                  </a:lnTo>
                  <a:lnTo>
                    <a:pt x="11225328" y="3899320"/>
                  </a:lnTo>
                  <a:lnTo>
                    <a:pt x="11217000" y="3899320"/>
                  </a:lnTo>
                  <a:lnTo>
                    <a:pt x="11217000" y="3316"/>
                  </a:lnTo>
                  <a:lnTo>
                    <a:pt x="11225328" y="3316"/>
                  </a:lnTo>
                  <a:lnTo>
                    <a:pt x="11225328" y="6632"/>
                  </a:lnTo>
                  <a:lnTo>
                    <a:pt x="8328" y="6632"/>
                  </a:lnTo>
                  <a:close/>
                </a:path>
              </a:pathLst>
            </a:custGeom>
            <a:solidFill>
              <a:srgbClr val="E2E8F0">
                <a:alpha val="14902"/>
              </a:srgbClr>
            </a:solidFill>
          </p:spPr>
        </p:sp>
      </p:grpSp>
      <p:grpSp>
        <p:nvGrpSpPr>
          <p:cNvPr id="44" name="Group 44"/>
          <p:cNvGrpSpPr/>
          <p:nvPr/>
        </p:nvGrpSpPr>
        <p:grpSpPr>
          <a:xfrm>
            <a:off x="9320527" y="3288368"/>
            <a:ext cx="8608057" cy="1541974"/>
            <a:chOff x="0" y="0"/>
            <a:chExt cx="11477409" cy="2055966"/>
          </a:xfrm>
        </p:grpSpPr>
        <p:sp>
          <p:nvSpPr>
            <p:cNvPr id="45" name="Freeform 45"/>
            <p:cNvSpPr/>
            <p:nvPr/>
          </p:nvSpPr>
          <p:spPr>
            <a:xfrm>
              <a:off x="8509" y="1747"/>
              <a:ext cx="11460480" cy="2052490"/>
            </a:xfrm>
            <a:custGeom>
              <a:avLst/>
              <a:gdLst/>
              <a:ahLst/>
              <a:cxnLst/>
              <a:rect l="l" t="t" r="r" b="b"/>
              <a:pathLst>
                <a:path w="11460480" h="2052490">
                  <a:moveTo>
                    <a:pt x="0" y="0"/>
                  </a:moveTo>
                  <a:lnTo>
                    <a:pt x="11460480" y="0"/>
                  </a:lnTo>
                  <a:lnTo>
                    <a:pt x="11460480" y="2052490"/>
                  </a:lnTo>
                  <a:lnTo>
                    <a:pt x="0" y="2052490"/>
                  </a:lnTo>
                  <a:close/>
                </a:path>
              </a:pathLst>
            </a:custGeom>
            <a:blipFill>
              <a:blip r:embed="rId5">
                <a:alphaModFix amt="15000"/>
              </a:blip>
              <a:stretch>
                <a:fillRect t="-42583" b="-42583"/>
              </a:stretch>
            </a:blipFill>
          </p:spPr>
        </p:sp>
        <p:sp>
          <p:nvSpPr>
            <p:cNvPr id="46" name="Freeform 46"/>
            <p:cNvSpPr/>
            <p:nvPr/>
          </p:nvSpPr>
          <p:spPr>
            <a:xfrm>
              <a:off x="0" y="0"/>
              <a:ext cx="11477499" cy="2056055"/>
            </a:xfrm>
            <a:custGeom>
              <a:avLst/>
              <a:gdLst/>
              <a:ahLst/>
              <a:cxnLst/>
              <a:rect l="l" t="t" r="r" b="b"/>
              <a:pathLst>
                <a:path w="11477499" h="2056055">
                  <a:moveTo>
                    <a:pt x="8509" y="0"/>
                  </a:moveTo>
                  <a:lnTo>
                    <a:pt x="11468989" y="0"/>
                  </a:lnTo>
                  <a:cubicBezTo>
                    <a:pt x="11473688" y="0"/>
                    <a:pt x="11477499" y="782"/>
                    <a:pt x="11477499" y="1747"/>
                  </a:cubicBezTo>
                  <a:lnTo>
                    <a:pt x="11477499" y="2054237"/>
                  </a:lnTo>
                  <a:cubicBezTo>
                    <a:pt x="11477499" y="2055202"/>
                    <a:pt x="11473688" y="2056055"/>
                    <a:pt x="11468989" y="2056055"/>
                  </a:cubicBezTo>
                  <a:lnTo>
                    <a:pt x="8509" y="2056055"/>
                  </a:lnTo>
                  <a:cubicBezTo>
                    <a:pt x="3810" y="2056055"/>
                    <a:pt x="0" y="2055202"/>
                    <a:pt x="0" y="2054237"/>
                  </a:cubicBezTo>
                  <a:lnTo>
                    <a:pt x="0" y="1747"/>
                  </a:lnTo>
                  <a:cubicBezTo>
                    <a:pt x="0" y="782"/>
                    <a:pt x="3810" y="0"/>
                    <a:pt x="8509" y="0"/>
                  </a:cubicBezTo>
                  <a:moveTo>
                    <a:pt x="8509" y="3468"/>
                  </a:moveTo>
                  <a:lnTo>
                    <a:pt x="8509" y="1747"/>
                  </a:lnTo>
                  <a:lnTo>
                    <a:pt x="17018" y="1747"/>
                  </a:lnTo>
                  <a:lnTo>
                    <a:pt x="17018" y="2054237"/>
                  </a:lnTo>
                  <a:lnTo>
                    <a:pt x="8509" y="2054237"/>
                  </a:lnTo>
                  <a:lnTo>
                    <a:pt x="8509" y="2052490"/>
                  </a:lnTo>
                  <a:lnTo>
                    <a:pt x="11468989" y="2052490"/>
                  </a:lnTo>
                  <a:lnTo>
                    <a:pt x="11468989" y="2054237"/>
                  </a:lnTo>
                  <a:lnTo>
                    <a:pt x="11460480" y="2054237"/>
                  </a:lnTo>
                  <a:lnTo>
                    <a:pt x="11460480" y="1747"/>
                  </a:lnTo>
                  <a:lnTo>
                    <a:pt x="11468989" y="1747"/>
                  </a:lnTo>
                  <a:lnTo>
                    <a:pt x="11468989" y="3494"/>
                  </a:lnTo>
                  <a:lnTo>
                    <a:pt x="8509" y="3494"/>
                  </a:lnTo>
                  <a:close/>
                </a:path>
              </a:pathLst>
            </a:custGeom>
            <a:solidFill>
              <a:srgbClr val="E2E8F0">
                <a:alpha val="14902"/>
              </a:srgbClr>
            </a:solidFill>
          </p:spPr>
        </p:sp>
      </p:grpSp>
      <p:grpSp>
        <p:nvGrpSpPr>
          <p:cNvPr id="47" name="Group 47"/>
          <p:cNvGrpSpPr/>
          <p:nvPr/>
        </p:nvGrpSpPr>
        <p:grpSpPr>
          <a:xfrm>
            <a:off x="548640" y="6798445"/>
            <a:ext cx="7680960" cy="720403"/>
            <a:chOff x="0" y="0"/>
            <a:chExt cx="10241280" cy="960537"/>
          </a:xfrm>
        </p:grpSpPr>
        <p:sp>
          <p:nvSpPr>
            <p:cNvPr id="48" name="Freeform 48"/>
            <p:cNvSpPr/>
            <p:nvPr/>
          </p:nvSpPr>
          <p:spPr>
            <a:xfrm>
              <a:off x="0" y="0"/>
              <a:ext cx="10241280" cy="960537"/>
            </a:xfrm>
            <a:custGeom>
              <a:avLst/>
              <a:gdLst/>
              <a:ahLst/>
              <a:cxnLst/>
              <a:rect l="l" t="t" r="r" b="b"/>
              <a:pathLst>
                <a:path w="10241280" h="960537">
                  <a:moveTo>
                    <a:pt x="0" y="0"/>
                  </a:moveTo>
                  <a:lnTo>
                    <a:pt x="10241280" y="0"/>
                  </a:lnTo>
                  <a:lnTo>
                    <a:pt x="10241280" y="960537"/>
                  </a:lnTo>
                  <a:lnTo>
                    <a:pt x="0" y="960537"/>
                  </a:lnTo>
                  <a:close/>
                </a:path>
              </a:pathLst>
            </a:custGeom>
            <a:blipFill>
              <a:blip r:embed="rId2">
                <a:alphaModFix amt="0"/>
              </a:blip>
              <a:stretch>
                <a:fillRect t="-169671" b="-145828"/>
              </a:stretch>
            </a:blipFill>
          </p:spPr>
        </p:sp>
        <p:sp>
          <p:nvSpPr>
            <p:cNvPr id="49" name="TextBox 49"/>
            <p:cNvSpPr txBox="1"/>
            <p:nvPr/>
          </p:nvSpPr>
          <p:spPr>
            <a:xfrm>
              <a:off x="0" y="-66675"/>
              <a:ext cx="10241280" cy="1027212"/>
            </a:xfrm>
            <a:prstGeom prst="rect">
              <a:avLst/>
            </a:prstGeom>
          </p:spPr>
          <p:txBody>
            <a:bodyPr lIns="0" tIns="0" rIns="0" bIns="0" rtlCol="0" anchor="ctr"/>
            <a:lstStyle/>
            <a:p>
              <a:pPr algn="l">
                <a:lnSpc>
                  <a:spcPts val="4320"/>
                </a:lnSpc>
              </a:pPr>
              <a:r>
                <a:rPr lang="en-US" sz="3600" b="1">
                  <a:solidFill>
                    <a:srgbClr val="0D1B3E"/>
                  </a:solidFill>
                  <a:latin typeface="Calibri (MS) Bold"/>
                  <a:ea typeface="Calibri (MS) Bold"/>
                  <a:cs typeface="Calibri (MS) Bold"/>
                  <a:sym typeface="Calibri (MS) Bold"/>
                </a:rPr>
                <a:t>Vision (Pran-RFL)</a:t>
              </a:r>
            </a:p>
          </p:txBody>
        </p:sp>
      </p:grpSp>
      <p:grpSp>
        <p:nvGrpSpPr>
          <p:cNvPr id="50" name="Group 50"/>
          <p:cNvGrpSpPr/>
          <p:nvPr/>
        </p:nvGrpSpPr>
        <p:grpSpPr>
          <a:xfrm>
            <a:off x="548640" y="7518848"/>
            <a:ext cx="7680960" cy="643533"/>
            <a:chOff x="0" y="0"/>
            <a:chExt cx="10241280" cy="858044"/>
          </a:xfrm>
        </p:grpSpPr>
        <p:sp>
          <p:nvSpPr>
            <p:cNvPr id="51" name="Freeform 51"/>
            <p:cNvSpPr/>
            <p:nvPr/>
          </p:nvSpPr>
          <p:spPr>
            <a:xfrm>
              <a:off x="0" y="0"/>
              <a:ext cx="10241280" cy="858044"/>
            </a:xfrm>
            <a:custGeom>
              <a:avLst/>
              <a:gdLst/>
              <a:ahLst/>
              <a:cxnLst/>
              <a:rect l="l" t="t" r="r" b="b"/>
              <a:pathLst>
                <a:path w="10241280" h="858044">
                  <a:moveTo>
                    <a:pt x="0" y="0"/>
                  </a:moveTo>
                  <a:lnTo>
                    <a:pt x="10241280" y="0"/>
                  </a:lnTo>
                  <a:lnTo>
                    <a:pt x="10241280" y="858044"/>
                  </a:lnTo>
                  <a:lnTo>
                    <a:pt x="0" y="858044"/>
                  </a:lnTo>
                  <a:close/>
                </a:path>
              </a:pathLst>
            </a:custGeom>
            <a:blipFill>
              <a:blip r:embed="rId2">
                <a:alphaModFix amt="0"/>
              </a:blip>
              <a:stretch>
                <a:fillRect t="-192780" b="-172351"/>
              </a:stretch>
            </a:blipFill>
          </p:spPr>
        </p:sp>
        <p:sp>
          <p:nvSpPr>
            <p:cNvPr id="52" name="TextBox 52"/>
            <p:cNvSpPr txBox="1"/>
            <p:nvPr/>
          </p:nvSpPr>
          <p:spPr>
            <a:xfrm>
              <a:off x="0" y="-57150"/>
              <a:ext cx="10241280" cy="915194"/>
            </a:xfrm>
            <a:prstGeom prst="rect">
              <a:avLst/>
            </a:prstGeom>
          </p:spPr>
          <p:txBody>
            <a:bodyPr lIns="0" tIns="0" rIns="0" bIns="0" rtlCol="0" anchor="ctr"/>
            <a:lstStyle/>
            <a:p>
              <a:pPr marL="772161" lvl="1" indent="-386080" algn="l">
                <a:lnSpc>
                  <a:spcPts val="3840"/>
                </a:lnSpc>
                <a:buFont typeface="Arial"/>
                <a:buChar char="•"/>
              </a:pPr>
              <a:r>
                <a:rPr lang="en-US" sz="3200">
                  <a:solidFill>
                    <a:srgbClr val="000000"/>
                  </a:solidFill>
                  <a:latin typeface="Calibri (MS)"/>
                  <a:ea typeface="Calibri (MS)"/>
                  <a:cs typeface="Calibri (MS)"/>
                  <a:sym typeface="Calibri (MS)"/>
                </a:rPr>
                <a:t>Competes in home appliances</a:t>
              </a:r>
            </a:p>
          </p:txBody>
        </p:sp>
      </p:grpSp>
      <p:grpSp>
        <p:nvGrpSpPr>
          <p:cNvPr id="53" name="Group 53"/>
          <p:cNvGrpSpPr/>
          <p:nvPr/>
        </p:nvGrpSpPr>
        <p:grpSpPr>
          <a:xfrm>
            <a:off x="548640" y="8099873"/>
            <a:ext cx="7680960" cy="643533"/>
            <a:chOff x="0" y="0"/>
            <a:chExt cx="10241280" cy="858044"/>
          </a:xfrm>
        </p:grpSpPr>
        <p:sp>
          <p:nvSpPr>
            <p:cNvPr id="54" name="Freeform 54"/>
            <p:cNvSpPr/>
            <p:nvPr/>
          </p:nvSpPr>
          <p:spPr>
            <a:xfrm>
              <a:off x="0" y="0"/>
              <a:ext cx="10241280" cy="858044"/>
            </a:xfrm>
            <a:custGeom>
              <a:avLst/>
              <a:gdLst/>
              <a:ahLst/>
              <a:cxnLst/>
              <a:rect l="l" t="t" r="r" b="b"/>
              <a:pathLst>
                <a:path w="10241280" h="858044">
                  <a:moveTo>
                    <a:pt x="0" y="0"/>
                  </a:moveTo>
                  <a:lnTo>
                    <a:pt x="10241280" y="0"/>
                  </a:lnTo>
                  <a:lnTo>
                    <a:pt x="10241280" y="858044"/>
                  </a:lnTo>
                  <a:lnTo>
                    <a:pt x="0" y="858044"/>
                  </a:lnTo>
                  <a:close/>
                </a:path>
              </a:pathLst>
            </a:custGeom>
            <a:blipFill>
              <a:blip r:embed="rId2">
                <a:alphaModFix amt="0"/>
              </a:blip>
              <a:stretch>
                <a:fillRect t="-192780" b="-172351"/>
              </a:stretch>
            </a:blipFill>
          </p:spPr>
        </p:sp>
        <p:sp>
          <p:nvSpPr>
            <p:cNvPr id="55" name="TextBox 55"/>
            <p:cNvSpPr txBox="1"/>
            <p:nvPr/>
          </p:nvSpPr>
          <p:spPr>
            <a:xfrm>
              <a:off x="0" y="-57150"/>
              <a:ext cx="10241280" cy="915194"/>
            </a:xfrm>
            <a:prstGeom prst="rect">
              <a:avLst/>
            </a:prstGeom>
          </p:spPr>
          <p:txBody>
            <a:bodyPr lIns="0" tIns="0" rIns="0" bIns="0" rtlCol="0" anchor="ctr"/>
            <a:lstStyle/>
            <a:p>
              <a:pPr marL="772161" lvl="1" indent="-386080" algn="l">
                <a:lnSpc>
                  <a:spcPts val="3840"/>
                </a:lnSpc>
                <a:buFont typeface="Arial"/>
                <a:buChar char="•"/>
              </a:pPr>
              <a:r>
                <a:rPr lang="en-US" sz="3200">
                  <a:solidFill>
                    <a:srgbClr val="000000"/>
                  </a:solidFill>
                  <a:latin typeface="Calibri (MS)"/>
                  <a:ea typeface="Calibri (MS)"/>
                  <a:cs typeface="Calibri (MS)"/>
                  <a:sym typeface="Calibri (MS)"/>
                </a:rPr>
                <a:t>Strong presence in urban markets</a:t>
              </a:r>
            </a:p>
          </p:txBody>
        </p:sp>
      </p:grpSp>
      <p:grpSp>
        <p:nvGrpSpPr>
          <p:cNvPr id="56" name="Group 56"/>
          <p:cNvGrpSpPr/>
          <p:nvPr/>
        </p:nvGrpSpPr>
        <p:grpSpPr>
          <a:xfrm>
            <a:off x="9320527" y="4802079"/>
            <a:ext cx="8608057" cy="1541974"/>
            <a:chOff x="0" y="0"/>
            <a:chExt cx="11477409" cy="2055966"/>
          </a:xfrm>
        </p:grpSpPr>
        <p:sp>
          <p:nvSpPr>
            <p:cNvPr id="57" name="Freeform 57"/>
            <p:cNvSpPr/>
            <p:nvPr/>
          </p:nvSpPr>
          <p:spPr>
            <a:xfrm>
              <a:off x="8509" y="1747"/>
              <a:ext cx="11460480" cy="2052490"/>
            </a:xfrm>
            <a:custGeom>
              <a:avLst/>
              <a:gdLst/>
              <a:ahLst/>
              <a:cxnLst/>
              <a:rect l="l" t="t" r="r" b="b"/>
              <a:pathLst>
                <a:path w="11460480" h="2052490">
                  <a:moveTo>
                    <a:pt x="0" y="0"/>
                  </a:moveTo>
                  <a:lnTo>
                    <a:pt x="11460480" y="0"/>
                  </a:lnTo>
                  <a:lnTo>
                    <a:pt x="11460480" y="2052490"/>
                  </a:lnTo>
                  <a:lnTo>
                    <a:pt x="0" y="2052490"/>
                  </a:lnTo>
                  <a:close/>
                </a:path>
              </a:pathLst>
            </a:custGeom>
            <a:blipFill>
              <a:blip r:embed="rId6">
                <a:alphaModFix amt="15000"/>
              </a:blip>
              <a:stretch>
                <a:fillRect t="-229184" b="-229184"/>
              </a:stretch>
            </a:blipFill>
          </p:spPr>
        </p:sp>
        <p:sp>
          <p:nvSpPr>
            <p:cNvPr id="58" name="Freeform 58"/>
            <p:cNvSpPr/>
            <p:nvPr/>
          </p:nvSpPr>
          <p:spPr>
            <a:xfrm>
              <a:off x="0" y="0"/>
              <a:ext cx="11477499" cy="2056055"/>
            </a:xfrm>
            <a:custGeom>
              <a:avLst/>
              <a:gdLst/>
              <a:ahLst/>
              <a:cxnLst/>
              <a:rect l="l" t="t" r="r" b="b"/>
              <a:pathLst>
                <a:path w="11477499" h="2056055">
                  <a:moveTo>
                    <a:pt x="8509" y="0"/>
                  </a:moveTo>
                  <a:lnTo>
                    <a:pt x="11468989" y="0"/>
                  </a:lnTo>
                  <a:cubicBezTo>
                    <a:pt x="11473688" y="0"/>
                    <a:pt x="11477499" y="782"/>
                    <a:pt x="11477499" y="1747"/>
                  </a:cubicBezTo>
                  <a:lnTo>
                    <a:pt x="11477499" y="2054237"/>
                  </a:lnTo>
                  <a:cubicBezTo>
                    <a:pt x="11477499" y="2055202"/>
                    <a:pt x="11473688" y="2056055"/>
                    <a:pt x="11468989" y="2056055"/>
                  </a:cubicBezTo>
                  <a:lnTo>
                    <a:pt x="8509" y="2056055"/>
                  </a:lnTo>
                  <a:cubicBezTo>
                    <a:pt x="3810" y="2056055"/>
                    <a:pt x="0" y="2055202"/>
                    <a:pt x="0" y="2054237"/>
                  </a:cubicBezTo>
                  <a:lnTo>
                    <a:pt x="0" y="1747"/>
                  </a:lnTo>
                  <a:cubicBezTo>
                    <a:pt x="0" y="782"/>
                    <a:pt x="3810" y="0"/>
                    <a:pt x="8509" y="0"/>
                  </a:cubicBezTo>
                  <a:moveTo>
                    <a:pt x="8509" y="3468"/>
                  </a:moveTo>
                  <a:lnTo>
                    <a:pt x="8509" y="1747"/>
                  </a:lnTo>
                  <a:lnTo>
                    <a:pt x="17018" y="1747"/>
                  </a:lnTo>
                  <a:lnTo>
                    <a:pt x="17018" y="2054237"/>
                  </a:lnTo>
                  <a:lnTo>
                    <a:pt x="8509" y="2054237"/>
                  </a:lnTo>
                  <a:lnTo>
                    <a:pt x="8509" y="2052490"/>
                  </a:lnTo>
                  <a:lnTo>
                    <a:pt x="11468989" y="2052490"/>
                  </a:lnTo>
                  <a:lnTo>
                    <a:pt x="11468989" y="2054237"/>
                  </a:lnTo>
                  <a:lnTo>
                    <a:pt x="11460480" y="2054237"/>
                  </a:lnTo>
                  <a:lnTo>
                    <a:pt x="11460480" y="1747"/>
                  </a:lnTo>
                  <a:lnTo>
                    <a:pt x="11468989" y="1747"/>
                  </a:lnTo>
                  <a:lnTo>
                    <a:pt x="11468989" y="3494"/>
                  </a:lnTo>
                  <a:lnTo>
                    <a:pt x="8509" y="3494"/>
                  </a:lnTo>
                  <a:close/>
                </a:path>
              </a:pathLst>
            </a:custGeom>
            <a:solidFill>
              <a:srgbClr val="E2E8F0">
                <a:alpha val="14902"/>
              </a:srgbClr>
            </a:solidFill>
          </p:spPr>
        </p:sp>
      </p:grpSp>
      <p:grpSp>
        <p:nvGrpSpPr>
          <p:cNvPr id="59" name="Group 59"/>
          <p:cNvGrpSpPr/>
          <p:nvPr/>
        </p:nvGrpSpPr>
        <p:grpSpPr>
          <a:xfrm>
            <a:off x="9320527" y="6706475"/>
            <a:ext cx="8608057" cy="1541974"/>
            <a:chOff x="0" y="0"/>
            <a:chExt cx="11477409" cy="2055966"/>
          </a:xfrm>
        </p:grpSpPr>
        <p:sp>
          <p:nvSpPr>
            <p:cNvPr id="60" name="Freeform 60"/>
            <p:cNvSpPr/>
            <p:nvPr/>
          </p:nvSpPr>
          <p:spPr>
            <a:xfrm>
              <a:off x="8509" y="1747"/>
              <a:ext cx="11460480" cy="2052490"/>
            </a:xfrm>
            <a:custGeom>
              <a:avLst/>
              <a:gdLst/>
              <a:ahLst/>
              <a:cxnLst/>
              <a:rect l="l" t="t" r="r" b="b"/>
              <a:pathLst>
                <a:path w="11460480" h="2052490">
                  <a:moveTo>
                    <a:pt x="0" y="0"/>
                  </a:moveTo>
                  <a:lnTo>
                    <a:pt x="11460480" y="0"/>
                  </a:lnTo>
                  <a:lnTo>
                    <a:pt x="11460480" y="2052490"/>
                  </a:lnTo>
                  <a:lnTo>
                    <a:pt x="0" y="2052490"/>
                  </a:lnTo>
                  <a:close/>
                </a:path>
              </a:pathLst>
            </a:custGeom>
            <a:blipFill>
              <a:blip r:embed="rId7">
                <a:alphaModFix amt="9999"/>
              </a:blip>
              <a:stretch>
                <a:fillRect t="-229184" b="-229184"/>
              </a:stretch>
            </a:blipFill>
          </p:spPr>
        </p:sp>
        <p:sp>
          <p:nvSpPr>
            <p:cNvPr id="61" name="Freeform 61"/>
            <p:cNvSpPr/>
            <p:nvPr/>
          </p:nvSpPr>
          <p:spPr>
            <a:xfrm>
              <a:off x="0" y="0"/>
              <a:ext cx="11477499" cy="2056055"/>
            </a:xfrm>
            <a:custGeom>
              <a:avLst/>
              <a:gdLst/>
              <a:ahLst/>
              <a:cxnLst/>
              <a:rect l="l" t="t" r="r" b="b"/>
              <a:pathLst>
                <a:path w="11477499" h="2056055">
                  <a:moveTo>
                    <a:pt x="8509" y="0"/>
                  </a:moveTo>
                  <a:lnTo>
                    <a:pt x="11468989" y="0"/>
                  </a:lnTo>
                  <a:cubicBezTo>
                    <a:pt x="11473688" y="0"/>
                    <a:pt x="11477499" y="782"/>
                    <a:pt x="11477499" y="1747"/>
                  </a:cubicBezTo>
                  <a:lnTo>
                    <a:pt x="11477499" y="2054237"/>
                  </a:lnTo>
                  <a:cubicBezTo>
                    <a:pt x="11477499" y="2055202"/>
                    <a:pt x="11473688" y="2056055"/>
                    <a:pt x="11468989" y="2056055"/>
                  </a:cubicBezTo>
                  <a:lnTo>
                    <a:pt x="8509" y="2056055"/>
                  </a:lnTo>
                  <a:cubicBezTo>
                    <a:pt x="3810" y="2056055"/>
                    <a:pt x="0" y="2055202"/>
                    <a:pt x="0" y="2054237"/>
                  </a:cubicBezTo>
                  <a:lnTo>
                    <a:pt x="0" y="1747"/>
                  </a:lnTo>
                  <a:cubicBezTo>
                    <a:pt x="0" y="782"/>
                    <a:pt x="3810" y="0"/>
                    <a:pt x="8509" y="0"/>
                  </a:cubicBezTo>
                  <a:moveTo>
                    <a:pt x="8509" y="3468"/>
                  </a:moveTo>
                  <a:lnTo>
                    <a:pt x="8509" y="1747"/>
                  </a:lnTo>
                  <a:lnTo>
                    <a:pt x="17018" y="1747"/>
                  </a:lnTo>
                  <a:lnTo>
                    <a:pt x="17018" y="2054237"/>
                  </a:lnTo>
                  <a:lnTo>
                    <a:pt x="8509" y="2054237"/>
                  </a:lnTo>
                  <a:lnTo>
                    <a:pt x="8509" y="2052490"/>
                  </a:lnTo>
                  <a:lnTo>
                    <a:pt x="11468989" y="2052490"/>
                  </a:lnTo>
                  <a:lnTo>
                    <a:pt x="11468989" y="2054237"/>
                  </a:lnTo>
                  <a:lnTo>
                    <a:pt x="11460480" y="2054237"/>
                  </a:lnTo>
                  <a:lnTo>
                    <a:pt x="11460480" y="1747"/>
                  </a:lnTo>
                  <a:lnTo>
                    <a:pt x="11468989" y="1747"/>
                  </a:lnTo>
                  <a:lnTo>
                    <a:pt x="11468989" y="3494"/>
                  </a:lnTo>
                  <a:lnTo>
                    <a:pt x="8509" y="3494"/>
                  </a:lnTo>
                  <a:close/>
                </a:path>
              </a:pathLst>
            </a:custGeom>
            <a:solidFill>
              <a:srgbClr val="E2E8F0">
                <a:alpha val="9804"/>
              </a:srgbClr>
            </a:solidFill>
          </p:spPr>
        </p:sp>
      </p:grpSp>
      <p:grpSp>
        <p:nvGrpSpPr>
          <p:cNvPr id="62" name="Group 62"/>
          <p:cNvGrpSpPr/>
          <p:nvPr/>
        </p:nvGrpSpPr>
        <p:grpSpPr>
          <a:xfrm>
            <a:off x="9433431" y="8248449"/>
            <a:ext cx="8608057" cy="1541974"/>
            <a:chOff x="0" y="0"/>
            <a:chExt cx="11477409" cy="2055966"/>
          </a:xfrm>
        </p:grpSpPr>
        <p:sp>
          <p:nvSpPr>
            <p:cNvPr id="63" name="Freeform 63"/>
            <p:cNvSpPr/>
            <p:nvPr/>
          </p:nvSpPr>
          <p:spPr>
            <a:xfrm>
              <a:off x="8509" y="1747"/>
              <a:ext cx="11460480" cy="2052490"/>
            </a:xfrm>
            <a:custGeom>
              <a:avLst/>
              <a:gdLst/>
              <a:ahLst/>
              <a:cxnLst/>
              <a:rect l="l" t="t" r="r" b="b"/>
              <a:pathLst>
                <a:path w="11460480" h="2052490">
                  <a:moveTo>
                    <a:pt x="0" y="0"/>
                  </a:moveTo>
                  <a:lnTo>
                    <a:pt x="11460480" y="0"/>
                  </a:lnTo>
                  <a:lnTo>
                    <a:pt x="11460480" y="2052490"/>
                  </a:lnTo>
                  <a:lnTo>
                    <a:pt x="0" y="2052490"/>
                  </a:lnTo>
                  <a:close/>
                </a:path>
              </a:pathLst>
            </a:custGeom>
            <a:blipFill>
              <a:blip r:embed="rId8">
                <a:alphaModFix amt="9999"/>
              </a:blip>
              <a:stretch>
                <a:fillRect t="-106866" b="-106866"/>
              </a:stretch>
            </a:blipFill>
          </p:spPr>
        </p:sp>
        <p:sp>
          <p:nvSpPr>
            <p:cNvPr id="64" name="Freeform 64"/>
            <p:cNvSpPr/>
            <p:nvPr/>
          </p:nvSpPr>
          <p:spPr>
            <a:xfrm>
              <a:off x="0" y="0"/>
              <a:ext cx="11477499" cy="2056055"/>
            </a:xfrm>
            <a:custGeom>
              <a:avLst/>
              <a:gdLst/>
              <a:ahLst/>
              <a:cxnLst/>
              <a:rect l="l" t="t" r="r" b="b"/>
              <a:pathLst>
                <a:path w="11477499" h="2056055">
                  <a:moveTo>
                    <a:pt x="8509" y="0"/>
                  </a:moveTo>
                  <a:lnTo>
                    <a:pt x="11468989" y="0"/>
                  </a:lnTo>
                  <a:cubicBezTo>
                    <a:pt x="11473688" y="0"/>
                    <a:pt x="11477499" y="782"/>
                    <a:pt x="11477499" y="1747"/>
                  </a:cubicBezTo>
                  <a:lnTo>
                    <a:pt x="11477499" y="2054237"/>
                  </a:lnTo>
                  <a:cubicBezTo>
                    <a:pt x="11477499" y="2055202"/>
                    <a:pt x="11473688" y="2056055"/>
                    <a:pt x="11468989" y="2056055"/>
                  </a:cubicBezTo>
                  <a:lnTo>
                    <a:pt x="8509" y="2056055"/>
                  </a:lnTo>
                  <a:cubicBezTo>
                    <a:pt x="3810" y="2056055"/>
                    <a:pt x="0" y="2055202"/>
                    <a:pt x="0" y="2054237"/>
                  </a:cubicBezTo>
                  <a:lnTo>
                    <a:pt x="0" y="1747"/>
                  </a:lnTo>
                  <a:cubicBezTo>
                    <a:pt x="0" y="782"/>
                    <a:pt x="3810" y="0"/>
                    <a:pt x="8509" y="0"/>
                  </a:cubicBezTo>
                  <a:moveTo>
                    <a:pt x="8509" y="3468"/>
                  </a:moveTo>
                  <a:lnTo>
                    <a:pt x="8509" y="1747"/>
                  </a:lnTo>
                  <a:lnTo>
                    <a:pt x="17018" y="1747"/>
                  </a:lnTo>
                  <a:lnTo>
                    <a:pt x="17018" y="2054237"/>
                  </a:lnTo>
                  <a:lnTo>
                    <a:pt x="8509" y="2054237"/>
                  </a:lnTo>
                  <a:lnTo>
                    <a:pt x="8509" y="2052490"/>
                  </a:lnTo>
                  <a:lnTo>
                    <a:pt x="11468989" y="2052490"/>
                  </a:lnTo>
                  <a:lnTo>
                    <a:pt x="11468989" y="2054237"/>
                  </a:lnTo>
                  <a:lnTo>
                    <a:pt x="11460480" y="2054237"/>
                  </a:lnTo>
                  <a:lnTo>
                    <a:pt x="11460480" y="1747"/>
                  </a:lnTo>
                  <a:lnTo>
                    <a:pt x="11468989" y="1747"/>
                  </a:lnTo>
                  <a:lnTo>
                    <a:pt x="11468989" y="3494"/>
                  </a:lnTo>
                  <a:lnTo>
                    <a:pt x="8509" y="3494"/>
                  </a:lnTo>
                  <a:close/>
                </a:path>
              </a:pathLst>
            </a:custGeom>
            <a:solidFill>
              <a:srgbClr val="E2E8F0">
                <a:alpha val="9804"/>
              </a:srgbClr>
            </a:solidFill>
          </p:spPr>
        </p:sp>
      </p:grpSp>
      <p:grpSp>
        <p:nvGrpSpPr>
          <p:cNvPr id="65" name="Group 65"/>
          <p:cNvGrpSpPr/>
          <p:nvPr/>
        </p:nvGrpSpPr>
        <p:grpSpPr>
          <a:xfrm>
            <a:off x="9546336" y="2377440"/>
            <a:ext cx="8046720" cy="731520"/>
            <a:chOff x="0" y="0"/>
            <a:chExt cx="10728960" cy="975360"/>
          </a:xfrm>
        </p:grpSpPr>
        <p:sp>
          <p:nvSpPr>
            <p:cNvPr id="66" name="Freeform 66"/>
            <p:cNvSpPr/>
            <p:nvPr/>
          </p:nvSpPr>
          <p:spPr>
            <a:xfrm>
              <a:off x="0" y="0"/>
              <a:ext cx="10728960" cy="975360"/>
            </a:xfrm>
            <a:custGeom>
              <a:avLst/>
              <a:gdLst/>
              <a:ahLst/>
              <a:cxnLst/>
              <a:rect l="l" t="t" r="r" b="b"/>
              <a:pathLst>
                <a:path w="10728960" h="975360">
                  <a:moveTo>
                    <a:pt x="0" y="0"/>
                  </a:moveTo>
                  <a:lnTo>
                    <a:pt x="10728960" y="0"/>
                  </a:lnTo>
                  <a:lnTo>
                    <a:pt x="10728960" y="975360"/>
                  </a:lnTo>
                  <a:lnTo>
                    <a:pt x="0" y="975360"/>
                  </a:lnTo>
                  <a:close/>
                </a:path>
              </a:pathLst>
            </a:custGeom>
            <a:blipFill>
              <a:blip r:embed="rId2">
                <a:alphaModFix amt="0"/>
              </a:blip>
              <a:stretch>
                <a:fillRect t="-164335" b="-164335"/>
              </a:stretch>
            </a:blipFill>
          </p:spPr>
        </p:sp>
        <p:sp>
          <p:nvSpPr>
            <p:cNvPr id="67" name="TextBox 67"/>
            <p:cNvSpPr txBox="1"/>
            <p:nvPr/>
          </p:nvSpPr>
          <p:spPr>
            <a:xfrm>
              <a:off x="0" y="-66675"/>
              <a:ext cx="10728960" cy="1042035"/>
            </a:xfrm>
            <a:prstGeom prst="rect">
              <a:avLst/>
            </a:prstGeom>
          </p:spPr>
          <p:txBody>
            <a:bodyPr lIns="0" tIns="0" rIns="0" bIns="0" rtlCol="0" anchor="ctr"/>
            <a:lstStyle/>
            <a:p>
              <a:pPr algn="l">
                <a:lnSpc>
                  <a:spcPts val="4320"/>
                </a:lnSpc>
              </a:pPr>
              <a:r>
                <a:rPr lang="en-US" sz="3600" b="1">
                  <a:solidFill>
                    <a:srgbClr val="FFFFFF"/>
                  </a:solidFill>
                  <a:latin typeface="Calibri (MS) Bold"/>
                  <a:ea typeface="Calibri (MS) Bold"/>
                  <a:cs typeface="Calibri (MS) Bold"/>
                  <a:sym typeface="Calibri (MS) Bold"/>
                </a:rPr>
                <a:t>🌍  GLOBAL COMPETITORS</a:t>
              </a:r>
            </a:p>
          </p:txBody>
        </p:sp>
      </p:grpSp>
      <p:grpSp>
        <p:nvGrpSpPr>
          <p:cNvPr id="68" name="Group 68"/>
          <p:cNvGrpSpPr/>
          <p:nvPr/>
        </p:nvGrpSpPr>
        <p:grpSpPr>
          <a:xfrm>
            <a:off x="9433431" y="4054237"/>
            <a:ext cx="8382248" cy="643533"/>
            <a:chOff x="0" y="0"/>
            <a:chExt cx="11176330" cy="858044"/>
          </a:xfrm>
        </p:grpSpPr>
        <p:sp>
          <p:nvSpPr>
            <p:cNvPr id="69" name="Freeform 69"/>
            <p:cNvSpPr/>
            <p:nvPr/>
          </p:nvSpPr>
          <p:spPr>
            <a:xfrm>
              <a:off x="0" y="0"/>
              <a:ext cx="11176330" cy="858044"/>
            </a:xfrm>
            <a:custGeom>
              <a:avLst/>
              <a:gdLst/>
              <a:ahLst/>
              <a:cxnLst/>
              <a:rect l="l" t="t" r="r" b="b"/>
              <a:pathLst>
                <a:path w="11176330" h="858044">
                  <a:moveTo>
                    <a:pt x="0" y="0"/>
                  </a:moveTo>
                  <a:lnTo>
                    <a:pt x="11176330" y="0"/>
                  </a:lnTo>
                  <a:lnTo>
                    <a:pt x="11176330" y="858044"/>
                  </a:lnTo>
                  <a:lnTo>
                    <a:pt x="0" y="858044"/>
                  </a:lnTo>
                  <a:close/>
                </a:path>
              </a:pathLst>
            </a:custGeom>
            <a:blipFill>
              <a:blip r:embed="rId2">
                <a:alphaModFix amt="0"/>
              </a:blip>
              <a:stretch>
                <a:fillRect t="-137407" r="30183" b="-116978"/>
              </a:stretch>
            </a:blipFill>
          </p:spPr>
        </p:sp>
        <p:sp>
          <p:nvSpPr>
            <p:cNvPr id="70" name="TextBox 70"/>
            <p:cNvSpPr txBox="1"/>
            <p:nvPr/>
          </p:nvSpPr>
          <p:spPr>
            <a:xfrm>
              <a:off x="0" y="-57150"/>
              <a:ext cx="11176330" cy="915194"/>
            </a:xfrm>
            <a:prstGeom prst="rect">
              <a:avLst/>
            </a:prstGeom>
          </p:spPr>
          <p:txBody>
            <a:bodyPr lIns="0" tIns="0" rIns="0" bIns="0" rtlCol="0" anchor="ctr"/>
            <a:lstStyle/>
            <a:p>
              <a:pPr marL="690881" lvl="1" indent="-345440" algn="l">
                <a:lnSpc>
                  <a:spcPts val="3840"/>
                </a:lnSpc>
                <a:buFont typeface="Arial"/>
                <a:buChar char="•"/>
              </a:pPr>
              <a:r>
                <a:rPr lang="en-US" sz="3200">
                  <a:solidFill>
                    <a:srgbClr val="000000"/>
                  </a:solidFill>
                  <a:latin typeface="Calibri (MS)"/>
                  <a:ea typeface="Calibri (MS)"/>
                  <a:cs typeface="Calibri (MS)"/>
                  <a:sym typeface="Calibri (MS)"/>
                </a:rPr>
                <a:t>Strong global brand equity &amp; advanced R&amp;D</a:t>
              </a:r>
            </a:p>
          </p:txBody>
        </p:sp>
      </p:grpSp>
      <p:grpSp>
        <p:nvGrpSpPr>
          <p:cNvPr id="71" name="Group 71"/>
          <p:cNvGrpSpPr/>
          <p:nvPr/>
        </p:nvGrpSpPr>
        <p:grpSpPr>
          <a:xfrm>
            <a:off x="9546336" y="3438144"/>
            <a:ext cx="1920240" cy="720403"/>
            <a:chOff x="0" y="0"/>
            <a:chExt cx="2560320" cy="960537"/>
          </a:xfrm>
        </p:grpSpPr>
        <p:sp>
          <p:nvSpPr>
            <p:cNvPr id="72" name="Freeform 72"/>
            <p:cNvSpPr/>
            <p:nvPr/>
          </p:nvSpPr>
          <p:spPr>
            <a:xfrm>
              <a:off x="0" y="0"/>
              <a:ext cx="2560320" cy="960537"/>
            </a:xfrm>
            <a:custGeom>
              <a:avLst/>
              <a:gdLst/>
              <a:ahLst/>
              <a:cxnLst/>
              <a:rect l="l" t="t" r="r" b="b"/>
              <a:pathLst>
                <a:path w="2560320" h="960537">
                  <a:moveTo>
                    <a:pt x="0" y="0"/>
                  </a:moveTo>
                  <a:lnTo>
                    <a:pt x="2560320" y="0"/>
                  </a:lnTo>
                  <a:lnTo>
                    <a:pt x="2560320" y="960537"/>
                  </a:lnTo>
                  <a:lnTo>
                    <a:pt x="0" y="960537"/>
                  </a:lnTo>
                  <a:close/>
                </a:path>
              </a:pathLst>
            </a:custGeom>
            <a:blipFill>
              <a:blip r:embed="rId2">
                <a:alphaModFix amt="0"/>
              </a:blip>
              <a:stretch>
                <a:fillRect t="-16397" b="12522"/>
              </a:stretch>
            </a:blipFill>
          </p:spPr>
        </p:sp>
        <p:sp>
          <p:nvSpPr>
            <p:cNvPr id="73" name="TextBox 73"/>
            <p:cNvSpPr txBox="1"/>
            <p:nvPr/>
          </p:nvSpPr>
          <p:spPr>
            <a:xfrm>
              <a:off x="0" y="-66675"/>
              <a:ext cx="2560320" cy="1027212"/>
            </a:xfrm>
            <a:prstGeom prst="rect">
              <a:avLst/>
            </a:prstGeom>
          </p:spPr>
          <p:txBody>
            <a:bodyPr lIns="0" tIns="0" rIns="0" bIns="0" rtlCol="0" anchor="ctr"/>
            <a:lstStyle/>
            <a:p>
              <a:pPr algn="ctr">
                <a:lnSpc>
                  <a:spcPts val="4320"/>
                </a:lnSpc>
              </a:pPr>
              <a:r>
                <a:rPr lang="en-US" sz="3600" b="1">
                  <a:solidFill>
                    <a:srgbClr val="000000"/>
                  </a:solidFill>
                  <a:latin typeface="Calibri (MS) Bold"/>
                  <a:ea typeface="Calibri (MS) Bold"/>
                  <a:cs typeface="Calibri (MS) Bold"/>
                  <a:sym typeface="Calibri (MS) Bold"/>
                </a:rPr>
                <a:t>Samsung</a:t>
              </a:r>
            </a:p>
          </p:txBody>
        </p:sp>
      </p:grpSp>
      <p:grpSp>
        <p:nvGrpSpPr>
          <p:cNvPr id="74" name="Group 74"/>
          <p:cNvGrpSpPr/>
          <p:nvPr/>
        </p:nvGrpSpPr>
        <p:grpSpPr>
          <a:xfrm>
            <a:off x="9413299" y="5411367"/>
            <a:ext cx="8648321" cy="1129308"/>
            <a:chOff x="0" y="0"/>
            <a:chExt cx="11531095" cy="1505744"/>
          </a:xfrm>
        </p:grpSpPr>
        <p:sp>
          <p:nvSpPr>
            <p:cNvPr id="75" name="Freeform 75"/>
            <p:cNvSpPr/>
            <p:nvPr/>
          </p:nvSpPr>
          <p:spPr>
            <a:xfrm>
              <a:off x="0" y="0"/>
              <a:ext cx="11531095" cy="1505744"/>
            </a:xfrm>
            <a:custGeom>
              <a:avLst/>
              <a:gdLst/>
              <a:ahLst/>
              <a:cxnLst/>
              <a:rect l="l" t="t" r="r" b="b"/>
              <a:pathLst>
                <a:path w="11531095" h="1505744">
                  <a:moveTo>
                    <a:pt x="0" y="0"/>
                  </a:moveTo>
                  <a:lnTo>
                    <a:pt x="11531095" y="0"/>
                  </a:lnTo>
                  <a:lnTo>
                    <a:pt x="11531095" y="1505744"/>
                  </a:lnTo>
                  <a:lnTo>
                    <a:pt x="0" y="1505744"/>
                  </a:lnTo>
                  <a:close/>
                </a:path>
              </a:pathLst>
            </a:custGeom>
            <a:blipFill>
              <a:blip r:embed="rId2">
                <a:alphaModFix amt="0"/>
              </a:blip>
              <a:stretch>
                <a:fillRect t="-78301" r="32331" b="-23644"/>
              </a:stretch>
            </a:blipFill>
          </p:spPr>
        </p:sp>
        <p:sp>
          <p:nvSpPr>
            <p:cNvPr id="76" name="TextBox 76"/>
            <p:cNvSpPr txBox="1"/>
            <p:nvPr/>
          </p:nvSpPr>
          <p:spPr>
            <a:xfrm>
              <a:off x="0" y="-57150"/>
              <a:ext cx="11531095" cy="1562894"/>
            </a:xfrm>
            <a:prstGeom prst="rect">
              <a:avLst/>
            </a:prstGeom>
          </p:spPr>
          <p:txBody>
            <a:bodyPr lIns="0" tIns="0" rIns="0" bIns="0" rtlCol="0" anchor="ctr"/>
            <a:lstStyle/>
            <a:p>
              <a:pPr marL="690881" lvl="1" indent="-345440" algn="l">
                <a:lnSpc>
                  <a:spcPts val="3840"/>
                </a:lnSpc>
                <a:buFont typeface="Arial"/>
                <a:buChar char="•"/>
              </a:pPr>
              <a:r>
                <a:rPr lang="en-US" sz="3200">
                  <a:solidFill>
                    <a:srgbClr val="000000"/>
                  </a:solidFill>
                  <a:latin typeface="Calibri (MS)"/>
                  <a:ea typeface="Calibri (MS)"/>
                  <a:cs typeface="Calibri (MS)"/>
                  <a:sym typeface="Calibri (MS)"/>
                </a:rPr>
                <a:t>Premium home appliances with global distribution</a:t>
              </a:r>
            </a:p>
          </p:txBody>
        </p:sp>
      </p:grpSp>
      <p:grpSp>
        <p:nvGrpSpPr>
          <p:cNvPr id="77" name="Group 77"/>
          <p:cNvGrpSpPr/>
          <p:nvPr/>
        </p:nvGrpSpPr>
        <p:grpSpPr>
          <a:xfrm>
            <a:off x="8969643" y="4891931"/>
            <a:ext cx="1920240" cy="720403"/>
            <a:chOff x="0" y="0"/>
            <a:chExt cx="2560320" cy="960537"/>
          </a:xfrm>
        </p:grpSpPr>
        <p:sp>
          <p:nvSpPr>
            <p:cNvPr id="78" name="Freeform 78"/>
            <p:cNvSpPr/>
            <p:nvPr/>
          </p:nvSpPr>
          <p:spPr>
            <a:xfrm>
              <a:off x="0" y="0"/>
              <a:ext cx="2560320" cy="960537"/>
            </a:xfrm>
            <a:custGeom>
              <a:avLst/>
              <a:gdLst/>
              <a:ahLst/>
              <a:cxnLst/>
              <a:rect l="l" t="t" r="r" b="b"/>
              <a:pathLst>
                <a:path w="2560320" h="960537">
                  <a:moveTo>
                    <a:pt x="0" y="0"/>
                  </a:moveTo>
                  <a:lnTo>
                    <a:pt x="2560320" y="0"/>
                  </a:lnTo>
                  <a:lnTo>
                    <a:pt x="2560320" y="960537"/>
                  </a:lnTo>
                  <a:lnTo>
                    <a:pt x="0" y="960537"/>
                  </a:lnTo>
                  <a:close/>
                </a:path>
              </a:pathLst>
            </a:custGeom>
            <a:blipFill>
              <a:blip r:embed="rId2">
                <a:alphaModFix amt="0"/>
              </a:blip>
              <a:stretch>
                <a:fillRect t="-16397" b="12522"/>
              </a:stretch>
            </a:blipFill>
          </p:spPr>
        </p:sp>
        <p:sp>
          <p:nvSpPr>
            <p:cNvPr id="79" name="TextBox 79"/>
            <p:cNvSpPr txBox="1"/>
            <p:nvPr/>
          </p:nvSpPr>
          <p:spPr>
            <a:xfrm>
              <a:off x="0" y="-66675"/>
              <a:ext cx="2560320" cy="1027212"/>
            </a:xfrm>
            <a:prstGeom prst="rect">
              <a:avLst/>
            </a:prstGeom>
          </p:spPr>
          <p:txBody>
            <a:bodyPr lIns="0" tIns="0" rIns="0" bIns="0" rtlCol="0" anchor="ctr"/>
            <a:lstStyle/>
            <a:p>
              <a:pPr algn="ctr">
                <a:lnSpc>
                  <a:spcPts val="4320"/>
                </a:lnSpc>
              </a:pPr>
              <a:r>
                <a:rPr lang="en-US" sz="3600" b="1">
                  <a:solidFill>
                    <a:srgbClr val="000000"/>
                  </a:solidFill>
                  <a:latin typeface="Calibri (MS) Bold"/>
                  <a:ea typeface="Calibri (MS) Bold"/>
                  <a:cs typeface="Calibri (MS) Bold"/>
                  <a:sym typeface="Calibri (MS) Bold"/>
                </a:rPr>
                <a:t>LG</a:t>
              </a:r>
            </a:p>
          </p:txBody>
        </p:sp>
      </p:grpSp>
      <p:grpSp>
        <p:nvGrpSpPr>
          <p:cNvPr id="80" name="Group 80"/>
          <p:cNvGrpSpPr/>
          <p:nvPr/>
        </p:nvGrpSpPr>
        <p:grpSpPr>
          <a:xfrm>
            <a:off x="9320527" y="7337268"/>
            <a:ext cx="8019172" cy="819878"/>
            <a:chOff x="0" y="0"/>
            <a:chExt cx="10692229" cy="1093170"/>
          </a:xfrm>
        </p:grpSpPr>
        <p:sp>
          <p:nvSpPr>
            <p:cNvPr id="81" name="Freeform 81"/>
            <p:cNvSpPr/>
            <p:nvPr/>
          </p:nvSpPr>
          <p:spPr>
            <a:xfrm>
              <a:off x="0" y="0"/>
              <a:ext cx="10692229" cy="1093170"/>
            </a:xfrm>
            <a:custGeom>
              <a:avLst/>
              <a:gdLst/>
              <a:ahLst/>
              <a:cxnLst/>
              <a:rect l="l" t="t" r="r" b="b"/>
              <a:pathLst>
                <a:path w="10692229" h="1093170">
                  <a:moveTo>
                    <a:pt x="0" y="0"/>
                  </a:moveTo>
                  <a:lnTo>
                    <a:pt x="10692229" y="0"/>
                  </a:lnTo>
                  <a:lnTo>
                    <a:pt x="10692229" y="1093170"/>
                  </a:lnTo>
                  <a:lnTo>
                    <a:pt x="0" y="1093170"/>
                  </a:lnTo>
                  <a:close/>
                </a:path>
              </a:pathLst>
            </a:custGeom>
            <a:blipFill>
              <a:blip r:embed="rId2">
                <a:alphaModFix amt="0"/>
              </a:blip>
              <a:stretch>
                <a:fillRect t="-107853" r="27022" b="-70309"/>
              </a:stretch>
            </a:blipFill>
          </p:spPr>
        </p:sp>
        <p:sp>
          <p:nvSpPr>
            <p:cNvPr id="82" name="TextBox 82"/>
            <p:cNvSpPr txBox="1"/>
            <p:nvPr/>
          </p:nvSpPr>
          <p:spPr>
            <a:xfrm>
              <a:off x="0" y="-57150"/>
              <a:ext cx="10692229" cy="1150320"/>
            </a:xfrm>
            <a:prstGeom prst="rect">
              <a:avLst/>
            </a:prstGeom>
          </p:spPr>
          <p:txBody>
            <a:bodyPr lIns="0" tIns="0" rIns="0" bIns="0" rtlCol="0" anchor="ctr"/>
            <a:lstStyle/>
            <a:p>
              <a:pPr marL="690881" lvl="1" indent="-345440" algn="l">
                <a:lnSpc>
                  <a:spcPts val="3840"/>
                </a:lnSpc>
                <a:buFont typeface="Arial"/>
                <a:buChar char="•"/>
              </a:pPr>
              <a:r>
                <a:rPr lang="en-US" sz="3200">
                  <a:solidFill>
                    <a:srgbClr val="000000"/>
                  </a:solidFill>
                  <a:latin typeface="Calibri (MS)"/>
                  <a:ea typeface="Calibri (MS)"/>
                  <a:cs typeface="Calibri (MS)"/>
                  <a:sym typeface="Calibri (MS)"/>
                </a:rPr>
                <a:t>Established trust in electronics worldwide</a:t>
              </a:r>
            </a:p>
          </p:txBody>
        </p:sp>
      </p:grpSp>
      <p:grpSp>
        <p:nvGrpSpPr>
          <p:cNvPr id="83" name="Group 83"/>
          <p:cNvGrpSpPr/>
          <p:nvPr/>
        </p:nvGrpSpPr>
        <p:grpSpPr>
          <a:xfrm>
            <a:off x="9546336" y="6746595"/>
            <a:ext cx="1920240" cy="720403"/>
            <a:chOff x="0" y="0"/>
            <a:chExt cx="2560320" cy="960537"/>
          </a:xfrm>
        </p:grpSpPr>
        <p:sp>
          <p:nvSpPr>
            <p:cNvPr id="84" name="Freeform 84"/>
            <p:cNvSpPr/>
            <p:nvPr/>
          </p:nvSpPr>
          <p:spPr>
            <a:xfrm>
              <a:off x="0" y="0"/>
              <a:ext cx="2560320" cy="960537"/>
            </a:xfrm>
            <a:custGeom>
              <a:avLst/>
              <a:gdLst/>
              <a:ahLst/>
              <a:cxnLst/>
              <a:rect l="l" t="t" r="r" b="b"/>
              <a:pathLst>
                <a:path w="2560320" h="960537">
                  <a:moveTo>
                    <a:pt x="0" y="0"/>
                  </a:moveTo>
                  <a:lnTo>
                    <a:pt x="2560320" y="0"/>
                  </a:lnTo>
                  <a:lnTo>
                    <a:pt x="2560320" y="960537"/>
                  </a:lnTo>
                  <a:lnTo>
                    <a:pt x="0" y="960537"/>
                  </a:lnTo>
                  <a:close/>
                </a:path>
              </a:pathLst>
            </a:custGeom>
            <a:blipFill>
              <a:blip r:embed="rId2">
                <a:alphaModFix amt="0"/>
              </a:blip>
              <a:stretch>
                <a:fillRect t="-16397" b="12522"/>
              </a:stretch>
            </a:blipFill>
          </p:spPr>
        </p:sp>
        <p:sp>
          <p:nvSpPr>
            <p:cNvPr id="85" name="TextBox 85"/>
            <p:cNvSpPr txBox="1"/>
            <p:nvPr/>
          </p:nvSpPr>
          <p:spPr>
            <a:xfrm>
              <a:off x="0" y="-66675"/>
              <a:ext cx="2560320" cy="1027212"/>
            </a:xfrm>
            <a:prstGeom prst="rect">
              <a:avLst/>
            </a:prstGeom>
          </p:spPr>
          <p:txBody>
            <a:bodyPr lIns="0" tIns="0" rIns="0" bIns="0" rtlCol="0" anchor="ctr"/>
            <a:lstStyle/>
            <a:p>
              <a:pPr algn="ctr">
                <a:lnSpc>
                  <a:spcPts val="4320"/>
                </a:lnSpc>
              </a:pPr>
              <a:r>
                <a:rPr lang="en-US" sz="3600" b="1">
                  <a:solidFill>
                    <a:srgbClr val="000000"/>
                  </a:solidFill>
                  <a:latin typeface="Calibri (MS) Bold"/>
                  <a:ea typeface="Calibri (MS) Bold"/>
                  <a:cs typeface="Calibri (MS) Bold"/>
                  <a:sym typeface="Calibri (MS) Bold"/>
                </a:rPr>
                <a:t>Panasonic</a:t>
              </a:r>
            </a:p>
          </p:txBody>
        </p:sp>
      </p:grpSp>
      <p:grpSp>
        <p:nvGrpSpPr>
          <p:cNvPr id="86" name="Group 86"/>
          <p:cNvGrpSpPr/>
          <p:nvPr/>
        </p:nvGrpSpPr>
        <p:grpSpPr>
          <a:xfrm>
            <a:off x="9320527" y="8936534"/>
            <a:ext cx="9065315" cy="643533"/>
            <a:chOff x="0" y="0"/>
            <a:chExt cx="12087087" cy="858044"/>
          </a:xfrm>
        </p:grpSpPr>
        <p:sp>
          <p:nvSpPr>
            <p:cNvPr id="87" name="Freeform 87"/>
            <p:cNvSpPr/>
            <p:nvPr/>
          </p:nvSpPr>
          <p:spPr>
            <a:xfrm>
              <a:off x="0" y="0"/>
              <a:ext cx="12087087" cy="858044"/>
            </a:xfrm>
            <a:custGeom>
              <a:avLst/>
              <a:gdLst/>
              <a:ahLst/>
              <a:cxnLst/>
              <a:rect l="l" t="t" r="r" b="b"/>
              <a:pathLst>
                <a:path w="12087087" h="858044">
                  <a:moveTo>
                    <a:pt x="0" y="0"/>
                  </a:moveTo>
                  <a:lnTo>
                    <a:pt x="12087087" y="0"/>
                  </a:lnTo>
                  <a:lnTo>
                    <a:pt x="12087087" y="858044"/>
                  </a:lnTo>
                  <a:lnTo>
                    <a:pt x="0" y="858044"/>
                  </a:lnTo>
                  <a:close/>
                </a:path>
              </a:pathLst>
            </a:custGeom>
            <a:blipFill>
              <a:blip r:embed="rId2">
                <a:alphaModFix amt="0"/>
              </a:blip>
              <a:stretch>
                <a:fillRect t="-137407" r="35444" b="-116978"/>
              </a:stretch>
            </a:blipFill>
          </p:spPr>
        </p:sp>
        <p:sp>
          <p:nvSpPr>
            <p:cNvPr id="88" name="TextBox 88"/>
            <p:cNvSpPr txBox="1"/>
            <p:nvPr/>
          </p:nvSpPr>
          <p:spPr>
            <a:xfrm>
              <a:off x="0" y="-57150"/>
              <a:ext cx="12087087" cy="915194"/>
            </a:xfrm>
            <a:prstGeom prst="rect">
              <a:avLst/>
            </a:prstGeom>
          </p:spPr>
          <p:txBody>
            <a:bodyPr lIns="0" tIns="0" rIns="0" bIns="0" rtlCol="0" anchor="ctr"/>
            <a:lstStyle/>
            <a:p>
              <a:pPr marL="690881" lvl="1" indent="-345440" algn="l">
                <a:lnSpc>
                  <a:spcPts val="3840"/>
                </a:lnSpc>
                <a:buFont typeface="Arial"/>
                <a:buChar char="•"/>
              </a:pPr>
              <a:r>
                <a:rPr lang="en-US" sz="3200">
                  <a:solidFill>
                    <a:srgbClr val="000000"/>
                  </a:solidFill>
                  <a:latin typeface="Calibri (MS)"/>
                  <a:ea typeface="Calibri (MS)"/>
                  <a:cs typeface="Calibri (MS)"/>
                  <a:sym typeface="Calibri (MS)"/>
                </a:rPr>
                <a:t>International presence in consumer electronics</a:t>
              </a:r>
            </a:p>
          </p:txBody>
        </p:sp>
      </p:grpSp>
      <p:grpSp>
        <p:nvGrpSpPr>
          <p:cNvPr id="89" name="Group 89"/>
          <p:cNvGrpSpPr/>
          <p:nvPr/>
        </p:nvGrpSpPr>
        <p:grpSpPr>
          <a:xfrm>
            <a:off x="9156702" y="8157146"/>
            <a:ext cx="1920240" cy="720403"/>
            <a:chOff x="0" y="0"/>
            <a:chExt cx="2560320" cy="960537"/>
          </a:xfrm>
        </p:grpSpPr>
        <p:sp>
          <p:nvSpPr>
            <p:cNvPr id="90" name="Freeform 90"/>
            <p:cNvSpPr/>
            <p:nvPr/>
          </p:nvSpPr>
          <p:spPr>
            <a:xfrm>
              <a:off x="0" y="0"/>
              <a:ext cx="2560320" cy="960537"/>
            </a:xfrm>
            <a:custGeom>
              <a:avLst/>
              <a:gdLst/>
              <a:ahLst/>
              <a:cxnLst/>
              <a:rect l="l" t="t" r="r" b="b"/>
              <a:pathLst>
                <a:path w="2560320" h="960537">
                  <a:moveTo>
                    <a:pt x="0" y="0"/>
                  </a:moveTo>
                  <a:lnTo>
                    <a:pt x="2560320" y="0"/>
                  </a:lnTo>
                  <a:lnTo>
                    <a:pt x="2560320" y="960537"/>
                  </a:lnTo>
                  <a:lnTo>
                    <a:pt x="0" y="960537"/>
                  </a:lnTo>
                  <a:close/>
                </a:path>
              </a:pathLst>
            </a:custGeom>
            <a:blipFill>
              <a:blip r:embed="rId2">
                <a:alphaModFix amt="0"/>
              </a:blip>
              <a:stretch>
                <a:fillRect t="-16397" b="12522"/>
              </a:stretch>
            </a:blipFill>
          </p:spPr>
        </p:sp>
        <p:sp>
          <p:nvSpPr>
            <p:cNvPr id="91" name="TextBox 91"/>
            <p:cNvSpPr txBox="1"/>
            <p:nvPr/>
          </p:nvSpPr>
          <p:spPr>
            <a:xfrm>
              <a:off x="0" y="-66675"/>
              <a:ext cx="2560320" cy="1027212"/>
            </a:xfrm>
            <a:prstGeom prst="rect">
              <a:avLst/>
            </a:prstGeom>
          </p:spPr>
          <p:txBody>
            <a:bodyPr lIns="0" tIns="0" rIns="0" bIns="0" rtlCol="0" anchor="ctr"/>
            <a:lstStyle/>
            <a:p>
              <a:pPr algn="ctr">
                <a:lnSpc>
                  <a:spcPts val="4320"/>
                </a:lnSpc>
              </a:pPr>
              <a:r>
                <a:rPr lang="en-US" sz="3600" b="1">
                  <a:solidFill>
                    <a:srgbClr val="000000"/>
                  </a:solidFill>
                  <a:latin typeface="Calibri (MS) Bold"/>
                  <a:ea typeface="Calibri (MS) Bold"/>
                  <a:cs typeface="Calibri (MS) Bold"/>
                  <a:sym typeface="Calibri (MS) Bold"/>
                </a:rPr>
                <a:t>Philips</a:t>
              </a:r>
            </a:p>
          </p:txBody>
        </p:sp>
      </p:gr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1A1A2E"/>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18297725" cy="1441304"/>
            <a:chOff x="0" y="0"/>
            <a:chExt cx="24396967" cy="1921739"/>
          </a:xfrm>
        </p:grpSpPr>
        <p:sp>
          <p:nvSpPr>
            <p:cNvPr id="3" name="Freeform 3"/>
            <p:cNvSpPr/>
            <p:nvPr/>
          </p:nvSpPr>
          <p:spPr>
            <a:xfrm>
              <a:off x="0" y="0"/>
              <a:ext cx="24396954" cy="1921764"/>
            </a:xfrm>
            <a:custGeom>
              <a:avLst/>
              <a:gdLst/>
              <a:ahLst/>
              <a:cxnLst/>
              <a:rect l="l" t="t" r="r" b="b"/>
              <a:pathLst>
                <a:path w="24396954" h="1921764">
                  <a:moveTo>
                    <a:pt x="0" y="0"/>
                  </a:moveTo>
                  <a:lnTo>
                    <a:pt x="24396954" y="0"/>
                  </a:lnTo>
                  <a:lnTo>
                    <a:pt x="24396954" y="1921764"/>
                  </a:lnTo>
                  <a:lnTo>
                    <a:pt x="0" y="1921764"/>
                  </a:lnTo>
                  <a:close/>
                </a:path>
              </a:pathLst>
            </a:custGeom>
            <a:solidFill>
              <a:srgbClr val="CC0000"/>
            </a:solidFill>
          </p:spPr>
        </p:sp>
      </p:grpSp>
      <p:sp>
        <p:nvSpPr>
          <p:cNvPr id="4" name="TextBox 4"/>
          <p:cNvSpPr txBox="1"/>
          <p:nvPr/>
        </p:nvSpPr>
        <p:spPr>
          <a:xfrm>
            <a:off x="777773" y="165897"/>
            <a:ext cx="16289188" cy="723900"/>
          </a:xfrm>
          <a:prstGeom prst="rect">
            <a:avLst/>
          </a:prstGeom>
        </p:spPr>
        <p:txBody>
          <a:bodyPr lIns="0" tIns="0" rIns="0" bIns="0" rtlCol="0" anchor="t">
            <a:spAutoFit/>
          </a:bodyPr>
          <a:lstStyle/>
          <a:p>
            <a:pPr algn="l">
              <a:lnSpc>
                <a:spcPts val="5043"/>
              </a:lnSpc>
            </a:pPr>
            <a:r>
              <a:rPr lang="en-US" sz="4203" b="1">
                <a:solidFill>
                  <a:srgbClr val="FFFFFF"/>
                </a:solidFill>
                <a:latin typeface="Calibri (MS) Bold"/>
                <a:ea typeface="Calibri (MS) Bold"/>
                <a:cs typeface="Calibri (MS) Bold"/>
                <a:sym typeface="Calibri (MS) Bold"/>
              </a:rPr>
              <a:t>Strategic Analysis</a:t>
            </a:r>
          </a:p>
        </p:txBody>
      </p:sp>
      <p:sp>
        <p:nvSpPr>
          <p:cNvPr id="5" name="TextBox 5"/>
          <p:cNvSpPr txBox="1"/>
          <p:nvPr/>
        </p:nvSpPr>
        <p:spPr>
          <a:xfrm>
            <a:off x="777773" y="931516"/>
            <a:ext cx="16289188" cy="342900"/>
          </a:xfrm>
          <a:prstGeom prst="rect">
            <a:avLst/>
          </a:prstGeom>
        </p:spPr>
        <p:txBody>
          <a:bodyPr lIns="0" tIns="0" rIns="0" bIns="0" rtlCol="0" anchor="t">
            <a:spAutoFit/>
          </a:bodyPr>
          <a:lstStyle/>
          <a:p>
            <a:pPr algn="l">
              <a:lnSpc>
                <a:spcPts val="2341"/>
              </a:lnSpc>
            </a:pPr>
            <a:r>
              <a:rPr lang="en-US" sz="1951">
                <a:solidFill>
                  <a:srgbClr val="FFCCCC"/>
                </a:solidFill>
                <a:latin typeface="Calibri (MS)"/>
                <a:ea typeface="Calibri (MS)"/>
                <a:cs typeface="Calibri (MS)"/>
                <a:sym typeface="Calibri (MS)"/>
              </a:rPr>
              <a:t>Ansoff Matrix</a:t>
            </a:r>
          </a:p>
        </p:txBody>
      </p:sp>
      <p:grpSp>
        <p:nvGrpSpPr>
          <p:cNvPr id="6" name="Group 6"/>
          <p:cNvGrpSpPr/>
          <p:nvPr/>
        </p:nvGrpSpPr>
        <p:grpSpPr>
          <a:xfrm>
            <a:off x="334874" y="1938657"/>
            <a:ext cx="17618252" cy="3436297"/>
            <a:chOff x="0" y="0"/>
            <a:chExt cx="23491003" cy="4581729"/>
          </a:xfrm>
        </p:grpSpPr>
        <p:sp>
          <p:nvSpPr>
            <p:cNvPr id="7" name="Freeform 7"/>
            <p:cNvSpPr/>
            <p:nvPr/>
          </p:nvSpPr>
          <p:spPr>
            <a:xfrm>
              <a:off x="0" y="0"/>
              <a:ext cx="23491028" cy="4581729"/>
            </a:xfrm>
            <a:custGeom>
              <a:avLst/>
              <a:gdLst/>
              <a:ahLst/>
              <a:cxnLst/>
              <a:rect l="l" t="t" r="r" b="b"/>
              <a:pathLst>
                <a:path w="23491028" h="4581729">
                  <a:moveTo>
                    <a:pt x="0" y="0"/>
                  </a:moveTo>
                  <a:lnTo>
                    <a:pt x="23491028" y="0"/>
                  </a:lnTo>
                  <a:lnTo>
                    <a:pt x="23491028" y="4581729"/>
                  </a:lnTo>
                  <a:lnTo>
                    <a:pt x="0" y="4581729"/>
                  </a:lnTo>
                  <a:close/>
                </a:path>
              </a:pathLst>
            </a:custGeom>
            <a:solidFill>
              <a:srgbClr val="440000"/>
            </a:solidFill>
          </p:spPr>
        </p:sp>
      </p:grpSp>
      <p:grpSp>
        <p:nvGrpSpPr>
          <p:cNvPr id="8" name="Group 8"/>
          <p:cNvGrpSpPr/>
          <p:nvPr/>
        </p:nvGrpSpPr>
        <p:grpSpPr>
          <a:xfrm>
            <a:off x="334874" y="5981585"/>
            <a:ext cx="17618252" cy="3426955"/>
            <a:chOff x="0" y="0"/>
            <a:chExt cx="23491003" cy="4569274"/>
          </a:xfrm>
        </p:grpSpPr>
        <p:sp>
          <p:nvSpPr>
            <p:cNvPr id="9" name="Freeform 9"/>
            <p:cNvSpPr/>
            <p:nvPr/>
          </p:nvSpPr>
          <p:spPr>
            <a:xfrm>
              <a:off x="0" y="0"/>
              <a:ext cx="23491028" cy="4569274"/>
            </a:xfrm>
            <a:custGeom>
              <a:avLst/>
              <a:gdLst/>
              <a:ahLst/>
              <a:cxnLst/>
              <a:rect l="l" t="t" r="r" b="b"/>
              <a:pathLst>
                <a:path w="23491028" h="4569274">
                  <a:moveTo>
                    <a:pt x="0" y="0"/>
                  </a:moveTo>
                  <a:lnTo>
                    <a:pt x="23491028" y="0"/>
                  </a:lnTo>
                  <a:lnTo>
                    <a:pt x="23491028" y="4569274"/>
                  </a:lnTo>
                  <a:lnTo>
                    <a:pt x="0" y="4569274"/>
                  </a:lnTo>
                  <a:close/>
                </a:path>
              </a:pathLst>
            </a:custGeom>
            <a:solidFill>
              <a:srgbClr val="660000"/>
            </a:solidFill>
          </p:spPr>
        </p:sp>
      </p:grpSp>
      <p:sp>
        <p:nvSpPr>
          <p:cNvPr id="10" name="TextBox 10"/>
          <p:cNvSpPr txBox="1"/>
          <p:nvPr/>
        </p:nvSpPr>
        <p:spPr>
          <a:xfrm>
            <a:off x="4997767" y="2916123"/>
            <a:ext cx="11835931" cy="3047365"/>
          </a:xfrm>
          <a:prstGeom prst="rect">
            <a:avLst/>
          </a:prstGeom>
        </p:spPr>
        <p:txBody>
          <a:bodyPr lIns="0" tIns="0" rIns="0" bIns="0" rtlCol="0" anchor="t">
            <a:spAutoFit/>
          </a:bodyPr>
          <a:lstStyle/>
          <a:p>
            <a:pPr algn="l">
              <a:lnSpc>
                <a:spcPts val="4759"/>
              </a:lnSpc>
            </a:pPr>
            <a:r>
              <a:rPr lang="en-US" sz="3399">
                <a:solidFill>
                  <a:srgbClr val="FFFFFF"/>
                </a:solidFill>
                <a:latin typeface="Calibri (MS)"/>
                <a:ea typeface="Calibri (MS)"/>
                <a:cs typeface="Calibri (MS)"/>
                <a:sym typeface="Calibri (MS)"/>
              </a:rPr>
              <a:t>• 25,000+ sales points across Bangladesh</a:t>
            </a:r>
          </a:p>
          <a:p>
            <a:pPr algn="l">
              <a:lnSpc>
                <a:spcPts val="4759"/>
              </a:lnSpc>
            </a:pPr>
            <a:r>
              <a:rPr lang="en-US" sz="3399">
                <a:solidFill>
                  <a:srgbClr val="FFFFFF"/>
                </a:solidFill>
                <a:latin typeface="Calibri (MS)"/>
                <a:ea typeface="Calibri (MS)"/>
                <a:cs typeface="Calibri (MS)"/>
                <a:sym typeface="Calibri (MS)"/>
              </a:rPr>
              <a:t>• 700+ Walton Plaza showrooms</a:t>
            </a:r>
          </a:p>
          <a:p>
            <a:pPr algn="l">
              <a:lnSpc>
                <a:spcPts val="4759"/>
              </a:lnSpc>
            </a:pPr>
            <a:r>
              <a:rPr lang="en-US" sz="3399">
                <a:solidFill>
                  <a:srgbClr val="FFFFFF"/>
                </a:solidFill>
                <a:latin typeface="Calibri (MS)"/>
                <a:ea typeface="Calibri (MS)"/>
                <a:cs typeface="Calibri (MS)"/>
                <a:sym typeface="Calibri (MS)"/>
              </a:rPr>
              <a:t>• Goal: retain &amp; grow existing customer base</a:t>
            </a:r>
          </a:p>
          <a:p>
            <a:pPr algn="l">
              <a:lnSpc>
                <a:spcPts val="4759"/>
              </a:lnSpc>
            </a:pPr>
            <a:endParaRPr lang="en-US" sz="3399">
              <a:solidFill>
                <a:srgbClr val="FFFFFF"/>
              </a:solidFill>
              <a:latin typeface="Calibri (MS)"/>
              <a:ea typeface="Calibri (MS)"/>
              <a:cs typeface="Calibri (MS)"/>
              <a:sym typeface="Calibri (MS)"/>
            </a:endParaRPr>
          </a:p>
          <a:p>
            <a:pPr algn="ctr">
              <a:lnSpc>
                <a:spcPts val="4759"/>
              </a:lnSpc>
            </a:pPr>
            <a:r>
              <a:rPr lang="en-US" sz="3399">
                <a:solidFill>
                  <a:srgbClr val="FFFFFF"/>
                </a:solidFill>
                <a:latin typeface="Calibri (MS)"/>
                <a:ea typeface="Calibri (MS)"/>
                <a:cs typeface="Calibri (MS)"/>
                <a:sym typeface="Calibri (MS)"/>
              </a:rPr>
              <a:t> </a:t>
            </a:r>
          </a:p>
        </p:txBody>
      </p:sp>
      <p:sp>
        <p:nvSpPr>
          <p:cNvPr id="11" name="TextBox 11"/>
          <p:cNvSpPr txBox="1"/>
          <p:nvPr/>
        </p:nvSpPr>
        <p:spPr>
          <a:xfrm>
            <a:off x="554313" y="3744628"/>
            <a:ext cx="5687235" cy="887095"/>
          </a:xfrm>
          <a:prstGeom prst="rect">
            <a:avLst/>
          </a:prstGeom>
        </p:spPr>
        <p:txBody>
          <a:bodyPr lIns="0" tIns="0" rIns="0" bIns="0" rtlCol="0" anchor="t">
            <a:spAutoFit/>
          </a:bodyPr>
          <a:lstStyle/>
          <a:p>
            <a:pPr algn="ctr">
              <a:lnSpc>
                <a:spcPts val="7279"/>
              </a:lnSpc>
            </a:pPr>
            <a:endParaRPr/>
          </a:p>
        </p:txBody>
      </p:sp>
      <p:sp>
        <p:nvSpPr>
          <p:cNvPr id="12" name="TextBox 12"/>
          <p:cNvSpPr txBox="1"/>
          <p:nvPr/>
        </p:nvSpPr>
        <p:spPr>
          <a:xfrm>
            <a:off x="5419578" y="6156798"/>
            <a:ext cx="6346279" cy="685800"/>
          </a:xfrm>
          <a:prstGeom prst="rect">
            <a:avLst/>
          </a:prstGeom>
        </p:spPr>
        <p:txBody>
          <a:bodyPr lIns="0" tIns="0" rIns="0" bIns="0" rtlCol="0" anchor="t">
            <a:spAutoFit/>
          </a:bodyPr>
          <a:lstStyle/>
          <a:p>
            <a:pPr algn="ctr">
              <a:lnSpc>
                <a:spcPts val="4799"/>
              </a:lnSpc>
              <a:spcBef>
                <a:spcPct val="0"/>
              </a:spcBef>
            </a:pPr>
            <a:r>
              <a:rPr lang="en-US" sz="3999" b="1">
                <a:solidFill>
                  <a:srgbClr val="FFFFFF"/>
                </a:solidFill>
                <a:latin typeface="Calibri (MS) Bold"/>
                <a:ea typeface="Calibri (MS) Bold"/>
                <a:cs typeface="Calibri (MS) Bold"/>
                <a:sym typeface="Calibri (MS) Bold"/>
              </a:rPr>
              <a:t>Product Development</a:t>
            </a:r>
          </a:p>
        </p:txBody>
      </p:sp>
      <p:sp>
        <p:nvSpPr>
          <p:cNvPr id="13" name="TextBox 13"/>
          <p:cNvSpPr txBox="1"/>
          <p:nvPr/>
        </p:nvSpPr>
        <p:spPr>
          <a:xfrm>
            <a:off x="4698869" y="6852123"/>
            <a:ext cx="11369405" cy="1847215"/>
          </a:xfrm>
          <a:prstGeom prst="rect">
            <a:avLst/>
          </a:prstGeom>
        </p:spPr>
        <p:txBody>
          <a:bodyPr lIns="0" tIns="0" rIns="0" bIns="0" rtlCol="0" anchor="t">
            <a:spAutoFit/>
          </a:bodyPr>
          <a:lstStyle/>
          <a:p>
            <a:pPr marL="734059" lvl="1" indent="-367030" algn="l">
              <a:lnSpc>
                <a:spcPts val="4759"/>
              </a:lnSpc>
              <a:buFont typeface="Arial"/>
              <a:buChar char="•"/>
            </a:pPr>
            <a:r>
              <a:rPr lang="en-US" sz="3399">
                <a:solidFill>
                  <a:srgbClr val="FFFFFF"/>
                </a:solidFill>
                <a:latin typeface="Calibri (MS)"/>
                <a:ea typeface="Calibri (MS)"/>
                <a:cs typeface="Calibri (MS)"/>
                <a:sym typeface="Calibri (MS)"/>
              </a:rPr>
              <a:t>AI &amp; IoT integrated home appliances </a:t>
            </a:r>
          </a:p>
          <a:p>
            <a:pPr marL="734059" lvl="1" indent="-367030" algn="l">
              <a:lnSpc>
                <a:spcPts val="4759"/>
              </a:lnSpc>
              <a:buFont typeface="Arial"/>
              <a:buChar char="•"/>
            </a:pPr>
            <a:r>
              <a:rPr lang="en-US" sz="3399">
                <a:solidFill>
                  <a:srgbClr val="FFFFFF"/>
                </a:solidFill>
                <a:latin typeface="Calibri (MS)"/>
                <a:ea typeface="Calibri (MS)"/>
                <a:cs typeface="Calibri (MS)"/>
                <a:sym typeface="Calibri (MS)"/>
              </a:rPr>
              <a:t>Smart fridges with multimedia features </a:t>
            </a:r>
          </a:p>
          <a:p>
            <a:pPr marL="734059" lvl="1" indent="-367030" algn="l">
              <a:lnSpc>
                <a:spcPts val="4759"/>
              </a:lnSpc>
              <a:buFont typeface="Arial"/>
              <a:buChar char="•"/>
            </a:pPr>
            <a:r>
              <a:rPr lang="en-US" sz="3399">
                <a:solidFill>
                  <a:srgbClr val="FFFFFF"/>
                </a:solidFill>
                <a:latin typeface="Calibri (MS)"/>
                <a:ea typeface="Calibri (MS)"/>
                <a:cs typeface="Calibri (MS)"/>
                <a:sym typeface="Calibri (MS)"/>
              </a:rPr>
              <a:t>AI-based diagnostic systems</a:t>
            </a:r>
          </a:p>
        </p:txBody>
      </p:sp>
      <p:sp>
        <p:nvSpPr>
          <p:cNvPr id="14" name="TextBox 14"/>
          <p:cNvSpPr txBox="1"/>
          <p:nvPr/>
        </p:nvSpPr>
        <p:spPr>
          <a:xfrm>
            <a:off x="2984292" y="2144598"/>
            <a:ext cx="11216850" cy="685800"/>
          </a:xfrm>
          <a:prstGeom prst="rect">
            <a:avLst/>
          </a:prstGeom>
        </p:spPr>
        <p:txBody>
          <a:bodyPr lIns="0" tIns="0" rIns="0" bIns="0" rtlCol="0" anchor="t">
            <a:spAutoFit/>
          </a:bodyPr>
          <a:lstStyle/>
          <a:p>
            <a:pPr algn="ctr">
              <a:lnSpc>
                <a:spcPts val="4799"/>
              </a:lnSpc>
              <a:spcBef>
                <a:spcPct val="0"/>
              </a:spcBef>
            </a:pPr>
            <a:r>
              <a:rPr lang="en-US" sz="3999" b="1">
                <a:solidFill>
                  <a:srgbClr val="FFFFFF"/>
                </a:solidFill>
                <a:latin typeface="Calibri (MS) Bold"/>
                <a:ea typeface="Calibri (MS) Bold"/>
                <a:cs typeface="Calibri (MS) Bold"/>
                <a:sym typeface="Calibri (MS) Bold"/>
              </a:rPr>
              <a:t>Market  Penetration</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1A1A2E"/>
        </a:solidFill>
        <a:effectLst/>
      </p:bgPr>
    </p:bg>
    <p:spTree>
      <p:nvGrpSpPr>
        <p:cNvPr id="1" name=""/>
        <p:cNvGrpSpPr/>
        <p:nvPr/>
      </p:nvGrpSpPr>
      <p:grpSpPr>
        <a:xfrm>
          <a:off x="0" y="0"/>
          <a:ext cx="0" cy="0"/>
          <a:chOff x="0" y="0"/>
          <a:chExt cx="0" cy="0"/>
        </a:xfrm>
      </p:grpSpPr>
      <p:grpSp>
        <p:nvGrpSpPr>
          <p:cNvPr id="2" name="Group 2"/>
          <p:cNvGrpSpPr/>
          <p:nvPr/>
        </p:nvGrpSpPr>
        <p:grpSpPr>
          <a:xfrm>
            <a:off x="334874" y="2214212"/>
            <a:ext cx="17618252" cy="3472389"/>
            <a:chOff x="0" y="0"/>
            <a:chExt cx="23491003" cy="4629852"/>
          </a:xfrm>
        </p:grpSpPr>
        <p:sp>
          <p:nvSpPr>
            <p:cNvPr id="3" name="Freeform 3"/>
            <p:cNvSpPr/>
            <p:nvPr/>
          </p:nvSpPr>
          <p:spPr>
            <a:xfrm>
              <a:off x="0" y="0"/>
              <a:ext cx="23491028" cy="4629852"/>
            </a:xfrm>
            <a:custGeom>
              <a:avLst/>
              <a:gdLst/>
              <a:ahLst/>
              <a:cxnLst/>
              <a:rect l="l" t="t" r="r" b="b"/>
              <a:pathLst>
                <a:path w="23491028" h="4629852">
                  <a:moveTo>
                    <a:pt x="0" y="0"/>
                  </a:moveTo>
                  <a:lnTo>
                    <a:pt x="23491028" y="0"/>
                  </a:lnTo>
                  <a:lnTo>
                    <a:pt x="23491028" y="4629852"/>
                  </a:lnTo>
                  <a:lnTo>
                    <a:pt x="0" y="4629852"/>
                  </a:lnTo>
                  <a:close/>
                </a:path>
              </a:pathLst>
            </a:custGeom>
            <a:solidFill>
              <a:srgbClr val="881111"/>
            </a:solidFill>
          </p:spPr>
        </p:sp>
      </p:grpSp>
      <p:grpSp>
        <p:nvGrpSpPr>
          <p:cNvPr id="4" name="Group 4"/>
          <p:cNvGrpSpPr/>
          <p:nvPr/>
        </p:nvGrpSpPr>
        <p:grpSpPr>
          <a:xfrm>
            <a:off x="339736" y="6245217"/>
            <a:ext cx="17618252" cy="3427131"/>
            <a:chOff x="0" y="0"/>
            <a:chExt cx="23491003" cy="4569508"/>
          </a:xfrm>
        </p:grpSpPr>
        <p:sp>
          <p:nvSpPr>
            <p:cNvPr id="5" name="Freeform 5"/>
            <p:cNvSpPr/>
            <p:nvPr/>
          </p:nvSpPr>
          <p:spPr>
            <a:xfrm>
              <a:off x="0" y="0"/>
              <a:ext cx="23491028" cy="4569508"/>
            </a:xfrm>
            <a:custGeom>
              <a:avLst/>
              <a:gdLst/>
              <a:ahLst/>
              <a:cxnLst/>
              <a:rect l="l" t="t" r="r" b="b"/>
              <a:pathLst>
                <a:path w="23491028" h="4569508">
                  <a:moveTo>
                    <a:pt x="0" y="0"/>
                  </a:moveTo>
                  <a:lnTo>
                    <a:pt x="23491028" y="0"/>
                  </a:lnTo>
                  <a:lnTo>
                    <a:pt x="23491028" y="4569508"/>
                  </a:lnTo>
                  <a:lnTo>
                    <a:pt x="0" y="4569508"/>
                  </a:lnTo>
                  <a:close/>
                </a:path>
              </a:pathLst>
            </a:custGeom>
            <a:solidFill>
              <a:srgbClr val="CC0000"/>
            </a:solidFill>
          </p:spPr>
        </p:sp>
      </p:grpSp>
      <p:grpSp>
        <p:nvGrpSpPr>
          <p:cNvPr id="6" name="Group 6"/>
          <p:cNvGrpSpPr/>
          <p:nvPr/>
        </p:nvGrpSpPr>
        <p:grpSpPr>
          <a:xfrm>
            <a:off x="0" y="0"/>
            <a:ext cx="18297725" cy="1441304"/>
            <a:chOff x="0" y="0"/>
            <a:chExt cx="24396967" cy="1921739"/>
          </a:xfrm>
        </p:grpSpPr>
        <p:sp>
          <p:nvSpPr>
            <p:cNvPr id="7" name="Freeform 7"/>
            <p:cNvSpPr/>
            <p:nvPr/>
          </p:nvSpPr>
          <p:spPr>
            <a:xfrm>
              <a:off x="0" y="0"/>
              <a:ext cx="24396954" cy="1921764"/>
            </a:xfrm>
            <a:custGeom>
              <a:avLst/>
              <a:gdLst/>
              <a:ahLst/>
              <a:cxnLst/>
              <a:rect l="l" t="t" r="r" b="b"/>
              <a:pathLst>
                <a:path w="24396954" h="1921764">
                  <a:moveTo>
                    <a:pt x="0" y="0"/>
                  </a:moveTo>
                  <a:lnTo>
                    <a:pt x="24396954" y="0"/>
                  </a:lnTo>
                  <a:lnTo>
                    <a:pt x="24396954" y="1921764"/>
                  </a:lnTo>
                  <a:lnTo>
                    <a:pt x="0" y="1921764"/>
                  </a:lnTo>
                  <a:close/>
                </a:path>
              </a:pathLst>
            </a:custGeom>
            <a:solidFill>
              <a:srgbClr val="CC0000"/>
            </a:solidFill>
          </p:spPr>
        </p:sp>
      </p:grpSp>
      <p:sp>
        <p:nvSpPr>
          <p:cNvPr id="8" name="TextBox 8"/>
          <p:cNvSpPr txBox="1"/>
          <p:nvPr/>
        </p:nvSpPr>
        <p:spPr>
          <a:xfrm>
            <a:off x="5366326" y="2128487"/>
            <a:ext cx="7131909" cy="685800"/>
          </a:xfrm>
          <a:prstGeom prst="rect">
            <a:avLst/>
          </a:prstGeom>
        </p:spPr>
        <p:txBody>
          <a:bodyPr lIns="0" tIns="0" rIns="0" bIns="0" rtlCol="0" anchor="t">
            <a:spAutoFit/>
          </a:bodyPr>
          <a:lstStyle/>
          <a:p>
            <a:pPr algn="ctr">
              <a:lnSpc>
                <a:spcPts val="4799"/>
              </a:lnSpc>
              <a:spcBef>
                <a:spcPct val="0"/>
              </a:spcBef>
            </a:pPr>
            <a:r>
              <a:rPr lang="en-US" sz="3999" b="1">
                <a:solidFill>
                  <a:srgbClr val="FFFFFF"/>
                </a:solidFill>
                <a:latin typeface="Calibri (MS) Bold"/>
                <a:ea typeface="Calibri (MS) Bold"/>
                <a:cs typeface="Calibri (MS) Bold"/>
                <a:sym typeface="Calibri (MS) Bold"/>
              </a:rPr>
              <a:t>Market Development</a:t>
            </a:r>
          </a:p>
        </p:txBody>
      </p:sp>
      <p:sp>
        <p:nvSpPr>
          <p:cNvPr id="9" name="TextBox 9"/>
          <p:cNvSpPr txBox="1"/>
          <p:nvPr/>
        </p:nvSpPr>
        <p:spPr>
          <a:xfrm>
            <a:off x="1028700" y="2747885"/>
            <a:ext cx="17618252" cy="2124075"/>
          </a:xfrm>
          <a:prstGeom prst="rect">
            <a:avLst/>
          </a:prstGeom>
        </p:spPr>
        <p:txBody>
          <a:bodyPr lIns="0" tIns="0" rIns="0" bIns="0" rtlCol="0" anchor="t">
            <a:spAutoFit/>
          </a:bodyPr>
          <a:lstStyle/>
          <a:p>
            <a:pPr algn="l">
              <a:lnSpc>
                <a:spcPts val="4080"/>
              </a:lnSpc>
              <a:spcBef>
                <a:spcPct val="0"/>
              </a:spcBef>
            </a:pPr>
            <a:r>
              <a:rPr lang="en-US" sz="3400">
                <a:solidFill>
                  <a:srgbClr val="FFFFFF"/>
                </a:solidFill>
                <a:latin typeface="Calibri (MS)"/>
                <a:ea typeface="Calibri (MS)"/>
                <a:cs typeface="Calibri (MS)"/>
                <a:sym typeface="Calibri (MS)"/>
              </a:rPr>
              <a:t>• 25,000+ sales points across Bangladesh </a:t>
            </a:r>
          </a:p>
          <a:p>
            <a:pPr algn="l">
              <a:lnSpc>
                <a:spcPts val="4080"/>
              </a:lnSpc>
              <a:spcBef>
                <a:spcPct val="0"/>
              </a:spcBef>
            </a:pPr>
            <a:r>
              <a:rPr lang="en-US" sz="3400">
                <a:solidFill>
                  <a:srgbClr val="FFFFFF"/>
                </a:solidFill>
                <a:latin typeface="Calibri (MS)"/>
                <a:ea typeface="Calibri (MS)"/>
                <a:cs typeface="Calibri (MS)"/>
                <a:sym typeface="Calibri (MS)"/>
              </a:rPr>
              <a:t>•Exporting to 50+ countries including India, Nepal, Turkey, Iraq, Nigeria, and Austria </a:t>
            </a:r>
          </a:p>
          <a:p>
            <a:pPr algn="l">
              <a:lnSpc>
                <a:spcPts val="4080"/>
              </a:lnSpc>
              <a:spcBef>
                <a:spcPct val="0"/>
              </a:spcBef>
            </a:pPr>
            <a:r>
              <a:rPr lang="en-US" sz="3400">
                <a:solidFill>
                  <a:srgbClr val="FFFFFF"/>
                </a:solidFill>
                <a:latin typeface="Calibri (MS)"/>
                <a:ea typeface="Calibri (MS)"/>
                <a:cs typeface="Calibri (MS)"/>
                <a:sym typeface="Calibri (MS)"/>
              </a:rPr>
              <a:t>• Target: 500,000 units exported annually by 2026 </a:t>
            </a:r>
          </a:p>
          <a:p>
            <a:pPr algn="l">
              <a:lnSpc>
                <a:spcPts val="4080"/>
              </a:lnSpc>
              <a:spcBef>
                <a:spcPct val="0"/>
              </a:spcBef>
            </a:pPr>
            <a:r>
              <a:rPr lang="en-US" sz="3400">
                <a:solidFill>
                  <a:srgbClr val="FFFFFF"/>
                </a:solidFill>
                <a:latin typeface="Calibri (MS)"/>
                <a:ea typeface="Calibri (MS)"/>
                <a:cs typeface="Calibri (MS)"/>
                <a:sym typeface="Calibri (MS)"/>
              </a:rPr>
              <a:t>• Goal: Top 5 global electronics brand by 2030</a:t>
            </a:r>
          </a:p>
        </p:txBody>
      </p:sp>
      <p:sp>
        <p:nvSpPr>
          <p:cNvPr id="10" name="TextBox 10"/>
          <p:cNvSpPr txBox="1"/>
          <p:nvPr/>
        </p:nvSpPr>
        <p:spPr>
          <a:xfrm>
            <a:off x="6636643" y="6159492"/>
            <a:ext cx="5562694" cy="685800"/>
          </a:xfrm>
          <a:prstGeom prst="rect">
            <a:avLst/>
          </a:prstGeom>
        </p:spPr>
        <p:txBody>
          <a:bodyPr lIns="0" tIns="0" rIns="0" bIns="0" rtlCol="0" anchor="t">
            <a:spAutoFit/>
          </a:bodyPr>
          <a:lstStyle/>
          <a:p>
            <a:pPr algn="ctr">
              <a:lnSpc>
                <a:spcPts val="4799"/>
              </a:lnSpc>
              <a:spcBef>
                <a:spcPct val="0"/>
              </a:spcBef>
            </a:pPr>
            <a:r>
              <a:rPr lang="en-US" sz="3999" b="1">
                <a:solidFill>
                  <a:srgbClr val="FFFFFF"/>
                </a:solidFill>
                <a:latin typeface="Calibri (MS) Bold"/>
                <a:ea typeface="Calibri (MS) Bold"/>
                <a:cs typeface="Calibri (MS) Bold"/>
                <a:sym typeface="Calibri (MS) Bold"/>
              </a:rPr>
              <a:t>Diversification</a:t>
            </a:r>
          </a:p>
        </p:txBody>
      </p:sp>
      <p:sp>
        <p:nvSpPr>
          <p:cNvPr id="11" name="TextBox 11"/>
          <p:cNvSpPr txBox="1"/>
          <p:nvPr/>
        </p:nvSpPr>
        <p:spPr>
          <a:xfrm>
            <a:off x="3153926" y="7077719"/>
            <a:ext cx="12587668" cy="1152525"/>
          </a:xfrm>
          <a:prstGeom prst="rect">
            <a:avLst/>
          </a:prstGeom>
        </p:spPr>
        <p:txBody>
          <a:bodyPr lIns="0" tIns="0" rIns="0" bIns="0" rtlCol="0" anchor="t">
            <a:spAutoFit/>
          </a:bodyPr>
          <a:lstStyle/>
          <a:p>
            <a:pPr algn="l">
              <a:lnSpc>
                <a:spcPts val="4320"/>
              </a:lnSpc>
              <a:spcBef>
                <a:spcPct val="0"/>
              </a:spcBef>
            </a:pPr>
            <a:r>
              <a:rPr lang="en-US" sz="3600">
                <a:solidFill>
                  <a:srgbClr val="FFFFFF"/>
                </a:solidFill>
                <a:latin typeface="Calibri (MS)"/>
                <a:ea typeface="Calibri (MS)"/>
                <a:cs typeface="Calibri (MS)"/>
                <a:sym typeface="Calibri (MS)"/>
              </a:rPr>
              <a:t>• New product lines: laptops, mobiles, PCBs, electric bikes </a:t>
            </a:r>
          </a:p>
          <a:p>
            <a:pPr algn="l">
              <a:lnSpc>
                <a:spcPts val="4320"/>
              </a:lnSpc>
              <a:spcBef>
                <a:spcPct val="0"/>
              </a:spcBef>
            </a:pPr>
            <a:r>
              <a:rPr lang="en-US" sz="3600">
                <a:solidFill>
                  <a:srgbClr val="FFFFFF"/>
                </a:solidFill>
                <a:latin typeface="Calibri (MS)"/>
                <a:ea typeface="Calibri (MS)"/>
                <a:cs typeface="Calibri (MS)"/>
                <a:sym typeface="Calibri (MS)"/>
              </a:rPr>
              <a:t>• Future plan: Electric vehicles (EVs</a:t>
            </a:r>
          </a:p>
        </p:txBody>
      </p:sp>
      <p:sp>
        <p:nvSpPr>
          <p:cNvPr id="12" name="TextBox 12"/>
          <p:cNvSpPr txBox="1"/>
          <p:nvPr/>
        </p:nvSpPr>
        <p:spPr>
          <a:xfrm>
            <a:off x="752951" y="128237"/>
            <a:ext cx="3857466" cy="723900"/>
          </a:xfrm>
          <a:prstGeom prst="rect">
            <a:avLst/>
          </a:prstGeom>
        </p:spPr>
        <p:txBody>
          <a:bodyPr lIns="0" tIns="0" rIns="0" bIns="0" rtlCol="0" anchor="t">
            <a:spAutoFit/>
          </a:bodyPr>
          <a:lstStyle/>
          <a:p>
            <a:pPr algn="ctr">
              <a:lnSpc>
                <a:spcPts val="5039"/>
              </a:lnSpc>
              <a:spcBef>
                <a:spcPct val="0"/>
              </a:spcBef>
            </a:pPr>
            <a:r>
              <a:rPr lang="en-US" sz="4199" b="1">
                <a:solidFill>
                  <a:srgbClr val="FFFFFF"/>
                </a:solidFill>
                <a:latin typeface="Calibri (MS) Bold"/>
                <a:ea typeface="Calibri (MS) Bold"/>
                <a:cs typeface="Calibri (MS) Bold"/>
                <a:sym typeface="Calibri (MS) Bold"/>
              </a:rPr>
              <a:t>Strategic Analysis</a:t>
            </a:r>
          </a:p>
        </p:txBody>
      </p:sp>
      <p:sp>
        <p:nvSpPr>
          <p:cNvPr id="13" name="TextBox 13"/>
          <p:cNvSpPr txBox="1"/>
          <p:nvPr/>
        </p:nvSpPr>
        <p:spPr>
          <a:xfrm>
            <a:off x="777773" y="931516"/>
            <a:ext cx="16289188" cy="342900"/>
          </a:xfrm>
          <a:prstGeom prst="rect">
            <a:avLst/>
          </a:prstGeom>
        </p:spPr>
        <p:txBody>
          <a:bodyPr lIns="0" tIns="0" rIns="0" bIns="0" rtlCol="0" anchor="t">
            <a:spAutoFit/>
          </a:bodyPr>
          <a:lstStyle/>
          <a:p>
            <a:pPr algn="l">
              <a:lnSpc>
                <a:spcPts val="2341"/>
              </a:lnSpc>
            </a:pPr>
            <a:r>
              <a:rPr lang="en-US" sz="1951">
                <a:solidFill>
                  <a:srgbClr val="FFCCCC"/>
                </a:solidFill>
                <a:latin typeface="Calibri (MS)"/>
                <a:ea typeface="Calibri (MS)"/>
                <a:cs typeface="Calibri (MS)"/>
                <a:sym typeface="Calibri (MS)"/>
              </a:rPr>
              <a:t> Ansoff Matrix</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E2E8F0"/>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18297725" cy="1441304"/>
            <a:chOff x="0" y="0"/>
            <a:chExt cx="24396967" cy="1921739"/>
          </a:xfrm>
        </p:grpSpPr>
        <p:sp>
          <p:nvSpPr>
            <p:cNvPr id="3" name="Freeform 3"/>
            <p:cNvSpPr/>
            <p:nvPr/>
          </p:nvSpPr>
          <p:spPr>
            <a:xfrm>
              <a:off x="0" y="0"/>
              <a:ext cx="24396954" cy="1921764"/>
            </a:xfrm>
            <a:custGeom>
              <a:avLst/>
              <a:gdLst/>
              <a:ahLst/>
              <a:cxnLst/>
              <a:rect l="l" t="t" r="r" b="b"/>
              <a:pathLst>
                <a:path w="24396954" h="1921764">
                  <a:moveTo>
                    <a:pt x="0" y="0"/>
                  </a:moveTo>
                  <a:lnTo>
                    <a:pt x="24396954" y="0"/>
                  </a:lnTo>
                  <a:lnTo>
                    <a:pt x="24396954" y="1921764"/>
                  </a:lnTo>
                  <a:lnTo>
                    <a:pt x="0" y="1921764"/>
                  </a:lnTo>
                  <a:close/>
                </a:path>
              </a:pathLst>
            </a:custGeom>
            <a:solidFill>
              <a:srgbClr val="CC0000"/>
            </a:solidFill>
          </p:spPr>
        </p:sp>
      </p:grpSp>
      <p:grpSp>
        <p:nvGrpSpPr>
          <p:cNvPr id="4" name="Group 4"/>
          <p:cNvGrpSpPr/>
          <p:nvPr/>
        </p:nvGrpSpPr>
        <p:grpSpPr>
          <a:xfrm>
            <a:off x="411804" y="1647206"/>
            <a:ext cx="8732196" cy="4255284"/>
            <a:chOff x="0" y="0"/>
            <a:chExt cx="11642928" cy="5673712"/>
          </a:xfrm>
        </p:grpSpPr>
        <p:sp>
          <p:nvSpPr>
            <p:cNvPr id="5" name="Freeform 5"/>
            <p:cNvSpPr/>
            <p:nvPr/>
          </p:nvSpPr>
          <p:spPr>
            <a:xfrm>
              <a:off x="0" y="0"/>
              <a:ext cx="11642954" cy="5673725"/>
            </a:xfrm>
            <a:custGeom>
              <a:avLst/>
              <a:gdLst/>
              <a:ahLst/>
              <a:cxnLst/>
              <a:rect l="l" t="t" r="r" b="b"/>
              <a:pathLst>
                <a:path w="11642954" h="5673725">
                  <a:moveTo>
                    <a:pt x="0" y="0"/>
                  </a:moveTo>
                  <a:lnTo>
                    <a:pt x="11642954" y="0"/>
                  </a:lnTo>
                  <a:lnTo>
                    <a:pt x="11642954" y="5673725"/>
                  </a:lnTo>
                  <a:lnTo>
                    <a:pt x="0" y="5673725"/>
                  </a:lnTo>
                  <a:close/>
                </a:path>
              </a:pathLst>
            </a:custGeom>
            <a:blipFill>
              <a:blip r:embed="rId2">
                <a:alphaModFix amt="19999"/>
              </a:blip>
              <a:stretch>
                <a:fillRect t="-50295" b="-50295"/>
              </a:stretch>
            </a:blipFill>
          </p:spPr>
        </p:sp>
      </p:grpSp>
      <p:grpSp>
        <p:nvGrpSpPr>
          <p:cNvPr id="6" name="Group 6"/>
          <p:cNvGrpSpPr/>
          <p:nvPr/>
        </p:nvGrpSpPr>
        <p:grpSpPr>
          <a:xfrm>
            <a:off x="411804" y="1647206"/>
            <a:ext cx="8510568" cy="686333"/>
            <a:chOff x="0" y="0"/>
            <a:chExt cx="11347425" cy="915111"/>
          </a:xfrm>
        </p:grpSpPr>
        <p:sp>
          <p:nvSpPr>
            <p:cNvPr id="7" name="Freeform 7"/>
            <p:cNvSpPr/>
            <p:nvPr/>
          </p:nvSpPr>
          <p:spPr>
            <a:xfrm>
              <a:off x="0" y="0"/>
              <a:ext cx="11347450" cy="915162"/>
            </a:xfrm>
            <a:custGeom>
              <a:avLst/>
              <a:gdLst/>
              <a:ahLst/>
              <a:cxnLst/>
              <a:rect l="l" t="t" r="r" b="b"/>
              <a:pathLst>
                <a:path w="11347450" h="915162">
                  <a:moveTo>
                    <a:pt x="0" y="0"/>
                  </a:moveTo>
                  <a:lnTo>
                    <a:pt x="11347450" y="0"/>
                  </a:lnTo>
                  <a:lnTo>
                    <a:pt x="11347450" y="915162"/>
                  </a:lnTo>
                  <a:lnTo>
                    <a:pt x="0" y="915162"/>
                  </a:lnTo>
                  <a:close/>
                </a:path>
              </a:pathLst>
            </a:custGeom>
            <a:solidFill>
              <a:srgbClr val="1B5E20"/>
            </a:solidFill>
          </p:spPr>
        </p:sp>
      </p:grpSp>
      <p:grpSp>
        <p:nvGrpSpPr>
          <p:cNvPr id="8" name="Group 8"/>
          <p:cNvGrpSpPr/>
          <p:nvPr/>
        </p:nvGrpSpPr>
        <p:grpSpPr>
          <a:xfrm>
            <a:off x="9402804" y="1647206"/>
            <a:ext cx="8510568" cy="4255284"/>
            <a:chOff x="0" y="0"/>
            <a:chExt cx="11347425" cy="5673712"/>
          </a:xfrm>
        </p:grpSpPr>
        <p:sp>
          <p:nvSpPr>
            <p:cNvPr id="9" name="Freeform 9"/>
            <p:cNvSpPr/>
            <p:nvPr/>
          </p:nvSpPr>
          <p:spPr>
            <a:xfrm>
              <a:off x="0" y="0"/>
              <a:ext cx="11347450" cy="5673725"/>
            </a:xfrm>
            <a:custGeom>
              <a:avLst/>
              <a:gdLst/>
              <a:ahLst/>
              <a:cxnLst/>
              <a:rect l="l" t="t" r="r" b="b"/>
              <a:pathLst>
                <a:path w="11347450" h="5673725">
                  <a:moveTo>
                    <a:pt x="0" y="0"/>
                  </a:moveTo>
                  <a:lnTo>
                    <a:pt x="11347450" y="0"/>
                  </a:lnTo>
                  <a:lnTo>
                    <a:pt x="11347450" y="5673725"/>
                  </a:lnTo>
                  <a:lnTo>
                    <a:pt x="0" y="5673725"/>
                  </a:lnTo>
                  <a:close/>
                </a:path>
              </a:pathLst>
            </a:custGeom>
            <a:blipFill>
              <a:blip r:embed="rId3">
                <a:alphaModFix amt="9999"/>
              </a:blip>
              <a:stretch>
                <a:fillRect t="-50000" b="-50000"/>
              </a:stretch>
            </a:blipFill>
          </p:spPr>
        </p:sp>
      </p:grpSp>
      <p:grpSp>
        <p:nvGrpSpPr>
          <p:cNvPr id="10" name="Group 10"/>
          <p:cNvGrpSpPr/>
          <p:nvPr/>
        </p:nvGrpSpPr>
        <p:grpSpPr>
          <a:xfrm>
            <a:off x="9402804" y="1647206"/>
            <a:ext cx="8510568" cy="686333"/>
            <a:chOff x="0" y="0"/>
            <a:chExt cx="11347425" cy="915111"/>
          </a:xfrm>
        </p:grpSpPr>
        <p:sp>
          <p:nvSpPr>
            <p:cNvPr id="11" name="Freeform 11"/>
            <p:cNvSpPr/>
            <p:nvPr/>
          </p:nvSpPr>
          <p:spPr>
            <a:xfrm>
              <a:off x="0" y="0"/>
              <a:ext cx="11347450" cy="915162"/>
            </a:xfrm>
            <a:custGeom>
              <a:avLst/>
              <a:gdLst/>
              <a:ahLst/>
              <a:cxnLst/>
              <a:rect l="l" t="t" r="r" b="b"/>
              <a:pathLst>
                <a:path w="11347450" h="915162">
                  <a:moveTo>
                    <a:pt x="0" y="0"/>
                  </a:moveTo>
                  <a:lnTo>
                    <a:pt x="11347450" y="0"/>
                  </a:lnTo>
                  <a:lnTo>
                    <a:pt x="11347450" y="915162"/>
                  </a:lnTo>
                  <a:lnTo>
                    <a:pt x="0" y="915162"/>
                  </a:lnTo>
                  <a:close/>
                </a:path>
              </a:pathLst>
            </a:custGeom>
            <a:solidFill>
              <a:srgbClr val="7F0000"/>
            </a:solidFill>
          </p:spPr>
        </p:sp>
      </p:grpSp>
      <p:grpSp>
        <p:nvGrpSpPr>
          <p:cNvPr id="12" name="Group 12"/>
          <p:cNvGrpSpPr/>
          <p:nvPr/>
        </p:nvGrpSpPr>
        <p:grpSpPr>
          <a:xfrm>
            <a:off x="411804" y="5627951"/>
            <a:ext cx="8510568" cy="4255284"/>
            <a:chOff x="0" y="0"/>
            <a:chExt cx="11347425" cy="5673712"/>
          </a:xfrm>
        </p:grpSpPr>
        <p:sp>
          <p:nvSpPr>
            <p:cNvPr id="13" name="Freeform 13"/>
            <p:cNvSpPr/>
            <p:nvPr/>
          </p:nvSpPr>
          <p:spPr>
            <a:xfrm>
              <a:off x="0" y="0"/>
              <a:ext cx="11347450" cy="5673725"/>
            </a:xfrm>
            <a:custGeom>
              <a:avLst/>
              <a:gdLst/>
              <a:ahLst/>
              <a:cxnLst/>
              <a:rect l="l" t="t" r="r" b="b"/>
              <a:pathLst>
                <a:path w="11347450" h="5673725">
                  <a:moveTo>
                    <a:pt x="0" y="0"/>
                  </a:moveTo>
                  <a:lnTo>
                    <a:pt x="11347450" y="0"/>
                  </a:lnTo>
                  <a:lnTo>
                    <a:pt x="11347450" y="5673725"/>
                  </a:lnTo>
                  <a:lnTo>
                    <a:pt x="0" y="5673725"/>
                  </a:lnTo>
                  <a:close/>
                </a:path>
              </a:pathLst>
            </a:custGeom>
            <a:blipFill>
              <a:blip r:embed="rId4">
                <a:alphaModFix amt="9999"/>
              </a:blip>
              <a:stretch>
                <a:fillRect t="-6535" b="-6535"/>
              </a:stretch>
            </a:blipFill>
          </p:spPr>
        </p:sp>
      </p:grpSp>
      <p:grpSp>
        <p:nvGrpSpPr>
          <p:cNvPr id="14" name="Group 14"/>
          <p:cNvGrpSpPr/>
          <p:nvPr/>
        </p:nvGrpSpPr>
        <p:grpSpPr>
          <a:xfrm>
            <a:off x="411804" y="5627951"/>
            <a:ext cx="8510568" cy="686333"/>
            <a:chOff x="0" y="0"/>
            <a:chExt cx="11347425" cy="915111"/>
          </a:xfrm>
        </p:grpSpPr>
        <p:sp>
          <p:nvSpPr>
            <p:cNvPr id="15" name="Freeform 15"/>
            <p:cNvSpPr/>
            <p:nvPr/>
          </p:nvSpPr>
          <p:spPr>
            <a:xfrm>
              <a:off x="0" y="0"/>
              <a:ext cx="11347450" cy="915162"/>
            </a:xfrm>
            <a:custGeom>
              <a:avLst/>
              <a:gdLst/>
              <a:ahLst/>
              <a:cxnLst/>
              <a:rect l="l" t="t" r="r" b="b"/>
              <a:pathLst>
                <a:path w="11347450" h="915162">
                  <a:moveTo>
                    <a:pt x="0" y="0"/>
                  </a:moveTo>
                  <a:lnTo>
                    <a:pt x="11347450" y="0"/>
                  </a:lnTo>
                  <a:lnTo>
                    <a:pt x="11347450" y="915162"/>
                  </a:lnTo>
                  <a:lnTo>
                    <a:pt x="0" y="915162"/>
                  </a:lnTo>
                  <a:close/>
                </a:path>
              </a:pathLst>
            </a:custGeom>
            <a:solidFill>
              <a:srgbClr val="0D47A1"/>
            </a:solidFill>
          </p:spPr>
        </p:sp>
      </p:grpSp>
      <p:grpSp>
        <p:nvGrpSpPr>
          <p:cNvPr id="16" name="Group 16"/>
          <p:cNvGrpSpPr/>
          <p:nvPr/>
        </p:nvGrpSpPr>
        <p:grpSpPr>
          <a:xfrm>
            <a:off x="9402804" y="5627951"/>
            <a:ext cx="8510568" cy="4255284"/>
            <a:chOff x="0" y="0"/>
            <a:chExt cx="11347425" cy="5673712"/>
          </a:xfrm>
        </p:grpSpPr>
        <p:sp>
          <p:nvSpPr>
            <p:cNvPr id="17" name="Freeform 17"/>
            <p:cNvSpPr/>
            <p:nvPr/>
          </p:nvSpPr>
          <p:spPr>
            <a:xfrm>
              <a:off x="0" y="0"/>
              <a:ext cx="11347450" cy="5673725"/>
            </a:xfrm>
            <a:custGeom>
              <a:avLst/>
              <a:gdLst/>
              <a:ahLst/>
              <a:cxnLst/>
              <a:rect l="l" t="t" r="r" b="b"/>
              <a:pathLst>
                <a:path w="11347450" h="5673725">
                  <a:moveTo>
                    <a:pt x="0" y="0"/>
                  </a:moveTo>
                  <a:lnTo>
                    <a:pt x="11347450" y="0"/>
                  </a:lnTo>
                  <a:lnTo>
                    <a:pt x="11347450" y="5673725"/>
                  </a:lnTo>
                  <a:lnTo>
                    <a:pt x="0" y="5673725"/>
                  </a:lnTo>
                  <a:close/>
                </a:path>
              </a:pathLst>
            </a:custGeom>
            <a:blipFill>
              <a:blip r:embed="rId5">
                <a:alphaModFix amt="9999"/>
              </a:blip>
              <a:stretch>
                <a:fillRect l="-24906" r="-24906"/>
              </a:stretch>
            </a:blipFill>
          </p:spPr>
        </p:sp>
      </p:grpSp>
      <p:grpSp>
        <p:nvGrpSpPr>
          <p:cNvPr id="18" name="Group 18"/>
          <p:cNvGrpSpPr/>
          <p:nvPr/>
        </p:nvGrpSpPr>
        <p:grpSpPr>
          <a:xfrm>
            <a:off x="9402804" y="5627951"/>
            <a:ext cx="8510568" cy="686333"/>
            <a:chOff x="0" y="0"/>
            <a:chExt cx="11347425" cy="915111"/>
          </a:xfrm>
        </p:grpSpPr>
        <p:sp>
          <p:nvSpPr>
            <p:cNvPr id="19" name="Freeform 19"/>
            <p:cNvSpPr/>
            <p:nvPr/>
          </p:nvSpPr>
          <p:spPr>
            <a:xfrm>
              <a:off x="0" y="0"/>
              <a:ext cx="11347450" cy="915162"/>
            </a:xfrm>
            <a:custGeom>
              <a:avLst/>
              <a:gdLst/>
              <a:ahLst/>
              <a:cxnLst/>
              <a:rect l="l" t="t" r="r" b="b"/>
              <a:pathLst>
                <a:path w="11347450" h="915162">
                  <a:moveTo>
                    <a:pt x="0" y="0"/>
                  </a:moveTo>
                  <a:lnTo>
                    <a:pt x="11347450" y="0"/>
                  </a:lnTo>
                  <a:lnTo>
                    <a:pt x="11347450" y="915162"/>
                  </a:lnTo>
                  <a:lnTo>
                    <a:pt x="0" y="915162"/>
                  </a:lnTo>
                  <a:close/>
                </a:path>
              </a:pathLst>
            </a:custGeom>
            <a:solidFill>
              <a:srgbClr val="E65C00"/>
            </a:solidFill>
          </p:spPr>
        </p:sp>
      </p:grpSp>
      <p:sp>
        <p:nvSpPr>
          <p:cNvPr id="20" name="TextBox 20"/>
          <p:cNvSpPr txBox="1"/>
          <p:nvPr/>
        </p:nvSpPr>
        <p:spPr>
          <a:xfrm>
            <a:off x="777773" y="165897"/>
            <a:ext cx="16289188" cy="1023785"/>
          </a:xfrm>
          <a:prstGeom prst="rect">
            <a:avLst/>
          </a:prstGeom>
        </p:spPr>
        <p:txBody>
          <a:bodyPr lIns="0" tIns="0" rIns="0" bIns="0" rtlCol="0" anchor="t">
            <a:spAutoFit/>
          </a:bodyPr>
          <a:lstStyle/>
          <a:p>
            <a:pPr algn="l">
              <a:lnSpc>
                <a:spcPts val="5043"/>
              </a:lnSpc>
            </a:pPr>
            <a:r>
              <a:rPr lang="en-US" sz="4203" b="1">
                <a:solidFill>
                  <a:srgbClr val="FFFFFF"/>
                </a:solidFill>
                <a:latin typeface="Calibri (MS) Bold"/>
                <a:ea typeface="Calibri (MS) Bold"/>
                <a:cs typeface="Calibri (MS) Bold"/>
                <a:sym typeface="Calibri (MS) Bold"/>
              </a:rPr>
              <a:t>SWOT Analysis</a:t>
            </a:r>
          </a:p>
        </p:txBody>
      </p:sp>
      <p:sp>
        <p:nvSpPr>
          <p:cNvPr id="21" name="TextBox 21"/>
          <p:cNvSpPr txBox="1"/>
          <p:nvPr/>
        </p:nvSpPr>
        <p:spPr>
          <a:xfrm>
            <a:off x="777773" y="931516"/>
            <a:ext cx="16289188" cy="436616"/>
          </a:xfrm>
          <a:prstGeom prst="rect">
            <a:avLst/>
          </a:prstGeom>
        </p:spPr>
        <p:txBody>
          <a:bodyPr lIns="0" tIns="0" rIns="0" bIns="0" rtlCol="0" anchor="t">
            <a:spAutoFit/>
          </a:bodyPr>
          <a:lstStyle/>
          <a:p>
            <a:pPr algn="l">
              <a:lnSpc>
                <a:spcPts val="2341"/>
              </a:lnSpc>
            </a:pPr>
            <a:r>
              <a:rPr lang="en-US" sz="1951">
                <a:solidFill>
                  <a:srgbClr val="FFCCCC"/>
                </a:solidFill>
                <a:latin typeface="Calibri (MS)"/>
                <a:ea typeface="Calibri (MS)"/>
                <a:cs typeface="Calibri (MS)"/>
                <a:sym typeface="Calibri (MS)"/>
              </a:rPr>
              <a:t>Strengths · Weaknesses · Opportunities · Threats</a:t>
            </a:r>
          </a:p>
        </p:txBody>
      </p:sp>
      <p:sp>
        <p:nvSpPr>
          <p:cNvPr id="22" name="TextBox 22"/>
          <p:cNvSpPr txBox="1"/>
          <p:nvPr/>
        </p:nvSpPr>
        <p:spPr>
          <a:xfrm>
            <a:off x="709146" y="1782566"/>
            <a:ext cx="7915885" cy="361950"/>
          </a:xfrm>
          <a:prstGeom prst="rect">
            <a:avLst/>
          </a:prstGeom>
        </p:spPr>
        <p:txBody>
          <a:bodyPr lIns="0" tIns="0" rIns="0" bIns="0" rtlCol="0" anchor="t">
            <a:spAutoFit/>
          </a:bodyPr>
          <a:lstStyle/>
          <a:p>
            <a:pPr algn="l">
              <a:lnSpc>
                <a:spcPts val="2521"/>
              </a:lnSpc>
            </a:pPr>
            <a:r>
              <a:rPr lang="en-US" sz="2101" b="1">
                <a:solidFill>
                  <a:srgbClr val="FFFFFF"/>
                </a:solidFill>
                <a:latin typeface="Calibri (MS) Bold"/>
                <a:ea typeface="Calibri (MS) Bold"/>
                <a:cs typeface="Calibri (MS) Bold"/>
                <a:sym typeface="Calibri (MS) Bold"/>
              </a:rPr>
              <a:t>STRENGTHS</a:t>
            </a:r>
          </a:p>
        </p:txBody>
      </p:sp>
      <p:sp>
        <p:nvSpPr>
          <p:cNvPr id="23" name="TextBox 23"/>
          <p:cNvSpPr txBox="1"/>
          <p:nvPr/>
        </p:nvSpPr>
        <p:spPr>
          <a:xfrm>
            <a:off x="9700146" y="1782566"/>
            <a:ext cx="7915885" cy="477803"/>
          </a:xfrm>
          <a:prstGeom prst="rect">
            <a:avLst/>
          </a:prstGeom>
        </p:spPr>
        <p:txBody>
          <a:bodyPr lIns="0" tIns="0" rIns="0" bIns="0" rtlCol="0" anchor="t">
            <a:spAutoFit/>
          </a:bodyPr>
          <a:lstStyle/>
          <a:p>
            <a:pPr algn="l">
              <a:lnSpc>
                <a:spcPts val="2521"/>
              </a:lnSpc>
            </a:pPr>
            <a:r>
              <a:rPr lang="en-US" sz="2101" b="1">
                <a:solidFill>
                  <a:srgbClr val="FFFFFF"/>
                </a:solidFill>
                <a:latin typeface="Calibri (MS) Bold"/>
                <a:ea typeface="Calibri (MS) Bold"/>
                <a:cs typeface="Calibri (MS) Bold"/>
                <a:sym typeface="Calibri (MS) Bold"/>
              </a:rPr>
              <a:t>WEAKNESSES</a:t>
            </a:r>
          </a:p>
        </p:txBody>
      </p:sp>
      <p:sp>
        <p:nvSpPr>
          <p:cNvPr id="24" name="TextBox 24"/>
          <p:cNvSpPr txBox="1"/>
          <p:nvPr/>
        </p:nvSpPr>
        <p:spPr>
          <a:xfrm>
            <a:off x="709146" y="5763320"/>
            <a:ext cx="7915885" cy="477803"/>
          </a:xfrm>
          <a:prstGeom prst="rect">
            <a:avLst/>
          </a:prstGeom>
        </p:spPr>
        <p:txBody>
          <a:bodyPr lIns="0" tIns="0" rIns="0" bIns="0" rtlCol="0" anchor="t">
            <a:spAutoFit/>
          </a:bodyPr>
          <a:lstStyle/>
          <a:p>
            <a:pPr algn="l">
              <a:lnSpc>
                <a:spcPts val="2521"/>
              </a:lnSpc>
            </a:pPr>
            <a:r>
              <a:rPr lang="en-US" sz="2101" b="1">
                <a:solidFill>
                  <a:srgbClr val="FFFFFF"/>
                </a:solidFill>
                <a:latin typeface="Calibri (MS) Bold"/>
                <a:ea typeface="Calibri (MS) Bold"/>
                <a:cs typeface="Calibri (MS) Bold"/>
                <a:sym typeface="Calibri (MS) Bold"/>
              </a:rPr>
              <a:t>OPPORTUNITIES</a:t>
            </a:r>
          </a:p>
        </p:txBody>
      </p:sp>
      <p:sp>
        <p:nvSpPr>
          <p:cNvPr id="25" name="TextBox 25"/>
          <p:cNvSpPr txBox="1"/>
          <p:nvPr/>
        </p:nvSpPr>
        <p:spPr>
          <a:xfrm>
            <a:off x="9700146" y="5763320"/>
            <a:ext cx="7915885" cy="477803"/>
          </a:xfrm>
          <a:prstGeom prst="rect">
            <a:avLst/>
          </a:prstGeom>
        </p:spPr>
        <p:txBody>
          <a:bodyPr lIns="0" tIns="0" rIns="0" bIns="0" rtlCol="0" anchor="t">
            <a:spAutoFit/>
          </a:bodyPr>
          <a:lstStyle/>
          <a:p>
            <a:pPr algn="l">
              <a:lnSpc>
                <a:spcPts val="2521"/>
              </a:lnSpc>
            </a:pPr>
            <a:r>
              <a:rPr lang="en-US" sz="2101" b="1">
                <a:solidFill>
                  <a:srgbClr val="FFFFFF"/>
                </a:solidFill>
                <a:latin typeface="Calibri (MS) Bold"/>
                <a:ea typeface="Calibri (MS) Bold"/>
                <a:cs typeface="Calibri (MS) Bold"/>
                <a:sym typeface="Calibri (MS) Bold"/>
              </a:rPr>
              <a:t>THREATS</a:t>
            </a:r>
          </a:p>
        </p:txBody>
      </p:sp>
      <p:sp>
        <p:nvSpPr>
          <p:cNvPr id="26" name="TextBox 26"/>
          <p:cNvSpPr txBox="1"/>
          <p:nvPr/>
        </p:nvSpPr>
        <p:spPr>
          <a:xfrm>
            <a:off x="352725" y="2543089"/>
            <a:ext cx="8855234" cy="2400300"/>
          </a:xfrm>
          <a:prstGeom prst="rect">
            <a:avLst/>
          </a:prstGeom>
        </p:spPr>
        <p:txBody>
          <a:bodyPr lIns="0" tIns="0" rIns="0" bIns="0" rtlCol="0" anchor="t">
            <a:spAutoFit/>
          </a:bodyPr>
          <a:lstStyle/>
          <a:p>
            <a:pPr algn="l">
              <a:lnSpc>
                <a:spcPts val="3720"/>
              </a:lnSpc>
              <a:spcBef>
                <a:spcPct val="0"/>
              </a:spcBef>
            </a:pPr>
            <a:r>
              <a:rPr lang="en-US" sz="3100">
                <a:solidFill>
                  <a:srgbClr val="000000"/>
                </a:solidFill>
                <a:latin typeface="Calibri (MS)"/>
                <a:ea typeface="Calibri (MS)"/>
                <a:cs typeface="Calibri (MS)"/>
                <a:sym typeface="Calibri (MS)"/>
              </a:rPr>
              <a:t>• Vertical integration &gt; lower production costs </a:t>
            </a:r>
          </a:p>
          <a:p>
            <a:pPr algn="l">
              <a:lnSpc>
                <a:spcPts val="3720"/>
              </a:lnSpc>
              <a:spcBef>
                <a:spcPct val="0"/>
              </a:spcBef>
            </a:pPr>
            <a:r>
              <a:rPr lang="en-US" sz="3100">
                <a:solidFill>
                  <a:srgbClr val="000000"/>
                </a:solidFill>
                <a:latin typeface="Calibri (MS)"/>
                <a:ea typeface="Calibri (MS)"/>
                <a:cs typeface="Calibri (MS)"/>
                <a:sym typeface="Calibri (MS)"/>
              </a:rPr>
              <a:t>• Makes own compressors, molds &amp; circuit boards </a:t>
            </a:r>
          </a:p>
          <a:p>
            <a:pPr algn="l">
              <a:lnSpc>
                <a:spcPts val="3720"/>
              </a:lnSpc>
              <a:spcBef>
                <a:spcPct val="0"/>
              </a:spcBef>
            </a:pPr>
            <a:r>
              <a:rPr lang="en-US" sz="3100">
                <a:solidFill>
                  <a:srgbClr val="000000"/>
                </a:solidFill>
                <a:latin typeface="Calibri (MS)"/>
                <a:ea typeface="Calibri (MS)"/>
                <a:cs typeface="Calibri (MS)"/>
                <a:sym typeface="Calibri (MS)"/>
              </a:rPr>
              <a:t>• 25,000 + sales points, 86 ISO-certified service centers </a:t>
            </a:r>
          </a:p>
          <a:p>
            <a:pPr algn="l">
              <a:lnSpc>
                <a:spcPts val="3720"/>
              </a:lnSpc>
              <a:spcBef>
                <a:spcPct val="0"/>
              </a:spcBef>
            </a:pPr>
            <a:r>
              <a:rPr lang="en-US" sz="3100">
                <a:solidFill>
                  <a:srgbClr val="000000"/>
                </a:solidFill>
                <a:latin typeface="Calibri (MS)"/>
                <a:ea typeface="Calibri (MS)"/>
                <a:cs typeface="Calibri (MS)"/>
                <a:sym typeface="Calibri (MS)"/>
              </a:rPr>
              <a:t>• High h brand equity (Best Enterprise</a:t>
            </a:r>
          </a:p>
          <a:p>
            <a:pPr algn="l">
              <a:lnSpc>
                <a:spcPts val="3720"/>
              </a:lnSpc>
              <a:spcBef>
                <a:spcPct val="0"/>
              </a:spcBef>
            </a:pPr>
            <a:endParaRPr lang="en-US" sz="3100">
              <a:solidFill>
                <a:srgbClr val="000000"/>
              </a:solidFill>
              <a:latin typeface="Calibri (MS)"/>
              <a:ea typeface="Calibri (MS)"/>
              <a:cs typeface="Calibri (MS)"/>
              <a:sym typeface="Calibri (MS)"/>
            </a:endParaRPr>
          </a:p>
        </p:txBody>
      </p:sp>
      <p:sp>
        <p:nvSpPr>
          <p:cNvPr id="27" name="TextBox 27"/>
          <p:cNvSpPr txBox="1"/>
          <p:nvPr/>
        </p:nvSpPr>
        <p:spPr>
          <a:xfrm>
            <a:off x="9402804" y="2543089"/>
            <a:ext cx="8894921" cy="2047875"/>
          </a:xfrm>
          <a:prstGeom prst="rect">
            <a:avLst/>
          </a:prstGeom>
        </p:spPr>
        <p:txBody>
          <a:bodyPr lIns="0" tIns="0" rIns="0" bIns="0" rtlCol="0" anchor="t">
            <a:spAutoFit/>
          </a:bodyPr>
          <a:lstStyle/>
          <a:p>
            <a:pPr algn="l">
              <a:lnSpc>
                <a:spcPts val="3960"/>
              </a:lnSpc>
              <a:spcBef>
                <a:spcPct val="0"/>
              </a:spcBef>
            </a:pPr>
            <a:r>
              <a:rPr lang="en-US" sz="3300">
                <a:solidFill>
                  <a:srgbClr val="000000"/>
                </a:solidFill>
                <a:latin typeface="Calibri (MS)"/>
                <a:ea typeface="Calibri (MS)"/>
                <a:cs typeface="Calibri (MS)"/>
                <a:sym typeface="Calibri (MS)"/>
              </a:rPr>
              <a:t>• Heavy dependence on Bangladeshi market Revenue tied to local economic conditions </a:t>
            </a:r>
          </a:p>
          <a:p>
            <a:pPr algn="l">
              <a:lnSpc>
                <a:spcPts val="3960"/>
              </a:lnSpc>
              <a:spcBef>
                <a:spcPct val="0"/>
              </a:spcBef>
            </a:pPr>
            <a:r>
              <a:rPr lang="en-US" sz="3300">
                <a:solidFill>
                  <a:srgbClr val="000000"/>
                </a:solidFill>
                <a:latin typeface="Calibri (MS)"/>
                <a:ea typeface="Calibri (MS)"/>
                <a:cs typeface="Calibri (MS)"/>
                <a:sym typeface="Calibri (MS)"/>
              </a:rPr>
              <a:t>• Perceived as "budget brand" by some premium urban customers</a:t>
            </a:r>
          </a:p>
        </p:txBody>
      </p:sp>
      <p:sp>
        <p:nvSpPr>
          <p:cNvPr id="28" name="TextBox 28"/>
          <p:cNvSpPr txBox="1"/>
          <p:nvPr/>
        </p:nvSpPr>
        <p:spPr>
          <a:xfrm>
            <a:off x="382267" y="6533359"/>
            <a:ext cx="8569643" cy="2486025"/>
          </a:xfrm>
          <a:prstGeom prst="rect">
            <a:avLst/>
          </a:prstGeom>
        </p:spPr>
        <p:txBody>
          <a:bodyPr lIns="0" tIns="0" rIns="0" bIns="0" rtlCol="0" anchor="t">
            <a:spAutoFit/>
          </a:bodyPr>
          <a:lstStyle/>
          <a:p>
            <a:pPr algn="l">
              <a:lnSpc>
                <a:spcPts val="3840"/>
              </a:lnSpc>
              <a:spcBef>
                <a:spcPct val="0"/>
              </a:spcBef>
            </a:pPr>
            <a:r>
              <a:rPr lang="en-US" sz="3200">
                <a:solidFill>
                  <a:srgbClr val="000000"/>
                </a:solidFill>
                <a:latin typeface="Calibri (MS)"/>
                <a:ea typeface="Calibri (MS)"/>
                <a:cs typeface="Calibri (MS)"/>
                <a:sym typeface="Calibri (MS)"/>
              </a:rPr>
              <a:t>• Global demand for energy-efficient &amp; eco-friendly products </a:t>
            </a:r>
          </a:p>
          <a:p>
            <a:pPr algn="l">
              <a:lnSpc>
                <a:spcPts val="3840"/>
              </a:lnSpc>
              <a:spcBef>
                <a:spcPct val="0"/>
              </a:spcBef>
            </a:pPr>
            <a:r>
              <a:rPr lang="en-US" sz="3200">
                <a:solidFill>
                  <a:srgbClr val="000000"/>
                </a:solidFill>
                <a:latin typeface="Calibri (MS)"/>
                <a:ea typeface="Calibri (MS)"/>
                <a:cs typeface="Calibri (MS)"/>
                <a:sym typeface="Calibri (MS)"/>
              </a:rPr>
              <a:t>•Growing demand in Africa, Middle East &amp; EuropeGrowing demand in Africa</a:t>
            </a:r>
          </a:p>
          <a:p>
            <a:pPr algn="l">
              <a:lnSpc>
                <a:spcPts val="3840"/>
              </a:lnSpc>
              <a:spcBef>
                <a:spcPct val="0"/>
              </a:spcBef>
            </a:pPr>
            <a:endParaRPr lang="en-US" sz="3200">
              <a:solidFill>
                <a:srgbClr val="000000"/>
              </a:solidFill>
              <a:latin typeface="Calibri (MS)"/>
              <a:ea typeface="Calibri (MS)"/>
              <a:cs typeface="Calibri (MS)"/>
              <a:sym typeface="Calibri (MS)"/>
            </a:endParaRPr>
          </a:p>
        </p:txBody>
      </p:sp>
      <p:sp>
        <p:nvSpPr>
          <p:cNvPr id="29" name="TextBox 29"/>
          <p:cNvSpPr txBox="1"/>
          <p:nvPr/>
        </p:nvSpPr>
        <p:spPr>
          <a:xfrm>
            <a:off x="9402804" y="6257134"/>
            <a:ext cx="8885196" cy="2971800"/>
          </a:xfrm>
          <a:prstGeom prst="rect">
            <a:avLst/>
          </a:prstGeom>
        </p:spPr>
        <p:txBody>
          <a:bodyPr lIns="0" tIns="0" rIns="0" bIns="0" rtlCol="0" anchor="t">
            <a:spAutoFit/>
          </a:bodyPr>
          <a:lstStyle/>
          <a:p>
            <a:pPr algn="l">
              <a:lnSpc>
                <a:spcPts val="3840"/>
              </a:lnSpc>
              <a:spcBef>
                <a:spcPct val="0"/>
              </a:spcBef>
            </a:pPr>
            <a:r>
              <a:rPr lang="en-US" sz="3200">
                <a:solidFill>
                  <a:srgbClr val="000000"/>
                </a:solidFill>
                <a:latin typeface="Calibri (MS)"/>
                <a:ea typeface="Calibri (MS)"/>
                <a:cs typeface="Calibri (MS)"/>
                <a:sym typeface="Calibri (MS)"/>
              </a:rPr>
              <a:t>• Inflation &amp; local currency devaluation squeezing margins </a:t>
            </a:r>
          </a:p>
          <a:p>
            <a:pPr algn="l">
              <a:lnSpc>
                <a:spcPts val="3840"/>
              </a:lnSpc>
              <a:spcBef>
                <a:spcPct val="0"/>
              </a:spcBef>
            </a:pPr>
            <a:r>
              <a:rPr lang="en-US" sz="3200">
                <a:solidFill>
                  <a:srgbClr val="000000"/>
                </a:solidFill>
                <a:latin typeface="Calibri (MS)"/>
                <a:ea typeface="Calibri (MS)"/>
                <a:cs typeface="Calibri (MS)"/>
                <a:sym typeface="Calibri (MS)"/>
              </a:rPr>
              <a:t>• Heavy spending by international competitors in Bangladesh </a:t>
            </a:r>
          </a:p>
          <a:p>
            <a:pPr algn="l">
              <a:lnSpc>
                <a:spcPts val="3840"/>
              </a:lnSpc>
              <a:spcBef>
                <a:spcPct val="0"/>
              </a:spcBef>
            </a:pPr>
            <a:r>
              <a:rPr lang="en-US" sz="3200">
                <a:solidFill>
                  <a:srgbClr val="000000"/>
                </a:solidFill>
                <a:latin typeface="Calibri (MS)"/>
                <a:ea typeface="Calibri (MS)"/>
                <a:cs typeface="Calibri (MS)"/>
                <a:sym typeface="Calibri (MS)"/>
              </a:rPr>
              <a:t>• Rapid tech obsolescence requires constant R&amp;D investment</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64748B"/>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18297725" cy="1441304"/>
            <a:chOff x="0" y="0"/>
            <a:chExt cx="24396967" cy="1921739"/>
          </a:xfrm>
        </p:grpSpPr>
        <p:sp>
          <p:nvSpPr>
            <p:cNvPr id="3" name="Freeform 3"/>
            <p:cNvSpPr/>
            <p:nvPr/>
          </p:nvSpPr>
          <p:spPr>
            <a:xfrm>
              <a:off x="0" y="0"/>
              <a:ext cx="24396954" cy="1921764"/>
            </a:xfrm>
            <a:custGeom>
              <a:avLst/>
              <a:gdLst/>
              <a:ahLst/>
              <a:cxnLst/>
              <a:rect l="l" t="t" r="r" b="b"/>
              <a:pathLst>
                <a:path w="24396954" h="1921764">
                  <a:moveTo>
                    <a:pt x="0" y="0"/>
                  </a:moveTo>
                  <a:lnTo>
                    <a:pt x="24396954" y="0"/>
                  </a:lnTo>
                  <a:lnTo>
                    <a:pt x="24396954" y="1921764"/>
                  </a:lnTo>
                  <a:lnTo>
                    <a:pt x="0" y="1921764"/>
                  </a:lnTo>
                  <a:close/>
                </a:path>
              </a:pathLst>
            </a:custGeom>
            <a:solidFill>
              <a:srgbClr val="CC0000"/>
            </a:solidFill>
          </p:spPr>
        </p:sp>
      </p:grpSp>
      <p:grpSp>
        <p:nvGrpSpPr>
          <p:cNvPr id="4" name="Group 4"/>
          <p:cNvGrpSpPr/>
          <p:nvPr/>
        </p:nvGrpSpPr>
        <p:grpSpPr>
          <a:xfrm>
            <a:off x="549069" y="9814608"/>
            <a:ext cx="17158402" cy="68637"/>
            <a:chOff x="0" y="0"/>
            <a:chExt cx="22877869" cy="91516"/>
          </a:xfrm>
        </p:grpSpPr>
        <p:sp>
          <p:nvSpPr>
            <p:cNvPr id="5" name="Freeform 5"/>
            <p:cNvSpPr/>
            <p:nvPr/>
          </p:nvSpPr>
          <p:spPr>
            <a:xfrm>
              <a:off x="0" y="0"/>
              <a:ext cx="22877907" cy="91567"/>
            </a:xfrm>
            <a:custGeom>
              <a:avLst/>
              <a:gdLst/>
              <a:ahLst/>
              <a:cxnLst/>
              <a:rect l="l" t="t" r="r" b="b"/>
              <a:pathLst>
                <a:path w="22877907" h="91567">
                  <a:moveTo>
                    <a:pt x="0" y="0"/>
                  </a:moveTo>
                  <a:lnTo>
                    <a:pt x="22877907" y="0"/>
                  </a:lnTo>
                  <a:lnTo>
                    <a:pt x="22877907" y="91567"/>
                  </a:lnTo>
                  <a:lnTo>
                    <a:pt x="0" y="91567"/>
                  </a:lnTo>
                  <a:close/>
                </a:path>
              </a:pathLst>
            </a:custGeom>
            <a:solidFill>
              <a:srgbClr val="CC0000"/>
            </a:solidFill>
          </p:spPr>
        </p:sp>
      </p:grpSp>
      <p:grpSp>
        <p:nvGrpSpPr>
          <p:cNvPr id="6" name="Group 6"/>
          <p:cNvGrpSpPr/>
          <p:nvPr/>
        </p:nvGrpSpPr>
        <p:grpSpPr>
          <a:xfrm>
            <a:off x="549069" y="10041732"/>
            <a:ext cx="17158402" cy="47625"/>
            <a:chOff x="0" y="0"/>
            <a:chExt cx="22877869" cy="63500"/>
          </a:xfrm>
        </p:grpSpPr>
        <p:sp>
          <p:nvSpPr>
            <p:cNvPr id="7" name="Freeform 7"/>
            <p:cNvSpPr/>
            <p:nvPr/>
          </p:nvSpPr>
          <p:spPr>
            <a:xfrm>
              <a:off x="0" y="0"/>
              <a:ext cx="22877907" cy="63551"/>
            </a:xfrm>
            <a:custGeom>
              <a:avLst/>
              <a:gdLst/>
              <a:ahLst/>
              <a:cxnLst/>
              <a:rect l="l" t="t" r="r" b="b"/>
              <a:pathLst>
                <a:path w="22877907" h="63551">
                  <a:moveTo>
                    <a:pt x="0" y="0"/>
                  </a:moveTo>
                  <a:lnTo>
                    <a:pt x="22877907" y="0"/>
                  </a:lnTo>
                  <a:lnTo>
                    <a:pt x="22877907" y="63551"/>
                  </a:lnTo>
                  <a:lnTo>
                    <a:pt x="0" y="63551"/>
                  </a:lnTo>
                  <a:close/>
                </a:path>
              </a:pathLst>
            </a:custGeom>
            <a:solidFill>
              <a:srgbClr val="163F97"/>
            </a:solidFill>
          </p:spPr>
        </p:sp>
      </p:grpSp>
      <p:sp>
        <p:nvSpPr>
          <p:cNvPr id="8" name="Freeform 8"/>
          <p:cNvSpPr/>
          <p:nvPr/>
        </p:nvSpPr>
        <p:spPr>
          <a:xfrm>
            <a:off x="16669756" y="8695011"/>
            <a:ext cx="1591989" cy="1591989"/>
          </a:xfrm>
          <a:custGeom>
            <a:avLst/>
            <a:gdLst/>
            <a:ahLst/>
            <a:cxnLst/>
            <a:rect l="l" t="t" r="r" b="b"/>
            <a:pathLst>
              <a:path w="1591989" h="1591989">
                <a:moveTo>
                  <a:pt x="0" y="0"/>
                </a:moveTo>
                <a:lnTo>
                  <a:pt x="1591989" y="0"/>
                </a:lnTo>
                <a:lnTo>
                  <a:pt x="1591989" y="1591989"/>
                </a:lnTo>
                <a:lnTo>
                  <a:pt x="0" y="1591989"/>
                </a:lnTo>
                <a:lnTo>
                  <a:pt x="0" y="0"/>
                </a:lnTo>
                <a:close/>
              </a:path>
            </a:pathLst>
          </a:custGeom>
          <a:blipFill>
            <a:blip r:embed="rId2"/>
            <a:stretch>
              <a:fillRect/>
            </a:stretch>
          </a:blipFill>
        </p:spPr>
      </p:sp>
      <p:sp>
        <p:nvSpPr>
          <p:cNvPr id="9" name="TextBox 9"/>
          <p:cNvSpPr txBox="1"/>
          <p:nvPr/>
        </p:nvSpPr>
        <p:spPr>
          <a:xfrm>
            <a:off x="1028700" y="276225"/>
            <a:ext cx="3685650" cy="876300"/>
          </a:xfrm>
          <a:prstGeom prst="rect">
            <a:avLst/>
          </a:prstGeom>
        </p:spPr>
        <p:txBody>
          <a:bodyPr lIns="0" tIns="0" rIns="0" bIns="0" rtlCol="0" anchor="t">
            <a:spAutoFit/>
          </a:bodyPr>
          <a:lstStyle/>
          <a:p>
            <a:pPr algn="l">
              <a:lnSpc>
                <a:spcPts val="6003"/>
              </a:lnSpc>
            </a:pPr>
            <a:r>
              <a:rPr lang="en-US" sz="5003" b="1">
                <a:solidFill>
                  <a:srgbClr val="FFFFFF"/>
                </a:solidFill>
                <a:latin typeface="Calibri (MS) Bold"/>
                <a:ea typeface="Calibri (MS) Bold"/>
                <a:cs typeface="Calibri (MS) Bold"/>
                <a:sym typeface="Calibri (MS) Bold"/>
              </a:rPr>
              <a:t>Conclusion</a:t>
            </a:r>
          </a:p>
        </p:txBody>
      </p:sp>
      <p:sp>
        <p:nvSpPr>
          <p:cNvPr id="10" name="TextBox 10"/>
          <p:cNvSpPr txBox="1"/>
          <p:nvPr/>
        </p:nvSpPr>
        <p:spPr>
          <a:xfrm>
            <a:off x="-5206" y="2364372"/>
            <a:ext cx="17843440" cy="2000250"/>
          </a:xfrm>
          <a:prstGeom prst="rect">
            <a:avLst/>
          </a:prstGeom>
        </p:spPr>
        <p:txBody>
          <a:bodyPr lIns="0" tIns="0" rIns="0" bIns="0" rtlCol="0" anchor="t">
            <a:spAutoFit/>
          </a:bodyPr>
          <a:lstStyle/>
          <a:p>
            <a:pPr marL="906780" lvl="1" indent="-453390" algn="l">
              <a:lnSpc>
                <a:spcPts val="5040"/>
              </a:lnSpc>
              <a:buFont typeface="Arial"/>
              <a:buChar char="•"/>
            </a:pPr>
            <a:r>
              <a:rPr lang="en-US" sz="4200" b="1">
                <a:solidFill>
                  <a:srgbClr val="FFFFFF"/>
                </a:solidFill>
                <a:latin typeface="Calibri (MS) Bold"/>
                <a:ea typeface="Calibri (MS) Bold"/>
                <a:cs typeface="Calibri (MS) Bold"/>
                <a:sym typeface="Calibri (MS) Bold"/>
              </a:rPr>
              <a:t>Walton Hi Tech Industries PLC has established itself as Bangladesh's leading electronics brand through smart pricing, vertical integration, and continuous innovation.</a:t>
            </a:r>
          </a:p>
        </p:txBody>
      </p:sp>
      <p:sp>
        <p:nvSpPr>
          <p:cNvPr id="11" name="TextBox 11"/>
          <p:cNvSpPr txBox="1"/>
          <p:nvPr/>
        </p:nvSpPr>
        <p:spPr>
          <a:xfrm>
            <a:off x="-5206" y="5287689"/>
            <a:ext cx="18266951" cy="2000250"/>
          </a:xfrm>
          <a:prstGeom prst="rect">
            <a:avLst/>
          </a:prstGeom>
        </p:spPr>
        <p:txBody>
          <a:bodyPr lIns="0" tIns="0" rIns="0" bIns="0" rtlCol="0" anchor="t">
            <a:spAutoFit/>
          </a:bodyPr>
          <a:lstStyle/>
          <a:p>
            <a:pPr marL="906777" lvl="1" indent="-453388" algn="l">
              <a:lnSpc>
                <a:spcPts val="5039"/>
              </a:lnSpc>
              <a:buFont typeface="Arial"/>
              <a:buChar char="•"/>
            </a:pPr>
            <a:r>
              <a:rPr lang="en-US" sz="4199" b="1">
                <a:solidFill>
                  <a:srgbClr val="FFFFFF"/>
                </a:solidFill>
                <a:latin typeface="Calibri (MS) Bold"/>
                <a:ea typeface="Calibri (MS) Bold"/>
                <a:cs typeface="Calibri (MS) Bold"/>
                <a:sym typeface="Calibri (MS) Bold"/>
              </a:rPr>
              <a:t>Walton's strength lies in its wide distribution network and strong brand loyalty. By continuing to invest in digitalization, product diversification, and global expansion, Walton is well-positioned for long-term success.</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D0D7DD"/>
        </a:solidFill>
        <a:effectLst/>
      </p:bgPr>
    </p:bg>
    <p:spTree>
      <p:nvGrpSpPr>
        <p:cNvPr id="1" name=""/>
        <p:cNvGrpSpPr/>
        <p:nvPr/>
      </p:nvGrpSpPr>
      <p:grpSpPr>
        <a:xfrm>
          <a:off x="0" y="0"/>
          <a:ext cx="0" cy="0"/>
          <a:chOff x="0" y="0"/>
          <a:chExt cx="0" cy="0"/>
        </a:xfrm>
      </p:grpSpPr>
      <p:sp>
        <p:nvSpPr>
          <p:cNvPr id="2" name="Freeform 2"/>
          <p:cNvSpPr/>
          <p:nvPr/>
        </p:nvSpPr>
        <p:spPr>
          <a:xfrm rot="-1977201">
            <a:off x="8376849" y="-900663"/>
            <a:ext cx="12791303" cy="9442307"/>
          </a:xfrm>
          <a:custGeom>
            <a:avLst/>
            <a:gdLst/>
            <a:ahLst/>
            <a:cxnLst/>
            <a:rect l="l" t="t" r="r" b="b"/>
            <a:pathLst>
              <a:path w="12791303" h="9442307">
                <a:moveTo>
                  <a:pt x="0" y="0"/>
                </a:moveTo>
                <a:lnTo>
                  <a:pt x="12791303" y="0"/>
                </a:lnTo>
                <a:lnTo>
                  <a:pt x="12791303" y="9442307"/>
                </a:lnTo>
                <a:lnTo>
                  <a:pt x="0" y="9442307"/>
                </a:lnTo>
                <a:lnTo>
                  <a:pt x="0" y="0"/>
                </a:lnTo>
                <a:close/>
              </a:path>
            </a:pathLst>
          </a:custGeom>
          <a:blipFill>
            <a:blip r:embed="rId2">
              <a:alphaModFix amt="42000"/>
            </a:blip>
            <a:stretch>
              <a:fillRect/>
            </a:stretch>
          </a:blipFill>
        </p:spPr>
      </p:sp>
      <p:sp>
        <p:nvSpPr>
          <p:cNvPr id="3" name="Freeform 3"/>
          <p:cNvSpPr/>
          <p:nvPr/>
        </p:nvSpPr>
        <p:spPr>
          <a:xfrm rot="-10659522">
            <a:off x="-1466084" y="-1104127"/>
            <a:ext cx="6017764" cy="3599717"/>
          </a:xfrm>
          <a:custGeom>
            <a:avLst/>
            <a:gdLst/>
            <a:ahLst/>
            <a:cxnLst/>
            <a:rect l="l" t="t" r="r" b="b"/>
            <a:pathLst>
              <a:path w="6017764" h="3599717">
                <a:moveTo>
                  <a:pt x="0" y="0"/>
                </a:moveTo>
                <a:lnTo>
                  <a:pt x="6017764" y="0"/>
                </a:lnTo>
                <a:lnTo>
                  <a:pt x="6017764" y="3599717"/>
                </a:lnTo>
                <a:lnTo>
                  <a:pt x="0" y="3599717"/>
                </a:lnTo>
                <a:lnTo>
                  <a:pt x="0" y="0"/>
                </a:lnTo>
                <a:close/>
              </a:path>
            </a:pathLst>
          </a:custGeom>
          <a:blipFill>
            <a:blip r:embed="rId3">
              <a:alphaModFix amt="12000"/>
            </a:blip>
            <a:stretch>
              <a:fillRect/>
            </a:stretch>
          </a:blipFill>
        </p:spPr>
      </p:sp>
      <p:sp>
        <p:nvSpPr>
          <p:cNvPr id="4" name="Freeform 4"/>
          <p:cNvSpPr/>
          <p:nvPr/>
        </p:nvSpPr>
        <p:spPr>
          <a:xfrm>
            <a:off x="-924022" y="5188961"/>
            <a:ext cx="4716981" cy="6251420"/>
          </a:xfrm>
          <a:custGeom>
            <a:avLst/>
            <a:gdLst/>
            <a:ahLst/>
            <a:cxnLst/>
            <a:rect l="l" t="t" r="r" b="b"/>
            <a:pathLst>
              <a:path w="4716981" h="6251420">
                <a:moveTo>
                  <a:pt x="0" y="0"/>
                </a:moveTo>
                <a:lnTo>
                  <a:pt x="4716981" y="0"/>
                </a:lnTo>
                <a:lnTo>
                  <a:pt x="4716981" y="6251421"/>
                </a:lnTo>
                <a:lnTo>
                  <a:pt x="0" y="6251421"/>
                </a:lnTo>
                <a:lnTo>
                  <a:pt x="0" y="0"/>
                </a:lnTo>
                <a:close/>
              </a:path>
            </a:pathLst>
          </a:custGeom>
          <a:blipFill>
            <a:blip r:embed="rId4">
              <a:alphaModFix amt="2000"/>
              <a:extLst>
                <a:ext uri="{96DAC541-7B7A-43D3-8B79-37D633B846F1}">
                  <asvg:svgBlip xmlns:asvg="http://schemas.microsoft.com/office/drawing/2016/SVG/main" r:embed="rId5"/>
                </a:ext>
              </a:extLst>
            </a:blip>
            <a:stretch>
              <a:fillRect/>
            </a:stretch>
          </a:blipFill>
        </p:spPr>
      </p:sp>
      <p:sp>
        <p:nvSpPr>
          <p:cNvPr id="5" name="TextBox 5"/>
          <p:cNvSpPr txBox="1"/>
          <p:nvPr/>
        </p:nvSpPr>
        <p:spPr>
          <a:xfrm>
            <a:off x="1854102" y="3518212"/>
            <a:ext cx="14579797" cy="6055133"/>
          </a:xfrm>
          <a:prstGeom prst="rect">
            <a:avLst/>
          </a:prstGeom>
        </p:spPr>
        <p:txBody>
          <a:bodyPr lIns="0" tIns="0" rIns="0" bIns="0" rtlCol="0" anchor="t">
            <a:spAutoFit/>
          </a:bodyPr>
          <a:lstStyle/>
          <a:p>
            <a:pPr algn="l">
              <a:lnSpc>
                <a:spcPts val="23095"/>
              </a:lnSpc>
            </a:pPr>
            <a:r>
              <a:rPr lang="en-US" sz="24569" b="1" spc="-1154">
                <a:solidFill>
                  <a:srgbClr val="424242"/>
                </a:solidFill>
                <a:latin typeface="Open Sauce Heavy"/>
                <a:ea typeface="Open Sauce Heavy"/>
                <a:cs typeface="Open Sauce Heavy"/>
                <a:sym typeface="Open Sauce Heavy"/>
              </a:rPr>
              <a:t>Thank You</a:t>
            </a:r>
          </a:p>
        </p:txBody>
      </p:sp>
      <p:sp>
        <p:nvSpPr>
          <p:cNvPr id="6" name="AutoShape 6"/>
          <p:cNvSpPr/>
          <p:nvPr/>
        </p:nvSpPr>
        <p:spPr>
          <a:xfrm>
            <a:off x="1045163" y="1480091"/>
            <a:ext cx="16214137" cy="0"/>
          </a:xfrm>
          <a:prstGeom prst="line">
            <a:avLst/>
          </a:prstGeom>
          <a:ln w="19050" cap="flat">
            <a:solidFill>
              <a:srgbClr val="424242"/>
            </a:solidFill>
            <a:prstDash val="solid"/>
            <a:headEnd type="none" w="sm" len="sm"/>
            <a:tailEnd type="none" w="sm" len="sm"/>
          </a:ln>
        </p:spPr>
      </p:sp>
      <p:sp>
        <p:nvSpPr>
          <p:cNvPr id="7" name="Freeform 7"/>
          <p:cNvSpPr/>
          <p:nvPr/>
        </p:nvSpPr>
        <p:spPr>
          <a:xfrm>
            <a:off x="16906368" y="8984006"/>
            <a:ext cx="1381632" cy="1381632"/>
          </a:xfrm>
          <a:custGeom>
            <a:avLst/>
            <a:gdLst/>
            <a:ahLst/>
            <a:cxnLst/>
            <a:rect l="l" t="t" r="r" b="b"/>
            <a:pathLst>
              <a:path w="1381632" h="1381632">
                <a:moveTo>
                  <a:pt x="0" y="0"/>
                </a:moveTo>
                <a:lnTo>
                  <a:pt x="1381632" y="0"/>
                </a:lnTo>
                <a:lnTo>
                  <a:pt x="1381632" y="1381632"/>
                </a:lnTo>
                <a:lnTo>
                  <a:pt x="0" y="1381632"/>
                </a:lnTo>
                <a:lnTo>
                  <a:pt x="0" y="0"/>
                </a:lnTo>
                <a:close/>
              </a:path>
            </a:pathLst>
          </a:custGeom>
          <a:blipFill>
            <a:blip r:embed="rId6"/>
            <a:stretch>
              <a:fillRect/>
            </a:stretch>
          </a:blipFill>
        </p:spPr>
      </p:sp>
      <p:sp>
        <p:nvSpPr>
          <p:cNvPr id="8" name="TextBox 8"/>
          <p:cNvSpPr txBox="1"/>
          <p:nvPr/>
        </p:nvSpPr>
        <p:spPr>
          <a:xfrm>
            <a:off x="7966726" y="7626287"/>
            <a:ext cx="3500324" cy="1357719"/>
          </a:xfrm>
          <a:prstGeom prst="rect">
            <a:avLst/>
          </a:prstGeom>
        </p:spPr>
        <p:txBody>
          <a:bodyPr lIns="0" tIns="0" rIns="0" bIns="0" rtlCol="0" anchor="t">
            <a:spAutoFit/>
          </a:bodyPr>
          <a:lstStyle/>
          <a:p>
            <a:pPr algn="l">
              <a:lnSpc>
                <a:spcPts val="5445"/>
              </a:lnSpc>
            </a:pPr>
            <a:r>
              <a:rPr lang="en-US" sz="4321" spc="-242">
                <a:solidFill>
                  <a:srgbClr val="424242"/>
                </a:solidFill>
                <a:latin typeface="Open Sauce Light"/>
                <a:ea typeface="Open Sauce Light"/>
                <a:cs typeface="Open Sauce Light"/>
                <a:sym typeface="Open Sauce Light"/>
              </a:rPr>
              <a:t>for your time and attention</a:t>
            </a:r>
          </a:p>
        </p:txBody>
      </p:sp>
      <p:sp>
        <p:nvSpPr>
          <p:cNvPr id="9" name="Freeform 9"/>
          <p:cNvSpPr/>
          <p:nvPr/>
        </p:nvSpPr>
        <p:spPr>
          <a:xfrm>
            <a:off x="0" y="0"/>
            <a:ext cx="1381632" cy="1381632"/>
          </a:xfrm>
          <a:custGeom>
            <a:avLst/>
            <a:gdLst/>
            <a:ahLst/>
            <a:cxnLst/>
            <a:rect l="l" t="t" r="r" b="b"/>
            <a:pathLst>
              <a:path w="1381632" h="1381632">
                <a:moveTo>
                  <a:pt x="0" y="0"/>
                </a:moveTo>
                <a:lnTo>
                  <a:pt x="1381632" y="0"/>
                </a:lnTo>
                <a:lnTo>
                  <a:pt x="1381632" y="1381632"/>
                </a:lnTo>
                <a:lnTo>
                  <a:pt x="0" y="1381632"/>
                </a:lnTo>
                <a:lnTo>
                  <a:pt x="0" y="0"/>
                </a:lnTo>
                <a:close/>
              </a:path>
            </a:pathLst>
          </a:custGeom>
          <a:blipFill>
            <a:blip r:embed="rId6"/>
            <a:stretch>
              <a:fillRect/>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1056</Words>
  <Application>Microsoft Office PowerPoint</Application>
  <PresentationFormat>Custom</PresentationFormat>
  <Paragraphs>196</Paragraphs>
  <Slides>17</Slides>
  <Notes>0</Notes>
  <HiddenSlides>0</HiddenSlides>
  <MMClips>0</MMClips>
  <ScaleCrop>false</ScaleCrop>
  <HeadingPairs>
    <vt:vector size="6" baseType="variant">
      <vt:variant>
        <vt:lpstr>Fonts Used</vt:lpstr>
      </vt:variant>
      <vt:variant>
        <vt:i4>12</vt:i4>
      </vt:variant>
      <vt:variant>
        <vt:lpstr>Theme</vt:lpstr>
      </vt:variant>
      <vt:variant>
        <vt:i4>1</vt:i4>
      </vt:variant>
      <vt:variant>
        <vt:lpstr>Slide Titles</vt:lpstr>
      </vt:variant>
      <vt:variant>
        <vt:i4>17</vt:i4>
      </vt:variant>
    </vt:vector>
  </HeadingPairs>
  <TitlesOfParts>
    <vt:vector size="30" baseType="lpstr">
      <vt:lpstr>Calibri (MS)</vt:lpstr>
      <vt:lpstr>Canva Sans Bold</vt:lpstr>
      <vt:lpstr>Calibri (MS) Bold</vt:lpstr>
      <vt:lpstr>Open Sauce Heavy</vt:lpstr>
      <vt:lpstr>Calibri</vt:lpstr>
      <vt:lpstr>Arial Rounded MT Bold</vt:lpstr>
      <vt:lpstr>Open Sauce Light</vt:lpstr>
      <vt:lpstr>Arial</vt:lpstr>
      <vt:lpstr>Canva Sans</vt:lpstr>
      <vt:lpstr>Lexend Deca</vt:lpstr>
      <vt:lpstr>Francois One</vt:lpstr>
      <vt:lpstr>Arial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Marketing Mix</dc:title>
  <cp:lastModifiedBy>Shohan Islam</cp:lastModifiedBy>
  <cp:revision>2</cp:revision>
  <dcterms:created xsi:type="dcterms:W3CDTF">2006-08-16T00:00:00Z</dcterms:created>
  <dcterms:modified xsi:type="dcterms:W3CDTF">2026-05-19T15:47:36Z</dcterms:modified>
  <dc:identifier>DAHIKNigBhU</dc:identifier>
</cp:coreProperties>
</file>